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394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oga Shashank" userId="d9288b1565e02af5" providerId="LiveId" clId="{91ED3C43-599C-45D9-B8BE-500491248CD8}"/>
    <pc:docChg chg="undo custSel modSld">
      <pc:chgData name="Boga Shashank" userId="d9288b1565e02af5" providerId="LiveId" clId="{91ED3C43-599C-45D9-B8BE-500491248CD8}" dt="2026-10-15T14:42:02.794" v="429" actId="20577"/>
      <pc:docMkLst>
        <pc:docMk/>
      </pc:docMkLst>
      <pc:sldChg chg="modSp mod">
        <pc:chgData name="Boga Shashank" userId="d9288b1565e02af5" providerId="LiveId" clId="{91ED3C43-599C-45D9-B8BE-500491248CD8}" dt="2026-10-15T14:42:02.794" v="429" actId="20577"/>
        <pc:sldMkLst>
          <pc:docMk/>
          <pc:sldMk cId="0" sldId="256"/>
        </pc:sldMkLst>
        <pc:spChg chg="mod">
          <ac:chgData name="Boga Shashank" userId="d9288b1565e02af5" providerId="LiveId" clId="{91ED3C43-599C-45D9-B8BE-500491248CD8}" dt="2026-10-15T14:42:02.794" v="429" actId="20577"/>
          <ac:spMkLst>
            <pc:docMk/>
            <pc:sldMk cId="0" sldId="256"/>
            <ac:spMk id="2" creationId="{00000000-0000-0000-0000-000000000000}"/>
          </ac:spMkLst>
        </pc:spChg>
        <pc:spChg chg="mod">
          <ac:chgData name="Boga Shashank" userId="d9288b1565e02af5" providerId="LiveId" clId="{91ED3C43-599C-45D9-B8BE-500491248CD8}" dt="2026-10-14T18:22:56.058" v="73" actId="20577"/>
          <ac:spMkLst>
            <pc:docMk/>
            <pc:sldMk cId="0" sldId="256"/>
            <ac:spMk id="8" creationId="{00000000-0000-0000-0000-000000000000}"/>
          </ac:spMkLst>
        </pc:spChg>
        <pc:spChg chg="mod">
          <ac:chgData name="Boga Shashank" userId="d9288b1565e02af5" providerId="LiveId" clId="{91ED3C43-599C-45D9-B8BE-500491248CD8}" dt="2026-10-14T18:22:33.892" v="25" actId="20577"/>
          <ac:spMkLst>
            <pc:docMk/>
            <pc:sldMk cId="0" sldId="256"/>
            <ac:spMk id="9" creationId="{00000000-0000-0000-0000-000000000000}"/>
          </ac:spMkLst>
        </pc:spChg>
        <pc:spChg chg="mod">
          <ac:chgData name="Boga Shashank" userId="d9288b1565e02af5" providerId="LiveId" clId="{91ED3C43-599C-45D9-B8BE-500491248CD8}" dt="2026-10-14T18:23:09.278" v="113" actId="20577"/>
          <ac:spMkLst>
            <pc:docMk/>
            <pc:sldMk cId="0" sldId="256"/>
            <ac:spMk id="11" creationId="{00000000-0000-0000-0000-000000000000}"/>
          </ac:spMkLst>
        </pc:spChg>
        <pc:spChg chg="mod">
          <ac:chgData name="Boga Shashank" userId="d9288b1565e02af5" providerId="LiveId" clId="{91ED3C43-599C-45D9-B8BE-500491248CD8}" dt="2026-10-14T18:22:44.158" v="46" actId="20577"/>
          <ac:spMkLst>
            <pc:docMk/>
            <pc:sldMk cId="0" sldId="256"/>
            <ac:spMk id="12" creationId="{00000000-0000-0000-0000-000000000000}"/>
          </ac:spMkLst>
        </pc:spChg>
        <pc:spChg chg="mod">
          <ac:chgData name="Boga Shashank" userId="d9288b1565e02af5" providerId="LiveId" clId="{91ED3C43-599C-45D9-B8BE-500491248CD8}" dt="2026-10-14T18:23:20.738" v="140" actId="20577"/>
          <ac:spMkLst>
            <pc:docMk/>
            <pc:sldMk cId="0" sldId="256"/>
            <ac:spMk id="14" creationId="{00000000-0000-0000-0000-000000000000}"/>
          </ac:spMkLst>
        </pc:spChg>
        <pc:spChg chg="mod">
          <ac:chgData name="Boga Shashank" userId="d9288b1565e02af5" providerId="LiveId" clId="{91ED3C43-599C-45D9-B8BE-500491248CD8}" dt="2026-10-14T18:23:25.080" v="146" actId="20577"/>
          <ac:spMkLst>
            <pc:docMk/>
            <pc:sldMk cId="0" sldId="256"/>
            <ac:spMk id="16" creationId="{00000000-0000-0000-0000-000000000000}"/>
          </ac:spMkLst>
        </pc:spChg>
        <pc:spChg chg="mod">
          <ac:chgData name="Boga Shashank" userId="d9288b1565e02af5" providerId="LiveId" clId="{91ED3C43-599C-45D9-B8BE-500491248CD8}" dt="2026-10-14T18:24:36.152" v="262" actId="20577"/>
          <ac:spMkLst>
            <pc:docMk/>
            <pc:sldMk cId="0" sldId="256"/>
            <ac:spMk id="18" creationId="{00000000-0000-0000-0000-000000000000}"/>
          </ac:spMkLst>
        </pc:spChg>
        <pc:spChg chg="mod">
          <ac:chgData name="Boga Shashank" userId="d9288b1565e02af5" providerId="LiveId" clId="{91ED3C43-599C-45D9-B8BE-500491248CD8}" dt="2026-10-15T14:32:07.731" v="399" actId="20577"/>
          <ac:spMkLst>
            <pc:docMk/>
            <pc:sldMk cId="0" sldId="256"/>
            <ac:spMk id="22" creationId="{00000000-0000-0000-0000-000000000000}"/>
          </ac:spMkLst>
        </pc:spChg>
      </pc:sldChg>
      <pc:sldChg chg="modSp mod">
        <pc:chgData name="Boga Shashank" userId="d9288b1565e02af5" providerId="LiveId" clId="{91ED3C43-599C-45D9-B8BE-500491248CD8}" dt="2026-10-15T14:33:00.154" v="411" actId="1076"/>
        <pc:sldMkLst>
          <pc:docMk/>
          <pc:sldMk cId="0" sldId="257"/>
        </pc:sldMkLst>
        <pc:spChg chg="mod">
          <ac:chgData name="Boga Shashank" userId="d9288b1565e02af5" providerId="LiveId" clId="{91ED3C43-599C-45D9-B8BE-500491248CD8}" dt="2026-10-15T14:32:54.824" v="410" actId="20577"/>
          <ac:spMkLst>
            <pc:docMk/>
            <pc:sldMk cId="0" sldId="257"/>
            <ac:spMk id="6" creationId="{00000000-0000-0000-0000-000000000000}"/>
          </ac:spMkLst>
        </pc:spChg>
        <pc:spChg chg="mod">
          <ac:chgData name="Boga Shashank" userId="d9288b1565e02af5" providerId="LiveId" clId="{91ED3C43-599C-45D9-B8BE-500491248CD8}" dt="2026-10-15T14:33:00.154" v="411" actId="1076"/>
          <ac:spMkLst>
            <pc:docMk/>
            <pc:sldMk cId="0" sldId="257"/>
            <ac:spMk id="16" creationId="{00000000-0000-0000-0000-000000000000}"/>
          </ac:spMkLst>
        </pc:spChg>
      </pc:sldChg>
      <pc:sldChg chg="modSp mod">
        <pc:chgData name="Boga Shashank" userId="d9288b1565e02af5" providerId="LiveId" clId="{91ED3C43-599C-45D9-B8BE-500491248CD8}" dt="2026-10-15T14:33:22.714" v="414" actId="14100"/>
        <pc:sldMkLst>
          <pc:docMk/>
          <pc:sldMk cId="0" sldId="259"/>
        </pc:sldMkLst>
        <pc:spChg chg="mod">
          <ac:chgData name="Boga Shashank" userId="d9288b1565e02af5" providerId="LiveId" clId="{91ED3C43-599C-45D9-B8BE-500491248CD8}" dt="2026-10-15T14:33:13.738" v="412" actId="14100"/>
          <ac:spMkLst>
            <pc:docMk/>
            <pc:sldMk cId="0" sldId="259"/>
            <ac:spMk id="15" creationId="{00000000-0000-0000-0000-000000000000}"/>
          </ac:spMkLst>
        </pc:spChg>
        <pc:spChg chg="mod">
          <ac:chgData name="Boga Shashank" userId="d9288b1565e02af5" providerId="LiveId" clId="{91ED3C43-599C-45D9-B8BE-500491248CD8}" dt="2026-10-15T14:33:19.530" v="413" actId="14100"/>
          <ac:spMkLst>
            <pc:docMk/>
            <pc:sldMk cId="0" sldId="259"/>
            <ac:spMk id="19" creationId="{00000000-0000-0000-0000-000000000000}"/>
          </ac:spMkLst>
        </pc:spChg>
        <pc:spChg chg="mod">
          <ac:chgData name="Boga Shashank" userId="d9288b1565e02af5" providerId="LiveId" clId="{91ED3C43-599C-45D9-B8BE-500491248CD8}" dt="2026-10-15T14:33:22.714" v="414" actId="14100"/>
          <ac:spMkLst>
            <pc:docMk/>
            <pc:sldMk cId="0" sldId="259"/>
            <ac:spMk id="23" creationId="{00000000-0000-0000-0000-000000000000}"/>
          </ac:spMkLst>
        </pc:spChg>
      </pc:sldChg>
      <pc:sldChg chg="delSp modSp mod">
        <pc:chgData name="Boga Shashank" userId="d9288b1565e02af5" providerId="LiveId" clId="{91ED3C43-599C-45D9-B8BE-500491248CD8}" dt="2026-10-15T14:35:07.373" v="427" actId="478"/>
        <pc:sldMkLst>
          <pc:docMk/>
          <pc:sldMk cId="0" sldId="262"/>
        </pc:sldMkLst>
        <pc:spChg chg="mod">
          <ac:chgData name="Boga Shashank" userId="d9288b1565e02af5" providerId="LiveId" clId="{91ED3C43-599C-45D9-B8BE-500491248CD8}" dt="2026-10-15T14:34:46.018" v="425" actId="1076"/>
          <ac:spMkLst>
            <pc:docMk/>
            <pc:sldMk cId="0" sldId="262"/>
            <ac:spMk id="6" creationId="{00000000-0000-0000-0000-000000000000}"/>
          </ac:spMkLst>
        </pc:spChg>
        <pc:spChg chg="mod">
          <ac:chgData name="Boga Shashank" userId="d9288b1565e02af5" providerId="LiveId" clId="{91ED3C43-599C-45D9-B8BE-500491248CD8}" dt="2026-10-15T14:34:06.456" v="418" actId="1076"/>
          <ac:spMkLst>
            <pc:docMk/>
            <pc:sldMk cId="0" sldId="262"/>
            <ac:spMk id="7" creationId="{00000000-0000-0000-0000-000000000000}"/>
          </ac:spMkLst>
        </pc:spChg>
        <pc:spChg chg="mod">
          <ac:chgData name="Boga Shashank" userId="d9288b1565e02af5" providerId="LiveId" clId="{91ED3C43-599C-45D9-B8BE-500491248CD8}" dt="2026-10-15T14:34:10.361" v="419" actId="1076"/>
          <ac:spMkLst>
            <pc:docMk/>
            <pc:sldMk cId="0" sldId="262"/>
            <ac:spMk id="8" creationId="{00000000-0000-0000-0000-000000000000}"/>
          </ac:spMkLst>
        </pc:spChg>
        <pc:spChg chg="mod">
          <ac:chgData name="Boga Shashank" userId="d9288b1565e02af5" providerId="LiveId" clId="{91ED3C43-599C-45D9-B8BE-500491248CD8}" dt="2026-10-15T14:34:33.579" v="424" actId="1076"/>
          <ac:spMkLst>
            <pc:docMk/>
            <pc:sldMk cId="0" sldId="262"/>
            <ac:spMk id="9" creationId="{00000000-0000-0000-0000-000000000000}"/>
          </ac:spMkLst>
        </pc:spChg>
        <pc:spChg chg="mod">
          <ac:chgData name="Boga Shashank" userId="d9288b1565e02af5" providerId="LiveId" clId="{91ED3C43-599C-45D9-B8BE-500491248CD8}" dt="2026-10-15T14:33:54.056" v="416" actId="27636"/>
          <ac:spMkLst>
            <pc:docMk/>
            <pc:sldMk cId="0" sldId="262"/>
            <ac:spMk id="10" creationId="{00000000-0000-0000-0000-000000000000}"/>
          </ac:spMkLst>
        </pc:spChg>
        <pc:spChg chg="mod">
          <ac:chgData name="Boga Shashank" userId="d9288b1565e02af5" providerId="LiveId" clId="{91ED3C43-599C-45D9-B8BE-500491248CD8}" dt="2026-10-14T18:26:00.930" v="362" actId="1076"/>
          <ac:spMkLst>
            <pc:docMk/>
            <pc:sldMk cId="0" sldId="262"/>
            <ac:spMk id="14" creationId="{00000000-0000-0000-0000-000000000000}"/>
          </ac:spMkLst>
        </pc:spChg>
        <pc:spChg chg="mod">
          <ac:chgData name="Boga Shashank" userId="d9288b1565e02af5" providerId="LiveId" clId="{91ED3C43-599C-45D9-B8BE-500491248CD8}" dt="2026-10-14T18:25:45.223" v="359" actId="27636"/>
          <ac:spMkLst>
            <pc:docMk/>
            <pc:sldMk cId="0" sldId="262"/>
            <ac:spMk id="17" creationId="{00000000-0000-0000-0000-000000000000}"/>
          </ac:spMkLst>
        </pc:spChg>
        <pc:spChg chg="mod">
          <ac:chgData name="Boga Shashank" userId="d9288b1565e02af5" providerId="LiveId" clId="{91ED3C43-599C-45D9-B8BE-500491248CD8}" dt="2026-10-14T18:25:50.765" v="360" actId="1076"/>
          <ac:spMkLst>
            <pc:docMk/>
            <pc:sldMk cId="0" sldId="262"/>
            <ac:spMk id="18" creationId="{00000000-0000-0000-0000-000000000000}"/>
          </ac:spMkLst>
        </pc:spChg>
        <pc:spChg chg="mod">
          <ac:chgData name="Boga Shashank" userId="d9288b1565e02af5" providerId="LiveId" clId="{91ED3C43-599C-45D9-B8BE-500491248CD8}" dt="2026-10-14T18:26:11.251" v="364" actId="1076"/>
          <ac:spMkLst>
            <pc:docMk/>
            <pc:sldMk cId="0" sldId="262"/>
            <ac:spMk id="25" creationId="{00000000-0000-0000-0000-000000000000}"/>
          </ac:spMkLst>
        </pc:spChg>
        <pc:spChg chg="mod">
          <ac:chgData name="Boga Shashank" userId="d9288b1565e02af5" providerId="LiveId" clId="{91ED3C43-599C-45D9-B8BE-500491248CD8}" dt="2026-10-14T18:26:06.538" v="363" actId="1076"/>
          <ac:spMkLst>
            <pc:docMk/>
            <pc:sldMk cId="0" sldId="262"/>
            <ac:spMk id="31" creationId="{00000000-0000-0000-0000-000000000000}"/>
          </ac:spMkLst>
        </pc:spChg>
        <pc:spChg chg="del">
          <ac:chgData name="Boga Shashank" userId="d9288b1565e02af5" providerId="LiveId" clId="{91ED3C43-599C-45D9-B8BE-500491248CD8}" dt="2026-10-15T14:35:07.373" v="427" actId="478"/>
          <ac:spMkLst>
            <pc:docMk/>
            <pc:sldMk cId="0" sldId="262"/>
            <ac:spMk id="53" creationId="{00000000-0000-0000-0000-000000000000}"/>
          </ac:spMkLst>
        </pc:spChg>
        <pc:spChg chg="del">
          <ac:chgData name="Boga Shashank" userId="d9288b1565e02af5" providerId="LiveId" clId="{91ED3C43-599C-45D9-B8BE-500491248CD8}" dt="2026-10-15T14:35:07.373" v="427" actId="478"/>
          <ac:spMkLst>
            <pc:docMk/>
            <pc:sldMk cId="0" sldId="262"/>
            <ac:spMk id="56" creationId="{00000000-0000-0000-0000-000000000000}"/>
          </ac:spMkLst>
        </pc:spChg>
        <pc:spChg chg="del">
          <ac:chgData name="Boga Shashank" userId="d9288b1565e02af5" providerId="LiveId" clId="{91ED3C43-599C-45D9-B8BE-500491248CD8}" dt="2026-10-15T14:35:07.373" v="427" actId="478"/>
          <ac:spMkLst>
            <pc:docMk/>
            <pc:sldMk cId="0" sldId="262"/>
            <ac:spMk id="57" creationId="{00000000-0000-0000-0000-000000000000}"/>
          </ac:spMkLst>
        </pc:spChg>
        <pc:spChg chg="del">
          <ac:chgData name="Boga Shashank" userId="d9288b1565e02af5" providerId="LiveId" clId="{91ED3C43-599C-45D9-B8BE-500491248CD8}" dt="2026-10-15T14:35:07.373" v="427" actId="478"/>
          <ac:spMkLst>
            <pc:docMk/>
            <pc:sldMk cId="0" sldId="262"/>
            <ac:spMk id="59" creationId="{00000000-0000-0000-0000-000000000000}"/>
          </ac:spMkLst>
        </pc:spChg>
        <pc:spChg chg="del">
          <ac:chgData name="Boga Shashank" userId="d9288b1565e02af5" providerId="LiveId" clId="{91ED3C43-599C-45D9-B8BE-500491248CD8}" dt="2026-10-15T14:35:07.373" v="427" actId="478"/>
          <ac:spMkLst>
            <pc:docMk/>
            <pc:sldMk cId="0" sldId="262"/>
            <ac:spMk id="60" creationId="{00000000-0000-0000-0000-000000000000}"/>
          </ac:spMkLst>
        </pc:spChg>
        <pc:spChg chg="del">
          <ac:chgData name="Boga Shashank" userId="d9288b1565e02af5" providerId="LiveId" clId="{91ED3C43-599C-45D9-B8BE-500491248CD8}" dt="2026-10-15T14:35:07.373" v="427" actId="478"/>
          <ac:spMkLst>
            <pc:docMk/>
            <pc:sldMk cId="0" sldId="262"/>
            <ac:spMk id="61" creationId="{00000000-0000-0000-0000-000000000000}"/>
          </ac:spMkLst>
        </pc:spChg>
        <pc:spChg chg="del">
          <ac:chgData name="Boga Shashank" userId="d9288b1565e02af5" providerId="LiveId" clId="{91ED3C43-599C-45D9-B8BE-500491248CD8}" dt="2026-10-15T14:35:07.373" v="427" actId="478"/>
          <ac:spMkLst>
            <pc:docMk/>
            <pc:sldMk cId="0" sldId="262"/>
            <ac:spMk id="64" creationId="{00000000-0000-0000-0000-000000000000}"/>
          </ac:spMkLst>
        </pc:spChg>
        <pc:spChg chg="del">
          <ac:chgData name="Boga Shashank" userId="d9288b1565e02af5" providerId="LiveId" clId="{91ED3C43-599C-45D9-B8BE-500491248CD8}" dt="2026-10-15T14:35:07.373" v="427" actId="478"/>
          <ac:spMkLst>
            <pc:docMk/>
            <pc:sldMk cId="0" sldId="262"/>
            <ac:spMk id="65" creationId="{00000000-0000-0000-0000-000000000000}"/>
          </ac:spMkLst>
        </pc:spChg>
        <pc:spChg chg="del mod">
          <ac:chgData name="Boga Shashank" userId="d9288b1565e02af5" providerId="LiveId" clId="{91ED3C43-599C-45D9-B8BE-500491248CD8}" dt="2026-10-15T14:35:07.373" v="427" actId="478"/>
          <ac:spMkLst>
            <pc:docMk/>
            <pc:sldMk cId="0" sldId="262"/>
            <ac:spMk id="66" creationId="{00000000-0000-0000-0000-000000000000}"/>
          </ac:spMkLst>
        </pc:spChg>
        <pc:spChg chg="del">
          <ac:chgData name="Boga Shashank" userId="d9288b1565e02af5" providerId="LiveId" clId="{91ED3C43-599C-45D9-B8BE-500491248CD8}" dt="2026-10-15T14:35:07.373" v="427" actId="478"/>
          <ac:spMkLst>
            <pc:docMk/>
            <pc:sldMk cId="0" sldId="262"/>
            <ac:spMk id="68" creationId="{00000000-0000-0000-0000-000000000000}"/>
          </ac:spMkLst>
        </pc:spChg>
      </pc:sldChg>
      <pc:sldChg chg="delSp mod">
        <pc:chgData name="Boga Shashank" userId="d9288b1565e02af5" providerId="LiveId" clId="{91ED3C43-599C-45D9-B8BE-500491248CD8}" dt="2026-10-15T14:35:19.747" v="428" actId="478"/>
        <pc:sldMkLst>
          <pc:docMk/>
          <pc:sldMk cId="0" sldId="264"/>
        </pc:sldMkLst>
        <pc:spChg chg="del">
          <ac:chgData name="Boga Shashank" userId="d9288b1565e02af5" providerId="LiveId" clId="{91ED3C43-599C-45D9-B8BE-500491248CD8}" dt="2026-10-15T14:35:19.747" v="428" actId="478"/>
          <ac:spMkLst>
            <pc:docMk/>
            <pc:sldMk cId="0" sldId="264"/>
            <ac:spMk id="32" creationId="{00000000-0000-0000-0000-000000000000}"/>
          </ac:spMkLst>
        </pc:spChg>
        <pc:spChg chg="del">
          <ac:chgData name="Boga Shashank" userId="d9288b1565e02af5" providerId="LiveId" clId="{91ED3C43-599C-45D9-B8BE-500491248CD8}" dt="2026-10-15T14:35:19.747" v="428" actId="478"/>
          <ac:spMkLst>
            <pc:docMk/>
            <pc:sldMk cId="0" sldId="264"/>
            <ac:spMk id="33" creationId="{00000000-0000-0000-0000-000000000000}"/>
          </ac:spMkLst>
        </pc:spChg>
        <pc:spChg chg="del">
          <ac:chgData name="Boga Shashank" userId="d9288b1565e02af5" providerId="LiveId" clId="{91ED3C43-599C-45D9-B8BE-500491248CD8}" dt="2026-10-15T14:35:19.747" v="428" actId="478"/>
          <ac:spMkLst>
            <pc:docMk/>
            <pc:sldMk cId="0" sldId="264"/>
            <ac:spMk id="34" creationId="{00000000-0000-0000-0000-000000000000}"/>
          </ac:spMkLst>
        </pc:spChg>
        <pc:spChg chg="del">
          <ac:chgData name="Boga Shashank" userId="d9288b1565e02af5" providerId="LiveId" clId="{91ED3C43-599C-45D9-B8BE-500491248CD8}" dt="2026-10-15T14:35:19.747" v="428" actId="478"/>
          <ac:spMkLst>
            <pc:docMk/>
            <pc:sldMk cId="0" sldId="264"/>
            <ac:spMk id="35" creationId="{00000000-0000-0000-0000-000000000000}"/>
          </ac:spMkLst>
        </pc:spChg>
        <pc:spChg chg="del">
          <ac:chgData name="Boga Shashank" userId="d9288b1565e02af5" providerId="LiveId" clId="{91ED3C43-599C-45D9-B8BE-500491248CD8}" dt="2026-10-15T14:35:19.747" v="428" actId="478"/>
          <ac:spMkLst>
            <pc:docMk/>
            <pc:sldMk cId="0" sldId="264"/>
            <ac:spMk id="36" creationId="{00000000-0000-0000-0000-000000000000}"/>
          </ac:spMkLst>
        </pc:spChg>
        <pc:spChg chg="del">
          <ac:chgData name="Boga Shashank" userId="d9288b1565e02af5" providerId="LiveId" clId="{91ED3C43-599C-45D9-B8BE-500491248CD8}" dt="2026-10-15T14:35:19.747" v="428" actId="478"/>
          <ac:spMkLst>
            <pc:docMk/>
            <pc:sldMk cId="0" sldId="264"/>
            <ac:spMk id="37" creationId="{00000000-0000-0000-0000-000000000000}"/>
          </ac:spMkLst>
        </pc:spChg>
        <pc:spChg chg="del">
          <ac:chgData name="Boga Shashank" userId="d9288b1565e02af5" providerId="LiveId" clId="{91ED3C43-599C-45D9-B8BE-500491248CD8}" dt="2026-10-15T14:35:19.747" v="428" actId="478"/>
          <ac:spMkLst>
            <pc:docMk/>
            <pc:sldMk cId="0" sldId="264"/>
            <ac:spMk id="38" creationId="{00000000-0000-0000-0000-000000000000}"/>
          </ac:spMkLst>
        </pc:spChg>
      </pc:sldChg>
      <pc:sldChg chg="modSp mod">
        <pc:chgData name="Boga Shashank" userId="d9288b1565e02af5" providerId="LiveId" clId="{91ED3C43-599C-45D9-B8BE-500491248CD8}" dt="2026-10-14T18:26:18.914" v="366" actId="1038"/>
        <pc:sldMkLst>
          <pc:docMk/>
          <pc:sldMk cId="0" sldId="265"/>
        </pc:sldMkLst>
        <pc:picChg chg="mod">
          <ac:chgData name="Boga Shashank" userId="d9288b1565e02af5" providerId="LiveId" clId="{91ED3C43-599C-45D9-B8BE-500491248CD8}" dt="2026-10-14T18:26:18.914" v="366" actId="1038"/>
          <ac:picMkLst>
            <pc:docMk/>
            <pc:sldMk cId="0" sldId="265"/>
            <ac:picMk id="8" creationId="{00000000-0000-0000-0000-000000000000}"/>
          </ac:picMkLst>
        </pc:picChg>
      </pc:sldChg>
      <pc:sldChg chg="delSp modSp mod">
        <pc:chgData name="Boga Shashank" userId="d9288b1565e02af5" providerId="LiveId" clId="{91ED3C43-599C-45D9-B8BE-500491248CD8}" dt="2026-10-14T18:26:39.080" v="398" actId="20577"/>
        <pc:sldMkLst>
          <pc:docMk/>
          <pc:sldMk cId="0" sldId="272"/>
        </pc:sldMkLst>
        <pc:spChg chg="del">
          <ac:chgData name="Boga Shashank" userId="d9288b1565e02af5" providerId="LiveId" clId="{91ED3C43-599C-45D9-B8BE-500491248CD8}" dt="2026-10-14T18:26:31.702" v="367" actId="478"/>
          <ac:spMkLst>
            <pc:docMk/>
            <pc:sldMk cId="0" sldId="272"/>
            <ac:spMk id="9" creationId="{00000000-0000-0000-0000-000000000000}"/>
          </ac:spMkLst>
        </pc:spChg>
        <pc:spChg chg="del">
          <ac:chgData name="Boga Shashank" userId="d9288b1565e02af5" providerId="LiveId" clId="{91ED3C43-599C-45D9-B8BE-500491248CD8}" dt="2026-10-14T18:26:31.702" v="367" actId="478"/>
          <ac:spMkLst>
            <pc:docMk/>
            <pc:sldMk cId="0" sldId="272"/>
            <ac:spMk id="10" creationId="{00000000-0000-0000-0000-000000000000}"/>
          </ac:spMkLst>
        </pc:spChg>
        <pc:spChg chg="del">
          <ac:chgData name="Boga Shashank" userId="d9288b1565e02af5" providerId="LiveId" clId="{91ED3C43-599C-45D9-B8BE-500491248CD8}" dt="2026-10-14T18:26:31.702" v="367" actId="478"/>
          <ac:spMkLst>
            <pc:docMk/>
            <pc:sldMk cId="0" sldId="272"/>
            <ac:spMk id="11" creationId="{00000000-0000-0000-0000-000000000000}"/>
          </ac:spMkLst>
        </pc:spChg>
        <pc:spChg chg="del">
          <ac:chgData name="Boga Shashank" userId="d9288b1565e02af5" providerId="LiveId" clId="{91ED3C43-599C-45D9-B8BE-500491248CD8}" dt="2026-10-14T18:26:31.702" v="367" actId="478"/>
          <ac:spMkLst>
            <pc:docMk/>
            <pc:sldMk cId="0" sldId="272"/>
            <ac:spMk id="12" creationId="{00000000-0000-0000-0000-000000000000}"/>
          </ac:spMkLst>
        </pc:spChg>
        <pc:spChg chg="del">
          <ac:chgData name="Boga Shashank" userId="d9288b1565e02af5" providerId="LiveId" clId="{91ED3C43-599C-45D9-B8BE-500491248CD8}" dt="2026-10-14T18:26:31.702" v="367" actId="478"/>
          <ac:spMkLst>
            <pc:docMk/>
            <pc:sldMk cId="0" sldId="272"/>
            <ac:spMk id="13" creationId="{00000000-0000-0000-0000-000000000000}"/>
          </ac:spMkLst>
        </pc:spChg>
        <pc:spChg chg="del">
          <ac:chgData name="Boga Shashank" userId="d9288b1565e02af5" providerId="LiveId" clId="{91ED3C43-599C-45D9-B8BE-500491248CD8}" dt="2026-10-14T18:26:31.702" v="367" actId="478"/>
          <ac:spMkLst>
            <pc:docMk/>
            <pc:sldMk cId="0" sldId="272"/>
            <ac:spMk id="14" creationId="{00000000-0000-0000-0000-000000000000}"/>
          </ac:spMkLst>
        </pc:spChg>
        <pc:spChg chg="del">
          <ac:chgData name="Boga Shashank" userId="d9288b1565e02af5" providerId="LiveId" clId="{91ED3C43-599C-45D9-B8BE-500491248CD8}" dt="2026-10-14T18:26:31.702" v="367" actId="478"/>
          <ac:spMkLst>
            <pc:docMk/>
            <pc:sldMk cId="0" sldId="272"/>
            <ac:spMk id="15" creationId="{00000000-0000-0000-0000-000000000000}"/>
          </ac:spMkLst>
        </pc:spChg>
        <pc:spChg chg="del">
          <ac:chgData name="Boga Shashank" userId="d9288b1565e02af5" providerId="LiveId" clId="{91ED3C43-599C-45D9-B8BE-500491248CD8}" dt="2026-10-14T18:26:31.702" v="367" actId="478"/>
          <ac:spMkLst>
            <pc:docMk/>
            <pc:sldMk cId="0" sldId="272"/>
            <ac:spMk id="16" creationId="{00000000-0000-0000-0000-000000000000}"/>
          </ac:spMkLst>
        </pc:spChg>
        <pc:spChg chg="mod">
          <ac:chgData name="Boga Shashank" userId="d9288b1565e02af5" providerId="LiveId" clId="{91ED3C43-599C-45D9-B8BE-500491248CD8}" dt="2026-10-14T18:26:39.080" v="398" actId="20577"/>
          <ac:spMkLst>
            <pc:docMk/>
            <pc:sldMk cId="0" sldId="272"/>
            <ac:spMk id="17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904829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Greet the panel and introduce the team.
- Read both student names and roll numbers exactly as shown.
- One-line pitch: a console Java app that organises a personal playlist and auto-tracks listening statistics.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Set the context: in the streaming era playlists define how we listen — but nothing lightweight and offline records it.
- State what the app does: a menu-driven console app that manages a playlist and auto-tracks every play.
- Name the tech stack: Core Java, classes and objects, ArrayList, HashMap, File I/O.
- Say why the topic was chosen: it fills the gap for a simple offline listening tracker.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Read the core statement in the navy card aloud.
- Walk the four pain points: manual logging, spreadsheet upkeep, online-only streaming stats, no instant summary.
- End on the goal line: lightweight, offline, auto-counting playlist and statistics manager in Java.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Point out that the five objectives map one-to-one to the menu features.
- Touch each briefly: playlist manager, automatic tracking, statistics, search/sort, file persistence.
- Say every objective will be verified live in the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Walk the comparison table top to bottom.
- Note each method's drawback: manual counting, online-only stats, heavy database setup.
- Finish on the gap this project fills — automatic counting, fully offline, full statistics report.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Stress the two pillars: automation (plays counted with zero manual entry) and persistence (auto-save to music_data.txt).
- Walk the five advantages briefly — offline JDK-only setup, 4-class modular OOP design, code commented for the viva.
- Use the table column by column; finish on "Open, simple Java classes".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Narrate the exact flow: user presses 4 → Main calls playSong() → Playlist fetches the Song → playCount +1 → auto-save writes music_data.txt.
- Emphasise separation of controller / manager / model layers: Main, Playlist + StatsManager, Song.
- Point at the ▼ save / ▲ load pair — storage is written after every change and reloaded at every start.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Each card maps to one typed menu number — walk them briefly in order 1 to 8.
- Suggested demo order: View All Songs (1), play "Believer" (4), then Listening Stats (7).
- Point out the gold-bordered cards 4 and 7 — the project's signature features.
- Auto-save runs after every change; it needs no menu option.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One line on separation of responsibilities: model / data manager / statistics / controller.
- Each of the four classes gets its own slide with the full code next.
- Mention 628 total lines, all commented — written to be read, not just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Point out private fields + public getter methods — that is encapsulation.
- Show the save-file format example: Believer|Imagine Dragons|204|51.
- fromFileString is the reverse operation used when the program starts.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removeSong loops once and stops at the first title match (ignore case).
- printf keeps the table columns aligned — mention the %-26s width flags.
- Both sorts are one-line lambda comparators: A-Z by title, highest plays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Walk the HashMap artist tally once slowly: key = artist, value = total plays.
- Listening time = sum of length x plays, converted to hours + minutes.
- Top-5 sorts a COPY of the list, so the user's playlist order stays untouched.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Narrate the menu loop once: print menu, read choice, switch-case dispatch.
- playSong core: get song, +1 count, auto-save — three meaningful lines.
- addSong, removeSong, search and sort handlers follow the same simple pattern (full source in upload).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Point at Believer moving 51 → 52 plays — and the totals and Top-5 recomputed live in the right window.
- Highlight the aligned printf table columns in the left window.
- Offer a live demo: run java Main (OpenJDK 21) in front of the panel.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Frame the section: modular OOP design gives clean extension points for future versions.
- Highlight the top two natural next steps — GUI front-end (Swing/JavaFX) and MySQL storage via JDBC.
- Walk the remaining four briefly: shuffle/queue, smart recommendations, PDF/CSV report export, real audio playback.
- Close: the current console version is a complete, extensible Core Java base.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Point at the stat strip: 4 Java classes, 8 menu features, 100% offline and free, 0 manual entries per play.
- Read the four achievements aloud; stress that all five Slide-3 objectives were verified in the working demo.
- Learning outcomes: each member gives one personal line — OOP, collections, File I/O, input validation, modular design.
- End on the navy strip: every objective met, and a solid base ready for the GUI and database upgrades.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Thank the panel for their time and attention.
- Invite questions and suggestions on the design, the code or the statistics engine.
- Offer the live demo: run "java Main", play a song and show the stats update live.
- Close by thanking the faculty guide once more.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72492" y="195102"/>
            <a:ext cx="3505428" cy="234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800" kern="0" spc="146" dirty="0">
                <a:solidFill>
                  <a:srgbClr val="8A5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 Solving Using Programming </a:t>
            </a:r>
            <a:r>
              <a:rPr lang="en-US" sz="800" kern="0" spc="146" dirty="0" err="1">
                <a:solidFill>
                  <a:srgbClr val="8A5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JavaQ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700088"/>
            <a:ext cx="457200" cy="28575"/>
          </a:xfrm>
          <a:prstGeom prst="roundRect">
            <a:avLst>
              <a:gd name="adj" fmla="val 66667"/>
            </a:avLst>
          </a:prstGeom>
          <a:solidFill>
            <a:srgbClr val="B7791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4517641" cy="9320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399"/>
              </a:lnSpc>
              <a:buNone/>
            </a:pPr>
            <a:r>
              <a:rPr lang="en-US" sz="2981" b="1" dirty="0">
                <a:solidFill>
                  <a:srgbClr val="16305B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Music Playlist </a:t>
            </a:r>
            <a:r>
              <a:rPr lang="en-US" sz="2981" b="1" dirty="0">
                <a:solidFill>
                  <a:srgbClr val="8A5A14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&amp;</a:t>
            </a:r>
            <a:r>
              <a:rPr lang="en-US" sz="2981" b="1" dirty="0">
                <a:solidFill>
                  <a:srgbClr val="16305B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 Listening Stats Manager</a:t>
            </a:r>
            <a:endParaRPr lang="en-US" sz="2981" dirty="0"/>
          </a:p>
        </p:txBody>
      </p:sp>
      <p:sp>
        <p:nvSpPr>
          <p:cNvPr id="5" name="Text 3"/>
          <p:cNvSpPr/>
          <p:nvPr/>
        </p:nvSpPr>
        <p:spPr>
          <a:xfrm>
            <a:off x="457200" y="1906042"/>
            <a:ext cx="4143375" cy="4195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30"/>
              </a:lnSpc>
              <a:buNone/>
            </a:pPr>
            <a:r>
              <a:rPr lang="en-US" sz="956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 console-based Java application to organise a personal music playlist and automatically track listening statistics.</a:t>
            </a:r>
            <a:endParaRPr lang="en-US" sz="956" dirty="0"/>
          </a:p>
        </p:txBody>
      </p:sp>
      <p:sp>
        <p:nvSpPr>
          <p:cNvPr id="6" name="Text 4"/>
          <p:cNvSpPr/>
          <p:nvPr/>
        </p:nvSpPr>
        <p:spPr>
          <a:xfrm>
            <a:off x="457200" y="3442395"/>
            <a:ext cx="613326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kern="0" spc="149" dirty="0">
                <a:solidFill>
                  <a:srgbClr val="5B6B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Presented by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67916" y="3660279"/>
            <a:ext cx="0" cy="387102"/>
          </a:xfrm>
          <a:prstGeom prst="line">
            <a:avLst/>
          </a:prstGeom>
          <a:noFill/>
          <a:ln w="21431">
            <a:solidFill>
              <a:srgbClr val="B7791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578644" y="3695998"/>
            <a:ext cx="2008733" cy="15428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1207"/>
              </a:lnSpc>
              <a:buNone/>
            </a:pPr>
            <a:r>
              <a:rPr lang="en-US" sz="928" b="1" dirty="0">
                <a:solidFill>
                  <a:srgbClr val="16305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Boga Shashank</a:t>
            </a:r>
            <a:endParaRPr lang="en-US" sz="928" dirty="0"/>
          </a:p>
        </p:txBody>
      </p:sp>
      <p:sp>
        <p:nvSpPr>
          <p:cNvPr id="9" name="Text 7"/>
          <p:cNvSpPr/>
          <p:nvPr/>
        </p:nvSpPr>
        <p:spPr>
          <a:xfrm>
            <a:off x="578644" y="3877717"/>
            <a:ext cx="2008733" cy="1339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55"/>
              </a:lnSpc>
              <a:buNone/>
            </a:pPr>
            <a:r>
              <a:rPr lang="en-US" sz="800" dirty="0">
                <a:solidFill>
                  <a:srgbClr val="5B6B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 No: 2620040175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855268" y="3660279"/>
            <a:ext cx="0" cy="387102"/>
          </a:xfrm>
          <a:prstGeom prst="line">
            <a:avLst/>
          </a:prstGeom>
          <a:noFill/>
          <a:ln w="21431">
            <a:solidFill>
              <a:srgbClr val="B7791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2965996" y="3695998"/>
            <a:ext cx="2008845" cy="15428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1207"/>
              </a:lnSpc>
              <a:buNone/>
            </a:pPr>
            <a:r>
              <a:rPr lang="en-US" sz="928" b="1" dirty="0">
                <a:solidFill>
                  <a:srgbClr val="16305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Yarlagadda </a:t>
            </a:r>
            <a:r>
              <a:rPr lang="en-US" sz="928" b="1" dirty="0" err="1">
                <a:solidFill>
                  <a:srgbClr val="16305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Druveen</a:t>
            </a:r>
            <a:endParaRPr lang="en-US" sz="928" dirty="0"/>
          </a:p>
        </p:txBody>
      </p:sp>
      <p:sp>
        <p:nvSpPr>
          <p:cNvPr id="12" name="Text 10"/>
          <p:cNvSpPr/>
          <p:nvPr/>
        </p:nvSpPr>
        <p:spPr>
          <a:xfrm>
            <a:off x="2965996" y="3877717"/>
            <a:ext cx="2008845" cy="1339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55"/>
              </a:lnSpc>
              <a:buNone/>
            </a:pPr>
            <a:r>
              <a:rPr lang="en-US" sz="800" dirty="0">
                <a:solidFill>
                  <a:srgbClr val="5B6B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 No: 262003528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67916" y="4161681"/>
            <a:ext cx="0" cy="224582"/>
          </a:xfrm>
          <a:prstGeom prst="line">
            <a:avLst/>
          </a:prstGeom>
          <a:noFill/>
          <a:ln w="21431">
            <a:solidFill>
              <a:srgbClr val="B7791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578644" y="4197400"/>
            <a:ext cx="2118461" cy="153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07"/>
              </a:lnSpc>
              <a:buNone/>
            </a:pPr>
            <a:r>
              <a:rPr lang="en-US" sz="928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Faculty Guide: V GopiKrishna</a:t>
            </a:r>
            <a:endParaRPr lang="en-US" sz="928" dirty="0"/>
          </a:p>
        </p:txBody>
      </p:sp>
      <p:sp>
        <p:nvSpPr>
          <p:cNvPr id="15" name="Shape 13"/>
          <p:cNvSpPr/>
          <p:nvPr/>
        </p:nvSpPr>
        <p:spPr>
          <a:xfrm>
            <a:off x="2855268" y="4161681"/>
            <a:ext cx="0" cy="224582"/>
          </a:xfrm>
          <a:prstGeom prst="line">
            <a:avLst/>
          </a:prstGeom>
          <a:noFill/>
          <a:ln w="21431">
            <a:solidFill>
              <a:srgbClr val="B7791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2965996" y="4197400"/>
            <a:ext cx="2118573" cy="153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07"/>
              </a:lnSpc>
              <a:buNone/>
            </a:pPr>
            <a:endParaRPr lang="en-US" sz="928" dirty="0"/>
          </a:p>
        </p:txBody>
      </p:sp>
      <p:sp>
        <p:nvSpPr>
          <p:cNvPr id="17" name="Shape 15"/>
          <p:cNvSpPr/>
          <p:nvPr/>
        </p:nvSpPr>
        <p:spPr>
          <a:xfrm>
            <a:off x="457200" y="4561284"/>
            <a:ext cx="4517641" cy="0"/>
          </a:xfrm>
          <a:prstGeom prst="line">
            <a:avLst/>
          </a:prstGeom>
          <a:noFill/>
          <a:ln w="7144">
            <a:solidFill>
              <a:srgbClr val="D9E2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457200" y="4557713"/>
            <a:ext cx="4517641" cy="282158"/>
          </a:xfrm>
          <a:prstGeom prst="rect">
            <a:avLst/>
          </a:prstGeom>
          <a:noFill/>
          <a:ln/>
        </p:spPr>
        <p:txBody>
          <a:bodyPr wrap="square" lIns="0" tIns="100013" rIns="0" bIns="0" rtlCol="0" anchor="t"/>
          <a:lstStyle/>
          <a:p>
            <a:pPr marL="0" indent="0" algn="l">
              <a:lnSpc>
                <a:spcPts val="1181"/>
              </a:lnSpc>
              <a:buNone/>
            </a:pPr>
            <a:endParaRPr lang="en-US" sz="800" dirty="0"/>
          </a:p>
        </p:txBody>
      </p:sp>
      <p:pic>
        <p:nvPicPr>
          <p:cNvPr id="19" name="Image 0" descr="/tmp/h2p-fit-1792001653473-g595d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453" y="0"/>
            <a:ext cx="3840435" cy="5143500"/>
          </a:xfrm>
          <a:prstGeom prst="rect">
            <a:avLst/>
          </a:prstGeom>
        </p:spPr>
      </p:pic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453" y="0"/>
            <a:ext cx="3840435" cy="514350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5574916" y="4597003"/>
            <a:ext cx="400050" cy="28575"/>
          </a:xfrm>
          <a:prstGeom prst="roundRect">
            <a:avLst>
              <a:gd name="adj" fmla="val 66667"/>
            </a:avLst>
          </a:prstGeom>
          <a:solidFill>
            <a:srgbClr val="B7791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18"/>
          <p:cNvSpPr/>
          <p:nvPr/>
        </p:nvSpPr>
        <p:spPr>
          <a:xfrm>
            <a:off x="5574916" y="4725591"/>
            <a:ext cx="329751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endParaRPr lang="en-US" sz="844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8625" y="385763"/>
            <a:ext cx="328613" cy="328613"/>
          </a:xfrm>
          <a:prstGeom prst="roundRect">
            <a:avLst>
              <a:gd name="adj" fmla="val 28985"/>
            </a:avLst>
          </a:prstGeom>
          <a:solidFill>
            <a:srgbClr val="B7791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7725" y="437555"/>
            <a:ext cx="209513" cy="243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72"/>
              </a:lnSpc>
              <a:buNone/>
            </a:pPr>
            <a:r>
              <a:rPr lang="en-US" sz="1181" b="1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</a:t>
            </a:r>
            <a:endParaRPr lang="en-US" sz="1181" dirty="0"/>
          </a:p>
        </p:txBody>
      </p:sp>
      <p:sp>
        <p:nvSpPr>
          <p:cNvPr id="4" name="Text 2"/>
          <p:cNvSpPr/>
          <p:nvPr/>
        </p:nvSpPr>
        <p:spPr>
          <a:xfrm>
            <a:off x="758678" y="416458"/>
            <a:ext cx="1902101" cy="2884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4"/>
              </a:lnSpc>
              <a:buNone/>
            </a:pPr>
            <a:r>
              <a:rPr lang="en-US" sz="1913" b="1" dirty="0">
                <a:solidFill>
                  <a:srgbClr val="16305B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Introduction</a:t>
            </a:r>
            <a:endParaRPr lang="en-US" sz="1913" dirty="0"/>
          </a:p>
        </p:txBody>
      </p:sp>
      <p:sp>
        <p:nvSpPr>
          <p:cNvPr id="5" name="Text 3"/>
          <p:cNvSpPr/>
          <p:nvPr/>
        </p:nvSpPr>
        <p:spPr>
          <a:xfrm>
            <a:off x="2332658" y="546497"/>
            <a:ext cx="6382717" cy="7144"/>
          </a:xfrm>
          <a:prstGeom prst="rect">
            <a:avLst/>
          </a:prstGeom>
          <a:solidFill>
            <a:srgbClr val="D9E2E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28625" y="928688"/>
            <a:ext cx="4987230" cy="599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8"/>
              </a:lnSpc>
              <a:buNone/>
            </a:pPr>
            <a:r>
              <a:rPr lang="en-US" sz="900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In the era of Spotify and Apple Music, playlists define how we listen to music. Yet there is no , offline tool that records every song you play and summarises your listening habits in one place.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28625" y="1641053"/>
            <a:ext cx="4987230" cy="819299"/>
          </a:xfrm>
          <a:prstGeom prst="rect">
            <a:avLst/>
          </a:prstGeom>
          <a:solidFill>
            <a:srgbClr val="F4F7F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28625" y="1644625"/>
            <a:ext cx="4987230" cy="0"/>
          </a:xfrm>
          <a:prstGeom prst="line">
            <a:avLst/>
          </a:prstGeom>
          <a:noFill/>
          <a:ln w="7144">
            <a:solidFill>
              <a:srgbClr val="D9E2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5412284" y="1641053"/>
            <a:ext cx="0" cy="819299"/>
          </a:xfrm>
          <a:prstGeom prst="line">
            <a:avLst/>
          </a:prstGeom>
          <a:noFill/>
          <a:ln w="7144">
            <a:solidFill>
              <a:srgbClr val="D9E2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428625" y="2456780"/>
            <a:ext cx="4987230" cy="0"/>
          </a:xfrm>
          <a:prstGeom prst="line">
            <a:avLst/>
          </a:prstGeom>
          <a:noFill/>
          <a:ln w="7144">
            <a:solidFill>
              <a:srgbClr val="D9E2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442913" y="1641053"/>
            <a:ext cx="0" cy="819299"/>
          </a:xfrm>
          <a:prstGeom prst="line">
            <a:avLst/>
          </a:prstGeom>
          <a:noFill/>
          <a:ln w="28575">
            <a:solidFill>
              <a:srgbClr val="B7791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614363" y="1776785"/>
            <a:ext cx="4637187" cy="547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39"/>
              </a:lnSpc>
              <a:buNone/>
            </a:pPr>
            <a:r>
              <a:rPr lang="en-US" sz="928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This project is a menu-driven console application built in Core Java that lets a user manage a personal music playlist and automatically tracks how many times each song is played.</a:t>
            </a:r>
            <a:endParaRPr lang="en-US" sz="928" dirty="0"/>
          </a:p>
        </p:txBody>
      </p:sp>
      <p:sp>
        <p:nvSpPr>
          <p:cNvPr id="13" name="Text 11"/>
          <p:cNvSpPr/>
          <p:nvPr/>
        </p:nvSpPr>
        <p:spPr>
          <a:xfrm>
            <a:off x="428625" y="2646090"/>
            <a:ext cx="135731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36" dirty="0">
                <a:solidFill>
                  <a:srgbClr val="B7791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336" dirty="0"/>
          </a:p>
        </p:txBody>
      </p:sp>
      <p:sp>
        <p:nvSpPr>
          <p:cNvPr id="14" name="Text 12"/>
          <p:cNvSpPr/>
          <p:nvPr/>
        </p:nvSpPr>
        <p:spPr>
          <a:xfrm>
            <a:off x="642938" y="2631802"/>
            <a:ext cx="4772918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844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Built with Core Java — classes &amp; objects, ArrayList, HashMap, File I/O</a:t>
            </a:r>
            <a:endParaRPr lang="en-US" sz="844" dirty="0"/>
          </a:p>
        </p:txBody>
      </p:sp>
      <p:sp>
        <p:nvSpPr>
          <p:cNvPr id="15" name="Text 13"/>
          <p:cNvSpPr/>
          <p:nvPr/>
        </p:nvSpPr>
        <p:spPr>
          <a:xfrm>
            <a:off x="428625" y="2899693"/>
            <a:ext cx="135731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36" dirty="0">
                <a:solidFill>
                  <a:srgbClr val="B7791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336" dirty="0"/>
          </a:p>
        </p:txBody>
      </p:sp>
      <p:sp>
        <p:nvSpPr>
          <p:cNvPr id="16" name="Text 14"/>
          <p:cNvSpPr/>
          <p:nvPr/>
        </p:nvSpPr>
        <p:spPr>
          <a:xfrm>
            <a:off x="690352" y="2948627"/>
            <a:ext cx="4772918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844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Playlist data persists in a plain text file between runs</a:t>
            </a:r>
            <a:endParaRPr lang="en-US" sz="844" dirty="0"/>
          </a:p>
        </p:txBody>
      </p:sp>
      <p:sp>
        <p:nvSpPr>
          <p:cNvPr id="17" name="Text 15"/>
          <p:cNvSpPr/>
          <p:nvPr/>
        </p:nvSpPr>
        <p:spPr>
          <a:xfrm>
            <a:off x="428625" y="3153296"/>
            <a:ext cx="135731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36" dirty="0">
                <a:solidFill>
                  <a:srgbClr val="B7791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336" dirty="0"/>
          </a:p>
        </p:txBody>
      </p:sp>
      <p:sp>
        <p:nvSpPr>
          <p:cNvPr id="18" name="Text 16"/>
          <p:cNvSpPr/>
          <p:nvPr/>
        </p:nvSpPr>
        <p:spPr>
          <a:xfrm>
            <a:off x="642938" y="3139008"/>
            <a:ext cx="4772918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844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Every play updates counters automatically — no manual logging</a:t>
            </a:r>
            <a:endParaRPr lang="en-US" sz="844" dirty="0"/>
          </a:p>
        </p:txBody>
      </p:sp>
      <p:sp>
        <p:nvSpPr>
          <p:cNvPr id="19" name="Text 17"/>
          <p:cNvSpPr/>
          <p:nvPr/>
        </p:nvSpPr>
        <p:spPr>
          <a:xfrm>
            <a:off x="428625" y="3406899"/>
            <a:ext cx="135731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36" dirty="0">
                <a:solidFill>
                  <a:srgbClr val="B7791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336" dirty="0"/>
          </a:p>
        </p:txBody>
      </p:sp>
      <p:sp>
        <p:nvSpPr>
          <p:cNvPr id="20" name="Text 18"/>
          <p:cNvSpPr/>
          <p:nvPr/>
        </p:nvSpPr>
        <p:spPr>
          <a:xfrm>
            <a:off x="642938" y="3392612"/>
            <a:ext cx="4772918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844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Statistics engine reports totals, favourite artist and Top-5 songs</a:t>
            </a:r>
            <a:endParaRPr lang="en-US" sz="844" dirty="0"/>
          </a:p>
        </p:txBody>
      </p:sp>
      <p:sp>
        <p:nvSpPr>
          <p:cNvPr id="21" name="Text 19"/>
          <p:cNvSpPr/>
          <p:nvPr/>
        </p:nvSpPr>
        <p:spPr>
          <a:xfrm>
            <a:off x="5662315" y="932259"/>
            <a:ext cx="3049488" cy="3850481"/>
          </a:xfrm>
          <a:prstGeom prst="roundRect">
            <a:avLst>
              <a:gd name="adj" fmla="val 3123"/>
            </a:avLst>
          </a:prstGeom>
          <a:solidFill>
            <a:srgbClr val="FFFFFF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2" name="Image 0" descr="/tmp/h2p-fit-1792001653378-byzfz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5887" y="935831"/>
            <a:ext cx="3042345" cy="3346847"/>
          </a:xfrm>
          <a:prstGeom prst="rect">
            <a:avLst/>
          </a:prstGeom>
        </p:spPr>
      </p:pic>
      <p:sp>
        <p:nvSpPr>
          <p:cNvPr id="23" name="Shape 20"/>
          <p:cNvSpPr/>
          <p:nvPr/>
        </p:nvSpPr>
        <p:spPr>
          <a:xfrm>
            <a:off x="5665887" y="4286250"/>
            <a:ext cx="3042345" cy="0"/>
          </a:xfrm>
          <a:prstGeom prst="line">
            <a:avLst/>
          </a:prstGeom>
          <a:noFill/>
          <a:ln w="7144">
            <a:solidFill>
              <a:srgbClr val="D9E2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Text 21"/>
          <p:cNvSpPr/>
          <p:nvPr/>
        </p:nvSpPr>
        <p:spPr>
          <a:xfrm>
            <a:off x="5794474" y="4389834"/>
            <a:ext cx="2785170" cy="289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39"/>
              </a:lnSpc>
              <a:buNone/>
            </a:pPr>
            <a:r>
              <a:rPr lang="en-US" sz="800" i="1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Playlists generate the data — this project records and analyses it.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8625" y="371475"/>
            <a:ext cx="328613" cy="328613"/>
          </a:xfrm>
          <a:prstGeom prst="roundRect">
            <a:avLst>
              <a:gd name="adj" fmla="val 28985"/>
            </a:avLst>
          </a:prstGeom>
          <a:solidFill>
            <a:srgbClr val="B7791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7725" y="423267"/>
            <a:ext cx="209513" cy="243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72"/>
              </a:lnSpc>
              <a:buNone/>
            </a:pPr>
            <a:r>
              <a:rPr lang="en-US" sz="1181" b="1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2</a:t>
            </a:r>
            <a:endParaRPr lang="en-US" sz="1181" dirty="0"/>
          </a:p>
        </p:txBody>
      </p:sp>
      <p:sp>
        <p:nvSpPr>
          <p:cNvPr id="4" name="Text 2"/>
          <p:cNvSpPr/>
          <p:nvPr/>
        </p:nvSpPr>
        <p:spPr>
          <a:xfrm>
            <a:off x="885825" y="402171"/>
            <a:ext cx="2498638" cy="2884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4"/>
              </a:lnSpc>
              <a:buNone/>
            </a:pPr>
            <a:r>
              <a:rPr lang="en-US" sz="1913" b="1" dirty="0">
                <a:solidFill>
                  <a:srgbClr val="16305B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Problem Statement</a:t>
            </a:r>
            <a:endParaRPr lang="en-US" sz="1913" dirty="0"/>
          </a:p>
        </p:txBody>
      </p:sp>
      <p:sp>
        <p:nvSpPr>
          <p:cNvPr id="5" name="Text 3"/>
          <p:cNvSpPr/>
          <p:nvPr/>
        </p:nvSpPr>
        <p:spPr>
          <a:xfrm>
            <a:off x="3013323" y="532209"/>
            <a:ext cx="5702052" cy="7144"/>
          </a:xfrm>
          <a:prstGeom prst="rect">
            <a:avLst/>
          </a:prstGeom>
          <a:solidFill>
            <a:srgbClr val="D9E2E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28625" y="885825"/>
            <a:ext cx="8286750" cy="796528"/>
          </a:xfrm>
          <a:prstGeom prst="roundRect">
            <a:avLst>
              <a:gd name="adj" fmla="val 11958"/>
            </a:avLst>
          </a:prstGeom>
          <a:solidFill>
            <a:srgbClr val="16305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28650" y="1042988"/>
            <a:ext cx="334863" cy="3819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84"/>
              </a:lnSpc>
              <a:buNone/>
            </a:pPr>
            <a:r>
              <a:rPr lang="en-US" sz="3713" dirty="0">
                <a:solidFill>
                  <a:srgbClr val="B7791F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“</a:t>
            </a:r>
            <a:endParaRPr lang="en-US" sz="3713" dirty="0"/>
          </a:p>
        </p:txBody>
      </p:sp>
      <p:sp>
        <p:nvSpPr>
          <p:cNvPr id="8" name="Text 6"/>
          <p:cNvSpPr/>
          <p:nvPr/>
        </p:nvSpPr>
        <p:spPr>
          <a:xfrm>
            <a:off x="980815" y="1042988"/>
            <a:ext cx="7505960" cy="467916"/>
          </a:xfrm>
          <a:prstGeom prst="rect">
            <a:avLst/>
          </a:prstGeom>
          <a:noFill/>
          <a:ln/>
        </p:spPr>
        <p:txBody>
          <a:bodyPr wrap="square" lIns="0" tIns="28575" rIns="0" bIns="0" rtlCol="0" anchor="t"/>
          <a:lstStyle/>
          <a:p>
            <a:pPr marL="0" indent="0" algn="l">
              <a:lnSpc>
                <a:spcPts val="1730"/>
              </a:lnSpc>
              <a:buNone/>
            </a:pPr>
            <a:r>
              <a:rPr lang="en-US" sz="1153" dirty="0">
                <a:solidFill>
                  <a:srgbClr val="EAF0F9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Music listeners have no simple, offline way to record which songs they play and to see their listening habits summarised in one place.</a:t>
            </a:r>
            <a:endParaRPr lang="en-US" sz="1153" dirty="0"/>
          </a:p>
        </p:txBody>
      </p:sp>
      <p:sp>
        <p:nvSpPr>
          <p:cNvPr id="9" name="Text 7"/>
          <p:cNvSpPr/>
          <p:nvPr/>
        </p:nvSpPr>
        <p:spPr>
          <a:xfrm>
            <a:off x="432197" y="1828800"/>
            <a:ext cx="4079081" cy="1166217"/>
          </a:xfrm>
          <a:prstGeom prst="roundRect">
            <a:avLst>
              <a:gd name="adj" fmla="val 8167"/>
            </a:avLst>
          </a:prstGeom>
          <a:solidFill>
            <a:srgbClr val="FFFFFF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582216" y="1964531"/>
            <a:ext cx="292894" cy="292894"/>
          </a:xfrm>
          <a:prstGeom prst="roundRect">
            <a:avLst>
              <a:gd name="adj" fmla="val 32520"/>
            </a:avLst>
          </a:prstGeom>
          <a:solidFill>
            <a:srgbClr val="F4F7FB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09540" y="1991856"/>
            <a:ext cx="238244" cy="2382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17" dirty="0">
                <a:solidFill>
                  <a:srgbClr val="B7791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✎</a:t>
            </a:r>
            <a:endParaRPr lang="en-US" sz="1617" dirty="0"/>
          </a:p>
        </p:txBody>
      </p:sp>
      <p:sp>
        <p:nvSpPr>
          <p:cNvPr id="12" name="Text 10"/>
          <p:cNvSpPr/>
          <p:nvPr/>
        </p:nvSpPr>
        <p:spPr>
          <a:xfrm>
            <a:off x="992981" y="1960959"/>
            <a:ext cx="3371850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900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Manual logging is tedious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992981" y="2146697"/>
            <a:ext cx="3371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39"/>
              </a:lnSpc>
              <a:buNone/>
            </a:pPr>
            <a:r>
              <a:rPr lang="en-US" sz="800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Writing down each played song by hand is slow, and entries are easily forgotten or duplicated.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632722" y="1828800"/>
            <a:ext cx="4079081" cy="1166217"/>
          </a:xfrm>
          <a:prstGeom prst="roundRect">
            <a:avLst>
              <a:gd name="adj" fmla="val 8167"/>
            </a:avLst>
          </a:prstGeom>
          <a:solidFill>
            <a:srgbClr val="FFFFFF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782741" y="1964531"/>
            <a:ext cx="292894" cy="292894"/>
          </a:xfrm>
          <a:prstGeom prst="roundRect">
            <a:avLst>
              <a:gd name="adj" fmla="val 32520"/>
            </a:avLst>
          </a:prstGeom>
          <a:solidFill>
            <a:srgbClr val="F4F7FB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4810065" y="1991856"/>
            <a:ext cx="238244" cy="2382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17" dirty="0">
                <a:solidFill>
                  <a:srgbClr val="B7791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◉</a:t>
            </a:r>
            <a:endParaRPr lang="en-US" sz="1617" dirty="0"/>
          </a:p>
        </p:txBody>
      </p:sp>
      <p:sp>
        <p:nvSpPr>
          <p:cNvPr id="17" name="Text 15"/>
          <p:cNvSpPr/>
          <p:nvPr/>
        </p:nvSpPr>
        <p:spPr>
          <a:xfrm>
            <a:off x="5193506" y="1960959"/>
            <a:ext cx="3371850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900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Spreadsheets need upkeep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193506" y="2146697"/>
            <a:ext cx="3371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39"/>
              </a:lnSpc>
              <a:buNone/>
            </a:pPr>
            <a:r>
              <a:rPr lang="en-US" sz="800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Excel trackers must be updated manually, so play counts end up guessed instead of measured.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32197" y="3116461"/>
            <a:ext cx="4079081" cy="1166217"/>
          </a:xfrm>
          <a:prstGeom prst="roundRect">
            <a:avLst>
              <a:gd name="adj" fmla="val 8167"/>
            </a:avLst>
          </a:prstGeom>
          <a:solidFill>
            <a:srgbClr val="FFFFFF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582216" y="3252192"/>
            <a:ext cx="292894" cy="292894"/>
          </a:xfrm>
          <a:prstGeom prst="roundRect">
            <a:avLst>
              <a:gd name="adj" fmla="val 32520"/>
            </a:avLst>
          </a:prstGeom>
          <a:solidFill>
            <a:srgbClr val="F4F7FB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09540" y="3279517"/>
            <a:ext cx="238244" cy="2382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17" dirty="0">
                <a:solidFill>
                  <a:srgbClr val="B7791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☁</a:t>
            </a:r>
            <a:endParaRPr lang="en-US" sz="1617" dirty="0"/>
          </a:p>
        </p:txBody>
      </p:sp>
      <p:sp>
        <p:nvSpPr>
          <p:cNvPr id="22" name="Text 20"/>
          <p:cNvSpPr/>
          <p:nvPr/>
        </p:nvSpPr>
        <p:spPr>
          <a:xfrm>
            <a:off x="992981" y="3248620"/>
            <a:ext cx="3481578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900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Streaming apps are online-only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992981" y="3434358"/>
            <a:ext cx="3371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39"/>
              </a:lnSpc>
              <a:buNone/>
            </a:pPr>
            <a:r>
              <a:rPr lang="en-US" sz="800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Their statistics need an internet connection and an account, and cannot be customised or exported.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632722" y="3116461"/>
            <a:ext cx="4079081" cy="1166217"/>
          </a:xfrm>
          <a:prstGeom prst="roundRect">
            <a:avLst>
              <a:gd name="adj" fmla="val 8167"/>
            </a:avLst>
          </a:prstGeom>
          <a:solidFill>
            <a:srgbClr val="FFFFFF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4782741" y="3252192"/>
            <a:ext cx="292894" cy="292894"/>
          </a:xfrm>
          <a:prstGeom prst="roundRect">
            <a:avLst>
              <a:gd name="adj" fmla="val 32520"/>
            </a:avLst>
          </a:prstGeom>
          <a:solidFill>
            <a:srgbClr val="F4F7FB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4810065" y="3279517"/>
            <a:ext cx="238244" cy="2382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17" dirty="0">
                <a:solidFill>
                  <a:srgbClr val="B7791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?</a:t>
            </a:r>
            <a:endParaRPr lang="en-US" sz="1617" dirty="0"/>
          </a:p>
        </p:txBody>
      </p:sp>
      <p:sp>
        <p:nvSpPr>
          <p:cNvPr id="27" name="Text 25"/>
          <p:cNvSpPr/>
          <p:nvPr/>
        </p:nvSpPr>
        <p:spPr>
          <a:xfrm>
            <a:off x="5193506" y="3248620"/>
            <a:ext cx="3326666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900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No instant summary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193506" y="3434358"/>
            <a:ext cx="31682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39"/>
              </a:lnSpc>
              <a:buNone/>
            </a:pPr>
            <a:r>
              <a:rPr lang="en-US" sz="759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Finding your most-played song or favourite artist means counting by hand.</a:t>
            </a:r>
            <a:endParaRPr lang="en-US" sz="759" dirty="0"/>
          </a:p>
        </p:txBody>
      </p:sp>
      <p:sp>
        <p:nvSpPr>
          <p:cNvPr id="29" name="Text 27"/>
          <p:cNvSpPr/>
          <p:nvPr/>
        </p:nvSpPr>
        <p:spPr>
          <a:xfrm>
            <a:off x="428625" y="4429125"/>
            <a:ext cx="8286750" cy="371475"/>
          </a:xfrm>
          <a:prstGeom prst="rect">
            <a:avLst/>
          </a:prstGeom>
          <a:solidFill>
            <a:srgbClr val="F4F7F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0" name="Shape 28"/>
          <p:cNvSpPr/>
          <p:nvPr/>
        </p:nvSpPr>
        <p:spPr>
          <a:xfrm>
            <a:off x="428625" y="4432697"/>
            <a:ext cx="8286750" cy="0"/>
          </a:xfrm>
          <a:prstGeom prst="line">
            <a:avLst/>
          </a:prstGeom>
          <a:noFill/>
          <a:ln w="7144">
            <a:solidFill>
              <a:srgbClr val="D9E2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8711803" y="4429125"/>
            <a:ext cx="0" cy="371475"/>
          </a:xfrm>
          <a:prstGeom prst="line">
            <a:avLst/>
          </a:prstGeom>
          <a:noFill/>
          <a:ln w="7144">
            <a:solidFill>
              <a:srgbClr val="D9E2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Shape 30"/>
          <p:cNvSpPr/>
          <p:nvPr/>
        </p:nvSpPr>
        <p:spPr>
          <a:xfrm>
            <a:off x="428625" y="4797028"/>
            <a:ext cx="8286750" cy="0"/>
          </a:xfrm>
          <a:prstGeom prst="line">
            <a:avLst/>
          </a:prstGeom>
          <a:noFill/>
          <a:ln w="7144">
            <a:solidFill>
              <a:srgbClr val="D9E2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Shape 31"/>
          <p:cNvSpPr/>
          <p:nvPr/>
        </p:nvSpPr>
        <p:spPr>
          <a:xfrm>
            <a:off x="442913" y="4429125"/>
            <a:ext cx="0" cy="371475"/>
          </a:xfrm>
          <a:prstGeom prst="line">
            <a:avLst/>
          </a:prstGeom>
          <a:noFill/>
          <a:ln w="28575">
            <a:solidFill>
              <a:srgbClr val="B7791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Text 32"/>
          <p:cNvSpPr/>
          <p:nvPr/>
        </p:nvSpPr>
        <p:spPr>
          <a:xfrm>
            <a:off x="600075" y="4536281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47" dirty="0">
                <a:solidFill>
                  <a:srgbClr val="B7791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⚑</a:t>
            </a:r>
            <a:endParaRPr lang="en-US" sz="1547" dirty="0"/>
          </a:p>
        </p:txBody>
      </p:sp>
      <p:sp>
        <p:nvSpPr>
          <p:cNvPr id="35" name="Text 33"/>
          <p:cNvSpPr/>
          <p:nvPr/>
        </p:nvSpPr>
        <p:spPr>
          <a:xfrm>
            <a:off x="842963" y="4537174"/>
            <a:ext cx="7722394" cy="156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23"/>
              </a:lnSpc>
              <a:buNone/>
            </a:pPr>
            <a:r>
              <a:rPr lang="en-US" sz="844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Project goal</a:t>
            </a:r>
            <a:r>
              <a:rPr lang="en-US" sz="844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— a lightweight, offline, auto-counting playlist and statistics manager built in Java.</a:t>
            </a:r>
            <a:endParaRPr lang="en-US" sz="844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5763"/>
            <a:ext cx="328613" cy="328613"/>
          </a:xfrm>
          <a:prstGeom prst="roundRect">
            <a:avLst>
              <a:gd name="adj" fmla="val 28985"/>
            </a:avLst>
          </a:prstGeom>
          <a:solidFill>
            <a:srgbClr val="B7791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76300" y="437555"/>
            <a:ext cx="209513" cy="243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72"/>
              </a:lnSpc>
              <a:buNone/>
            </a:pPr>
            <a:r>
              <a:rPr lang="en-US" sz="1181" b="1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3</a:t>
            </a:r>
            <a:endParaRPr lang="en-US" sz="1181" dirty="0"/>
          </a:p>
        </p:txBody>
      </p:sp>
      <p:sp>
        <p:nvSpPr>
          <p:cNvPr id="4" name="Text 2"/>
          <p:cNvSpPr/>
          <p:nvPr/>
        </p:nvSpPr>
        <p:spPr>
          <a:xfrm>
            <a:off x="795297" y="416458"/>
            <a:ext cx="1604029" cy="2884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4"/>
              </a:lnSpc>
              <a:buNone/>
            </a:pPr>
            <a:r>
              <a:rPr lang="en-US" sz="1913" b="1" dirty="0">
                <a:solidFill>
                  <a:srgbClr val="16305B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Objectives</a:t>
            </a:r>
            <a:endParaRPr lang="en-US" sz="1913" dirty="0"/>
          </a:p>
        </p:txBody>
      </p:sp>
      <p:sp>
        <p:nvSpPr>
          <p:cNvPr id="5" name="Text 3"/>
          <p:cNvSpPr/>
          <p:nvPr/>
        </p:nvSpPr>
        <p:spPr>
          <a:xfrm>
            <a:off x="2135646" y="546497"/>
            <a:ext cx="6551154" cy="7144"/>
          </a:xfrm>
          <a:prstGeom prst="rect">
            <a:avLst/>
          </a:prstGeom>
          <a:solidFill>
            <a:srgbClr val="D9E2E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57200" y="828675"/>
            <a:ext cx="8229600" cy="179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08"/>
              </a:lnSpc>
              <a:buNone/>
            </a:pPr>
            <a:r>
              <a:rPr lang="en-US" sz="872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Five clear objectives guided the design of the application.</a:t>
            </a:r>
            <a:endParaRPr lang="en-US" sz="872" dirty="0"/>
          </a:p>
        </p:txBody>
      </p:sp>
      <p:sp>
        <p:nvSpPr>
          <p:cNvPr id="7" name="Text 5"/>
          <p:cNvSpPr/>
          <p:nvPr/>
        </p:nvSpPr>
        <p:spPr>
          <a:xfrm>
            <a:off x="460772" y="1198364"/>
            <a:ext cx="4036219" cy="712031"/>
          </a:xfrm>
          <a:prstGeom prst="roundRect">
            <a:avLst>
              <a:gd name="adj" fmla="val 13377"/>
            </a:avLst>
          </a:prstGeom>
          <a:solidFill>
            <a:srgbClr val="FFFFFF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50081" y="1373386"/>
            <a:ext cx="550605" cy="3086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2250" b="1" dirty="0">
                <a:solidFill>
                  <a:srgbClr val="8A5A14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01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1137084" y="1373386"/>
            <a:ext cx="2932632" cy="1755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80"/>
              </a:lnSpc>
              <a:buNone/>
            </a:pPr>
            <a:r>
              <a:rPr lang="en-US" sz="984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Build a playlist manager</a:t>
            </a:r>
            <a:endParaRPr lang="en-US" sz="984" dirty="0"/>
          </a:p>
        </p:txBody>
      </p:sp>
      <p:sp>
        <p:nvSpPr>
          <p:cNvPr id="10" name="Text 8"/>
          <p:cNvSpPr/>
          <p:nvPr/>
        </p:nvSpPr>
        <p:spPr>
          <a:xfrm>
            <a:off x="1137084" y="1585913"/>
            <a:ext cx="2792983" cy="1494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7"/>
              </a:lnSpc>
              <a:buNone/>
            </a:pPr>
            <a:r>
              <a:rPr lang="en-US" sz="759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Add, view and remove songs using clean object-oriented classes.</a:t>
            </a:r>
            <a:endParaRPr lang="en-US" sz="759" dirty="0"/>
          </a:p>
        </p:txBody>
      </p:sp>
      <p:sp>
        <p:nvSpPr>
          <p:cNvPr id="11" name="Text 9"/>
          <p:cNvSpPr/>
          <p:nvPr/>
        </p:nvSpPr>
        <p:spPr>
          <a:xfrm>
            <a:off x="4647009" y="1198364"/>
            <a:ext cx="4036219" cy="712031"/>
          </a:xfrm>
          <a:prstGeom prst="roundRect">
            <a:avLst>
              <a:gd name="adj" fmla="val 13377"/>
            </a:avLst>
          </a:prstGeom>
          <a:solidFill>
            <a:srgbClr val="FFFFFF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836319" y="1373386"/>
            <a:ext cx="550605" cy="3086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2250" b="1" dirty="0">
                <a:solidFill>
                  <a:srgbClr val="8A5A14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02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5323322" y="1373386"/>
            <a:ext cx="3170597" cy="1755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80"/>
              </a:lnSpc>
              <a:buNone/>
            </a:pPr>
            <a:r>
              <a:rPr lang="en-US" sz="984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Automate play tracking</a:t>
            </a:r>
            <a:endParaRPr lang="en-US" sz="984" dirty="0"/>
          </a:p>
        </p:txBody>
      </p:sp>
      <p:sp>
        <p:nvSpPr>
          <p:cNvPr id="14" name="Text 12"/>
          <p:cNvSpPr/>
          <p:nvPr/>
        </p:nvSpPr>
        <p:spPr>
          <a:xfrm>
            <a:off x="5323322" y="1585913"/>
            <a:ext cx="3166132" cy="1494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7"/>
              </a:lnSpc>
              <a:buNone/>
            </a:pPr>
            <a:r>
              <a:rPr lang="en-US" sz="759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Every play of a song increments its counter instantly — zero manual entry.</a:t>
            </a:r>
            <a:endParaRPr lang="en-US" sz="759" dirty="0"/>
          </a:p>
        </p:txBody>
      </p:sp>
      <p:sp>
        <p:nvSpPr>
          <p:cNvPr id="15" name="Text 13"/>
          <p:cNvSpPr/>
          <p:nvPr/>
        </p:nvSpPr>
        <p:spPr>
          <a:xfrm>
            <a:off x="460772" y="2060414"/>
            <a:ext cx="2640732" cy="1387213"/>
          </a:xfrm>
          <a:prstGeom prst="roundRect">
            <a:avLst>
              <a:gd name="adj" fmla="val 3607"/>
            </a:avLst>
          </a:prstGeom>
          <a:solidFill>
            <a:srgbClr val="FFFFFF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50081" y="2235436"/>
            <a:ext cx="440412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800" b="1" dirty="0">
                <a:solidFill>
                  <a:srgbClr val="8A5A14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068214" y="2235436"/>
            <a:ext cx="1953708" cy="1604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Generate listening statistics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68214" y="2434010"/>
            <a:ext cx="1843980" cy="3399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33"/>
              </a:lnSpc>
              <a:buNone/>
            </a:pPr>
            <a:r>
              <a:rPr lang="en-US" sz="800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Compute total plays, total listening time, favourite artist and the Top-5 songs.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3251522" y="2060414"/>
            <a:ext cx="2640843" cy="1387213"/>
          </a:xfrm>
          <a:prstGeom prst="roundRect">
            <a:avLst>
              <a:gd name="adj" fmla="val 3607"/>
            </a:avLst>
          </a:prstGeom>
          <a:solidFill>
            <a:srgbClr val="FFFFFF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3440832" y="2235436"/>
            <a:ext cx="440412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800" b="1" dirty="0">
                <a:solidFill>
                  <a:srgbClr val="8A5A14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3858964" y="2235436"/>
            <a:ext cx="1844092" cy="1604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Provide search and sort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858964" y="2434010"/>
            <a:ext cx="1844092" cy="3399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33"/>
              </a:lnSpc>
              <a:buNone/>
            </a:pPr>
            <a:r>
              <a:rPr lang="en-US" sz="800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Find any song by title or artist and rank the playlist alphabetically or by plays.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042385" y="2060414"/>
            <a:ext cx="2640732" cy="1387213"/>
          </a:xfrm>
          <a:prstGeom prst="roundRect">
            <a:avLst>
              <a:gd name="adj" fmla="val 3607"/>
            </a:avLst>
          </a:prstGeom>
          <a:solidFill>
            <a:srgbClr val="FFFFFF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231694" y="2235436"/>
            <a:ext cx="440412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800" b="1" dirty="0">
                <a:solidFill>
                  <a:srgbClr val="8A5A14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05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649827" y="2235436"/>
            <a:ext cx="1843980" cy="1604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Persist data with File I/O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649827" y="2434010"/>
            <a:ext cx="1843980" cy="3399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33"/>
              </a:lnSpc>
              <a:buNone/>
            </a:pPr>
            <a:r>
              <a:rPr lang="en-US" sz="800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Save the playlist to a text file and reload it automatically on every run.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8625" y="371475"/>
            <a:ext cx="328613" cy="328613"/>
          </a:xfrm>
          <a:prstGeom prst="roundRect">
            <a:avLst>
              <a:gd name="adj" fmla="val 28985"/>
            </a:avLst>
          </a:prstGeom>
          <a:solidFill>
            <a:srgbClr val="B7791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7725" y="423267"/>
            <a:ext cx="209513" cy="243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72"/>
              </a:lnSpc>
              <a:buNone/>
            </a:pPr>
            <a:r>
              <a:rPr lang="en-US" sz="1181" b="1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4</a:t>
            </a:r>
            <a:endParaRPr lang="en-US" sz="1181" dirty="0"/>
          </a:p>
        </p:txBody>
      </p:sp>
      <p:sp>
        <p:nvSpPr>
          <p:cNvPr id="4" name="Text 2"/>
          <p:cNvSpPr/>
          <p:nvPr/>
        </p:nvSpPr>
        <p:spPr>
          <a:xfrm>
            <a:off x="885825" y="402171"/>
            <a:ext cx="2066525" cy="2884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4"/>
              </a:lnSpc>
              <a:buNone/>
            </a:pPr>
            <a:r>
              <a:rPr lang="en-US" sz="1913" b="1" dirty="0">
                <a:solidFill>
                  <a:srgbClr val="16305B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Existing System</a:t>
            </a:r>
            <a:endParaRPr lang="en-US" sz="1913" dirty="0"/>
          </a:p>
        </p:txBody>
      </p:sp>
      <p:sp>
        <p:nvSpPr>
          <p:cNvPr id="5" name="Text 3"/>
          <p:cNvSpPr/>
          <p:nvPr/>
        </p:nvSpPr>
        <p:spPr>
          <a:xfrm>
            <a:off x="2667633" y="532209"/>
            <a:ext cx="6047742" cy="7144"/>
          </a:xfrm>
          <a:prstGeom prst="rect">
            <a:avLst/>
          </a:prstGeom>
          <a:solidFill>
            <a:srgbClr val="D9E2E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28625" y="885825"/>
            <a:ext cx="4029075" cy="3705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1"/>
              </a:lnSpc>
              <a:buNone/>
            </a:pPr>
            <a:r>
              <a:rPr lang="en-US" sz="872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Today, listeners track their music in three common ways — each with clear drawbacks:</a:t>
            </a:r>
            <a:endParaRPr lang="en-US" sz="872" dirty="0"/>
          </a:p>
        </p:txBody>
      </p:sp>
      <p:sp>
        <p:nvSpPr>
          <p:cNvPr id="7" name="Text 5"/>
          <p:cNvSpPr/>
          <p:nvPr/>
        </p:nvSpPr>
        <p:spPr>
          <a:xfrm>
            <a:off x="432197" y="1361108"/>
            <a:ext cx="4021931" cy="672517"/>
          </a:xfrm>
          <a:prstGeom prst="roundRect">
            <a:avLst>
              <a:gd name="adj" fmla="val 14163"/>
            </a:avLst>
          </a:prstGeom>
          <a:solidFill>
            <a:srgbClr val="F4F7FB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564356" y="1486123"/>
            <a:ext cx="150019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477" dirty="0">
                <a:solidFill>
                  <a:srgbClr val="B7791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477" dirty="0"/>
          </a:p>
        </p:txBody>
      </p:sp>
      <p:sp>
        <p:nvSpPr>
          <p:cNvPr id="9" name="Text 7"/>
          <p:cNvSpPr/>
          <p:nvPr/>
        </p:nvSpPr>
        <p:spPr>
          <a:xfrm>
            <a:off x="814388" y="1471836"/>
            <a:ext cx="3617309" cy="1450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133"/>
              </a:lnSpc>
              <a:buNone/>
            </a:pPr>
            <a:r>
              <a:rPr lang="en-US" sz="872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Handwritten lists / spreadsheets</a:t>
            </a:r>
            <a:endParaRPr lang="en-US" sz="872" dirty="0"/>
          </a:p>
        </p:txBody>
      </p:sp>
      <p:sp>
        <p:nvSpPr>
          <p:cNvPr id="10" name="Text 8"/>
          <p:cNvSpPr/>
          <p:nvPr/>
        </p:nvSpPr>
        <p:spPr>
          <a:xfrm>
            <a:off x="814388" y="1644290"/>
            <a:ext cx="3507581" cy="2786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800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Play counts are noted or guessed by hand; the sheet drifts out of date and errors accumulate.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32197" y="2140781"/>
            <a:ext cx="4021931" cy="672517"/>
          </a:xfrm>
          <a:prstGeom prst="roundRect">
            <a:avLst>
              <a:gd name="adj" fmla="val 14163"/>
            </a:avLst>
          </a:prstGeom>
          <a:solidFill>
            <a:srgbClr val="F4F7FB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564356" y="2265797"/>
            <a:ext cx="150019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477" dirty="0">
                <a:solidFill>
                  <a:srgbClr val="B7791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☁</a:t>
            </a:r>
            <a:endParaRPr lang="en-US" sz="1477" dirty="0"/>
          </a:p>
        </p:txBody>
      </p:sp>
      <p:sp>
        <p:nvSpPr>
          <p:cNvPr id="13" name="Text 11"/>
          <p:cNvSpPr/>
          <p:nvPr/>
        </p:nvSpPr>
        <p:spPr>
          <a:xfrm>
            <a:off x="814388" y="2251509"/>
            <a:ext cx="3617309" cy="1450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133"/>
              </a:lnSpc>
              <a:buNone/>
            </a:pPr>
            <a:r>
              <a:rPr lang="en-US" sz="872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Streaming apps (Spotify, Apple Music)</a:t>
            </a:r>
            <a:endParaRPr lang="en-US" sz="872" dirty="0"/>
          </a:p>
        </p:txBody>
      </p:sp>
      <p:sp>
        <p:nvSpPr>
          <p:cNvPr id="14" name="Text 12"/>
          <p:cNvSpPr/>
          <p:nvPr/>
        </p:nvSpPr>
        <p:spPr>
          <a:xfrm>
            <a:off x="814388" y="2423964"/>
            <a:ext cx="3507581" cy="2786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800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Rich, but online-only: they need an account and internet, and show only the statistics the app decides to expose.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432197" y="2920454"/>
            <a:ext cx="4021931" cy="533214"/>
          </a:xfrm>
          <a:prstGeom prst="roundRect">
            <a:avLst>
              <a:gd name="adj" fmla="val 17863"/>
            </a:avLst>
          </a:prstGeom>
          <a:solidFill>
            <a:srgbClr val="F4F7FB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564356" y="3045470"/>
            <a:ext cx="150019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477" dirty="0">
                <a:solidFill>
                  <a:srgbClr val="B7791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▦</a:t>
            </a:r>
            <a:endParaRPr lang="en-US" sz="1477" dirty="0"/>
          </a:p>
        </p:txBody>
      </p:sp>
      <p:sp>
        <p:nvSpPr>
          <p:cNvPr id="17" name="Text 15"/>
          <p:cNvSpPr/>
          <p:nvPr/>
        </p:nvSpPr>
        <p:spPr>
          <a:xfrm>
            <a:off x="814388" y="3031182"/>
            <a:ext cx="3617309" cy="1450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133"/>
              </a:lnSpc>
              <a:buNone/>
            </a:pPr>
            <a:r>
              <a:rPr lang="en-US" sz="872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Database-based trackers (MySQL projects)</a:t>
            </a:r>
            <a:endParaRPr lang="en-US" sz="872" dirty="0"/>
          </a:p>
        </p:txBody>
      </p:sp>
      <p:sp>
        <p:nvSpPr>
          <p:cNvPr id="18" name="Text 16"/>
          <p:cNvSpPr/>
          <p:nvPr/>
        </p:nvSpPr>
        <p:spPr>
          <a:xfrm>
            <a:off x="814388" y="3203637"/>
            <a:ext cx="3460477" cy="1393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731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Powerful but heavy — installation and setup are overkill for a single listener’s needs.</a:t>
            </a:r>
            <a:endParaRPr lang="en-US" sz="731" dirty="0"/>
          </a:p>
        </p:txBody>
      </p:sp>
      <p:sp>
        <p:nvSpPr>
          <p:cNvPr id="19" name="Text 17"/>
          <p:cNvSpPr/>
          <p:nvPr/>
        </p:nvSpPr>
        <p:spPr>
          <a:xfrm>
            <a:off x="4689872" y="889397"/>
            <a:ext cx="4021931" cy="3907631"/>
          </a:xfrm>
          <a:prstGeom prst="roundRect">
            <a:avLst>
              <a:gd name="adj" fmla="val 2438"/>
            </a:avLst>
          </a:prstGeom>
          <a:solidFill>
            <a:srgbClr val="FFFFFF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4836319" y="1007269"/>
            <a:ext cx="3871913" cy="2083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19"/>
              </a:lnSpc>
              <a:buNone/>
            </a:pPr>
            <a:r>
              <a:rPr lang="en-US" sz="1013" b="1" dirty="0">
                <a:solidFill>
                  <a:srgbClr val="16305B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Quick comparison</a:t>
            </a:r>
            <a:endParaRPr lang="en-US" sz="1013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93444" y="1293019"/>
          <a:ext cx="4014787" cy="1502570"/>
        </p:xfrm>
        <a:graphic>
          <a:graphicData uri="http://schemas.openxmlformats.org/drawingml/2006/table">
            <a:tbl>
              <a:tblPr/>
              <a:tblGrid>
                <a:gridCol w="12153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54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77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862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EAF0F9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Method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8581" marR="100013" marT="100013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EAF0F9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Auto count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8581" marR="100013" marT="100013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EAF0F9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Offline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8581" marR="100013" marT="100013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EAF0F9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Full stats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8581" marR="100013" marT="100013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23304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Handwritten list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8581" marR="100013" marT="100013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23304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✕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8581" marR="100013" marT="100013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23304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✓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8581" marR="100013" marT="100013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23304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✕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8581" marR="100013" marT="100013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23304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Spreadsheet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8581" marR="100013" marT="100013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23304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✕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8581" marR="100013" marT="100013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23304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✓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8581" marR="100013" marT="100013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23304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manual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8581" marR="100013" marT="100013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23304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Streaming app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8581" marR="100013" marT="100013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23304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✓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8581" marR="100013" marT="100013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23304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✕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8581" marR="100013" marT="100013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23304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limited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8581" marR="100013" marT="100013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16305B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This project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8581" marR="100013" marT="100013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791F">
                        <a:alpha val="13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6305B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✓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8581" marR="100013" marT="100013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791F">
                        <a:alpha val="13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6305B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✓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8581" marR="100013" marT="100013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791F">
                        <a:alpha val="13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6305B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full report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8581" marR="100013" marT="100013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791F">
                        <a:alpha val="13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8625" y="371475"/>
            <a:ext cx="328613" cy="328613"/>
          </a:xfrm>
          <a:prstGeom prst="roundRect">
            <a:avLst>
              <a:gd name="adj" fmla="val 28985"/>
            </a:avLst>
          </a:prstGeom>
          <a:solidFill>
            <a:srgbClr val="B7791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7725" y="423267"/>
            <a:ext cx="209513" cy="243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72"/>
              </a:lnSpc>
              <a:buNone/>
            </a:pPr>
            <a:r>
              <a:rPr lang="en-US" sz="1181" b="1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5</a:t>
            </a:r>
            <a:endParaRPr lang="en-US" sz="1181" dirty="0"/>
          </a:p>
        </p:txBody>
      </p:sp>
      <p:sp>
        <p:nvSpPr>
          <p:cNvPr id="4" name="Text 2"/>
          <p:cNvSpPr/>
          <p:nvPr/>
        </p:nvSpPr>
        <p:spPr>
          <a:xfrm>
            <a:off x="885825" y="402171"/>
            <a:ext cx="2212470" cy="2884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4"/>
              </a:lnSpc>
              <a:buNone/>
            </a:pPr>
            <a:r>
              <a:rPr lang="en-US" sz="1913" b="1" dirty="0">
                <a:solidFill>
                  <a:srgbClr val="16305B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Proposed System</a:t>
            </a:r>
            <a:endParaRPr lang="en-US" sz="1913" dirty="0"/>
          </a:p>
        </p:txBody>
      </p:sp>
      <p:sp>
        <p:nvSpPr>
          <p:cNvPr id="5" name="Text 3"/>
          <p:cNvSpPr/>
          <p:nvPr/>
        </p:nvSpPr>
        <p:spPr>
          <a:xfrm>
            <a:off x="2784388" y="532209"/>
            <a:ext cx="5930987" cy="7144"/>
          </a:xfrm>
          <a:prstGeom prst="rect">
            <a:avLst/>
          </a:prstGeom>
          <a:solidFill>
            <a:srgbClr val="D9E2E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28625" y="814388"/>
            <a:ext cx="8286750" cy="517922"/>
          </a:xfrm>
          <a:prstGeom prst="roundRect">
            <a:avLst>
              <a:gd name="adj" fmla="val 18391"/>
            </a:avLst>
          </a:prstGeom>
          <a:solidFill>
            <a:srgbClr val="F4F7F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28625" y="817959"/>
            <a:ext cx="8286750" cy="0"/>
          </a:xfrm>
          <a:prstGeom prst="line">
            <a:avLst/>
          </a:prstGeom>
          <a:noFill/>
          <a:ln w="7144">
            <a:solidFill>
              <a:srgbClr val="D9E2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8711803" y="814388"/>
            <a:ext cx="0" cy="517922"/>
          </a:xfrm>
          <a:prstGeom prst="line">
            <a:avLst/>
          </a:prstGeom>
          <a:noFill/>
          <a:ln w="7144">
            <a:solidFill>
              <a:srgbClr val="D9E2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428625" y="1328738"/>
            <a:ext cx="8286750" cy="0"/>
          </a:xfrm>
          <a:prstGeom prst="line">
            <a:avLst/>
          </a:prstGeom>
          <a:noFill/>
          <a:ln w="7144">
            <a:solidFill>
              <a:srgbClr val="D9E2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442913" y="814388"/>
            <a:ext cx="0" cy="517922"/>
          </a:xfrm>
          <a:prstGeom prst="line">
            <a:avLst/>
          </a:prstGeom>
          <a:noFill/>
          <a:ln w="28575">
            <a:solidFill>
              <a:srgbClr val="B7791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585788" y="907256"/>
            <a:ext cx="7993856" cy="33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08"/>
              </a:lnSpc>
              <a:buNone/>
            </a:pPr>
            <a:r>
              <a:rPr lang="en-US" sz="872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 lightweight Java console application where </a:t>
            </a:r>
            <a:r>
              <a:rPr lang="en-US" sz="872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playing a song updates its counter automatically</a:t>
            </a:r>
            <a:r>
              <a:rPr lang="en-US" sz="872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, and a built-in </a:t>
            </a:r>
            <a:r>
              <a:rPr lang="en-US" sz="872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stats engine</a:t>
            </a:r>
            <a:r>
              <a:rPr lang="en-US" sz="872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summarises listening habits instantly — all data stored in a plain text file.</a:t>
            </a:r>
            <a:endParaRPr lang="en-US" sz="872" dirty="0"/>
          </a:p>
        </p:txBody>
      </p:sp>
      <p:sp>
        <p:nvSpPr>
          <p:cNvPr id="12" name="Text 10"/>
          <p:cNvSpPr/>
          <p:nvPr/>
        </p:nvSpPr>
        <p:spPr>
          <a:xfrm>
            <a:off x="428625" y="1446609"/>
            <a:ext cx="4282099" cy="12794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886"/>
              </a:lnSpc>
              <a:buNone/>
            </a:pPr>
            <a:r>
              <a:rPr lang="en-US" sz="800" kern="0" spc="83" dirty="0">
                <a:solidFill>
                  <a:srgbClr val="5B6B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 ADVANTAGES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428625" y="1734592"/>
            <a:ext cx="300038" cy="300038"/>
          </a:xfrm>
          <a:prstGeom prst="roundRect">
            <a:avLst>
              <a:gd name="adj" fmla="val 34921"/>
            </a:avLst>
          </a:prstGeom>
          <a:solidFill>
            <a:srgbClr val="B7791F">
              <a:alpha val="12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64701" y="1770668"/>
            <a:ext cx="227886" cy="2278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47" dirty="0">
                <a:solidFill>
                  <a:srgbClr val="8A5A1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⚡</a:t>
            </a:r>
            <a:endParaRPr lang="en-US" sz="1547" dirty="0"/>
          </a:p>
        </p:txBody>
      </p:sp>
      <p:sp>
        <p:nvSpPr>
          <p:cNvPr id="15" name="Text 13"/>
          <p:cNvSpPr/>
          <p:nvPr/>
        </p:nvSpPr>
        <p:spPr>
          <a:xfrm>
            <a:off x="828675" y="1809490"/>
            <a:ext cx="2957513" cy="1708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23"/>
              </a:lnSpc>
              <a:buNone/>
            </a:pPr>
            <a:r>
              <a:rPr lang="en-US" sz="774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Automatic play counting</a:t>
            </a:r>
            <a:r>
              <a:rPr lang="en-US" sz="759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— statistics are always current</a:t>
            </a:r>
            <a:endParaRPr lang="en-US" sz="759" dirty="0"/>
          </a:p>
        </p:txBody>
      </p:sp>
      <p:sp>
        <p:nvSpPr>
          <p:cNvPr id="16" name="Text 14"/>
          <p:cNvSpPr/>
          <p:nvPr/>
        </p:nvSpPr>
        <p:spPr>
          <a:xfrm>
            <a:off x="428625" y="2299953"/>
            <a:ext cx="300038" cy="300038"/>
          </a:xfrm>
          <a:prstGeom prst="roundRect">
            <a:avLst>
              <a:gd name="adj" fmla="val 34921"/>
            </a:avLst>
          </a:prstGeom>
          <a:solidFill>
            <a:srgbClr val="B7791F">
              <a:alpha val="12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464701" y="2336029"/>
            <a:ext cx="227886" cy="2278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47" dirty="0">
                <a:solidFill>
                  <a:srgbClr val="8A5A1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◌</a:t>
            </a:r>
            <a:endParaRPr lang="en-US" sz="1547" dirty="0"/>
          </a:p>
        </p:txBody>
      </p:sp>
      <p:sp>
        <p:nvSpPr>
          <p:cNvPr id="18" name="Text 16"/>
          <p:cNvSpPr/>
          <p:nvPr/>
        </p:nvSpPr>
        <p:spPr>
          <a:xfrm>
            <a:off x="828675" y="2374850"/>
            <a:ext cx="2957513" cy="1708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23"/>
              </a:lnSpc>
              <a:buNone/>
            </a:pPr>
            <a:r>
              <a:rPr lang="en-US" sz="774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Works fully offline</a:t>
            </a:r>
            <a:r>
              <a:rPr lang="en-US" sz="759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— only a JDK is required, no database install</a:t>
            </a:r>
            <a:endParaRPr lang="en-US" sz="759" dirty="0"/>
          </a:p>
        </p:txBody>
      </p:sp>
      <p:sp>
        <p:nvSpPr>
          <p:cNvPr id="19" name="Text 17"/>
          <p:cNvSpPr/>
          <p:nvPr/>
        </p:nvSpPr>
        <p:spPr>
          <a:xfrm>
            <a:off x="428625" y="2865313"/>
            <a:ext cx="300038" cy="300038"/>
          </a:xfrm>
          <a:prstGeom prst="roundRect">
            <a:avLst>
              <a:gd name="adj" fmla="val 34921"/>
            </a:avLst>
          </a:prstGeom>
          <a:solidFill>
            <a:srgbClr val="B7791F">
              <a:alpha val="12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464701" y="2901389"/>
            <a:ext cx="227886" cy="2278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47" dirty="0">
                <a:solidFill>
                  <a:srgbClr val="8A5A1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⤓</a:t>
            </a:r>
            <a:endParaRPr lang="en-US" sz="1547" dirty="0"/>
          </a:p>
        </p:txBody>
      </p:sp>
      <p:sp>
        <p:nvSpPr>
          <p:cNvPr id="21" name="Text 19"/>
          <p:cNvSpPr/>
          <p:nvPr/>
        </p:nvSpPr>
        <p:spPr>
          <a:xfrm>
            <a:off x="828675" y="2870336"/>
            <a:ext cx="2957513" cy="3298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23"/>
              </a:lnSpc>
              <a:buNone/>
            </a:pPr>
            <a:r>
              <a:rPr lang="en-US" sz="816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Persistent storage</a:t>
            </a:r>
            <a:r>
              <a:rPr lang="en-US" sz="800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— auto-saves to </a:t>
            </a:r>
            <a:r>
              <a:rPr lang="en-US" sz="800" dirty="0">
                <a:solidFill>
                  <a:srgbClr val="8A5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music_data.txt</a:t>
            </a:r>
            <a:r>
              <a:rPr lang="en-US" sz="800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after every change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28625" y="3430674"/>
            <a:ext cx="300038" cy="300038"/>
          </a:xfrm>
          <a:prstGeom prst="roundRect">
            <a:avLst>
              <a:gd name="adj" fmla="val 34921"/>
            </a:avLst>
          </a:prstGeom>
          <a:solidFill>
            <a:srgbClr val="B7791F">
              <a:alpha val="12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464701" y="3466750"/>
            <a:ext cx="227886" cy="2278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47" dirty="0">
                <a:solidFill>
                  <a:srgbClr val="8A5A1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547" dirty="0"/>
          </a:p>
        </p:txBody>
      </p:sp>
      <p:sp>
        <p:nvSpPr>
          <p:cNvPr id="24" name="Text 22"/>
          <p:cNvSpPr/>
          <p:nvPr/>
        </p:nvSpPr>
        <p:spPr>
          <a:xfrm>
            <a:off x="828675" y="3505572"/>
            <a:ext cx="2957513" cy="1708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23"/>
              </a:lnSpc>
              <a:buNone/>
            </a:pPr>
            <a:r>
              <a:rPr lang="en-US" sz="774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Modular OOP design</a:t>
            </a:r>
            <a:r>
              <a:rPr lang="en-US" sz="759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— 4 small classes, easy to read and extend</a:t>
            </a:r>
            <a:endParaRPr lang="en-US" sz="759" dirty="0"/>
          </a:p>
        </p:txBody>
      </p:sp>
      <p:sp>
        <p:nvSpPr>
          <p:cNvPr id="25" name="Text 23"/>
          <p:cNvSpPr/>
          <p:nvPr/>
        </p:nvSpPr>
        <p:spPr>
          <a:xfrm>
            <a:off x="428625" y="3996035"/>
            <a:ext cx="300038" cy="300038"/>
          </a:xfrm>
          <a:prstGeom prst="roundRect">
            <a:avLst>
              <a:gd name="adj" fmla="val 34921"/>
            </a:avLst>
          </a:prstGeom>
          <a:solidFill>
            <a:srgbClr val="B7791F">
              <a:alpha val="12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464701" y="4032111"/>
            <a:ext cx="227886" cy="2278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47" dirty="0">
                <a:solidFill>
                  <a:srgbClr val="8A5A1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▿</a:t>
            </a:r>
            <a:endParaRPr lang="en-US" sz="1547" dirty="0"/>
          </a:p>
        </p:txBody>
      </p:sp>
      <p:sp>
        <p:nvSpPr>
          <p:cNvPr id="27" name="Text 25"/>
          <p:cNvSpPr/>
          <p:nvPr/>
        </p:nvSpPr>
        <p:spPr>
          <a:xfrm>
            <a:off x="828675" y="4001058"/>
            <a:ext cx="2957513" cy="3298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23"/>
              </a:lnSpc>
              <a:buNone/>
            </a:pPr>
            <a:r>
              <a:rPr lang="en-US" sz="816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Beginner-friendly code</a:t>
            </a:r>
            <a:r>
              <a:rPr lang="en-US" sz="800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— heavily commented for viva explanation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3989784" y="1450181"/>
            <a:ext cx="4722019" cy="2975372"/>
          </a:xfrm>
          <a:prstGeom prst="roundRect">
            <a:avLst>
              <a:gd name="adj" fmla="val 3201"/>
            </a:avLst>
          </a:prstGeom>
          <a:solidFill>
            <a:srgbClr val="FFFFFF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4121944" y="1575197"/>
            <a:ext cx="135731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36" dirty="0">
                <a:solidFill>
                  <a:srgbClr val="8A5A1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⇄</a:t>
            </a:r>
            <a:endParaRPr lang="en-US" sz="1336" dirty="0"/>
          </a:p>
        </p:txBody>
      </p:sp>
      <p:sp>
        <p:nvSpPr>
          <p:cNvPr id="30" name="Text 28"/>
          <p:cNvSpPr/>
          <p:nvPr/>
        </p:nvSpPr>
        <p:spPr>
          <a:xfrm>
            <a:off x="4321969" y="1546622"/>
            <a:ext cx="4257675" cy="2083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19"/>
              </a:lnSpc>
              <a:buNone/>
            </a:pPr>
            <a:r>
              <a:rPr lang="en-US" sz="1013" b="1" dirty="0">
                <a:solidFill>
                  <a:srgbClr val="16305B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Existing vs Proposed</a:t>
            </a:r>
            <a:endParaRPr lang="en-US" sz="1013" dirty="0"/>
          </a:p>
        </p:txBody>
      </p:sp>
      <p:sp>
        <p:nvSpPr>
          <p:cNvPr id="31" name="Text 29"/>
          <p:cNvSpPr/>
          <p:nvPr/>
        </p:nvSpPr>
        <p:spPr>
          <a:xfrm>
            <a:off x="3993356" y="1810941"/>
            <a:ext cx="4714875" cy="271463"/>
          </a:xfrm>
          <a:prstGeom prst="rect">
            <a:avLst/>
          </a:prstGeom>
          <a:solidFill>
            <a:srgbClr val="16305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3993356" y="1810941"/>
            <a:ext cx="1178719" cy="271463"/>
          </a:xfrm>
          <a:prstGeom prst="rect">
            <a:avLst/>
          </a:prstGeom>
          <a:noFill/>
          <a:ln/>
        </p:spPr>
        <p:txBody>
          <a:bodyPr wrap="none" lIns="114300" tIns="71438" rIns="114300" bIns="71438" rtlCol="0" anchor="t"/>
          <a:lstStyle/>
          <a:p>
            <a:pPr marL="0" indent="0" algn="l">
              <a:lnSpc>
                <a:spcPts val="1013"/>
              </a:lnSpc>
              <a:buNone/>
            </a:pPr>
            <a:r>
              <a:rPr lang="en-US" sz="800" kern="0" spc="34" dirty="0">
                <a:solidFill>
                  <a:srgbClr val="EAF0F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Feature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5172075" y="1810941"/>
            <a:ext cx="1667954" cy="271463"/>
          </a:xfrm>
          <a:prstGeom prst="rect">
            <a:avLst/>
          </a:prstGeom>
          <a:noFill/>
          <a:ln/>
        </p:spPr>
        <p:txBody>
          <a:bodyPr wrap="none" lIns="114300" tIns="71438" rIns="114300" bIns="71438" rtlCol="0" anchor="t"/>
          <a:lstStyle/>
          <a:p>
            <a:pPr marL="0" indent="0" algn="l">
              <a:lnSpc>
                <a:spcPts val="1013"/>
              </a:lnSpc>
              <a:buNone/>
            </a:pPr>
            <a:r>
              <a:rPr lang="en-US" sz="800" kern="0" spc="34" dirty="0">
                <a:solidFill>
                  <a:srgbClr val="EAF0F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Existing tools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6840029" y="1810941"/>
            <a:ext cx="1868202" cy="271463"/>
          </a:xfrm>
          <a:prstGeom prst="rect">
            <a:avLst/>
          </a:prstGeom>
          <a:solidFill>
            <a:srgbClr val="F2C879">
              <a:alpha val="14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6840029" y="1810941"/>
            <a:ext cx="1868202" cy="271463"/>
          </a:xfrm>
          <a:prstGeom prst="rect">
            <a:avLst/>
          </a:prstGeom>
          <a:noFill/>
          <a:ln/>
        </p:spPr>
        <p:txBody>
          <a:bodyPr wrap="none" lIns="114300" tIns="71438" rIns="114300" bIns="71438" rtlCol="0" anchor="t"/>
          <a:lstStyle/>
          <a:p>
            <a:pPr marL="0" indent="0" algn="l">
              <a:lnSpc>
                <a:spcPts val="1013"/>
              </a:lnSpc>
              <a:buNone/>
            </a:pPr>
            <a:r>
              <a:rPr lang="en-US" sz="800" kern="0" spc="34" dirty="0">
                <a:solidFill>
                  <a:srgbClr val="F2C87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This project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3993356" y="2085975"/>
            <a:ext cx="4714875" cy="0"/>
          </a:xfrm>
          <a:prstGeom prst="line">
            <a:avLst/>
          </a:prstGeom>
          <a:noFill/>
          <a:ln w="7144">
            <a:solidFill>
              <a:srgbClr val="D9E2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3993356" y="2089547"/>
            <a:ext cx="1178719" cy="460772"/>
          </a:xfrm>
          <a:prstGeom prst="rect">
            <a:avLst/>
          </a:prstGeom>
          <a:noFill/>
          <a:ln/>
        </p:spPr>
        <p:txBody>
          <a:bodyPr wrap="none" lIns="114300" tIns="42863" rIns="114300" bIns="42863" rtlCol="0" anchor="t"/>
          <a:lstStyle/>
          <a:p>
            <a:pPr marL="0" indent="0" algn="l">
              <a:lnSpc>
                <a:spcPts val="987"/>
              </a:lnSpc>
              <a:buNone/>
            </a:pPr>
            <a:r>
              <a:rPr lang="en-US" sz="800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Play counting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5172075" y="2089547"/>
            <a:ext cx="1667954" cy="460772"/>
          </a:xfrm>
          <a:prstGeom prst="rect">
            <a:avLst/>
          </a:prstGeom>
          <a:noFill/>
          <a:ln/>
        </p:spPr>
        <p:txBody>
          <a:bodyPr wrap="none" lIns="114300" tIns="42863" rIns="114300" bIns="42863" rtlCol="0" anchor="t"/>
          <a:lstStyle/>
          <a:p>
            <a:pPr marL="0" indent="0" algn="l">
              <a:lnSpc>
                <a:spcPts val="987"/>
              </a:lnSpc>
              <a:buNone/>
            </a:pPr>
            <a:r>
              <a:rPr lang="en-US" sz="800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Manual entry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6840029" y="2089547"/>
            <a:ext cx="1868202" cy="460772"/>
          </a:xfrm>
          <a:prstGeom prst="rect">
            <a:avLst/>
          </a:prstGeom>
          <a:solidFill>
            <a:srgbClr val="B7791F">
              <a:alpha val="9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6840029" y="2089547"/>
            <a:ext cx="1868202" cy="460772"/>
          </a:xfrm>
          <a:prstGeom prst="rect">
            <a:avLst/>
          </a:prstGeom>
          <a:noFill/>
          <a:ln/>
        </p:spPr>
        <p:txBody>
          <a:bodyPr wrap="none" lIns="114300" tIns="42863" rIns="114300" bIns="42863" rtlCol="0" anchor="t"/>
          <a:lstStyle/>
          <a:p>
            <a:pPr marL="0" indent="0" algn="l">
              <a:lnSpc>
                <a:spcPts val="987"/>
              </a:lnSpc>
              <a:buNone/>
            </a:pPr>
            <a:r>
              <a:rPr lang="en-US" sz="800" b="1" dirty="0">
                <a:solidFill>
                  <a:srgbClr val="16305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Automatic (+1 per play)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3993356" y="2553891"/>
            <a:ext cx="4714875" cy="0"/>
          </a:xfrm>
          <a:prstGeom prst="line">
            <a:avLst/>
          </a:prstGeom>
          <a:noFill/>
          <a:ln w="7144">
            <a:solidFill>
              <a:srgbClr val="D9E2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2" name="Text 40"/>
          <p:cNvSpPr/>
          <p:nvPr/>
        </p:nvSpPr>
        <p:spPr>
          <a:xfrm>
            <a:off x="3993356" y="2557463"/>
            <a:ext cx="1178719" cy="460772"/>
          </a:xfrm>
          <a:prstGeom prst="rect">
            <a:avLst/>
          </a:prstGeom>
          <a:noFill/>
          <a:ln/>
        </p:spPr>
        <p:txBody>
          <a:bodyPr wrap="none" lIns="114300" tIns="42863" rIns="114300" bIns="42863" rtlCol="0" anchor="t"/>
          <a:lstStyle/>
          <a:p>
            <a:pPr marL="0" indent="0" algn="l">
              <a:lnSpc>
                <a:spcPts val="987"/>
              </a:lnSpc>
              <a:buNone/>
            </a:pPr>
            <a:r>
              <a:rPr lang="en-US" sz="800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Internet needed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5172075" y="2557463"/>
            <a:ext cx="1667954" cy="460772"/>
          </a:xfrm>
          <a:prstGeom prst="rect">
            <a:avLst/>
          </a:prstGeom>
          <a:noFill/>
          <a:ln/>
        </p:spPr>
        <p:txBody>
          <a:bodyPr wrap="none" lIns="114300" tIns="42863" rIns="114300" bIns="42863" rtlCol="0" anchor="t"/>
          <a:lstStyle/>
          <a:p>
            <a:pPr marL="0" indent="0" algn="l">
              <a:lnSpc>
                <a:spcPts val="987"/>
              </a:lnSpc>
              <a:buNone/>
            </a:pPr>
            <a:r>
              <a:rPr lang="en-US" sz="800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Often (streaming apps)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6840029" y="2557463"/>
            <a:ext cx="1868202" cy="460772"/>
          </a:xfrm>
          <a:prstGeom prst="rect">
            <a:avLst/>
          </a:prstGeom>
          <a:solidFill>
            <a:srgbClr val="B7791F">
              <a:alpha val="9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6840029" y="2557463"/>
            <a:ext cx="1868202" cy="460772"/>
          </a:xfrm>
          <a:prstGeom prst="rect">
            <a:avLst/>
          </a:prstGeom>
          <a:noFill/>
          <a:ln/>
        </p:spPr>
        <p:txBody>
          <a:bodyPr wrap="none" lIns="114300" tIns="42863" rIns="114300" bIns="42863" rtlCol="0" anchor="t"/>
          <a:lstStyle/>
          <a:p>
            <a:pPr marL="0" indent="0" algn="l">
              <a:lnSpc>
                <a:spcPts val="987"/>
              </a:lnSpc>
              <a:buNone/>
            </a:pPr>
            <a:r>
              <a:rPr lang="en-US" sz="800" b="1" dirty="0">
                <a:solidFill>
                  <a:srgbClr val="16305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Never — 100% offline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3993356" y="3021806"/>
            <a:ext cx="4714875" cy="0"/>
          </a:xfrm>
          <a:prstGeom prst="line">
            <a:avLst/>
          </a:prstGeom>
          <a:noFill/>
          <a:ln w="7144">
            <a:solidFill>
              <a:srgbClr val="D9E2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7" name="Text 45"/>
          <p:cNvSpPr/>
          <p:nvPr/>
        </p:nvSpPr>
        <p:spPr>
          <a:xfrm>
            <a:off x="3993356" y="3025378"/>
            <a:ext cx="1178719" cy="460772"/>
          </a:xfrm>
          <a:prstGeom prst="rect">
            <a:avLst/>
          </a:prstGeom>
          <a:noFill/>
          <a:ln/>
        </p:spPr>
        <p:txBody>
          <a:bodyPr wrap="none" lIns="114300" tIns="42863" rIns="114300" bIns="42863" rtlCol="0" anchor="t"/>
          <a:lstStyle/>
          <a:p>
            <a:pPr marL="0" indent="0" algn="l">
              <a:lnSpc>
                <a:spcPts val="987"/>
              </a:lnSpc>
              <a:buNone/>
            </a:pPr>
            <a:r>
              <a:rPr lang="en-US" sz="800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Storage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5172075" y="3025378"/>
            <a:ext cx="1667954" cy="460772"/>
          </a:xfrm>
          <a:prstGeom prst="rect">
            <a:avLst/>
          </a:prstGeom>
          <a:noFill/>
          <a:ln/>
        </p:spPr>
        <p:txBody>
          <a:bodyPr wrap="none" lIns="114300" tIns="42863" rIns="114300" bIns="42863" rtlCol="0" anchor="t"/>
          <a:lstStyle/>
          <a:p>
            <a:pPr marL="0" indent="0" algn="l">
              <a:lnSpc>
                <a:spcPts val="987"/>
              </a:lnSpc>
              <a:buNone/>
            </a:pPr>
            <a:r>
              <a:rPr lang="en-US" sz="800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Cloud / app account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6840029" y="3025378"/>
            <a:ext cx="1868202" cy="460772"/>
          </a:xfrm>
          <a:prstGeom prst="rect">
            <a:avLst/>
          </a:prstGeom>
          <a:solidFill>
            <a:srgbClr val="B7791F">
              <a:alpha val="9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6840029" y="3025378"/>
            <a:ext cx="1868202" cy="460772"/>
          </a:xfrm>
          <a:prstGeom prst="rect">
            <a:avLst/>
          </a:prstGeom>
          <a:noFill/>
          <a:ln/>
        </p:spPr>
        <p:txBody>
          <a:bodyPr wrap="none" lIns="114300" tIns="42863" rIns="114300" bIns="42863" rtlCol="0" anchor="t"/>
          <a:lstStyle/>
          <a:p>
            <a:pPr marL="0" indent="0" algn="l">
              <a:lnSpc>
                <a:spcPts val="987"/>
              </a:lnSpc>
              <a:buNone/>
            </a:pPr>
            <a:r>
              <a:rPr lang="en-US" sz="800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Local text file, portable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3993356" y="3489722"/>
            <a:ext cx="4714875" cy="0"/>
          </a:xfrm>
          <a:prstGeom prst="line">
            <a:avLst/>
          </a:prstGeom>
          <a:noFill/>
          <a:ln w="7144">
            <a:solidFill>
              <a:srgbClr val="D9E2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2" name="Text 50"/>
          <p:cNvSpPr/>
          <p:nvPr/>
        </p:nvSpPr>
        <p:spPr>
          <a:xfrm>
            <a:off x="3993356" y="3493294"/>
            <a:ext cx="1178719" cy="460772"/>
          </a:xfrm>
          <a:prstGeom prst="rect">
            <a:avLst/>
          </a:prstGeom>
          <a:noFill/>
          <a:ln/>
        </p:spPr>
        <p:txBody>
          <a:bodyPr wrap="none" lIns="114300" tIns="42863" rIns="114300" bIns="42863" rtlCol="0" anchor="t"/>
          <a:lstStyle/>
          <a:p>
            <a:pPr marL="0" indent="0" algn="l">
              <a:lnSpc>
                <a:spcPts val="987"/>
              </a:lnSpc>
              <a:buNone/>
            </a:pPr>
            <a:r>
              <a:rPr lang="en-US" sz="800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Statistics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5172075" y="3493294"/>
            <a:ext cx="1667954" cy="460772"/>
          </a:xfrm>
          <a:prstGeom prst="rect">
            <a:avLst/>
          </a:prstGeom>
          <a:noFill/>
          <a:ln/>
        </p:spPr>
        <p:txBody>
          <a:bodyPr wrap="none" lIns="114300" tIns="42863" rIns="114300" bIns="42863" rtlCol="0" anchor="t"/>
          <a:lstStyle/>
          <a:p>
            <a:pPr marL="0" indent="0" algn="l">
              <a:lnSpc>
                <a:spcPts val="987"/>
              </a:lnSpc>
              <a:buNone/>
            </a:pPr>
            <a:r>
              <a:rPr lang="en-US" sz="800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Limited, app-defined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6840029" y="3493294"/>
            <a:ext cx="1868202" cy="460772"/>
          </a:xfrm>
          <a:prstGeom prst="rect">
            <a:avLst/>
          </a:prstGeom>
          <a:solidFill>
            <a:srgbClr val="B7791F">
              <a:alpha val="9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6840029" y="3493294"/>
            <a:ext cx="1868202" cy="460772"/>
          </a:xfrm>
          <a:prstGeom prst="rect">
            <a:avLst/>
          </a:prstGeom>
          <a:noFill/>
          <a:ln/>
        </p:spPr>
        <p:txBody>
          <a:bodyPr wrap="none" lIns="114300" tIns="42863" rIns="114300" bIns="42863" rtlCol="0" anchor="t"/>
          <a:lstStyle/>
          <a:p>
            <a:pPr marL="0" indent="0" algn="l">
              <a:lnSpc>
                <a:spcPts val="987"/>
              </a:lnSpc>
              <a:buNone/>
            </a:pPr>
            <a:r>
              <a:rPr lang="en-US" sz="800" b="1" dirty="0">
                <a:solidFill>
                  <a:srgbClr val="16305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Full local report + Top-5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3993356" y="3957638"/>
            <a:ext cx="4714875" cy="0"/>
          </a:xfrm>
          <a:prstGeom prst="line">
            <a:avLst/>
          </a:prstGeom>
          <a:noFill/>
          <a:ln w="7144">
            <a:solidFill>
              <a:srgbClr val="D9E2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7" name="Text 55"/>
          <p:cNvSpPr/>
          <p:nvPr/>
        </p:nvSpPr>
        <p:spPr>
          <a:xfrm>
            <a:off x="3993356" y="3961209"/>
            <a:ext cx="1178719" cy="460772"/>
          </a:xfrm>
          <a:prstGeom prst="rect">
            <a:avLst/>
          </a:prstGeom>
          <a:noFill/>
          <a:ln/>
        </p:spPr>
        <p:txBody>
          <a:bodyPr wrap="none" lIns="114300" tIns="42863" rIns="114300" bIns="42863" rtlCol="0" anchor="t"/>
          <a:lstStyle/>
          <a:p>
            <a:pPr marL="0" indent="0" algn="l">
              <a:lnSpc>
                <a:spcPts val="987"/>
              </a:lnSpc>
              <a:buNone/>
            </a:pPr>
            <a:r>
              <a:rPr lang="en-US" sz="800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Source code control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5172075" y="3961209"/>
            <a:ext cx="1667954" cy="460772"/>
          </a:xfrm>
          <a:prstGeom prst="rect">
            <a:avLst/>
          </a:prstGeom>
          <a:noFill/>
          <a:ln/>
        </p:spPr>
        <p:txBody>
          <a:bodyPr wrap="none" lIns="114300" tIns="42863" rIns="114300" bIns="42863" rtlCol="0" anchor="t"/>
          <a:lstStyle/>
          <a:p>
            <a:pPr marL="0" indent="0" algn="l">
              <a:lnSpc>
                <a:spcPts val="987"/>
              </a:lnSpc>
              <a:buNone/>
            </a:pPr>
            <a:r>
              <a:rPr lang="en-US" sz="800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Closed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6840029" y="3961209"/>
            <a:ext cx="1868202" cy="460772"/>
          </a:xfrm>
          <a:prstGeom prst="rect">
            <a:avLst/>
          </a:prstGeom>
          <a:solidFill>
            <a:srgbClr val="B7791F">
              <a:alpha val="9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6840029" y="3961209"/>
            <a:ext cx="1868202" cy="460772"/>
          </a:xfrm>
          <a:prstGeom prst="rect">
            <a:avLst/>
          </a:prstGeom>
          <a:noFill/>
          <a:ln/>
        </p:spPr>
        <p:txBody>
          <a:bodyPr wrap="none" lIns="114300" tIns="42863" rIns="114300" bIns="42863" rtlCol="0" anchor="t"/>
          <a:lstStyle/>
          <a:p>
            <a:pPr marL="0" indent="0" algn="l">
              <a:lnSpc>
                <a:spcPts val="987"/>
              </a:lnSpc>
              <a:buNone/>
            </a:pPr>
            <a:r>
              <a:rPr lang="en-US" sz="800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Open, simple Java classes</a:t>
            </a:r>
            <a:endParaRPr lang="en-US" sz="800" dirty="0"/>
          </a:p>
        </p:txBody>
      </p:sp>
      <p:sp>
        <p:nvSpPr>
          <p:cNvPr id="61" name="Text 59"/>
          <p:cNvSpPr/>
          <p:nvPr/>
        </p:nvSpPr>
        <p:spPr>
          <a:xfrm>
            <a:off x="428625" y="4529138"/>
            <a:ext cx="4086225" cy="300038"/>
          </a:xfrm>
          <a:prstGeom prst="roundRect">
            <a:avLst>
              <a:gd name="adj" fmla="val 31746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2" name="Shape 60"/>
          <p:cNvSpPr/>
          <p:nvPr/>
        </p:nvSpPr>
        <p:spPr>
          <a:xfrm>
            <a:off x="428625" y="4532709"/>
            <a:ext cx="4086225" cy="0"/>
          </a:xfrm>
          <a:prstGeom prst="line">
            <a:avLst/>
          </a:prstGeom>
          <a:noFill/>
          <a:ln w="7144">
            <a:solidFill>
              <a:srgbClr val="D9E2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3" name="Shape 61"/>
          <p:cNvSpPr/>
          <p:nvPr/>
        </p:nvSpPr>
        <p:spPr>
          <a:xfrm>
            <a:off x="4511278" y="4529138"/>
            <a:ext cx="0" cy="300038"/>
          </a:xfrm>
          <a:prstGeom prst="line">
            <a:avLst/>
          </a:prstGeom>
          <a:noFill/>
          <a:ln w="7144">
            <a:solidFill>
              <a:srgbClr val="D9E2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4" name="Shape 62"/>
          <p:cNvSpPr/>
          <p:nvPr/>
        </p:nvSpPr>
        <p:spPr>
          <a:xfrm>
            <a:off x="428625" y="4825603"/>
            <a:ext cx="4086225" cy="0"/>
          </a:xfrm>
          <a:prstGeom prst="line">
            <a:avLst/>
          </a:prstGeom>
          <a:noFill/>
          <a:ln w="7144">
            <a:solidFill>
              <a:srgbClr val="D9E2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5" name="Shape 63"/>
          <p:cNvSpPr/>
          <p:nvPr/>
        </p:nvSpPr>
        <p:spPr>
          <a:xfrm>
            <a:off x="442913" y="4529138"/>
            <a:ext cx="0" cy="300038"/>
          </a:xfrm>
          <a:prstGeom prst="line">
            <a:avLst/>
          </a:prstGeom>
          <a:noFill/>
          <a:ln w="28575">
            <a:solidFill>
              <a:srgbClr val="B7791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6" name="Text 64"/>
          <p:cNvSpPr/>
          <p:nvPr/>
        </p:nvSpPr>
        <p:spPr>
          <a:xfrm>
            <a:off x="571500" y="4600575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47" dirty="0">
                <a:solidFill>
                  <a:srgbClr val="8A5A1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⚡</a:t>
            </a:r>
            <a:endParaRPr lang="en-US" sz="1547" dirty="0"/>
          </a:p>
        </p:txBody>
      </p:sp>
      <p:sp>
        <p:nvSpPr>
          <p:cNvPr id="67" name="Text 65"/>
          <p:cNvSpPr/>
          <p:nvPr/>
        </p:nvSpPr>
        <p:spPr>
          <a:xfrm>
            <a:off x="814388" y="4614193"/>
            <a:ext cx="3579019" cy="143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24"/>
              </a:lnSpc>
              <a:buNone/>
            </a:pPr>
            <a:r>
              <a:rPr lang="en-US" sz="731" b="1" dirty="0">
                <a:solidFill>
                  <a:srgbClr val="16305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Pillar 1 · Automation</a:t>
            </a:r>
            <a:r>
              <a:rPr lang="en-US" sz="731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— every play updates the counters with zero manual entry.</a:t>
            </a:r>
            <a:endParaRPr lang="en-US" sz="731" dirty="0"/>
          </a:p>
        </p:txBody>
      </p:sp>
      <p:sp>
        <p:nvSpPr>
          <p:cNvPr id="68" name="Text 66"/>
          <p:cNvSpPr/>
          <p:nvPr/>
        </p:nvSpPr>
        <p:spPr>
          <a:xfrm>
            <a:off x="4629150" y="4529138"/>
            <a:ext cx="4086225" cy="300038"/>
          </a:xfrm>
          <a:prstGeom prst="roundRect">
            <a:avLst>
              <a:gd name="adj" fmla="val 31746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9" name="Shape 67"/>
          <p:cNvSpPr/>
          <p:nvPr/>
        </p:nvSpPr>
        <p:spPr>
          <a:xfrm>
            <a:off x="4629150" y="4532709"/>
            <a:ext cx="4086225" cy="0"/>
          </a:xfrm>
          <a:prstGeom prst="line">
            <a:avLst/>
          </a:prstGeom>
          <a:noFill/>
          <a:ln w="7144">
            <a:solidFill>
              <a:srgbClr val="D9E2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0" name="Shape 68"/>
          <p:cNvSpPr/>
          <p:nvPr/>
        </p:nvSpPr>
        <p:spPr>
          <a:xfrm>
            <a:off x="8711803" y="4529138"/>
            <a:ext cx="0" cy="300038"/>
          </a:xfrm>
          <a:prstGeom prst="line">
            <a:avLst/>
          </a:prstGeom>
          <a:noFill/>
          <a:ln w="7144">
            <a:solidFill>
              <a:srgbClr val="D9E2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1" name="Shape 69"/>
          <p:cNvSpPr/>
          <p:nvPr/>
        </p:nvSpPr>
        <p:spPr>
          <a:xfrm>
            <a:off x="4629150" y="4825603"/>
            <a:ext cx="4086225" cy="0"/>
          </a:xfrm>
          <a:prstGeom prst="line">
            <a:avLst/>
          </a:prstGeom>
          <a:noFill/>
          <a:ln w="7144">
            <a:solidFill>
              <a:srgbClr val="D9E2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2" name="Shape 70"/>
          <p:cNvSpPr/>
          <p:nvPr/>
        </p:nvSpPr>
        <p:spPr>
          <a:xfrm>
            <a:off x="4643438" y="4529138"/>
            <a:ext cx="0" cy="300038"/>
          </a:xfrm>
          <a:prstGeom prst="line">
            <a:avLst/>
          </a:prstGeom>
          <a:noFill/>
          <a:ln w="28575">
            <a:solidFill>
              <a:srgbClr val="B7791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3" name="Text 71"/>
          <p:cNvSpPr/>
          <p:nvPr/>
        </p:nvSpPr>
        <p:spPr>
          <a:xfrm>
            <a:off x="4772025" y="4600575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47" dirty="0">
                <a:solidFill>
                  <a:srgbClr val="8A5A1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⤓</a:t>
            </a:r>
            <a:endParaRPr lang="en-US" sz="1547" dirty="0"/>
          </a:p>
        </p:txBody>
      </p:sp>
      <p:sp>
        <p:nvSpPr>
          <p:cNvPr id="74" name="Text 72"/>
          <p:cNvSpPr/>
          <p:nvPr/>
        </p:nvSpPr>
        <p:spPr>
          <a:xfrm>
            <a:off x="5014913" y="4614193"/>
            <a:ext cx="3579019" cy="143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24"/>
              </a:lnSpc>
              <a:buNone/>
            </a:pPr>
            <a:r>
              <a:rPr lang="en-US" sz="731" b="1" dirty="0">
                <a:solidFill>
                  <a:srgbClr val="16305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Pillar 2 · Persistence</a:t>
            </a:r>
            <a:r>
              <a:rPr lang="en-US" sz="731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— every change is saved to </a:t>
            </a:r>
            <a:r>
              <a:rPr lang="en-US" sz="731" dirty="0">
                <a:solidFill>
                  <a:srgbClr val="5B6B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music_data.txt</a:t>
            </a:r>
            <a:r>
              <a:rPr lang="en-US" sz="731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on the spot.</a:t>
            </a:r>
            <a:endParaRPr lang="en-US" sz="731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8625" y="371475"/>
            <a:ext cx="328613" cy="328613"/>
          </a:xfrm>
          <a:prstGeom prst="roundRect">
            <a:avLst>
              <a:gd name="adj" fmla="val 28985"/>
            </a:avLst>
          </a:prstGeom>
          <a:solidFill>
            <a:srgbClr val="B7791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7725" y="423267"/>
            <a:ext cx="209513" cy="243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72"/>
              </a:lnSpc>
              <a:buNone/>
            </a:pPr>
            <a:r>
              <a:rPr lang="en-US" sz="1181" b="1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6</a:t>
            </a:r>
            <a:endParaRPr lang="en-US" sz="1181" dirty="0"/>
          </a:p>
        </p:txBody>
      </p:sp>
      <p:sp>
        <p:nvSpPr>
          <p:cNvPr id="4" name="Text 2"/>
          <p:cNvSpPr/>
          <p:nvPr/>
        </p:nvSpPr>
        <p:spPr>
          <a:xfrm>
            <a:off x="885825" y="402171"/>
            <a:ext cx="2627840" cy="2884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4"/>
              </a:lnSpc>
              <a:buNone/>
            </a:pPr>
            <a:r>
              <a:rPr lang="en-US" sz="1913" b="1" dirty="0">
                <a:solidFill>
                  <a:srgbClr val="16305B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System Architecture</a:t>
            </a:r>
            <a:endParaRPr lang="en-US" sz="1913" dirty="0"/>
          </a:p>
        </p:txBody>
      </p:sp>
      <p:sp>
        <p:nvSpPr>
          <p:cNvPr id="5" name="Text 3"/>
          <p:cNvSpPr/>
          <p:nvPr/>
        </p:nvSpPr>
        <p:spPr>
          <a:xfrm>
            <a:off x="3116684" y="532209"/>
            <a:ext cx="5598691" cy="7144"/>
          </a:xfrm>
          <a:prstGeom prst="rect">
            <a:avLst/>
          </a:prstGeom>
          <a:solidFill>
            <a:srgbClr val="D9E2E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1143000" y="1031552"/>
            <a:ext cx="6858000" cy="424830"/>
          </a:xfrm>
          <a:prstGeom prst="roundRect">
            <a:avLst>
              <a:gd name="adj" fmla="val 22421"/>
            </a:avLst>
          </a:prstGeom>
          <a:solidFill>
            <a:srgbClr val="16305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243347" y="1074713"/>
            <a:ext cx="17145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88" dirty="0">
                <a:solidFill>
                  <a:srgbClr val="F2C87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☻</a:t>
            </a:r>
            <a:endParaRPr lang="en-US" sz="1688" dirty="0"/>
          </a:p>
        </p:txBody>
      </p:sp>
      <p:sp>
        <p:nvSpPr>
          <p:cNvPr id="8" name="Text 6"/>
          <p:cNvSpPr/>
          <p:nvPr/>
        </p:nvSpPr>
        <p:spPr>
          <a:xfrm>
            <a:off x="1500724" y="1091395"/>
            <a:ext cx="415119" cy="184023"/>
          </a:xfrm>
          <a:prstGeom prst="roundRect">
            <a:avLst>
              <a:gd name="adj" fmla="val 5170807"/>
            </a:avLst>
          </a:prstGeom>
          <a:solidFill>
            <a:srgbClr val="F2C879">
              <a:alpha val="18000"/>
            </a:srgbClr>
          </a:solidFill>
          <a:ln w="7144">
            <a:solidFill>
              <a:srgbClr val="F2C879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493434" y="1114537"/>
            <a:ext cx="415119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844"/>
              </a:lnSpc>
              <a:buNone/>
            </a:pPr>
            <a:r>
              <a:rPr lang="en-US" sz="800" kern="0" spc="68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INPUT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2072469" y="1031552"/>
            <a:ext cx="4705849" cy="11968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 fontScale="85000" lnSpcReduction="10000"/>
          </a:bodyPr>
          <a:lstStyle/>
          <a:p>
            <a:pPr marL="0" indent="0" algn="l">
              <a:lnSpc>
                <a:spcPts val="1046"/>
              </a:lnSpc>
              <a:buNone/>
            </a:pPr>
            <a:r>
              <a:rPr lang="en-US" sz="872" b="1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USER</a:t>
            </a:r>
            <a:endParaRPr lang="en-US" sz="872" dirty="0"/>
          </a:p>
        </p:txBody>
      </p:sp>
      <p:sp>
        <p:nvSpPr>
          <p:cNvPr id="11" name="Text 9"/>
          <p:cNvSpPr/>
          <p:nvPr/>
        </p:nvSpPr>
        <p:spPr>
          <a:xfrm>
            <a:off x="2072469" y="1196690"/>
            <a:ext cx="2978386" cy="1205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9"/>
              </a:lnSpc>
              <a:buNone/>
            </a:pPr>
            <a:r>
              <a:rPr lang="en-US" sz="703" dirty="0">
                <a:solidFill>
                  <a:srgbClr val="C6D3E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Chooses menu options; types song details on the keyboard (Scanner input)</a:t>
            </a:r>
            <a:endParaRPr lang="en-US" sz="703" dirty="0"/>
          </a:p>
        </p:txBody>
      </p:sp>
      <p:sp>
        <p:nvSpPr>
          <p:cNvPr id="12" name="Text 10"/>
          <p:cNvSpPr/>
          <p:nvPr/>
        </p:nvSpPr>
        <p:spPr>
          <a:xfrm>
            <a:off x="7183822" y="1127150"/>
            <a:ext cx="674303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86"/>
              </a:lnSpc>
              <a:buNone/>
            </a:pPr>
            <a:r>
              <a:rPr lang="en-US" sz="600" kern="0" spc="24" dirty="0">
                <a:solidFill>
                  <a:srgbClr val="8FA3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keyboard input</a:t>
            </a:r>
            <a:endParaRPr lang="en-US" sz="600" dirty="0"/>
          </a:p>
        </p:txBody>
      </p:sp>
      <p:sp>
        <p:nvSpPr>
          <p:cNvPr id="13" name="Text 11"/>
          <p:cNvSpPr/>
          <p:nvPr/>
        </p:nvSpPr>
        <p:spPr>
          <a:xfrm>
            <a:off x="4515408" y="1445828"/>
            <a:ext cx="113184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B7791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▼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46572" y="1634660"/>
            <a:ext cx="6850856" cy="431974"/>
          </a:xfrm>
          <a:prstGeom prst="roundRect">
            <a:avLst>
              <a:gd name="adj" fmla="val 22050"/>
            </a:avLst>
          </a:prstGeom>
          <a:solidFill>
            <a:srgbClr val="FFFFFF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293019" y="1745682"/>
            <a:ext cx="658788" cy="168021"/>
          </a:xfrm>
          <a:prstGeom prst="roundRect">
            <a:avLst>
              <a:gd name="adj" fmla="val 5663265"/>
            </a:avLst>
          </a:prstGeom>
          <a:solidFill>
            <a:srgbClr val="EAF0F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232980" y="1754684"/>
            <a:ext cx="778866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844"/>
              </a:lnSpc>
              <a:buNone/>
            </a:pPr>
            <a:r>
              <a:rPr lang="en-US" sz="800" kern="0" spc="68" dirty="0">
                <a:solidFill>
                  <a:srgbClr val="1630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CONTROLLER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2040657" y="1641151"/>
            <a:ext cx="2652988" cy="11968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 fontScale="85000" lnSpcReduction="10000"/>
          </a:bodyPr>
          <a:lstStyle/>
          <a:p>
            <a:pPr marL="0" indent="0" algn="l">
              <a:lnSpc>
                <a:spcPts val="1046"/>
              </a:lnSpc>
              <a:buNone/>
            </a:pPr>
            <a:r>
              <a:rPr lang="en-US" sz="872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Main.java — Controller</a:t>
            </a:r>
            <a:endParaRPr lang="en-US" sz="872" dirty="0"/>
          </a:p>
        </p:txBody>
      </p:sp>
      <p:sp>
        <p:nvSpPr>
          <p:cNvPr id="18" name="Text 16"/>
          <p:cNvSpPr/>
          <p:nvPr/>
        </p:nvSpPr>
        <p:spPr>
          <a:xfrm>
            <a:off x="2051819" y="1823051"/>
            <a:ext cx="2526655" cy="1205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9"/>
              </a:lnSpc>
              <a:buNone/>
            </a:pPr>
            <a:r>
              <a:rPr lang="en-US" sz="703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Menu loop, input validation, load-on-start and auto-save triggers</a:t>
            </a:r>
            <a:endParaRPr lang="en-US" sz="703" dirty="0"/>
          </a:p>
        </p:txBody>
      </p:sp>
      <p:sp>
        <p:nvSpPr>
          <p:cNvPr id="19" name="Text 17"/>
          <p:cNvSpPr/>
          <p:nvPr/>
        </p:nvSpPr>
        <p:spPr>
          <a:xfrm>
            <a:off x="7080349" y="1773436"/>
            <a:ext cx="77063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86"/>
              </a:lnSpc>
              <a:buNone/>
            </a:pPr>
            <a:r>
              <a:rPr lang="en-US" sz="600" kern="0" spc="24" dirty="0">
                <a:solidFill>
                  <a:srgbClr val="5B6B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switch-case menu</a:t>
            </a:r>
            <a:endParaRPr lang="en-US" sz="600" dirty="0"/>
          </a:p>
        </p:txBody>
      </p:sp>
      <p:sp>
        <p:nvSpPr>
          <p:cNvPr id="20" name="Text 18"/>
          <p:cNvSpPr/>
          <p:nvPr/>
        </p:nvSpPr>
        <p:spPr>
          <a:xfrm>
            <a:off x="4515408" y="2099258"/>
            <a:ext cx="113184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B7791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▼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46572" y="2267136"/>
            <a:ext cx="3364706" cy="577081"/>
          </a:xfrm>
          <a:prstGeom prst="roundRect">
            <a:avLst>
              <a:gd name="adj" fmla="val 16505"/>
            </a:avLst>
          </a:prstGeom>
          <a:solidFill>
            <a:srgbClr val="FFFFFF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1278731" y="2333144"/>
            <a:ext cx="761926" cy="168021"/>
          </a:xfrm>
          <a:prstGeom prst="roundRect">
            <a:avLst>
              <a:gd name="adj" fmla="val 5663265"/>
            </a:avLst>
          </a:prstGeom>
          <a:solidFill>
            <a:srgbClr val="EAF0F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1216312" y="2342145"/>
            <a:ext cx="886765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844"/>
              </a:lnSpc>
              <a:buNone/>
            </a:pPr>
            <a:r>
              <a:rPr lang="en-US" sz="800" kern="0" spc="68" dirty="0">
                <a:solidFill>
                  <a:srgbClr val="1630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 MANAGER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112094" y="2360898"/>
            <a:ext cx="868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86"/>
              </a:lnSpc>
              <a:buNone/>
            </a:pPr>
            <a:r>
              <a:rPr lang="en-US" sz="600" kern="0" spc="24" dirty="0">
                <a:solidFill>
                  <a:srgbClr val="5B6B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ArrayList&lt;Song&gt;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1414797" y="2675728"/>
            <a:ext cx="697297" cy="3984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46"/>
              </a:lnSpc>
              <a:buNone/>
            </a:pPr>
            <a:r>
              <a:rPr lang="en-US" sz="872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Playlist.java — Data Manager</a:t>
            </a:r>
            <a:endParaRPr lang="en-US" sz="872" dirty="0"/>
          </a:p>
        </p:txBody>
      </p:sp>
      <p:sp>
        <p:nvSpPr>
          <p:cNvPr id="26" name="Text 24"/>
          <p:cNvSpPr/>
          <p:nvPr/>
        </p:nvSpPr>
        <p:spPr>
          <a:xfrm>
            <a:off x="3435697" y="2356433"/>
            <a:ext cx="1000027" cy="412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9"/>
              </a:lnSpc>
              <a:buNone/>
            </a:pPr>
            <a:r>
              <a:rPr lang="en-US" sz="800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holds the ArrayList of songs: add / remove / search / sort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4632722" y="2267136"/>
            <a:ext cx="3364706" cy="577081"/>
          </a:xfrm>
          <a:prstGeom prst="roundRect">
            <a:avLst>
              <a:gd name="adj" fmla="val 16505"/>
            </a:avLst>
          </a:prstGeom>
          <a:solidFill>
            <a:srgbClr val="FFFFFF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4764881" y="2333144"/>
            <a:ext cx="658788" cy="168021"/>
          </a:xfrm>
          <a:prstGeom prst="roundRect">
            <a:avLst>
              <a:gd name="adj" fmla="val 5663265"/>
            </a:avLst>
          </a:prstGeom>
          <a:solidFill>
            <a:srgbClr val="EAF0F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4704842" y="2342145"/>
            <a:ext cx="778866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844"/>
              </a:lnSpc>
              <a:buNone/>
            </a:pPr>
            <a:r>
              <a:rPr lang="en-US" sz="800" kern="0" spc="68" dirty="0">
                <a:solidFill>
                  <a:srgbClr val="1630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CALCULATOR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5495106" y="2360898"/>
            <a:ext cx="810196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86"/>
              </a:lnSpc>
              <a:buNone/>
            </a:pPr>
            <a:r>
              <a:rPr lang="en-US" sz="600" kern="0" spc="24" dirty="0">
                <a:solidFill>
                  <a:srgbClr val="5B6B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HashMap totals</a:t>
            </a:r>
            <a:endParaRPr lang="en-US" sz="600" dirty="0"/>
          </a:p>
        </p:txBody>
      </p:sp>
      <p:sp>
        <p:nvSpPr>
          <p:cNvPr id="31" name="Text 29"/>
          <p:cNvSpPr/>
          <p:nvPr/>
        </p:nvSpPr>
        <p:spPr>
          <a:xfrm>
            <a:off x="5151715" y="2615885"/>
            <a:ext cx="1016310" cy="286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46"/>
              </a:lnSpc>
              <a:buNone/>
            </a:pPr>
            <a:r>
              <a:rPr lang="en-US" sz="872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StatsManager.java — Calculator</a:t>
            </a:r>
            <a:endParaRPr lang="en-US" sz="872" dirty="0"/>
          </a:p>
        </p:txBody>
      </p:sp>
      <p:sp>
        <p:nvSpPr>
          <p:cNvPr id="32" name="Text 30"/>
          <p:cNvSpPr/>
          <p:nvPr/>
        </p:nvSpPr>
        <p:spPr>
          <a:xfrm>
            <a:off x="7077112" y="2356433"/>
            <a:ext cx="835446" cy="412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9"/>
              </a:lnSpc>
              <a:buNone/>
            </a:pPr>
            <a:r>
              <a:rPr lang="en-US" sz="800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totals, listening time, favourite artist (HashMap), Top-5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515408" y="2897795"/>
            <a:ext cx="113184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B7791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▼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146572" y="3065673"/>
            <a:ext cx="6850856" cy="431974"/>
          </a:xfrm>
          <a:prstGeom prst="roundRect">
            <a:avLst>
              <a:gd name="adj" fmla="val 22050"/>
            </a:avLst>
          </a:prstGeom>
          <a:solidFill>
            <a:srgbClr val="FFFFFF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1293019" y="3197650"/>
            <a:ext cx="400831" cy="168021"/>
          </a:xfrm>
          <a:prstGeom prst="roundRect">
            <a:avLst>
              <a:gd name="adj" fmla="val 5663265"/>
            </a:avLst>
          </a:prstGeom>
          <a:solidFill>
            <a:srgbClr val="EAF0F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1289828" y="3206651"/>
            <a:ext cx="407213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844"/>
              </a:lnSpc>
              <a:buNone/>
            </a:pPr>
            <a:r>
              <a:rPr lang="en-US" sz="800" kern="0" spc="68" dirty="0">
                <a:solidFill>
                  <a:srgbClr val="1630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1793863" y="3147826"/>
            <a:ext cx="2142221" cy="11968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1046"/>
              </a:lnSpc>
              <a:buNone/>
            </a:pPr>
            <a:r>
              <a:rPr lang="en-US" sz="872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Song.java — Model</a:t>
            </a:r>
            <a:endParaRPr lang="en-US" sz="872" dirty="0"/>
          </a:p>
        </p:txBody>
      </p:sp>
      <p:sp>
        <p:nvSpPr>
          <p:cNvPr id="38" name="Text 36"/>
          <p:cNvSpPr/>
          <p:nvPr/>
        </p:nvSpPr>
        <p:spPr>
          <a:xfrm>
            <a:off x="1793863" y="3294943"/>
            <a:ext cx="2040210" cy="1205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9"/>
              </a:lnSpc>
              <a:buNone/>
            </a:pPr>
            <a:r>
              <a:rPr lang="en-US" sz="703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one object per song: title, artist, duration, playCount</a:t>
            </a:r>
            <a:endParaRPr lang="en-US" sz="703" dirty="0"/>
          </a:p>
        </p:txBody>
      </p:sp>
      <p:sp>
        <p:nvSpPr>
          <p:cNvPr id="39" name="Text 37"/>
          <p:cNvSpPr/>
          <p:nvPr/>
        </p:nvSpPr>
        <p:spPr>
          <a:xfrm>
            <a:off x="7128570" y="3225403"/>
            <a:ext cx="72241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86"/>
              </a:lnSpc>
              <a:buNone/>
            </a:pPr>
            <a:r>
              <a:rPr lang="en-US" sz="600" kern="0" spc="24" dirty="0">
                <a:solidFill>
                  <a:srgbClr val="5B6B84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POJO · 4 fields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4088681" y="3551225"/>
            <a:ext cx="113184" cy="1234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B7791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▼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4273302" y="3549439"/>
            <a:ext cx="333077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kern="0" spc="37" dirty="0">
                <a:solidFill>
                  <a:srgbClr val="8A5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save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4552913" y="3522650"/>
            <a:ext cx="91440" cy="1851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rgbClr val="D9E2E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·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4662413" y="3551225"/>
            <a:ext cx="113184" cy="1234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B7791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▲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4847034" y="3549439"/>
            <a:ext cx="3153966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kern="0" spc="37" dirty="0">
                <a:solidFill>
                  <a:srgbClr val="8A5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load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146572" y="3719103"/>
            <a:ext cx="6850856" cy="431974"/>
          </a:xfrm>
          <a:prstGeom prst="roundRect">
            <a:avLst>
              <a:gd name="adj" fmla="val 22050"/>
            </a:avLst>
          </a:prstGeom>
          <a:solidFill>
            <a:srgbClr val="FDF6E7"/>
          </a:solidFill>
          <a:ln w="7144">
            <a:solidFill>
              <a:srgbClr val="B7791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1293019" y="3856509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47" dirty="0">
                <a:solidFill>
                  <a:srgbClr val="8A5A1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▤</a:t>
            </a:r>
            <a:endParaRPr lang="en-US" sz="1547" dirty="0"/>
          </a:p>
        </p:txBody>
      </p:sp>
      <p:sp>
        <p:nvSpPr>
          <p:cNvPr id="47" name="Text 45"/>
          <p:cNvSpPr/>
          <p:nvPr/>
        </p:nvSpPr>
        <p:spPr>
          <a:xfrm>
            <a:off x="1550194" y="3851080"/>
            <a:ext cx="503969" cy="168021"/>
          </a:xfrm>
          <a:prstGeom prst="roundRect">
            <a:avLst>
              <a:gd name="adj" fmla="val 5663265"/>
            </a:avLst>
          </a:prstGeom>
          <a:solidFill>
            <a:srgbClr val="B7791F">
              <a:alpha val="12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1524241" y="3860081"/>
            <a:ext cx="555874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844"/>
              </a:lnSpc>
              <a:buNone/>
            </a:pPr>
            <a:r>
              <a:rPr lang="en-US" sz="800" kern="0" spc="68" dirty="0">
                <a:solidFill>
                  <a:srgbClr val="8A5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STORAGE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2154175" y="3801256"/>
            <a:ext cx="3434251" cy="1196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046"/>
              </a:lnSpc>
              <a:buNone/>
            </a:pPr>
            <a:r>
              <a:rPr lang="en-US" sz="872" b="1" dirty="0">
                <a:solidFill>
                  <a:srgbClr val="1630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music_data.txt</a:t>
            </a:r>
            <a:r>
              <a:rPr lang="en-US" sz="872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— Persistent Storage</a:t>
            </a:r>
            <a:endParaRPr lang="en-US" sz="872" dirty="0"/>
          </a:p>
        </p:txBody>
      </p:sp>
      <p:sp>
        <p:nvSpPr>
          <p:cNvPr id="50" name="Text 48"/>
          <p:cNvSpPr/>
          <p:nvPr/>
        </p:nvSpPr>
        <p:spPr>
          <a:xfrm>
            <a:off x="2154175" y="3948373"/>
            <a:ext cx="3179862" cy="1205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9"/>
              </a:lnSpc>
              <a:buNone/>
            </a:pPr>
            <a:r>
              <a:rPr lang="en-US" sz="703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One line per song: </a:t>
            </a:r>
            <a:r>
              <a:rPr lang="en-US" sz="703" dirty="0">
                <a:solidFill>
                  <a:srgbClr val="8A5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title|artist|seconds|plays</a:t>
            </a:r>
            <a:r>
              <a:rPr lang="en-US" sz="703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— reloaded at every start</a:t>
            </a:r>
            <a:endParaRPr lang="en-US" sz="703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8625" y="371475"/>
            <a:ext cx="328613" cy="328613"/>
          </a:xfrm>
          <a:prstGeom prst="roundRect">
            <a:avLst>
              <a:gd name="adj" fmla="val 28985"/>
            </a:avLst>
          </a:prstGeom>
          <a:solidFill>
            <a:srgbClr val="B7791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7725" y="423267"/>
            <a:ext cx="209513" cy="243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72"/>
              </a:lnSpc>
              <a:buNone/>
            </a:pPr>
            <a:r>
              <a:rPr lang="en-US" sz="1181" b="1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7</a:t>
            </a:r>
            <a:endParaRPr lang="en-US" sz="1181" dirty="0"/>
          </a:p>
        </p:txBody>
      </p:sp>
      <p:sp>
        <p:nvSpPr>
          <p:cNvPr id="4" name="Text 2"/>
          <p:cNvSpPr/>
          <p:nvPr/>
        </p:nvSpPr>
        <p:spPr>
          <a:xfrm>
            <a:off x="885825" y="402171"/>
            <a:ext cx="1922952" cy="2884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4"/>
              </a:lnSpc>
              <a:buNone/>
            </a:pPr>
            <a:r>
              <a:rPr lang="en-US" sz="1913" b="1" dirty="0">
                <a:solidFill>
                  <a:srgbClr val="16305B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Functionalities</a:t>
            </a:r>
            <a:endParaRPr lang="en-US" sz="1913" dirty="0"/>
          </a:p>
        </p:txBody>
      </p:sp>
      <p:sp>
        <p:nvSpPr>
          <p:cNvPr id="5" name="Text 3"/>
          <p:cNvSpPr/>
          <p:nvPr/>
        </p:nvSpPr>
        <p:spPr>
          <a:xfrm>
            <a:off x="2552774" y="532209"/>
            <a:ext cx="6162601" cy="7144"/>
          </a:xfrm>
          <a:prstGeom prst="rect">
            <a:avLst/>
          </a:prstGeom>
          <a:solidFill>
            <a:srgbClr val="D9E2E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28625" y="800100"/>
            <a:ext cx="6903095" cy="156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42"/>
              </a:lnSpc>
              <a:buNone/>
            </a:pPr>
            <a:r>
              <a:rPr lang="en-US" sz="816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Eight menu options cover the complete workflow — </a:t>
            </a:r>
            <a:r>
              <a:rPr lang="en-US" sz="816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each maps to one menu number the user types</a:t>
            </a:r>
            <a:r>
              <a:rPr lang="en-US" sz="816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.</a:t>
            </a:r>
            <a:endParaRPr lang="en-US" sz="816" dirty="0"/>
          </a:p>
        </p:txBody>
      </p:sp>
      <p:sp>
        <p:nvSpPr>
          <p:cNvPr id="7" name="Text 5"/>
          <p:cNvSpPr/>
          <p:nvPr/>
        </p:nvSpPr>
        <p:spPr>
          <a:xfrm>
            <a:off x="7346007" y="818964"/>
            <a:ext cx="107156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55" dirty="0">
                <a:solidFill>
                  <a:srgbClr val="8A5A1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★</a:t>
            </a:r>
            <a:endParaRPr lang="en-US" sz="1055" dirty="0"/>
          </a:p>
        </p:txBody>
      </p:sp>
      <p:sp>
        <p:nvSpPr>
          <p:cNvPr id="8" name="Text 6"/>
          <p:cNvSpPr/>
          <p:nvPr/>
        </p:nvSpPr>
        <p:spPr>
          <a:xfrm>
            <a:off x="7496026" y="810927"/>
            <a:ext cx="13168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70"/>
              </a:lnSpc>
              <a:buNone/>
            </a:pPr>
            <a:r>
              <a:rPr lang="en-US" sz="647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Gold border — signature features</a:t>
            </a:r>
            <a:endParaRPr lang="en-US" sz="647" dirty="0"/>
          </a:p>
        </p:txBody>
      </p:sp>
      <p:sp>
        <p:nvSpPr>
          <p:cNvPr id="9" name="Text 7"/>
          <p:cNvSpPr/>
          <p:nvPr/>
        </p:nvSpPr>
        <p:spPr>
          <a:xfrm>
            <a:off x="432197" y="1034393"/>
            <a:ext cx="1989534" cy="1645518"/>
          </a:xfrm>
          <a:prstGeom prst="roundRect">
            <a:avLst>
              <a:gd name="adj" fmla="val 6946"/>
            </a:avLst>
          </a:prstGeom>
          <a:solidFill>
            <a:srgbClr val="FFFFFF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557213" y="1166552"/>
            <a:ext cx="314325" cy="314325"/>
          </a:xfrm>
          <a:prstGeom prst="roundRect">
            <a:avLst>
              <a:gd name="adj" fmla="val 33333"/>
            </a:avLst>
          </a:prstGeom>
          <a:solidFill>
            <a:srgbClr val="B7791F">
              <a:alpha val="12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90074" y="1199413"/>
            <a:ext cx="248602" cy="2486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88" dirty="0">
                <a:solidFill>
                  <a:srgbClr val="8A5A1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♪</a:t>
            </a:r>
            <a:endParaRPr lang="en-US" sz="1688" dirty="0"/>
          </a:p>
        </p:txBody>
      </p:sp>
      <p:sp>
        <p:nvSpPr>
          <p:cNvPr id="12" name="Text 10"/>
          <p:cNvSpPr/>
          <p:nvPr/>
        </p:nvSpPr>
        <p:spPr>
          <a:xfrm>
            <a:off x="1850017" y="1156694"/>
            <a:ext cx="463879" cy="184023"/>
          </a:xfrm>
          <a:prstGeom prst="roundRect">
            <a:avLst>
              <a:gd name="adj" fmla="val 31056"/>
            </a:avLst>
          </a:prstGeom>
          <a:solidFill>
            <a:srgbClr val="EAF0F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861566" y="1166552"/>
            <a:ext cx="440781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844"/>
              </a:lnSpc>
              <a:buNone/>
            </a:pPr>
            <a:r>
              <a:rPr lang="en-US" sz="800" kern="0" spc="56" dirty="0">
                <a:solidFill>
                  <a:srgbClr val="16305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MENU 1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57213" y="1573746"/>
            <a:ext cx="1739503" cy="1527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14"/>
              </a:lnSpc>
              <a:buNone/>
            </a:pPr>
            <a:r>
              <a:rPr lang="en-US" sz="928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View All Songs</a:t>
            </a:r>
            <a:endParaRPr lang="en-US" sz="928" dirty="0"/>
          </a:p>
        </p:txBody>
      </p:sp>
      <p:sp>
        <p:nvSpPr>
          <p:cNvPr id="15" name="Text 13"/>
          <p:cNvSpPr/>
          <p:nvPr/>
        </p:nvSpPr>
        <p:spPr>
          <a:xfrm>
            <a:off x="557213" y="1758032"/>
            <a:ext cx="173950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5"/>
              </a:lnSpc>
              <a:buNone/>
            </a:pPr>
            <a:r>
              <a:rPr lang="en-US" sz="800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Neat table of No. / Title / Artist / Length / Plays.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2528888" y="1034393"/>
            <a:ext cx="1989534" cy="1645518"/>
          </a:xfrm>
          <a:prstGeom prst="roundRect">
            <a:avLst>
              <a:gd name="adj" fmla="val 6946"/>
            </a:avLst>
          </a:prstGeom>
          <a:solidFill>
            <a:srgbClr val="FFFFFF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2653903" y="1166552"/>
            <a:ext cx="314325" cy="314325"/>
          </a:xfrm>
          <a:prstGeom prst="roundRect">
            <a:avLst>
              <a:gd name="adj" fmla="val 33333"/>
            </a:avLst>
          </a:prstGeom>
          <a:solidFill>
            <a:srgbClr val="B7791F">
              <a:alpha val="12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2686764" y="1199413"/>
            <a:ext cx="248602" cy="2486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88" dirty="0">
                <a:solidFill>
                  <a:srgbClr val="8A5A1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⊕</a:t>
            </a:r>
            <a:endParaRPr lang="en-US" sz="1688" dirty="0"/>
          </a:p>
        </p:txBody>
      </p:sp>
      <p:sp>
        <p:nvSpPr>
          <p:cNvPr id="19" name="Text 17"/>
          <p:cNvSpPr/>
          <p:nvPr/>
        </p:nvSpPr>
        <p:spPr>
          <a:xfrm>
            <a:off x="3946708" y="1156694"/>
            <a:ext cx="463879" cy="184023"/>
          </a:xfrm>
          <a:prstGeom prst="roundRect">
            <a:avLst>
              <a:gd name="adj" fmla="val 31056"/>
            </a:avLst>
          </a:prstGeom>
          <a:solidFill>
            <a:srgbClr val="EAF0F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3958257" y="1166552"/>
            <a:ext cx="440781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844"/>
              </a:lnSpc>
              <a:buNone/>
            </a:pPr>
            <a:r>
              <a:rPr lang="en-US" sz="800" kern="0" spc="56" dirty="0">
                <a:solidFill>
                  <a:srgbClr val="16305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MENU 2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2653903" y="1573746"/>
            <a:ext cx="1739503" cy="1527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14"/>
              </a:lnSpc>
              <a:buNone/>
            </a:pPr>
            <a:r>
              <a:rPr lang="en-US" sz="928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Add a New Song</a:t>
            </a:r>
            <a:endParaRPr lang="en-US" sz="928" dirty="0"/>
          </a:p>
        </p:txBody>
      </p:sp>
      <p:sp>
        <p:nvSpPr>
          <p:cNvPr id="22" name="Text 20"/>
          <p:cNvSpPr/>
          <p:nvPr/>
        </p:nvSpPr>
        <p:spPr>
          <a:xfrm>
            <a:off x="2653903" y="1758032"/>
            <a:ext cx="173950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5"/>
              </a:lnSpc>
              <a:buNone/>
            </a:pPr>
            <a:r>
              <a:rPr lang="en-US" sz="800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Validated input for title, artist and length (min + sec).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625578" y="1034393"/>
            <a:ext cx="1989534" cy="1645518"/>
          </a:xfrm>
          <a:prstGeom prst="roundRect">
            <a:avLst>
              <a:gd name="adj" fmla="val 6946"/>
            </a:avLst>
          </a:prstGeom>
          <a:solidFill>
            <a:srgbClr val="FFFFFF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4750594" y="1166552"/>
            <a:ext cx="314325" cy="314325"/>
          </a:xfrm>
          <a:prstGeom prst="roundRect">
            <a:avLst>
              <a:gd name="adj" fmla="val 33333"/>
            </a:avLst>
          </a:prstGeom>
          <a:solidFill>
            <a:srgbClr val="B7791F">
              <a:alpha val="12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4783455" y="1199413"/>
            <a:ext cx="248602" cy="2486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88" dirty="0">
                <a:solidFill>
                  <a:srgbClr val="8A5A1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⊖</a:t>
            </a:r>
            <a:endParaRPr lang="en-US" sz="1688" dirty="0"/>
          </a:p>
        </p:txBody>
      </p:sp>
      <p:sp>
        <p:nvSpPr>
          <p:cNvPr id="26" name="Text 24"/>
          <p:cNvSpPr/>
          <p:nvPr/>
        </p:nvSpPr>
        <p:spPr>
          <a:xfrm>
            <a:off x="6043398" y="1156694"/>
            <a:ext cx="463879" cy="184023"/>
          </a:xfrm>
          <a:prstGeom prst="roundRect">
            <a:avLst>
              <a:gd name="adj" fmla="val 31056"/>
            </a:avLst>
          </a:prstGeom>
          <a:solidFill>
            <a:srgbClr val="EAF0F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054947" y="1166552"/>
            <a:ext cx="440781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844"/>
              </a:lnSpc>
              <a:buNone/>
            </a:pPr>
            <a:r>
              <a:rPr lang="en-US" sz="800" kern="0" spc="56" dirty="0">
                <a:solidFill>
                  <a:srgbClr val="16305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MENU 3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750594" y="1573746"/>
            <a:ext cx="1739503" cy="1527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14"/>
              </a:lnSpc>
              <a:buNone/>
            </a:pPr>
            <a:r>
              <a:rPr lang="en-US" sz="928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Remove a Song</a:t>
            </a:r>
            <a:endParaRPr lang="en-US" sz="928" dirty="0"/>
          </a:p>
        </p:txBody>
      </p:sp>
      <p:sp>
        <p:nvSpPr>
          <p:cNvPr id="29" name="Text 27"/>
          <p:cNvSpPr/>
          <p:nvPr/>
        </p:nvSpPr>
        <p:spPr>
          <a:xfrm>
            <a:off x="4750594" y="1758032"/>
            <a:ext cx="184387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5"/>
              </a:lnSpc>
              <a:buNone/>
            </a:pPr>
            <a:r>
              <a:rPr lang="en-US" sz="703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Deletes by title, ignoring capital letters.</a:t>
            </a:r>
            <a:endParaRPr lang="en-US" sz="703" dirty="0"/>
          </a:p>
        </p:txBody>
      </p:sp>
      <p:sp>
        <p:nvSpPr>
          <p:cNvPr id="30" name="Text 28"/>
          <p:cNvSpPr/>
          <p:nvPr/>
        </p:nvSpPr>
        <p:spPr>
          <a:xfrm>
            <a:off x="6722269" y="1034393"/>
            <a:ext cx="1989534" cy="1645518"/>
          </a:xfrm>
          <a:prstGeom prst="roundRect">
            <a:avLst>
              <a:gd name="adj" fmla="val 6946"/>
            </a:avLst>
          </a:prstGeom>
          <a:solidFill>
            <a:srgbClr val="FDF6E7"/>
          </a:solidFill>
          <a:ln w="7144">
            <a:solidFill>
              <a:srgbClr val="B7791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847284" y="1166552"/>
            <a:ext cx="314325" cy="314325"/>
          </a:xfrm>
          <a:prstGeom prst="roundRect">
            <a:avLst>
              <a:gd name="adj" fmla="val 33333"/>
            </a:avLst>
          </a:prstGeom>
          <a:solidFill>
            <a:srgbClr val="B7791F">
              <a:alpha val="12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6880146" y="1199413"/>
            <a:ext cx="248602" cy="2486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88" dirty="0">
                <a:solidFill>
                  <a:srgbClr val="8A5A1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▶</a:t>
            </a:r>
            <a:endParaRPr lang="en-US" sz="1688" dirty="0"/>
          </a:p>
        </p:txBody>
      </p:sp>
      <p:sp>
        <p:nvSpPr>
          <p:cNvPr id="33" name="Text 31"/>
          <p:cNvSpPr/>
          <p:nvPr/>
        </p:nvSpPr>
        <p:spPr>
          <a:xfrm>
            <a:off x="8140089" y="1156694"/>
            <a:ext cx="463879" cy="184023"/>
          </a:xfrm>
          <a:prstGeom prst="roundRect">
            <a:avLst>
              <a:gd name="adj" fmla="val 31056"/>
            </a:avLst>
          </a:prstGeom>
          <a:solidFill>
            <a:srgbClr val="8A5A1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8151638" y="1166552"/>
            <a:ext cx="440781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844"/>
              </a:lnSpc>
              <a:buNone/>
            </a:pPr>
            <a:r>
              <a:rPr lang="en-US" sz="800" kern="0" spc="56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MENU 4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847284" y="1573746"/>
            <a:ext cx="1739503" cy="1527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14"/>
              </a:lnSpc>
              <a:buNone/>
            </a:pPr>
            <a:r>
              <a:rPr lang="en-US" sz="928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Play a Song</a:t>
            </a:r>
            <a:endParaRPr lang="en-US" sz="928" dirty="0"/>
          </a:p>
        </p:txBody>
      </p:sp>
      <p:sp>
        <p:nvSpPr>
          <p:cNvPr id="36" name="Text 34"/>
          <p:cNvSpPr/>
          <p:nvPr/>
        </p:nvSpPr>
        <p:spPr>
          <a:xfrm>
            <a:off x="6847284" y="1758032"/>
            <a:ext cx="173950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5"/>
              </a:lnSpc>
              <a:buNone/>
            </a:pPr>
            <a:r>
              <a:rPr lang="en-US" sz="800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Shows </a:t>
            </a:r>
            <a:r>
              <a:rPr lang="en-US" sz="800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NOW PLAYING</a:t>
            </a:r>
            <a:r>
              <a:rPr lang="en-US" sz="800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banner and adds +1 to its play count.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432197" y="2787067"/>
            <a:ext cx="1989534" cy="1645630"/>
          </a:xfrm>
          <a:prstGeom prst="roundRect">
            <a:avLst>
              <a:gd name="adj" fmla="val 6946"/>
            </a:avLst>
          </a:prstGeom>
          <a:solidFill>
            <a:srgbClr val="FFFFFF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557213" y="2919226"/>
            <a:ext cx="314325" cy="314325"/>
          </a:xfrm>
          <a:prstGeom prst="roundRect">
            <a:avLst>
              <a:gd name="adj" fmla="val 33333"/>
            </a:avLst>
          </a:prstGeom>
          <a:solidFill>
            <a:srgbClr val="B7791F">
              <a:alpha val="12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590074" y="2952088"/>
            <a:ext cx="248602" cy="2486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88" dirty="0">
                <a:solidFill>
                  <a:srgbClr val="8A5A1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⌕</a:t>
            </a:r>
            <a:endParaRPr lang="en-US" sz="1688" dirty="0"/>
          </a:p>
        </p:txBody>
      </p:sp>
      <p:sp>
        <p:nvSpPr>
          <p:cNvPr id="40" name="Text 38"/>
          <p:cNvSpPr/>
          <p:nvPr/>
        </p:nvSpPr>
        <p:spPr>
          <a:xfrm>
            <a:off x="1850017" y="2909368"/>
            <a:ext cx="463879" cy="184023"/>
          </a:xfrm>
          <a:prstGeom prst="roundRect">
            <a:avLst>
              <a:gd name="adj" fmla="val 31056"/>
            </a:avLst>
          </a:prstGeom>
          <a:solidFill>
            <a:srgbClr val="EAF0F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1861566" y="2919226"/>
            <a:ext cx="440781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844"/>
              </a:lnSpc>
              <a:buNone/>
            </a:pPr>
            <a:r>
              <a:rPr lang="en-US" sz="800" kern="0" spc="56" dirty="0">
                <a:solidFill>
                  <a:srgbClr val="16305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MENU 5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557213" y="3326420"/>
            <a:ext cx="1739503" cy="1527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14"/>
              </a:lnSpc>
              <a:buNone/>
            </a:pPr>
            <a:r>
              <a:rPr lang="en-US" sz="928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Search Songs</a:t>
            </a:r>
            <a:endParaRPr lang="en-US" sz="928" dirty="0"/>
          </a:p>
        </p:txBody>
      </p:sp>
      <p:sp>
        <p:nvSpPr>
          <p:cNvPr id="43" name="Text 41"/>
          <p:cNvSpPr/>
          <p:nvPr/>
        </p:nvSpPr>
        <p:spPr>
          <a:xfrm>
            <a:off x="557213" y="3510707"/>
            <a:ext cx="184387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5"/>
              </a:lnSpc>
              <a:buNone/>
            </a:pPr>
            <a:r>
              <a:rPr lang="en-US" sz="703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Case-insensitive match on title or artist.</a:t>
            </a:r>
            <a:endParaRPr lang="en-US" sz="703" dirty="0"/>
          </a:p>
        </p:txBody>
      </p:sp>
      <p:sp>
        <p:nvSpPr>
          <p:cNvPr id="44" name="Text 42"/>
          <p:cNvSpPr/>
          <p:nvPr/>
        </p:nvSpPr>
        <p:spPr>
          <a:xfrm>
            <a:off x="2528888" y="2787067"/>
            <a:ext cx="1989534" cy="1645630"/>
          </a:xfrm>
          <a:prstGeom prst="roundRect">
            <a:avLst>
              <a:gd name="adj" fmla="val 6946"/>
            </a:avLst>
          </a:prstGeom>
          <a:solidFill>
            <a:srgbClr val="FFFFFF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2653903" y="2919226"/>
            <a:ext cx="314325" cy="314325"/>
          </a:xfrm>
          <a:prstGeom prst="roundRect">
            <a:avLst>
              <a:gd name="adj" fmla="val 33333"/>
            </a:avLst>
          </a:prstGeom>
          <a:solidFill>
            <a:srgbClr val="B7791F">
              <a:alpha val="12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2686764" y="2952088"/>
            <a:ext cx="248602" cy="2486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88" dirty="0">
                <a:solidFill>
                  <a:srgbClr val="8A5A1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⇅</a:t>
            </a:r>
            <a:endParaRPr lang="en-US" sz="1688" dirty="0"/>
          </a:p>
        </p:txBody>
      </p:sp>
      <p:sp>
        <p:nvSpPr>
          <p:cNvPr id="47" name="Text 45"/>
          <p:cNvSpPr/>
          <p:nvPr/>
        </p:nvSpPr>
        <p:spPr>
          <a:xfrm>
            <a:off x="3946708" y="2909368"/>
            <a:ext cx="463879" cy="184023"/>
          </a:xfrm>
          <a:prstGeom prst="roundRect">
            <a:avLst>
              <a:gd name="adj" fmla="val 31056"/>
            </a:avLst>
          </a:prstGeom>
          <a:solidFill>
            <a:srgbClr val="EAF0F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3958257" y="2919226"/>
            <a:ext cx="440781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844"/>
              </a:lnSpc>
              <a:buNone/>
            </a:pPr>
            <a:r>
              <a:rPr lang="en-US" sz="800" kern="0" spc="56" dirty="0">
                <a:solidFill>
                  <a:srgbClr val="16305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MENU 6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2653903" y="3326420"/>
            <a:ext cx="1739503" cy="1527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14"/>
              </a:lnSpc>
              <a:buNone/>
            </a:pPr>
            <a:r>
              <a:rPr lang="en-US" sz="928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Sort Playlist</a:t>
            </a:r>
            <a:endParaRPr lang="en-US" sz="928" dirty="0"/>
          </a:p>
        </p:txBody>
      </p:sp>
      <p:sp>
        <p:nvSpPr>
          <p:cNvPr id="50" name="Text 48"/>
          <p:cNvSpPr/>
          <p:nvPr/>
        </p:nvSpPr>
        <p:spPr>
          <a:xfrm>
            <a:off x="2653903" y="3510707"/>
            <a:ext cx="184387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5"/>
              </a:lnSpc>
              <a:buNone/>
            </a:pPr>
            <a:r>
              <a:rPr lang="en-US" sz="703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A–Z by title, or most-played first.</a:t>
            </a:r>
            <a:endParaRPr lang="en-US" sz="703" dirty="0"/>
          </a:p>
        </p:txBody>
      </p:sp>
      <p:sp>
        <p:nvSpPr>
          <p:cNvPr id="51" name="Text 49"/>
          <p:cNvSpPr/>
          <p:nvPr/>
        </p:nvSpPr>
        <p:spPr>
          <a:xfrm>
            <a:off x="4625578" y="2787067"/>
            <a:ext cx="1989534" cy="1645630"/>
          </a:xfrm>
          <a:prstGeom prst="roundRect">
            <a:avLst>
              <a:gd name="adj" fmla="val 6946"/>
            </a:avLst>
          </a:prstGeom>
          <a:solidFill>
            <a:srgbClr val="FDF6E7"/>
          </a:solidFill>
          <a:ln w="7144">
            <a:solidFill>
              <a:srgbClr val="B7791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4750594" y="2919226"/>
            <a:ext cx="314325" cy="314325"/>
          </a:xfrm>
          <a:prstGeom prst="roundRect">
            <a:avLst>
              <a:gd name="adj" fmla="val 33333"/>
            </a:avLst>
          </a:prstGeom>
          <a:solidFill>
            <a:srgbClr val="B7791F">
              <a:alpha val="12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4783455" y="2952088"/>
            <a:ext cx="248602" cy="2486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88" dirty="0">
                <a:solidFill>
                  <a:srgbClr val="8A5A1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▦</a:t>
            </a:r>
            <a:endParaRPr lang="en-US" sz="1688" dirty="0"/>
          </a:p>
        </p:txBody>
      </p:sp>
      <p:sp>
        <p:nvSpPr>
          <p:cNvPr id="54" name="Text 52"/>
          <p:cNvSpPr/>
          <p:nvPr/>
        </p:nvSpPr>
        <p:spPr>
          <a:xfrm>
            <a:off x="6043398" y="2909368"/>
            <a:ext cx="463879" cy="184023"/>
          </a:xfrm>
          <a:prstGeom prst="roundRect">
            <a:avLst>
              <a:gd name="adj" fmla="val 31056"/>
            </a:avLst>
          </a:prstGeom>
          <a:solidFill>
            <a:srgbClr val="8A5A1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6054947" y="2919226"/>
            <a:ext cx="440781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844"/>
              </a:lnSpc>
              <a:buNone/>
            </a:pPr>
            <a:r>
              <a:rPr lang="en-US" sz="800" kern="0" spc="56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MENU 7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4750594" y="3326420"/>
            <a:ext cx="1739503" cy="1527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14"/>
              </a:lnSpc>
              <a:buNone/>
            </a:pPr>
            <a:r>
              <a:rPr lang="en-US" sz="928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Listening Stats</a:t>
            </a:r>
            <a:endParaRPr lang="en-US" sz="928" dirty="0"/>
          </a:p>
        </p:txBody>
      </p:sp>
      <p:sp>
        <p:nvSpPr>
          <p:cNvPr id="57" name="Text 55"/>
          <p:cNvSpPr/>
          <p:nvPr/>
        </p:nvSpPr>
        <p:spPr>
          <a:xfrm>
            <a:off x="4750594" y="3510707"/>
            <a:ext cx="184387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5"/>
              </a:lnSpc>
              <a:buNone/>
            </a:pPr>
            <a:r>
              <a:rPr lang="en-US" sz="703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Totals, favourite artist and </a:t>
            </a:r>
            <a:r>
              <a:rPr lang="en-US" sz="703" b="1" dirty="0">
                <a:solidFill>
                  <a:srgbClr val="16305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Top-5</a:t>
            </a:r>
            <a:r>
              <a:rPr lang="en-US" sz="703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ranking.</a:t>
            </a:r>
            <a:endParaRPr lang="en-US" sz="703" dirty="0"/>
          </a:p>
        </p:txBody>
      </p:sp>
      <p:sp>
        <p:nvSpPr>
          <p:cNvPr id="58" name="Text 56"/>
          <p:cNvSpPr/>
          <p:nvPr/>
        </p:nvSpPr>
        <p:spPr>
          <a:xfrm>
            <a:off x="6722269" y="2787067"/>
            <a:ext cx="1989534" cy="1645630"/>
          </a:xfrm>
          <a:prstGeom prst="roundRect">
            <a:avLst>
              <a:gd name="adj" fmla="val 6946"/>
            </a:avLst>
          </a:prstGeom>
          <a:solidFill>
            <a:srgbClr val="FFFFFF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9" name="Text 57"/>
          <p:cNvSpPr/>
          <p:nvPr/>
        </p:nvSpPr>
        <p:spPr>
          <a:xfrm>
            <a:off x="6847284" y="2919226"/>
            <a:ext cx="314325" cy="314325"/>
          </a:xfrm>
          <a:prstGeom prst="roundRect">
            <a:avLst>
              <a:gd name="adj" fmla="val 33333"/>
            </a:avLst>
          </a:prstGeom>
          <a:solidFill>
            <a:srgbClr val="B7791F">
              <a:alpha val="12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6880146" y="2952088"/>
            <a:ext cx="248602" cy="2486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88" dirty="0">
                <a:solidFill>
                  <a:srgbClr val="8A5A1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⤓</a:t>
            </a:r>
            <a:endParaRPr lang="en-US" sz="1688" dirty="0"/>
          </a:p>
        </p:txBody>
      </p:sp>
      <p:sp>
        <p:nvSpPr>
          <p:cNvPr id="61" name="Text 59"/>
          <p:cNvSpPr/>
          <p:nvPr/>
        </p:nvSpPr>
        <p:spPr>
          <a:xfrm>
            <a:off x="8244334" y="2909368"/>
            <a:ext cx="355625" cy="184023"/>
          </a:xfrm>
          <a:prstGeom prst="roundRect">
            <a:avLst>
              <a:gd name="adj" fmla="val 31056"/>
            </a:avLst>
          </a:prstGeom>
          <a:solidFill>
            <a:srgbClr val="EAF0F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8255705" y="2919226"/>
            <a:ext cx="332882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844"/>
              </a:lnSpc>
              <a:buNone/>
            </a:pPr>
            <a:r>
              <a:rPr lang="en-US" sz="800" kern="0" spc="56" dirty="0">
                <a:solidFill>
                  <a:srgbClr val="1630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AUTO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6847284" y="3326420"/>
            <a:ext cx="1739503" cy="1527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14"/>
              </a:lnSpc>
              <a:buNone/>
            </a:pPr>
            <a:r>
              <a:rPr lang="en-US" sz="928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Auto-Save</a:t>
            </a:r>
            <a:endParaRPr lang="en-US" sz="928" dirty="0"/>
          </a:p>
        </p:txBody>
      </p:sp>
      <p:sp>
        <p:nvSpPr>
          <p:cNvPr id="64" name="Text 62"/>
          <p:cNvSpPr/>
          <p:nvPr/>
        </p:nvSpPr>
        <p:spPr>
          <a:xfrm>
            <a:off x="6847284" y="3510707"/>
            <a:ext cx="173950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5"/>
              </a:lnSpc>
              <a:buNone/>
            </a:pPr>
            <a:r>
              <a:rPr lang="en-US" sz="800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FileWriter persists the playlist after every change.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428625" y="4536281"/>
            <a:ext cx="8286750" cy="307181"/>
          </a:xfrm>
          <a:prstGeom prst="roundRect">
            <a:avLst>
              <a:gd name="adj" fmla="val 31008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6" name="Shape 64"/>
          <p:cNvSpPr/>
          <p:nvPr/>
        </p:nvSpPr>
        <p:spPr>
          <a:xfrm>
            <a:off x="428625" y="4539853"/>
            <a:ext cx="8286750" cy="0"/>
          </a:xfrm>
          <a:prstGeom prst="line">
            <a:avLst/>
          </a:prstGeom>
          <a:noFill/>
          <a:ln w="7144">
            <a:solidFill>
              <a:srgbClr val="D9E2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7" name="Shape 65"/>
          <p:cNvSpPr/>
          <p:nvPr/>
        </p:nvSpPr>
        <p:spPr>
          <a:xfrm>
            <a:off x="8711803" y="4536281"/>
            <a:ext cx="0" cy="307181"/>
          </a:xfrm>
          <a:prstGeom prst="line">
            <a:avLst/>
          </a:prstGeom>
          <a:noFill/>
          <a:ln w="7144">
            <a:solidFill>
              <a:srgbClr val="D9E2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8" name="Shape 66"/>
          <p:cNvSpPr/>
          <p:nvPr/>
        </p:nvSpPr>
        <p:spPr>
          <a:xfrm>
            <a:off x="428625" y="4839891"/>
            <a:ext cx="8286750" cy="0"/>
          </a:xfrm>
          <a:prstGeom prst="line">
            <a:avLst/>
          </a:prstGeom>
          <a:noFill/>
          <a:ln w="7144">
            <a:solidFill>
              <a:srgbClr val="D9E2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9" name="Shape 67"/>
          <p:cNvSpPr/>
          <p:nvPr/>
        </p:nvSpPr>
        <p:spPr>
          <a:xfrm>
            <a:off x="442913" y="4536281"/>
            <a:ext cx="0" cy="307181"/>
          </a:xfrm>
          <a:prstGeom prst="line">
            <a:avLst/>
          </a:prstGeom>
          <a:noFill/>
          <a:ln w="28575">
            <a:solidFill>
              <a:srgbClr val="B7791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0" name="Text 68"/>
          <p:cNvSpPr/>
          <p:nvPr/>
        </p:nvSpPr>
        <p:spPr>
          <a:xfrm>
            <a:off x="571500" y="4614863"/>
            <a:ext cx="150019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477" dirty="0">
                <a:solidFill>
                  <a:srgbClr val="8A5A1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▶</a:t>
            </a:r>
            <a:endParaRPr lang="en-US" sz="1477" dirty="0"/>
          </a:p>
        </p:txBody>
      </p:sp>
      <p:sp>
        <p:nvSpPr>
          <p:cNvPr id="71" name="Text 69"/>
          <p:cNvSpPr/>
          <p:nvPr/>
        </p:nvSpPr>
        <p:spPr>
          <a:xfrm>
            <a:off x="807244" y="4624908"/>
            <a:ext cx="7786688" cy="139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24"/>
              </a:lnSpc>
              <a:buNone/>
            </a:pPr>
            <a:r>
              <a:rPr lang="en-US" sz="800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Demo tip</a:t>
            </a:r>
            <a:r>
              <a:rPr lang="en-US" sz="800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— suggested order: View All Songs (1) </a:t>
            </a:r>
            <a:r>
              <a:rPr lang="en-US" sz="800" b="1" dirty="0">
                <a:solidFill>
                  <a:srgbClr val="8A5A1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→</a:t>
            </a:r>
            <a:r>
              <a:rPr lang="en-US" sz="800" dirty="0">
                <a:solidFill>
                  <a:srgbClr val="5B6B84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 Play "Believer" (4) </a:t>
            </a:r>
            <a:r>
              <a:rPr lang="en-US" sz="800" b="1" dirty="0">
                <a:solidFill>
                  <a:srgbClr val="8A5A1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→</a:t>
            </a:r>
            <a:r>
              <a:rPr lang="en-US" sz="800" dirty="0">
                <a:solidFill>
                  <a:srgbClr val="5B6B84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 Listening Stats (7).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285750"/>
            <a:ext cx="257175" cy="257175"/>
          </a:xfrm>
          <a:prstGeom prst="roundRect">
            <a:avLst>
              <a:gd name="adj" fmla="val 33333"/>
            </a:avLst>
          </a:prstGeom>
          <a:solidFill>
            <a:srgbClr val="B7791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94147" y="328613"/>
            <a:ext cx="163078" cy="1851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57238" y="316111"/>
            <a:ext cx="3489704" cy="212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47"/>
              </a:lnSpc>
              <a:buNone/>
            </a:pPr>
            <a:r>
              <a:rPr lang="en-US" sz="1406" b="1" dirty="0">
                <a:solidFill>
                  <a:srgbClr val="16305B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Implementation — Java Code Screenshots</a:t>
            </a:r>
            <a:endParaRPr lang="en-US" sz="1406" dirty="0"/>
          </a:p>
        </p:txBody>
      </p:sp>
      <p:sp>
        <p:nvSpPr>
          <p:cNvPr id="5" name="Text 3"/>
          <p:cNvSpPr/>
          <p:nvPr/>
        </p:nvSpPr>
        <p:spPr>
          <a:xfrm>
            <a:off x="4088457" y="410766"/>
            <a:ext cx="2964991" cy="7144"/>
          </a:xfrm>
          <a:prstGeom prst="rect">
            <a:avLst/>
          </a:prstGeom>
          <a:solidFill>
            <a:srgbClr val="D9E2E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157033" y="308967"/>
            <a:ext cx="1583345" cy="210741"/>
          </a:xfrm>
          <a:prstGeom prst="roundRect">
            <a:avLst>
              <a:gd name="adj" fmla="val 36158"/>
            </a:avLst>
          </a:prstGeom>
          <a:solidFill>
            <a:srgbClr val="FDF6E7"/>
          </a:solidFill>
          <a:ln w="7144">
            <a:solidFill>
              <a:srgbClr val="E8D5AC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53461" y="305395"/>
            <a:ext cx="1590489" cy="304246"/>
          </a:xfrm>
          <a:prstGeom prst="rect">
            <a:avLst/>
          </a:prstGeom>
          <a:noFill/>
          <a:ln/>
        </p:spPr>
        <p:txBody>
          <a:bodyPr wrap="none" lIns="85725" tIns="42863" rIns="85725" bIns="42863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kern="0" spc="37" dirty="0">
                <a:solidFill>
                  <a:srgbClr val="8A5A14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(1 of 5) · Project overview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00050" y="642938"/>
            <a:ext cx="8343900" cy="162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83"/>
              </a:lnSpc>
              <a:buNone/>
            </a:pPr>
            <a:r>
              <a:rPr lang="en-US" sz="816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The complete project is </a:t>
            </a:r>
            <a:r>
              <a:rPr lang="en-US" sz="816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4 well-organised Java classes — 628 lines of fully commented, beginner-readable code</a:t>
            </a:r>
            <a:r>
              <a:rPr lang="en-US" sz="816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. The next four slides show each class exactly as submitted.</a:t>
            </a:r>
            <a:endParaRPr lang="en-US" sz="816" dirty="0"/>
          </a:p>
        </p:txBody>
      </p:sp>
      <p:sp>
        <p:nvSpPr>
          <p:cNvPr id="9" name="Text 7"/>
          <p:cNvSpPr/>
          <p:nvPr/>
        </p:nvSpPr>
        <p:spPr>
          <a:xfrm>
            <a:off x="403622" y="896652"/>
            <a:ext cx="4983435" cy="2212777"/>
          </a:xfrm>
          <a:prstGeom prst="roundRect">
            <a:avLst>
              <a:gd name="adj" fmla="val 4305"/>
            </a:avLst>
          </a:prstGeom>
          <a:solidFill>
            <a:srgbClr val="FFFFFF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07194" y="900224"/>
          <a:ext cx="4976291" cy="2384583"/>
        </p:xfrm>
        <a:graphic>
          <a:graphicData uri="http://schemas.openxmlformats.org/drawingml/2006/table">
            <a:tbl>
              <a:tblPr/>
              <a:tblGrid>
                <a:gridCol w="117916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317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6182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0352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CLASS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1438" marR="114300" marT="114300" marB="71438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ROLE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1438" marR="114300" marT="114300" marB="71438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KEY MEMBERS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1438" marR="114300" marT="114300" marB="71438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LINES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1438" marR="114300" marT="114300" marB="71438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16305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Song.java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8581" marR="114300" marT="114300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23304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Model — represents one song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8581" marR="114300" marT="114300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5B6B84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fields, constructor, play counter, file helpers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8581" marR="114300" marT="114300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8A5A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101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8581" marR="114300" marT="114300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16305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Playlist.java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8581" marR="114300" marT="114300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23304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Data manager — the song collection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8581" marR="114300" marT="114300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5B6B84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add, remove, view, search, sort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8581" marR="114300" marT="114300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8A5A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128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8581" marR="114300" marT="114300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16305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StatsManager.java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8581" marR="114300" marT="114300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23304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Statistics engine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8581" marR="114300" marT="114300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5B6B84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totals, favourite artist, Top-5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8581" marR="114300" marT="114300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8A5A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129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8581" marR="114300" marT="114300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16305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Main.java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8581" marR="114300" marT="114300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23304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Controller — menu and files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8581" marR="114300" marT="114300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5B6B84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menu loop, input validation, save/load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8581" marR="114300" marT="114300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8A5A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270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8581" marR="114300" marT="114300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8A5A14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Total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8581" marR="114300" marT="114300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8581" marR="114300" marT="114300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16305B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628 lines of Java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8581" marR="114300" marT="114300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8A5A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628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8581" marR="114300" marT="114300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pic>
        <p:nvPicPr>
          <p:cNvPr id="11" name="Image 0" descr="/tmp/h2p-fit-1792001661526-vxte7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3504" y="964518"/>
            <a:ext cx="3210446" cy="247877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537076" y="3546872"/>
            <a:ext cx="1562360" cy="519708"/>
          </a:xfrm>
          <a:prstGeom prst="roundRect">
            <a:avLst>
              <a:gd name="adj" fmla="val 18328"/>
            </a:avLst>
          </a:prstGeom>
          <a:solidFill>
            <a:srgbClr val="F4F7FB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9"/>
          <p:cNvSpPr/>
          <p:nvPr/>
        </p:nvSpPr>
        <p:spPr>
          <a:xfrm>
            <a:off x="5626373" y="3719715"/>
            <a:ext cx="385316" cy="174022"/>
          </a:xfrm>
          <a:prstGeom prst="roundRect">
            <a:avLst>
              <a:gd name="adj" fmla="val 32841"/>
            </a:avLst>
          </a:prstGeom>
          <a:solidFill>
            <a:srgbClr val="B7791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0"/>
          <p:cNvSpPr/>
          <p:nvPr/>
        </p:nvSpPr>
        <p:spPr>
          <a:xfrm>
            <a:off x="5626373" y="3729038"/>
            <a:ext cx="385316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886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2 of 5</a:t>
            </a:r>
            <a:endParaRPr lang="en-US" sz="800" dirty="0"/>
          </a:p>
        </p:txBody>
      </p:sp>
      <p:sp>
        <p:nvSpPr>
          <p:cNvPr id="15" name="Text 11"/>
          <p:cNvSpPr/>
          <p:nvPr/>
        </p:nvSpPr>
        <p:spPr>
          <a:xfrm>
            <a:off x="6083126" y="3621881"/>
            <a:ext cx="927013" cy="1065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1055"/>
              </a:lnSpc>
              <a:buNone/>
            </a:pPr>
            <a:r>
              <a:rPr lang="en-US" sz="800" b="1" dirty="0">
                <a:solidFill>
                  <a:srgbClr val="1630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Song.java</a:t>
            </a:r>
            <a:endParaRPr lang="en-US" sz="800" dirty="0"/>
          </a:p>
        </p:txBody>
      </p:sp>
      <p:sp>
        <p:nvSpPr>
          <p:cNvPr id="16" name="Text 12"/>
          <p:cNvSpPr/>
          <p:nvPr/>
        </p:nvSpPr>
        <p:spPr>
          <a:xfrm>
            <a:off x="6083126" y="3755827"/>
            <a:ext cx="927013" cy="235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encapsulation &amp; the file format</a:t>
            </a:r>
            <a:endParaRPr lang="en-US" sz="800" dirty="0"/>
          </a:p>
        </p:txBody>
      </p:sp>
      <p:sp>
        <p:nvSpPr>
          <p:cNvPr id="17" name="Text 13"/>
          <p:cNvSpPr/>
          <p:nvPr/>
        </p:nvSpPr>
        <p:spPr>
          <a:xfrm>
            <a:off x="7178018" y="3546872"/>
            <a:ext cx="1562360" cy="519708"/>
          </a:xfrm>
          <a:prstGeom prst="roundRect">
            <a:avLst>
              <a:gd name="adj" fmla="val 18328"/>
            </a:avLst>
          </a:prstGeom>
          <a:solidFill>
            <a:srgbClr val="F4F7FB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" name="Text 14"/>
          <p:cNvSpPr/>
          <p:nvPr/>
        </p:nvSpPr>
        <p:spPr>
          <a:xfrm>
            <a:off x="7267315" y="3719715"/>
            <a:ext cx="385316" cy="174022"/>
          </a:xfrm>
          <a:prstGeom prst="roundRect">
            <a:avLst>
              <a:gd name="adj" fmla="val 32841"/>
            </a:avLst>
          </a:prstGeom>
          <a:solidFill>
            <a:srgbClr val="B7791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5"/>
          <p:cNvSpPr/>
          <p:nvPr/>
        </p:nvSpPr>
        <p:spPr>
          <a:xfrm>
            <a:off x="7267315" y="3729038"/>
            <a:ext cx="385316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886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3 of 5</a:t>
            </a:r>
            <a:endParaRPr lang="en-US" sz="800" dirty="0"/>
          </a:p>
        </p:txBody>
      </p:sp>
      <p:sp>
        <p:nvSpPr>
          <p:cNvPr id="20" name="Text 16"/>
          <p:cNvSpPr/>
          <p:nvPr/>
        </p:nvSpPr>
        <p:spPr>
          <a:xfrm>
            <a:off x="7724068" y="3680817"/>
            <a:ext cx="927013" cy="1065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1055"/>
              </a:lnSpc>
              <a:buNone/>
            </a:pPr>
            <a:r>
              <a:rPr lang="en-US" sz="800" b="1" dirty="0">
                <a:solidFill>
                  <a:srgbClr val="1630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Playlist.java</a:t>
            </a:r>
            <a:endParaRPr lang="en-US" sz="800" dirty="0"/>
          </a:p>
        </p:txBody>
      </p:sp>
      <p:sp>
        <p:nvSpPr>
          <p:cNvPr id="21" name="Text 17"/>
          <p:cNvSpPr/>
          <p:nvPr/>
        </p:nvSpPr>
        <p:spPr>
          <a:xfrm>
            <a:off x="7724068" y="3814763"/>
            <a:ext cx="97646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619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ArrayList &amp; the printf table</a:t>
            </a:r>
            <a:endParaRPr lang="en-US" sz="619" dirty="0"/>
          </a:p>
        </p:txBody>
      </p:sp>
      <p:sp>
        <p:nvSpPr>
          <p:cNvPr id="22" name="Text 18"/>
          <p:cNvSpPr/>
          <p:nvPr/>
        </p:nvSpPr>
        <p:spPr>
          <a:xfrm>
            <a:off x="5537076" y="4145161"/>
            <a:ext cx="1562360" cy="401836"/>
          </a:xfrm>
          <a:prstGeom prst="roundRect">
            <a:avLst>
              <a:gd name="adj" fmla="val 23704"/>
            </a:avLst>
          </a:prstGeom>
          <a:solidFill>
            <a:srgbClr val="F4F7FB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Text 19"/>
          <p:cNvSpPr/>
          <p:nvPr/>
        </p:nvSpPr>
        <p:spPr>
          <a:xfrm>
            <a:off x="5626373" y="4259068"/>
            <a:ext cx="385316" cy="174022"/>
          </a:xfrm>
          <a:prstGeom prst="roundRect">
            <a:avLst>
              <a:gd name="adj" fmla="val 32841"/>
            </a:avLst>
          </a:prstGeom>
          <a:solidFill>
            <a:srgbClr val="B7791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Text 20"/>
          <p:cNvSpPr/>
          <p:nvPr/>
        </p:nvSpPr>
        <p:spPr>
          <a:xfrm>
            <a:off x="5626373" y="4268391"/>
            <a:ext cx="385316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886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4 of 5</a:t>
            </a:r>
            <a:endParaRPr lang="en-US" sz="800" dirty="0"/>
          </a:p>
        </p:txBody>
      </p:sp>
      <p:sp>
        <p:nvSpPr>
          <p:cNvPr id="25" name="Text 21"/>
          <p:cNvSpPr/>
          <p:nvPr/>
        </p:nvSpPr>
        <p:spPr>
          <a:xfrm>
            <a:off x="6083126" y="4220170"/>
            <a:ext cx="927013" cy="1065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1055"/>
              </a:lnSpc>
              <a:buNone/>
            </a:pPr>
            <a:r>
              <a:rPr lang="en-US" sz="703" b="1" dirty="0">
                <a:solidFill>
                  <a:srgbClr val="1630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StatsManager.java</a:t>
            </a:r>
            <a:endParaRPr lang="en-US" sz="703" dirty="0"/>
          </a:p>
        </p:txBody>
      </p:sp>
      <p:sp>
        <p:nvSpPr>
          <p:cNvPr id="26" name="Text 22"/>
          <p:cNvSpPr/>
          <p:nvPr/>
        </p:nvSpPr>
        <p:spPr>
          <a:xfrm>
            <a:off x="6083126" y="4354116"/>
            <a:ext cx="927013" cy="117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619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the HashMap maths</a:t>
            </a:r>
            <a:endParaRPr lang="en-US" sz="619" dirty="0"/>
          </a:p>
        </p:txBody>
      </p:sp>
      <p:sp>
        <p:nvSpPr>
          <p:cNvPr id="27" name="Text 23"/>
          <p:cNvSpPr/>
          <p:nvPr/>
        </p:nvSpPr>
        <p:spPr>
          <a:xfrm>
            <a:off x="7178018" y="4145161"/>
            <a:ext cx="1562360" cy="401836"/>
          </a:xfrm>
          <a:prstGeom prst="roundRect">
            <a:avLst>
              <a:gd name="adj" fmla="val 23704"/>
            </a:avLst>
          </a:prstGeom>
          <a:solidFill>
            <a:srgbClr val="F4F7FB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8" name="Text 24"/>
          <p:cNvSpPr/>
          <p:nvPr/>
        </p:nvSpPr>
        <p:spPr>
          <a:xfrm>
            <a:off x="7267315" y="4259068"/>
            <a:ext cx="385316" cy="174022"/>
          </a:xfrm>
          <a:prstGeom prst="roundRect">
            <a:avLst>
              <a:gd name="adj" fmla="val 32841"/>
            </a:avLst>
          </a:prstGeom>
          <a:solidFill>
            <a:srgbClr val="B7791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9" name="Text 25"/>
          <p:cNvSpPr/>
          <p:nvPr/>
        </p:nvSpPr>
        <p:spPr>
          <a:xfrm>
            <a:off x="7267315" y="4268391"/>
            <a:ext cx="385316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886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5 of 5</a:t>
            </a:r>
            <a:endParaRPr lang="en-US" sz="800" dirty="0"/>
          </a:p>
        </p:txBody>
      </p:sp>
      <p:sp>
        <p:nvSpPr>
          <p:cNvPr id="30" name="Text 26"/>
          <p:cNvSpPr/>
          <p:nvPr/>
        </p:nvSpPr>
        <p:spPr>
          <a:xfrm>
            <a:off x="7724068" y="4220170"/>
            <a:ext cx="927013" cy="1065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1055"/>
              </a:lnSpc>
              <a:buNone/>
            </a:pPr>
            <a:r>
              <a:rPr lang="en-US" sz="800" b="1" dirty="0">
                <a:solidFill>
                  <a:srgbClr val="1630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Main.java</a:t>
            </a:r>
            <a:endParaRPr lang="en-US" sz="800" dirty="0"/>
          </a:p>
        </p:txBody>
      </p:sp>
      <p:sp>
        <p:nvSpPr>
          <p:cNvPr id="31" name="Text 27"/>
          <p:cNvSpPr/>
          <p:nvPr/>
        </p:nvSpPr>
        <p:spPr>
          <a:xfrm>
            <a:off x="7724068" y="4354116"/>
            <a:ext cx="927013" cy="117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619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menu loop &amp; auto-save</a:t>
            </a:r>
            <a:endParaRPr lang="en-US" sz="619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257175"/>
            <a:ext cx="257175" cy="257175"/>
          </a:xfrm>
          <a:prstGeom prst="roundRect">
            <a:avLst>
              <a:gd name="adj" fmla="val 33333"/>
            </a:avLst>
          </a:prstGeom>
          <a:solidFill>
            <a:srgbClr val="B7791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94147" y="300038"/>
            <a:ext cx="163078" cy="1851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57238" y="287536"/>
            <a:ext cx="3489704" cy="212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47"/>
              </a:lnSpc>
              <a:buNone/>
            </a:pPr>
            <a:r>
              <a:rPr lang="en-US" sz="1406" b="1" dirty="0">
                <a:solidFill>
                  <a:srgbClr val="16305B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Implementation — Java Code Screenshots</a:t>
            </a:r>
            <a:endParaRPr lang="en-US" sz="1406" dirty="0"/>
          </a:p>
        </p:txBody>
      </p:sp>
      <p:sp>
        <p:nvSpPr>
          <p:cNvPr id="5" name="Text 3"/>
          <p:cNvSpPr/>
          <p:nvPr/>
        </p:nvSpPr>
        <p:spPr>
          <a:xfrm>
            <a:off x="4088457" y="382191"/>
            <a:ext cx="2912976" cy="7144"/>
          </a:xfrm>
          <a:prstGeom prst="rect">
            <a:avLst/>
          </a:prstGeom>
          <a:solidFill>
            <a:srgbClr val="D9E2E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105017" y="280392"/>
            <a:ext cx="1635361" cy="210741"/>
          </a:xfrm>
          <a:prstGeom prst="roundRect">
            <a:avLst>
              <a:gd name="adj" fmla="val 36158"/>
            </a:avLst>
          </a:prstGeom>
          <a:solidFill>
            <a:srgbClr val="FDF6E7"/>
          </a:solidFill>
          <a:ln w="7144">
            <a:solidFill>
              <a:srgbClr val="E8D5AC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01446" y="276820"/>
            <a:ext cx="1642504" cy="304246"/>
          </a:xfrm>
          <a:prstGeom prst="rect">
            <a:avLst/>
          </a:prstGeom>
          <a:noFill/>
          <a:ln/>
        </p:spPr>
        <p:txBody>
          <a:bodyPr wrap="none" lIns="85725" tIns="42863" rIns="85725" bIns="42863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kern="0" spc="37" dirty="0">
                <a:solidFill>
                  <a:srgbClr val="8A5A14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(2 of 5) · Song.java — Model</a:t>
            </a:r>
            <a:endParaRPr lang="en-US" sz="800" dirty="0"/>
          </a:p>
        </p:txBody>
      </p:sp>
      <p:pic>
        <p:nvPicPr>
          <p:cNvPr id="8" name="Image 0" descr="/tmp/h2p-fit-1792001660371-b7y7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596" y="585788"/>
            <a:ext cx="8343900" cy="438626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257175"/>
            <a:ext cx="257175" cy="257175"/>
          </a:xfrm>
          <a:prstGeom prst="roundRect">
            <a:avLst>
              <a:gd name="adj" fmla="val 33333"/>
            </a:avLst>
          </a:prstGeom>
          <a:solidFill>
            <a:srgbClr val="B7791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94147" y="300038"/>
            <a:ext cx="163078" cy="1851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57238" y="287536"/>
            <a:ext cx="3489704" cy="212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47"/>
              </a:lnSpc>
              <a:buNone/>
            </a:pPr>
            <a:r>
              <a:rPr lang="en-US" sz="1406" b="1" dirty="0">
                <a:solidFill>
                  <a:srgbClr val="16305B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Implementation — Java Code Screenshots</a:t>
            </a:r>
            <a:endParaRPr lang="en-US" sz="1406" dirty="0"/>
          </a:p>
        </p:txBody>
      </p:sp>
      <p:sp>
        <p:nvSpPr>
          <p:cNvPr id="5" name="Text 3"/>
          <p:cNvSpPr/>
          <p:nvPr/>
        </p:nvSpPr>
        <p:spPr>
          <a:xfrm>
            <a:off x="4088457" y="382191"/>
            <a:ext cx="2340694" cy="7144"/>
          </a:xfrm>
          <a:prstGeom prst="rect">
            <a:avLst/>
          </a:prstGeom>
          <a:solidFill>
            <a:srgbClr val="D9E2E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532736" y="280392"/>
            <a:ext cx="2207642" cy="210741"/>
          </a:xfrm>
          <a:prstGeom prst="roundRect">
            <a:avLst>
              <a:gd name="adj" fmla="val 36158"/>
            </a:avLst>
          </a:prstGeom>
          <a:solidFill>
            <a:srgbClr val="FDF6E7"/>
          </a:solidFill>
          <a:ln w="7144">
            <a:solidFill>
              <a:srgbClr val="E8D5AC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529164" y="276820"/>
            <a:ext cx="2214786" cy="304246"/>
          </a:xfrm>
          <a:prstGeom prst="rect">
            <a:avLst/>
          </a:prstGeom>
          <a:noFill/>
          <a:ln/>
        </p:spPr>
        <p:txBody>
          <a:bodyPr wrap="square" lIns="85725" tIns="42863" rIns="85725" bIns="42863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kern="0" spc="37" dirty="0">
                <a:solidFill>
                  <a:srgbClr val="8A5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(3 of 5) · Playlist.java — Data Manager</a:t>
            </a:r>
            <a:endParaRPr lang="en-US" sz="800" dirty="0"/>
          </a:p>
        </p:txBody>
      </p:sp>
      <p:pic>
        <p:nvPicPr>
          <p:cNvPr id="8" name="Image 0" descr="/tmp/h2p-fit-1792001661837-pqpk0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050" y="585788"/>
            <a:ext cx="8343900" cy="4386263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257175"/>
            <a:ext cx="257175" cy="257175"/>
          </a:xfrm>
          <a:prstGeom prst="roundRect">
            <a:avLst>
              <a:gd name="adj" fmla="val 33333"/>
            </a:avLst>
          </a:prstGeom>
          <a:solidFill>
            <a:srgbClr val="B7791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94147" y="300038"/>
            <a:ext cx="163078" cy="1851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57238" y="287536"/>
            <a:ext cx="3489704" cy="212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47"/>
              </a:lnSpc>
              <a:buNone/>
            </a:pPr>
            <a:r>
              <a:rPr lang="en-US" sz="1406" b="1" dirty="0">
                <a:solidFill>
                  <a:srgbClr val="16305B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Implementation — Java Code Screenshots</a:t>
            </a:r>
            <a:endParaRPr lang="en-US" sz="1406" dirty="0"/>
          </a:p>
        </p:txBody>
      </p:sp>
      <p:sp>
        <p:nvSpPr>
          <p:cNvPr id="5" name="Text 3"/>
          <p:cNvSpPr/>
          <p:nvPr/>
        </p:nvSpPr>
        <p:spPr>
          <a:xfrm>
            <a:off x="4088457" y="382191"/>
            <a:ext cx="1872555" cy="7144"/>
          </a:xfrm>
          <a:prstGeom prst="rect">
            <a:avLst/>
          </a:prstGeom>
          <a:solidFill>
            <a:srgbClr val="D9E2E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064597" y="280392"/>
            <a:ext cx="2675781" cy="210741"/>
          </a:xfrm>
          <a:prstGeom prst="roundRect">
            <a:avLst>
              <a:gd name="adj" fmla="val 36158"/>
            </a:avLst>
          </a:prstGeom>
          <a:solidFill>
            <a:srgbClr val="FDF6E7"/>
          </a:solidFill>
          <a:ln w="7144">
            <a:solidFill>
              <a:srgbClr val="E8D5AC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61025" y="276820"/>
            <a:ext cx="2682925" cy="304246"/>
          </a:xfrm>
          <a:prstGeom prst="rect">
            <a:avLst/>
          </a:prstGeom>
          <a:noFill/>
          <a:ln/>
        </p:spPr>
        <p:txBody>
          <a:bodyPr wrap="square" lIns="85725" tIns="42863" rIns="85725" bIns="42863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kern="0" spc="37" dirty="0">
                <a:solidFill>
                  <a:srgbClr val="8A5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(4 of 5) · StatsManager.java — Statistics Engine</a:t>
            </a:r>
            <a:endParaRPr lang="en-US" sz="800" dirty="0"/>
          </a:p>
        </p:txBody>
      </p:sp>
      <p:pic>
        <p:nvPicPr>
          <p:cNvPr id="8" name="Image 0" descr="/tmp/h2p-fit-1792001662248-lg7tg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050" y="585788"/>
            <a:ext cx="8343900" cy="4386263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257175"/>
            <a:ext cx="257175" cy="257175"/>
          </a:xfrm>
          <a:prstGeom prst="roundRect">
            <a:avLst>
              <a:gd name="adj" fmla="val 33333"/>
            </a:avLst>
          </a:prstGeom>
          <a:solidFill>
            <a:srgbClr val="B7791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94147" y="300038"/>
            <a:ext cx="163078" cy="1851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57238" y="287536"/>
            <a:ext cx="3489704" cy="212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47"/>
              </a:lnSpc>
              <a:buNone/>
            </a:pPr>
            <a:r>
              <a:rPr lang="en-US" sz="1406" b="1" dirty="0">
                <a:solidFill>
                  <a:srgbClr val="16305B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Implementation — Java Code Screenshots</a:t>
            </a:r>
            <a:endParaRPr lang="en-US" sz="1406" dirty="0"/>
          </a:p>
        </p:txBody>
      </p:sp>
      <p:sp>
        <p:nvSpPr>
          <p:cNvPr id="5" name="Text 3"/>
          <p:cNvSpPr/>
          <p:nvPr/>
        </p:nvSpPr>
        <p:spPr>
          <a:xfrm>
            <a:off x="4088457" y="382191"/>
            <a:ext cx="2652899" cy="7144"/>
          </a:xfrm>
          <a:prstGeom prst="rect">
            <a:avLst/>
          </a:prstGeom>
          <a:solidFill>
            <a:srgbClr val="D9E2E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44940" y="280392"/>
            <a:ext cx="1895438" cy="210741"/>
          </a:xfrm>
          <a:prstGeom prst="roundRect">
            <a:avLst>
              <a:gd name="adj" fmla="val 36158"/>
            </a:avLst>
          </a:prstGeom>
          <a:solidFill>
            <a:srgbClr val="FDF6E7"/>
          </a:solidFill>
          <a:ln w="7144">
            <a:solidFill>
              <a:srgbClr val="E8D5AC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841368" y="276820"/>
            <a:ext cx="1902582" cy="304246"/>
          </a:xfrm>
          <a:prstGeom prst="rect">
            <a:avLst/>
          </a:prstGeom>
          <a:noFill/>
          <a:ln/>
        </p:spPr>
        <p:txBody>
          <a:bodyPr wrap="square" lIns="85725" tIns="42863" rIns="85725" bIns="42863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kern="0" spc="37" dirty="0">
                <a:solidFill>
                  <a:srgbClr val="8A5A14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(5 of 5) · Main.java — Controller</a:t>
            </a:r>
            <a:endParaRPr lang="en-US" sz="800" dirty="0"/>
          </a:p>
        </p:txBody>
      </p:sp>
      <p:pic>
        <p:nvPicPr>
          <p:cNvPr id="8" name="Image 0" descr="/tmp/h2p-fit-1792001662235-96anf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050" y="585788"/>
            <a:ext cx="8343900" cy="438626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8625" y="371475"/>
            <a:ext cx="328613" cy="328613"/>
          </a:xfrm>
          <a:prstGeom prst="roundRect">
            <a:avLst>
              <a:gd name="adj" fmla="val 28985"/>
            </a:avLst>
          </a:prstGeom>
          <a:solidFill>
            <a:srgbClr val="B7791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7725" y="423267"/>
            <a:ext cx="209513" cy="243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72"/>
              </a:lnSpc>
              <a:buNone/>
            </a:pPr>
            <a:r>
              <a:rPr lang="en-US" sz="1181" b="1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9</a:t>
            </a:r>
            <a:endParaRPr lang="en-US" sz="1181" dirty="0"/>
          </a:p>
        </p:txBody>
      </p:sp>
      <p:sp>
        <p:nvSpPr>
          <p:cNvPr id="4" name="Text 2"/>
          <p:cNvSpPr/>
          <p:nvPr/>
        </p:nvSpPr>
        <p:spPr>
          <a:xfrm>
            <a:off x="885825" y="402171"/>
            <a:ext cx="2550263" cy="2884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4"/>
              </a:lnSpc>
              <a:buNone/>
            </a:pPr>
            <a:r>
              <a:rPr lang="en-US" sz="1913" b="1" dirty="0">
                <a:solidFill>
                  <a:srgbClr val="16305B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Output Screenshots</a:t>
            </a:r>
            <a:endParaRPr lang="en-US" sz="1913" dirty="0"/>
          </a:p>
        </p:txBody>
      </p:sp>
      <p:sp>
        <p:nvSpPr>
          <p:cNvPr id="5" name="Text 3"/>
          <p:cNvSpPr/>
          <p:nvPr/>
        </p:nvSpPr>
        <p:spPr>
          <a:xfrm>
            <a:off x="3054623" y="532209"/>
            <a:ext cx="5660752" cy="7144"/>
          </a:xfrm>
          <a:prstGeom prst="rect">
            <a:avLst/>
          </a:prstGeom>
          <a:solidFill>
            <a:srgbClr val="D9E2E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6" name="Image 0" descr="/tmp/h2p-fit-1792001657423-6y079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625" y="800100"/>
            <a:ext cx="4086225" cy="3536156"/>
          </a:xfrm>
          <a:prstGeom prst="rect">
            <a:avLst/>
          </a:prstGeom>
        </p:spPr>
      </p:pic>
      <p:pic>
        <p:nvPicPr>
          <p:cNvPr id="7" name="Image 1" descr="/tmp/h2p-fit-1792001657435-uy7tlv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9150" y="800100"/>
            <a:ext cx="4086225" cy="353615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28625" y="4414838"/>
            <a:ext cx="11430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25" dirty="0">
                <a:solidFill>
                  <a:srgbClr val="8A5A1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▦</a:t>
            </a:r>
            <a:endParaRPr lang="en-US" sz="1125" dirty="0"/>
          </a:p>
        </p:txBody>
      </p:sp>
      <p:sp>
        <p:nvSpPr>
          <p:cNvPr id="9" name="Text 5"/>
          <p:cNvSpPr/>
          <p:nvPr/>
        </p:nvSpPr>
        <p:spPr>
          <a:xfrm>
            <a:off x="592931" y="4407694"/>
            <a:ext cx="3921919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9"/>
              </a:lnSpc>
              <a:buNone/>
            </a:pPr>
            <a:r>
              <a:rPr lang="en-US" sz="800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Real table rendered with </a:t>
            </a:r>
            <a:r>
              <a:rPr lang="en-US" sz="800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printf</a:t>
            </a:r>
            <a:r>
              <a:rPr lang="en-US" sz="800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— columns stay aligned.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4629150" y="4414838"/>
            <a:ext cx="11430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25" dirty="0">
                <a:solidFill>
                  <a:srgbClr val="8A5A1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↗</a:t>
            </a:r>
            <a:endParaRPr lang="en-US" sz="1125" dirty="0"/>
          </a:p>
        </p:txBody>
      </p:sp>
      <p:sp>
        <p:nvSpPr>
          <p:cNvPr id="11" name="Text 7"/>
          <p:cNvSpPr/>
          <p:nvPr/>
        </p:nvSpPr>
        <p:spPr>
          <a:xfrm>
            <a:off x="4793456" y="4407694"/>
            <a:ext cx="3921919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9"/>
              </a:lnSpc>
              <a:buNone/>
            </a:pPr>
            <a:r>
              <a:rPr lang="en-US" sz="800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Believer moved </a:t>
            </a:r>
            <a:r>
              <a:rPr lang="en-US" sz="800" b="1" dirty="0">
                <a:solidFill>
                  <a:srgbClr val="16305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51 → 52</a:t>
            </a:r>
            <a:r>
              <a:rPr lang="en-US" sz="800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plays; totals recomputed live.</a:t>
            </a:r>
            <a:endParaRPr lang="en-US" sz="800" dirty="0"/>
          </a:p>
        </p:txBody>
      </p:sp>
      <p:sp>
        <p:nvSpPr>
          <p:cNvPr id="12" name="Text 8"/>
          <p:cNvSpPr/>
          <p:nvPr/>
        </p:nvSpPr>
        <p:spPr>
          <a:xfrm>
            <a:off x="432197" y="4604147"/>
            <a:ext cx="8279606" cy="278606"/>
          </a:xfrm>
          <a:prstGeom prst="roundRect">
            <a:avLst>
              <a:gd name="adj" fmla="val 34188"/>
            </a:avLst>
          </a:prstGeom>
          <a:solidFill>
            <a:srgbClr val="FBF3E2"/>
          </a:solidFill>
          <a:ln w="7144">
            <a:solidFill>
              <a:srgbClr val="E8D5A9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9"/>
          <p:cNvSpPr/>
          <p:nvPr/>
        </p:nvSpPr>
        <p:spPr>
          <a:xfrm>
            <a:off x="550069" y="4672013"/>
            <a:ext cx="142875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406" dirty="0">
                <a:solidFill>
                  <a:srgbClr val="8A5A1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◉</a:t>
            </a:r>
            <a:endParaRPr lang="en-US" sz="1406" dirty="0"/>
          </a:p>
        </p:txBody>
      </p:sp>
      <p:sp>
        <p:nvSpPr>
          <p:cNvPr id="14" name="Text 10"/>
          <p:cNvSpPr/>
          <p:nvPr/>
        </p:nvSpPr>
        <p:spPr>
          <a:xfrm>
            <a:off x="771525" y="4680942"/>
            <a:ext cx="7822406" cy="1339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4"/>
              </a:lnSpc>
              <a:buNone/>
            </a:pPr>
            <a:r>
              <a:rPr lang="en-US" sz="800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Live output of </a:t>
            </a:r>
            <a:r>
              <a:rPr lang="en-US" sz="800" dirty="0">
                <a:solidFill>
                  <a:srgbClr val="233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java Main</a:t>
            </a:r>
            <a:r>
              <a:rPr lang="en-US" sz="800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(OpenJDK 21) — replace with your own machine’s screenshots after running the program.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5763"/>
            <a:ext cx="328613" cy="328613"/>
          </a:xfrm>
          <a:prstGeom prst="roundRect">
            <a:avLst>
              <a:gd name="adj" fmla="val 28985"/>
            </a:avLst>
          </a:prstGeom>
          <a:solidFill>
            <a:srgbClr val="B7791F"/>
          </a:solidFill>
          <a:ln/>
          <a:effectLst>
            <a:outerShdw blurRad="57150" dist="19050" dir="5400000" algn="bl" rotWithShape="0">
              <a:srgbClr val="B7791F">
                <a:alpha val="22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385763"/>
            <a:ext cx="385763" cy="328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1772"/>
              </a:lnSpc>
              <a:buNone/>
            </a:pPr>
            <a:r>
              <a:rPr lang="en-US" sz="1181" b="1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10</a:t>
            </a:r>
            <a:endParaRPr lang="en-US" sz="1181" dirty="0"/>
          </a:p>
        </p:txBody>
      </p:sp>
      <p:sp>
        <p:nvSpPr>
          <p:cNvPr id="4" name="Text 2"/>
          <p:cNvSpPr/>
          <p:nvPr/>
        </p:nvSpPr>
        <p:spPr>
          <a:xfrm>
            <a:off x="900113" y="416458"/>
            <a:ext cx="7786688" cy="2884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4"/>
              </a:lnSpc>
              <a:buNone/>
            </a:pPr>
            <a:r>
              <a:rPr lang="en-US" sz="1913" b="1" dirty="0">
                <a:solidFill>
                  <a:srgbClr val="16305B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Future Scope</a:t>
            </a:r>
            <a:endParaRPr lang="en-US" sz="1913" dirty="0"/>
          </a:p>
        </p:txBody>
      </p:sp>
      <p:sp>
        <p:nvSpPr>
          <p:cNvPr id="5" name="Text 3"/>
          <p:cNvSpPr/>
          <p:nvPr/>
        </p:nvSpPr>
        <p:spPr>
          <a:xfrm>
            <a:off x="457200" y="828675"/>
            <a:ext cx="8229600" cy="14288"/>
          </a:xfrm>
          <a:prstGeom prst="rect">
            <a:avLst/>
          </a:prstGeom>
          <a:solidFill>
            <a:srgbClr val="D9E2E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57200" y="821531"/>
            <a:ext cx="457200" cy="28575"/>
          </a:xfrm>
          <a:prstGeom prst="roundRect">
            <a:avLst>
              <a:gd name="adj" fmla="val 66667"/>
            </a:avLst>
          </a:prstGeom>
          <a:solidFill>
            <a:srgbClr val="B7791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57200" y="971550"/>
            <a:ext cx="8229600" cy="1967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34"/>
              </a:lnSpc>
              <a:buNone/>
            </a:pPr>
            <a:r>
              <a:rPr lang="en-US" sz="956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The modular design leaves clean extension points for the next versions.</a:t>
            </a:r>
            <a:endParaRPr lang="en-US" sz="956" dirty="0"/>
          </a:p>
        </p:txBody>
      </p:sp>
      <p:sp>
        <p:nvSpPr>
          <p:cNvPr id="8" name="Text 6"/>
          <p:cNvSpPr/>
          <p:nvPr/>
        </p:nvSpPr>
        <p:spPr>
          <a:xfrm>
            <a:off x="460772" y="1314450"/>
            <a:ext cx="2640732" cy="1659136"/>
          </a:xfrm>
          <a:prstGeom prst="roundRect">
            <a:avLst>
              <a:gd name="adj" fmla="val 5741"/>
            </a:avLst>
          </a:prstGeom>
          <a:solidFill>
            <a:srgbClr val="FFFFFF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50081" y="1778347"/>
            <a:ext cx="328613" cy="328613"/>
          </a:xfrm>
          <a:prstGeom prst="roundRect">
            <a:avLst>
              <a:gd name="adj" fmla="val 31884"/>
            </a:avLst>
          </a:prstGeom>
          <a:solidFill>
            <a:srgbClr val="B7791F">
              <a:alpha val="12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84907" y="1813173"/>
            <a:ext cx="258961" cy="2589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758" dirty="0">
                <a:solidFill>
                  <a:srgbClr val="8A5A1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▢</a:t>
            </a:r>
            <a:endParaRPr lang="en-US" sz="1758" dirty="0"/>
          </a:p>
        </p:txBody>
      </p:sp>
      <p:sp>
        <p:nvSpPr>
          <p:cNvPr id="11" name="Text 9"/>
          <p:cNvSpPr/>
          <p:nvPr/>
        </p:nvSpPr>
        <p:spPr>
          <a:xfrm>
            <a:off x="1078706" y="1843534"/>
            <a:ext cx="1833488" cy="2140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61"/>
              </a:lnSpc>
              <a:buNone/>
            </a:pPr>
            <a:r>
              <a:rPr lang="en-US" sz="1041" dirty="0">
                <a:solidFill>
                  <a:srgbClr val="16305B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GUI version</a:t>
            </a:r>
            <a:endParaRPr lang="en-US" sz="1041" dirty="0"/>
          </a:p>
        </p:txBody>
      </p:sp>
      <p:sp>
        <p:nvSpPr>
          <p:cNvPr id="12" name="Text 10"/>
          <p:cNvSpPr/>
          <p:nvPr/>
        </p:nvSpPr>
        <p:spPr>
          <a:xfrm>
            <a:off x="650081" y="2199829"/>
            <a:ext cx="2262113" cy="3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21"/>
              </a:lnSpc>
              <a:buNone/>
            </a:pPr>
            <a:r>
              <a:rPr lang="en-US" sz="800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 Swing / JavaFX front-end with buttons and lists instead of typed menu numbers.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251522" y="1314450"/>
            <a:ext cx="2640843" cy="1659136"/>
          </a:xfrm>
          <a:prstGeom prst="roundRect">
            <a:avLst>
              <a:gd name="adj" fmla="val 5741"/>
            </a:avLst>
          </a:prstGeom>
          <a:solidFill>
            <a:srgbClr val="FFFFFF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440832" y="1778347"/>
            <a:ext cx="328613" cy="328613"/>
          </a:xfrm>
          <a:prstGeom prst="roundRect">
            <a:avLst>
              <a:gd name="adj" fmla="val 31884"/>
            </a:avLst>
          </a:prstGeom>
          <a:solidFill>
            <a:srgbClr val="B7791F">
              <a:alpha val="12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3475658" y="1813173"/>
            <a:ext cx="258961" cy="2589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758" dirty="0">
                <a:solidFill>
                  <a:srgbClr val="8A5A1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▦</a:t>
            </a:r>
            <a:endParaRPr lang="en-US" sz="1758" dirty="0"/>
          </a:p>
        </p:txBody>
      </p:sp>
      <p:sp>
        <p:nvSpPr>
          <p:cNvPr id="16" name="Text 14"/>
          <p:cNvSpPr/>
          <p:nvPr/>
        </p:nvSpPr>
        <p:spPr>
          <a:xfrm>
            <a:off x="3869457" y="1843534"/>
            <a:ext cx="1833600" cy="2140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61"/>
              </a:lnSpc>
              <a:buNone/>
            </a:pPr>
            <a:r>
              <a:rPr lang="en-US" sz="1041" dirty="0">
                <a:solidFill>
                  <a:srgbClr val="16305B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Database storage</a:t>
            </a:r>
            <a:endParaRPr lang="en-US" sz="1041" dirty="0"/>
          </a:p>
        </p:txBody>
      </p:sp>
      <p:sp>
        <p:nvSpPr>
          <p:cNvPr id="17" name="Text 15"/>
          <p:cNvSpPr/>
          <p:nvPr/>
        </p:nvSpPr>
        <p:spPr>
          <a:xfrm>
            <a:off x="3440832" y="2199829"/>
            <a:ext cx="2262225" cy="3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21"/>
              </a:lnSpc>
              <a:buNone/>
            </a:pPr>
            <a:r>
              <a:rPr lang="en-US" sz="800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Move from text file to MySQL via JDBC to support many users and large libraries.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6042385" y="1314450"/>
            <a:ext cx="2640732" cy="1659136"/>
          </a:xfrm>
          <a:prstGeom prst="roundRect">
            <a:avLst>
              <a:gd name="adj" fmla="val 5741"/>
            </a:avLst>
          </a:prstGeom>
          <a:solidFill>
            <a:srgbClr val="FFFFFF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231694" y="1778347"/>
            <a:ext cx="328613" cy="328613"/>
          </a:xfrm>
          <a:prstGeom prst="roundRect">
            <a:avLst>
              <a:gd name="adj" fmla="val 31884"/>
            </a:avLst>
          </a:prstGeom>
          <a:solidFill>
            <a:srgbClr val="B7791F">
              <a:alpha val="12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266520" y="1813173"/>
            <a:ext cx="258961" cy="2589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758" dirty="0">
                <a:solidFill>
                  <a:srgbClr val="8A5A1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758" dirty="0"/>
          </a:p>
        </p:txBody>
      </p:sp>
      <p:sp>
        <p:nvSpPr>
          <p:cNvPr id="21" name="Text 19"/>
          <p:cNvSpPr/>
          <p:nvPr/>
        </p:nvSpPr>
        <p:spPr>
          <a:xfrm>
            <a:off x="6660319" y="1843534"/>
            <a:ext cx="1833488" cy="2140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61"/>
              </a:lnSpc>
              <a:buNone/>
            </a:pPr>
            <a:r>
              <a:rPr lang="en-US" sz="1041" dirty="0">
                <a:solidFill>
                  <a:srgbClr val="16305B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Shuffle and queue</a:t>
            </a:r>
            <a:endParaRPr lang="en-US" sz="1041" dirty="0"/>
          </a:p>
        </p:txBody>
      </p:sp>
      <p:sp>
        <p:nvSpPr>
          <p:cNvPr id="22" name="Text 20"/>
          <p:cNvSpPr/>
          <p:nvPr/>
        </p:nvSpPr>
        <p:spPr>
          <a:xfrm>
            <a:off x="6231694" y="2199829"/>
            <a:ext cx="2262113" cy="3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21"/>
              </a:lnSpc>
              <a:buNone/>
            </a:pPr>
            <a:r>
              <a:rPr lang="en-US" sz="800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Random play order and a play-next queue like real music players.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60772" y="3123605"/>
            <a:ext cx="2640732" cy="1659136"/>
          </a:xfrm>
          <a:prstGeom prst="roundRect">
            <a:avLst>
              <a:gd name="adj" fmla="val 5741"/>
            </a:avLst>
          </a:prstGeom>
          <a:solidFill>
            <a:srgbClr val="FFFFFF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50081" y="3587502"/>
            <a:ext cx="328613" cy="328613"/>
          </a:xfrm>
          <a:prstGeom prst="roundRect">
            <a:avLst>
              <a:gd name="adj" fmla="val 31884"/>
            </a:avLst>
          </a:prstGeom>
          <a:solidFill>
            <a:srgbClr val="B7791F">
              <a:alpha val="12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684907" y="3622328"/>
            <a:ext cx="258961" cy="2589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758" dirty="0">
                <a:solidFill>
                  <a:srgbClr val="8A5A1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👍</a:t>
            </a:r>
            <a:endParaRPr lang="en-US" sz="1758" dirty="0"/>
          </a:p>
        </p:txBody>
      </p:sp>
      <p:sp>
        <p:nvSpPr>
          <p:cNvPr id="26" name="Text 24"/>
          <p:cNvSpPr/>
          <p:nvPr/>
        </p:nvSpPr>
        <p:spPr>
          <a:xfrm>
            <a:off x="1078706" y="3652689"/>
            <a:ext cx="1833488" cy="2140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61"/>
              </a:lnSpc>
              <a:buNone/>
            </a:pPr>
            <a:r>
              <a:rPr lang="en-US" sz="1041" dirty="0">
                <a:solidFill>
                  <a:srgbClr val="16305B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Smart recommendations</a:t>
            </a:r>
            <a:endParaRPr lang="en-US" sz="1041" dirty="0"/>
          </a:p>
        </p:txBody>
      </p:sp>
      <p:sp>
        <p:nvSpPr>
          <p:cNvPr id="27" name="Text 25"/>
          <p:cNvSpPr/>
          <p:nvPr/>
        </p:nvSpPr>
        <p:spPr>
          <a:xfrm>
            <a:off x="650081" y="4008983"/>
            <a:ext cx="2262113" cy="3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21"/>
              </a:lnSpc>
              <a:buNone/>
            </a:pPr>
            <a:r>
              <a:rPr lang="en-US" sz="800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Suggest songs from the favourite artist and unplayed titles.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3251522" y="3123605"/>
            <a:ext cx="2640843" cy="1659136"/>
          </a:xfrm>
          <a:prstGeom prst="roundRect">
            <a:avLst>
              <a:gd name="adj" fmla="val 5741"/>
            </a:avLst>
          </a:prstGeom>
          <a:solidFill>
            <a:srgbClr val="FFFFFF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3440832" y="3664967"/>
            <a:ext cx="328613" cy="328613"/>
          </a:xfrm>
          <a:prstGeom prst="roundRect">
            <a:avLst>
              <a:gd name="adj" fmla="val 31884"/>
            </a:avLst>
          </a:prstGeom>
          <a:solidFill>
            <a:srgbClr val="B7791F">
              <a:alpha val="12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3475658" y="3699793"/>
            <a:ext cx="258961" cy="2589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758" dirty="0">
                <a:solidFill>
                  <a:srgbClr val="8A5A1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▣</a:t>
            </a:r>
            <a:endParaRPr lang="en-US" sz="1758" dirty="0"/>
          </a:p>
        </p:txBody>
      </p:sp>
      <p:sp>
        <p:nvSpPr>
          <p:cNvPr id="31" name="Text 29"/>
          <p:cNvSpPr/>
          <p:nvPr/>
        </p:nvSpPr>
        <p:spPr>
          <a:xfrm>
            <a:off x="3869457" y="3730154"/>
            <a:ext cx="1833600" cy="2140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61"/>
              </a:lnSpc>
              <a:buNone/>
            </a:pPr>
            <a:r>
              <a:rPr lang="en-US" sz="1041" dirty="0">
                <a:solidFill>
                  <a:srgbClr val="16305B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Report export</a:t>
            </a:r>
            <a:endParaRPr lang="en-US" sz="1041" dirty="0"/>
          </a:p>
        </p:txBody>
      </p:sp>
      <p:sp>
        <p:nvSpPr>
          <p:cNvPr id="32" name="Text 30"/>
          <p:cNvSpPr/>
          <p:nvPr/>
        </p:nvSpPr>
        <p:spPr>
          <a:xfrm>
            <a:off x="3440832" y="4086448"/>
            <a:ext cx="2371953" cy="16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21"/>
              </a:lnSpc>
              <a:buNone/>
            </a:pPr>
            <a:r>
              <a:rPr lang="en-US" sz="788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Generate a weekly listening report as PDF or CSV.</a:t>
            </a:r>
            <a:endParaRPr lang="en-US" sz="788" dirty="0"/>
          </a:p>
        </p:txBody>
      </p:sp>
      <p:sp>
        <p:nvSpPr>
          <p:cNvPr id="33" name="Text 31"/>
          <p:cNvSpPr/>
          <p:nvPr/>
        </p:nvSpPr>
        <p:spPr>
          <a:xfrm>
            <a:off x="6042385" y="3123605"/>
            <a:ext cx="2640732" cy="1659136"/>
          </a:xfrm>
          <a:prstGeom prst="roundRect">
            <a:avLst>
              <a:gd name="adj" fmla="val 5741"/>
            </a:avLst>
          </a:prstGeom>
          <a:solidFill>
            <a:srgbClr val="FFFFFF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6231694" y="3587502"/>
            <a:ext cx="328613" cy="328613"/>
          </a:xfrm>
          <a:prstGeom prst="roundRect">
            <a:avLst>
              <a:gd name="adj" fmla="val 31884"/>
            </a:avLst>
          </a:prstGeom>
          <a:solidFill>
            <a:srgbClr val="B7791F">
              <a:alpha val="12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6266520" y="3622328"/>
            <a:ext cx="258961" cy="2589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758" dirty="0">
                <a:solidFill>
                  <a:srgbClr val="8A5A1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▦</a:t>
            </a:r>
            <a:endParaRPr lang="en-US" sz="1758" dirty="0"/>
          </a:p>
        </p:txBody>
      </p:sp>
      <p:sp>
        <p:nvSpPr>
          <p:cNvPr id="36" name="Text 34"/>
          <p:cNvSpPr/>
          <p:nvPr/>
        </p:nvSpPr>
        <p:spPr>
          <a:xfrm>
            <a:off x="6660319" y="3652689"/>
            <a:ext cx="1833488" cy="2140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61"/>
              </a:lnSpc>
              <a:buNone/>
            </a:pPr>
            <a:r>
              <a:rPr lang="en-US" sz="1041" dirty="0">
                <a:solidFill>
                  <a:srgbClr val="16305B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Real audio playback</a:t>
            </a:r>
            <a:endParaRPr lang="en-US" sz="1041" dirty="0"/>
          </a:p>
        </p:txBody>
      </p:sp>
      <p:sp>
        <p:nvSpPr>
          <p:cNvPr id="37" name="Text 35"/>
          <p:cNvSpPr/>
          <p:nvPr/>
        </p:nvSpPr>
        <p:spPr>
          <a:xfrm>
            <a:off x="6231694" y="4008983"/>
            <a:ext cx="2262113" cy="3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21"/>
              </a:lnSpc>
              <a:buNone/>
            </a:pPr>
            <a:r>
              <a:rPr lang="en-US" sz="800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Integrate an audio library so playing a song actually produces sound.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2900"/>
            <a:ext cx="328613" cy="328613"/>
          </a:xfrm>
          <a:prstGeom prst="roundRect">
            <a:avLst>
              <a:gd name="adj" fmla="val 28985"/>
            </a:avLst>
          </a:prstGeom>
          <a:solidFill>
            <a:srgbClr val="B7791F"/>
          </a:solidFill>
          <a:ln/>
          <a:effectLst>
            <a:outerShdw blurRad="57150" dist="19050" dir="5400000" algn="bl" rotWithShape="0">
              <a:srgbClr val="B7791F">
                <a:alpha val="22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342900"/>
            <a:ext cx="385763" cy="328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1772"/>
              </a:lnSpc>
              <a:buNone/>
            </a:pPr>
            <a:r>
              <a:rPr lang="en-US" sz="1181" b="1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11</a:t>
            </a:r>
            <a:endParaRPr lang="en-US" sz="1181" dirty="0"/>
          </a:p>
        </p:txBody>
      </p:sp>
      <p:sp>
        <p:nvSpPr>
          <p:cNvPr id="4" name="Text 2"/>
          <p:cNvSpPr/>
          <p:nvPr/>
        </p:nvSpPr>
        <p:spPr>
          <a:xfrm>
            <a:off x="900113" y="373596"/>
            <a:ext cx="7786688" cy="2884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4"/>
              </a:lnSpc>
              <a:buNone/>
            </a:pPr>
            <a:r>
              <a:rPr lang="en-US" sz="1913" b="1" dirty="0">
                <a:solidFill>
                  <a:srgbClr val="16305B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Conclusion</a:t>
            </a:r>
            <a:endParaRPr lang="en-US" sz="1913" dirty="0"/>
          </a:p>
        </p:txBody>
      </p:sp>
      <p:sp>
        <p:nvSpPr>
          <p:cNvPr id="5" name="Text 3"/>
          <p:cNvSpPr/>
          <p:nvPr/>
        </p:nvSpPr>
        <p:spPr>
          <a:xfrm>
            <a:off x="457200" y="785813"/>
            <a:ext cx="8229600" cy="14288"/>
          </a:xfrm>
          <a:prstGeom prst="rect">
            <a:avLst/>
          </a:prstGeom>
          <a:solidFill>
            <a:srgbClr val="D9E2E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57200" y="778669"/>
            <a:ext cx="457200" cy="28575"/>
          </a:xfrm>
          <a:prstGeom prst="roundRect">
            <a:avLst>
              <a:gd name="adj" fmla="val 66667"/>
            </a:avLst>
          </a:prstGeom>
          <a:solidFill>
            <a:srgbClr val="B7791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60772" y="946547"/>
            <a:ext cx="1115876" cy="654211"/>
          </a:xfrm>
          <a:prstGeom prst="roundRect">
            <a:avLst>
              <a:gd name="adj" fmla="val 14560"/>
            </a:avLst>
          </a:prstGeom>
          <a:solidFill>
            <a:srgbClr val="F4F7FB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901642" y="1064419"/>
            <a:ext cx="234136" cy="27539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ctr">
              <a:lnSpc>
                <a:spcPts val="2104"/>
              </a:lnSpc>
              <a:buNone/>
            </a:pPr>
            <a:r>
              <a:rPr lang="en-US" sz="1913" b="1" dirty="0">
                <a:solidFill>
                  <a:srgbClr val="16305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4</a:t>
            </a:r>
            <a:endParaRPr lang="en-US" sz="1913" dirty="0"/>
          </a:p>
        </p:txBody>
      </p:sp>
      <p:sp>
        <p:nvSpPr>
          <p:cNvPr id="9" name="Text 7"/>
          <p:cNvSpPr/>
          <p:nvPr/>
        </p:nvSpPr>
        <p:spPr>
          <a:xfrm>
            <a:off x="695184" y="1367247"/>
            <a:ext cx="647052" cy="1156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911"/>
              </a:lnSpc>
              <a:buNone/>
            </a:pPr>
            <a:r>
              <a:rPr lang="en-US" sz="675" kern="0" spc="14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Java classes</a:t>
            </a:r>
            <a:endParaRPr lang="en-US" sz="675" dirty="0"/>
          </a:p>
        </p:txBody>
      </p:sp>
      <p:sp>
        <p:nvSpPr>
          <p:cNvPr id="10" name="Text 8"/>
          <p:cNvSpPr/>
          <p:nvPr/>
        </p:nvSpPr>
        <p:spPr>
          <a:xfrm>
            <a:off x="1683804" y="946547"/>
            <a:ext cx="1115988" cy="654211"/>
          </a:xfrm>
          <a:prstGeom prst="roundRect">
            <a:avLst>
              <a:gd name="adj" fmla="val 14560"/>
            </a:avLst>
          </a:prstGeom>
          <a:solidFill>
            <a:srgbClr val="F4F7FB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124674" y="1064419"/>
            <a:ext cx="234136" cy="27539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ctr">
              <a:lnSpc>
                <a:spcPts val="2104"/>
              </a:lnSpc>
              <a:buNone/>
            </a:pPr>
            <a:r>
              <a:rPr lang="en-US" sz="1913" b="1" dirty="0">
                <a:solidFill>
                  <a:srgbClr val="16305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8</a:t>
            </a:r>
            <a:endParaRPr lang="en-US" sz="1913" dirty="0"/>
          </a:p>
        </p:txBody>
      </p:sp>
      <p:sp>
        <p:nvSpPr>
          <p:cNvPr id="12" name="Text 10"/>
          <p:cNvSpPr/>
          <p:nvPr/>
        </p:nvSpPr>
        <p:spPr>
          <a:xfrm>
            <a:off x="1897029" y="1367247"/>
            <a:ext cx="689538" cy="1156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911"/>
              </a:lnSpc>
              <a:buNone/>
            </a:pPr>
            <a:r>
              <a:rPr lang="en-US" sz="675" kern="0" spc="14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menu features</a:t>
            </a:r>
            <a:endParaRPr lang="en-US" sz="675" dirty="0"/>
          </a:p>
        </p:txBody>
      </p:sp>
      <p:sp>
        <p:nvSpPr>
          <p:cNvPr id="13" name="Text 11"/>
          <p:cNvSpPr/>
          <p:nvPr/>
        </p:nvSpPr>
        <p:spPr>
          <a:xfrm>
            <a:off x="2906948" y="946547"/>
            <a:ext cx="1115876" cy="654211"/>
          </a:xfrm>
          <a:prstGeom prst="roundRect">
            <a:avLst>
              <a:gd name="adj" fmla="val 14560"/>
            </a:avLst>
          </a:prstGeom>
          <a:solidFill>
            <a:srgbClr val="F4F7FB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2996881" y="1064419"/>
            <a:ext cx="936010" cy="27539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ctr">
              <a:lnSpc>
                <a:spcPts val="2104"/>
              </a:lnSpc>
              <a:buNone/>
            </a:pPr>
            <a:r>
              <a:rPr lang="en-US" sz="1913" b="1" dirty="0">
                <a:solidFill>
                  <a:srgbClr val="16305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100%</a:t>
            </a:r>
            <a:endParaRPr lang="en-US" sz="1913" dirty="0"/>
          </a:p>
        </p:txBody>
      </p:sp>
      <p:sp>
        <p:nvSpPr>
          <p:cNvPr id="15" name="Text 13"/>
          <p:cNvSpPr/>
          <p:nvPr/>
        </p:nvSpPr>
        <p:spPr>
          <a:xfrm>
            <a:off x="3109496" y="1367247"/>
            <a:ext cx="710780" cy="1156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911"/>
              </a:lnSpc>
              <a:buNone/>
            </a:pPr>
            <a:r>
              <a:rPr lang="en-US" sz="675" kern="0" spc="14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offline &amp; free</a:t>
            </a:r>
            <a:endParaRPr lang="en-US" sz="675" dirty="0"/>
          </a:p>
        </p:txBody>
      </p:sp>
      <p:sp>
        <p:nvSpPr>
          <p:cNvPr id="16" name="Text 14"/>
          <p:cNvSpPr/>
          <p:nvPr/>
        </p:nvSpPr>
        <p:spPr>
          <a:xfrm>
            <a:off x="4129980" y="946547"/>
            <a:ext cx="1115988" cy="654211"/>
          </a:xfrm>
          <a:prstGeom prst="roundRect">
            <a:avLst>
              <a:gd name="adj" fmla="val 14560"/>
            </a:avLst>
          </a:prstGeom>
          <a:solidFill>
            <a:srgbClr val="F4F7FB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4570850" y="1064419"/>
            <a:ext cx="234136" cy="27539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ctr">
              <a:lnSpc>
                <a:spcPts val="2104"/>
              </a:lnSpc>
              <a:buNone/>
            </a:pPr>
            <a:r>
              <a:rPr lang="en-US" sz="1913" b="1" dirty="0">
                <a:solidFill>
                  <a:srgbClr val="16305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</a:t>
            </a:r>
            <a:endParaRPr lang="en-US" sz="1913" dirty="0"/>
          </a:p>
        </p:txBody>
      </p:sp>
      <p:sp>
        <p:nvSpPr>
          <p:cNvPr id="18" name="Text 16"/>
          <p:cNvSpPr/>
          <p:nvPr/>
        </p:nvSpPr>
        <p:spPr>
          <a:xfrm>
            <a:off x="4204990" y="1367247"/>
            <a:ext cx="965969" cy="1156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911"/>
              </a:lnSpc>
              <a:buNone/>
            </a:pPr>
            <a:r>
              <a:rPr lang="en-US" sz="675" kern="0" spc="14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manual entries per play</a:t>
            </a:r>
            <a:endParaRPr lang="en-US" sz="675" dirty="0"/>
          </a:p>
        </p:txBody>
      </p:sp>
      <p:sp>
        <p:nvSpPr>
          <p:cNvPr id="19" name="Text 17"/>
          <p:cNvSpPr/>
          <p:nvPr/>
        </p:nvSpPr>
        <p:spPr>
          <a:xfrm>
            <a:off x="457200" y="1732917"/>
            <a:ext cx="5031957" cy="2198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03"/>
              </a:lnSpc>
              <a:buNone/>
            </a:pPr>
            <a:r>
              <a:rPr lang="en-US" sz="1069" dirty="0">
                <a:solidFill>
                  <a:srgbClr val="16305B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What we achieved</a:t>
            </a:r>
            <a:endParaRPr lang="en-US" sz="1069" dirty="0"/>
          </a:p>
        </p:txBody>
      </p:sp>
      <p:sp>
        <p:nvSpPr>
          <p:cNvPr id="20" name="Text 18"/>
          <p:cNvSpPr/>
          <p:nvPr/>
        </p:nvSpPr>
        <p:spPr>
          <a:xfrm>
            <a:off x="460772" y="2011524"/>
            <a:ext cx="4785196" cy="2342592"/>
          </a:xfrm>
          <a:prstGeom prst="roundRect">
            <a:avLst>
              <a:gd name="adj" fmla="val 4066"/>
            </a:avLst>
          </a:prstGeom>
          <a:solidFill>
            <a:srgbClr val="FFFFFF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21506" y="2265015"/>
            <a:ext cx="142875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406" dirty="0">
                <a:solidFill>
                  <a:srgbClr val="B7791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406" dirty="0"/>
          </a:p>
        </p:txBody>
      </p:sp>
      <p:sp>
        <p:nvSpPr>
          <p:cNvPr id="22" name="Text 20"/>
          <p:cNvSpPr/>
          <p:nvPr/>
        </p:nvSpPr>
        <p:spPr>
          <a:xfrm>
            <a:off x="850106" y="2181076"/>
            <a:ext cx="4235128" cy="335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23"/>
              </a:lnSpc>
              <a:buNone/>
            </a:pPr>
            <a:r>
              <a:rPr lang="en-US" sz="816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 complete playlist manager built in Core Java — Song, Playlist, StatsManager and Main classes</a:t>
            </a:r>
            <a:endParaRPr lang="en-US" sz="816" dirty="0"/>
          </a:p>
        </p:txBody>
      </p:sp>
      <p:sp>
        <p:nvSpPr>
          <p:cNvPr id="23" name="Shape 21"/>
          <p:cNvSpPr/>
          <p:nvPr/>
        </p:nvSpPr>
        <p:spPr>
          <a:xfrm>
            <a:off x="621506" y="2618631"/>
            <a:ext cx="4463728" cy="0"/>
          </a:xfrm>
          <a:prstGeom prst="line">
            <a:avLst/>
          </a:prstGeom>
          <a:noFill/>
          <a:ln w="7144">
            <a:solidFill>
              <a:srgbClr val="D9E2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621506" y="2829260"/>
            <a:ext cx="142875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406" dirty="0">
                <a:solidFill>
                  <a:srgbClr val="B7791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406" dirty="0"/>
          </a:p>
        </p:txBody>
      </p:sp>
      <p:sp>
        <p:nvSpPr>
          <p:cNvPr id="25" name="Text 23"/>
          <p:cNvSpPr/>
          <p:nvPr/>
        </p:nvSpPr>
        <p:spPr>
          <a:xfrm>
            <a:off x="850106" y="2823009"/>
            <a:ext cx="4235128" cy="1678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23"/>
              </a:lnSpc>
              <a:buNone/>
            </a:pPr>
            <a:r>
              <a:rPr lang="en-US" sz="816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Automatic play counting with a live statistics engine (totals, favourite artist, Top-5)</a:t>
            </a:r>
            <a:endParaRPr lang="en-US" sz="816" dirty="0"/>
          </a:p>
        </p:txBody>
      </p:sp>
      <p:sp>
        <p:nvSpPr>
          <p:cNvPr id="26" name="Shape 24"/>
          <p:cNvSpPr/>
          <p:nvPr/>
        </p:nvSpPr>
        <p:spPr>
          <a:xfrm>
            <a:off x="621506" y="3182875"/>
            <a:ext cx="4463728" cy="0"/>
          </a:xfrm>
          <a:prstGeom prst="line">
            <a:avLst/>
          </a:prstGeom>
          <a:noFill/>
          <a:ln w="7144">
            <a:solidFill>
              <a:srgbClr val="D9E2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621506" y="3393504"/>
            <a:ext cx="142875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406" dirty="0">
                <a:solidFill>
                  <a:srgbClr val="B7791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406" dirty="0"/>
          </a:p>
        </p:txBody>
      </p:sp>
      <p:sp>
        <p:nvSpPr>
          <p:cNvPr id="28" name="Text 26"/>
          <p:cNvSpPr/>
          <p:nvPr/>
        </p:nvSpPr>
        <p:spPr>
          <a:xfrm>
            <a:off x="850106" y="3387254"/>
            <a:ext cx="4235128" cy="1678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23"/>
              </a:lnSpc>
              <a:buNone/>
            </a:pPr>
            <a:r>
              <a:rPr lang="en-US" sz="816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Search, sort and persistent text-file storage proven across restarts</a:t>
            </a:r>
            <a:endParaRPr lang="en-US" sz="816" dirty="0"/>
          </a:p>
        </p:txBody>
      </p:sp>
      <p:sp>
        <p:nvSpPr>
          <p:cNvPr id="29" name="Shape 27"/>
          <p:cNvSpPr/>
          <p:nvPr/>
        </p:nvSpPr>
        <p:spPr>
          <a:xfrm>
            <a:off x="621506" y="3747120"/>
            <a:ext cx="4463728" cy="0"/>
          </a:xfrm>
          <a:prstGeom prst="line">
            <a:avLst/>
          </a:prstGeom>
          <a:noFill/>
          <a:ln w="7144">
            <a:solidFill>
              <a:srgbClr val="D9E2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/>
          <p:nvPr/>
        </p:nvSpPr>
        <p:spPr>
          <a:xfrm>
            <a:off x="621506" y="3957749"/>
            <a:ext cx="142875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406" dirty="0">
                <a:solidFill>
                  <a:srgbClr val="B7791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406" dirty="0"/>
          </a:p>
        </p:txBody>
      </p:sp>
      <p:sp>
        <p:nvSpPr>
          <p:cNvPr id="31" name="Text 29"/>
          <p:cNvSpPr/>
          <p:nvPr/>
        </p:nvSpPr>
        <p:spPr>
          <a:xfrm>
            <a:off x="850106" y="3951498"/>
            <a:ext cx="4235128" cy="1678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23"/>
              </a:lnSpc>
              <a:buNone/>
            </a:pPr>
            <a:r>
              <a:rPr lang="en-US" sz="816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All five objectives from Slide 3 verified in the working demo</a:t>
            </a:r>
            <a:endParaRPr lang="en-US" sz="816" dirty="0"/>
          </a:p>
        </p:txBody>
      </p:sp>
      <p:sp>
        <p:nvSpPr>
          <p:cNvPr id="32" name="Text 30"/>
          <p:cNvSpPr/>
          <p:nvPr/>
        </p:nvSpPr>
        <p:spPr>
          <a:xfrm>
            <a:off x="5424562" y="946547"/>
            <a:ext cx="3258666" cy="3407569"/>
          </a:xfrm>
          <a:prstGeom prst="roundRect">
            <a:avLst>
              <a:gd name="adj" fmla="val 2923"/>
            </a:avLst>
          </a:prstGeom>
          <a:solidFill>
            <a:srgbClr val="F4F7FB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5585296" y="1092994"/>
            <a:ext cx="2937197" cy="2047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1603"/>
              </a:lnSpc>
              <a:buNone/>
            </a:pPr>
            <a:r>
              <a:rPr lang="en-US" sz="1069" dirty="0">
                <a:solidFill>
                  <a:srgbClr val="16305B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Learning outcomes</a:t>
            </a:r>
            <a:endParaRPr lang="en-US" sz="1069" dirty="0"/>
          </a:p>
        </p:txBody>
      </p:sp>
      <p:sp>
        <p:nvSpPr>
          <p:cNvPr id="34" name="Text 32"/>
          <p:cNvSpPr/>
          <p:nvPr/>
        </p:nvSpPr>
        <p:spPr>
          <a:xfrm>
            <a:off x="5585296" y="1542715"/>
            <a:ext cx="135731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36" dirty="0">
                <a:solidFill>
                  <a:srgbClr val="8A5A1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▿</a:t>
            </a:r>
            <a:endParaRPr lang="en-US" sz="1336" dirty="0"/>
          </a:p>
        </p:txBody>
      </p:sp>
      <p:sp>
        <p:nvSpPr>
          <p:cNvPr id="35" name="Text 33"/>
          <p:cNvSpPr/>
          <p:nvPr/>
        </p:nvSpPr>
        <p:spPr>
          <a:xfrm>
            <a:off x="5806753" y="1538027"/>
            <a:ext cx="2715741" cy="159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42"/>
              </a:lnSpc>
              <a:buNone/>
            </a:pPr>
            <a:r>
              <a:rPr lang="en-US" sz="788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OOP encapsulation</a:t>
            </a:r>
            <a:r>
              <a:rPr lang="en-US" sz="788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— private data behind public methods</a:t>
            </a:r>
            <a:endParaRPr lang="en-US" sz="788" dirty="0"/>
          </a:p>
        </p:txBody>
      </p:sp>
      <p:sp>
        <p:nvSpPr>
          <p:cNvPr id="36" name="Shape 34"/>
          <p:cNvSpPr/>
          <p:nvPr/>
        </p:nvSpPr>
        <p:spPr>
          <a:xfrm>
            <a:off x="5585296" y="1899568"/>
            <a:ext cx="2937197" cy="0"/>
          </a:xfrm>
          <a:prstGeom prst="line">
            <a:avLst/>
          </a:prstGeom>
          <a:noFill/>
          <a:ln w="7144">
            <a:solidFill>
              <a:srgbClr val="D9E2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5585296" y="2120689"/>
            <a:ext cx="135731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36" dirty="0">
                <a:solidFill>
                  <a:srgbClr val="8A5A1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▿</a:t>
            </a:r>
            <a:endParaRPr lang="en-US" sz="1336" dirty="0"/>
          </a:p>
        </p:txBody>
      </p:sp>
      <p:sp>
        <p:nvSpPr>
          <p:cNvPr id="38" name="Text 36"/>
          <p:cNvSpPr/>
          <p:nvPr/>
        </p:nvSpPr>
        <p:spPr>
          <a:xfrm>
            <a:off x="5806753" y="2043559"/>
            <a:ext cx="2715741" cy="3181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42"/>
              </a:lnSpc>
              <a:buNone/>
            </a:pPr>
            <a:r>
              <a:rPr lang="en-US" sz="800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Collections</a:t>
            </a:r>
            <a:r>
              <a:rPr lang="en-US" sz="800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— ArrayList for storage, HashMap for artist totals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5585296" y="2477542"/>
            <a:ext cx="2937197" cy="0"/>
          </a:xfrm>
          <a:prstGeom prst="line">
            <a:avLst/>
          </a:prstGeom>
          <a:noFill/>
          <a:ln w="7144">
            <a:solidFill>
              <a:srgbClr val="D9E2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Text 38"/>
          <p:cNvSpPr/>
          <p:nvPr/>
        </p:nvSpPr>
        <p:spPr>
          <a:xfrm>
            <a:off x="5585296" y="2698663"/>
            <a:ext cx="135731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36" dirty="0">
                <a:solidFill>
                  <a:srgbClr val="8A5A1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▿</a:t>
            </a:r>
            <a:endParaRPr lang="en-US" sz="1336" dirty="0"/>
          </a:p>
        </p:txBody>
      </p:sp>
      <p:sp>
        <p:nvSpPr>
          <p:cNvPr id="41" name="Text 39"/>
          <p:cNvSpPr/>
          <p:nvPr/>
        </p:nvSpPr>
        <p:spPr>
          <a:xfrm>
            <a:off x="5806753" y="2693975"/>
            <a:ext cx="2715741" cy="159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42"/>
              </a:lnSpc>
              <a:buNone/>
            </a:pPr>
            <a:r>
              <a:rPr lang="en-US" sz="788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File I/O</a:t>
            </a:r>
            <a:r>
              <a:rPr lang="en-US" sz="788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— FileWriter saves, Scanner loads, try-catch safety</a:t>
            </a:r>
            <a:endParaRPr lang="en-US" sz="788" dirty="0"/>
          </a:p>
        </p:txBody>
      </p:sp>
      <p:sp>
        <p:nvSpPr>
          <p:cNvPr id="42" name="Shape 40"/>
          <p:cNvSpPr/>
          <p:nvPr/>
        </p:nvSpPr>
        <p:spPr>
          <a:xfrm>
            <a:off x="5585296" y="3055516"/>
            <a:ext cx="2937197" cy="0"/>
          </a:xfrm>
          <a:prstGeom prst="line">
            <a:avLst/>
          </a:prstGeom>
          <a:noFill/>
          <a:ln w="7144">
            <a:solidFill>
              <a:srgbClr val="D9E2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3" name="Text 41"/>
          <p:cNvSpPr/>
          <p:nvPr/>
        </p:nvSpPr>
        <p:spPr>
          <a:xfrm>
            <a:off x="5585296" y="3276637"/>
            <a:ext cx="135731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36" dirty="0">
                <a:solidFill>
                  <a:srgbClr val="8A5A1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▿</a:t>
            </a:r>
            <a:endParaRPr lang="en-US" sz="1336" dirty="0"/>
          </a:p>
        </p:txBody>
      </p:sp>
      <p:sp>
        <p:nvSpPr>
          <p:cNvPr id="44" name="Text 42"/>
          <p:cNvSpPr/>
          <p:nvPr/>
        </p:nvSpPr>
        <p:spPr>
          <a:xfrm>
            <a:off x="5806753" y="3271949"/>
            <a:ext cx="2715741" cy="159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42"/>
              </a:lnSpc>
              <a:buNone/>
            </a:pPr>
            <a:r>
              <a:rPr lang="en-US" sz="788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Input validation</a:t>
            </a:r>
            <a:r>
              <a:rPr lang="en-US" sz="788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— readInt / readText loops that never crash</a:t>
            </a:r>
            <a:endParaRPr lang="en-US" sz="788" dirty="0"/>
          </a:p>
        </p:txBody>
      </p:sp>
      <p:sp>
        <p:nvSpPr>
          <p:cNvPr id="45" name="Shape 43"/>
          <p:cNvSpPr/>
          <p:nvPr/>
        </p:nvSpPr>
        <p:spPr>
          <a:xfrm>
            <a:off x="5585296" y="3633490"/>
            <a:ext cx="2937197" cy="0"/>
          </a:xfrm>
          <a:prstGeom prst="line">
            <a:avLst/>
          </a:prstGeom>
          <a:noFill/>
          <a:ln w="7144">
            <a:solidFill>
              <a:srgbClr val="D9E2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6" name="Text 44"/>
          <p:cNvSpPr/>
          <p:nvPr/>
        </p:nvSpPr>
        <p:spPr>
          <a:xfrm>
            <a:off x="5585296" y="3854611"/>
            <a:ext cx="135731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36" dirty="0">
                <a:solidFill>
                  <a:srgbClr val="8A5A1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▿</a:t>
            </a:r>
            <a:endParaRPr lang="en-US" sz="1336" dirty="0"/>
          </a:p>
        </p:txBody>
      </p:sp>
      <p:sp>
        <p:nvSpPr>
          <p:cNvPr id="47" name="Text 45"/>
          <p:cNvSpPr/>
          <p:nvPr/>
        </p:nvSpPr>
        <p:spPr>
          <a:xfrm>
            <a:off x="5806753" y="3849923"/>
            <a:ext cx="2715741" cy="159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42"/>
              </a:lnSpc>
              <a:buNone/>
            </a:pPr>
            <a:r>
              <a:rPr lang="en-US" sz="788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Modular design</a:t>
            </a:r>
            <a:r>
              <a:rPr lang="en-US" sz="788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— each class has one clear responsibility</a:t>
            </a:r>
            <a:endParaRPr lang="en-US" sz="788" dirty="0"/>
          </a:p>
        </p:txBody>
      </p:sp>
      <p:sp>
        <p:nvSpPr>
          <p:cNvPr id="48" name="Text 46"/>
          <p:cNvSpPr/>
          <p:nvPr/>
        </p:nvSpPr>
        <p:spPr>
          <a:xfrm>
            <a:off x="457200" y="4471988"/>
            <a:ext cx="8229600" cy="357188"/>
          </a:xfrm>
          <a:prstGeom prst="roundRect">
            <a:avLst>
              <a:gd name="adj" fmla="val 26667"/>
            </a:avLst>
          </a:prstGeom>
          <a:solidFill>
            <a:srgbClr val="16305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614363" y="4572000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47" dirty="0">
                <a:solidFill>
                  <a:srgbClr val="F2C87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547" dirty="0"/>
          </a:p>
        </p:txBody>
      </p:sp>
      <p:sp>
        <p:nvSpPr>
          <p:cNvPr id="50" name="Text 48"/>
          <p:cNvSpPr/>
          <p:nvPr/>
        </p:nvSpPr>
        <p:spPr>
          <a:xfrm>
            <a:off x="857250" y="4572893"/>
            <a:ext cx="7672388" cy="156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23"/>
              </a:lnSpc>
              <a:buNone/>
            </a:pPr>
            <a:r>
              <a:rPr lang="en-US" sz="844" dirty="0">
                <a:solidFill>
                  <a:srgbClr val="EAF0F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The project meets every planned objective and provides a solid base for the GUI and database upgrades listed in Future Scope.</a:t>
            </a:r>
            <a:endParaRPr lang="en-US" sz="844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89309" y="189309"/>
            <a:ext cx="8765381" cy="4764881"/>
          </a:xfrm>
          <a:prstGeom prst="roundRect">
            <a:avLst>
              <a:gd name="adj" fmla="val 2799"/>
            </a:avLst>
          </a:prstGeom>
          <a:noFill/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43400" y="1335546"/>
            <a:ext cx="457200" cy="28575"/>
          </a:xfrm>
          <a:prstGeom prst="roundRect">
            <a:avLst>
              <a:gd name="adj" fmla="val 66667"/>
            </a:avLst>
          </a:prstGeom>
          <a:solidFill>
            <a:srgbClr val="B7791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274320" y="1549859"/>
            <a:ext cx="8595248" cy="6642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843"/>
              </a:lnSpc>
              <a:buNone/>
            </a:pPr>
            <a:r>
              <a:rPr lang="en-US" sz="4613" b="1" dirty="0">
                <a:solidFill>
                  <a:srgbClr val="16305B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Thank You</a:t>
            </a:r>
            <a:r>
              <a:rPr lang="en-US" sz="4613" b="1" dirty="0">
                <a:solidFill>
                  <a:srgbClr val="B7791F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!</a:t>
            </a:r>
            <a:endParaRPr lang="en-US" sz="4613" dirty="0"/>
          </a:p>
        </p:txBody>
      </p:sp>
      <p:sp>
        <p:nvSpPr>
          <p:cNvPr id="5" name="Text 3"/>
          <p:cNvSpPr/>
          <p:nvPr/>
        </p:nvSpPr>
        <p:spPr>
          <a:xfrm>
            <a:off x="3132266" y="2264904"/>
            <a:ext cx="2879355" cy="208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519"/>
              </a:lnSpc>
              <a:buNone/>
            </a:pPr>
            <a:r>
              <a:rPr lang="en-US" sz="1013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Questions and suggestions are most welcome.</a:t>
            </a:r>
            <a:endParaRPr lang="en-US" sz="1013" dirty="0"/>
          </a:p>
        </p:txBody>
      </p:sp>
      <p:sp>
        <p:nvSpPr>
          <p:cNvPr id="6" name="Text 4"/>
          <p:cNvSpPr/>
          <p:nvPr/>
        </p:nvSpPr>
        <p:spPr>
          <a:xfrm>
            <a:off x="2447739" y="2675669"/>
            <a:ext cx="4248410" cy="350044"/>
          </a:xfrm>
          <a:prstGeom prst="roundRect">
            <a:avLst>
              <a:gd name="adj" fmla="val 2718365"/>
            </a:avLst>
          </a:prstGeom>
          <a:solidFill>
            <a:srgbClr val="FFFFFF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2651336" y="2779254"/>
            <a:ext cx="142875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406" dirty="0">
                <a:solidFill>
                  <a:srgbClr val="8A5A1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♪</a:t>
            </a:r>
            <a:endParaRPr lang="en-US" sz="1406" dirty="0"/>
          </a:p>
        </p:txBody>
      </p:sp>
      <p:sp>
        <p:nvSpPr>
          <p:cNvPr id="8" name="Text 6"/>
          <p:cNvSpPr/>
          <p:nvPr/>
        </p:nvSpPr>
        <p:spPr>
          <a:xfrm>
            <a:off x="2865648" y="2764966"/>
            <a:ext cx="362690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350"/>
              </a:lnSpc>
              <a:buNone/>
            </a:pPr>
            <a:r>
              <a:rPr lang="en-US" sz="900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Music Playlist &amp; Listening Stats Manager — Core Java Mini Project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485900" y="4680942"/>
            <a:ext cx="6172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5"/>
              </a:lnSpc>
              <a:buNone/>
            </a:pP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2680</Words>
  <Application>Microsoft Office PowerPoint</Application>
  <PresentationFormat>On-screen Show (16:9)</PresentationFormat>
  <Paragraphs>353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4" baseType="lpstr">
      <vt:lpstr>Arial</vt:lpstr>
      <vt:lpstr>Carlito</vt:lpstr>
      <vt:lpstr>Courier New</vt:lpstr>
      <vt:lpstr>Liberation Sans Narrow</vt:lpstr>
      <vt:lpstr>Segoe UI Symbol</vt:lpstr>
      <vt:lpstr>Tinos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Boga Shashank</cp:lastModifiedBy>
  <cp:revision>1</cp:revision>
  <dcterms:created xsi:type="dcterms:W3CDTF">2026-10-14T18:14:22Z</dcterms:created>
  <dcterms:modified xsi:type="dcterms:W3CDTF">2026-10-15T14:43:51Z</dcterms:modified>
</cp:coreProperties>
</file>