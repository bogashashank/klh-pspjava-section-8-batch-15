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39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ga Shashank" userId="d9288b1565e02af5" providerId="LiveId" clId="{91ED3C43-599C-45D9-B8BE-500491248CD8}"/>
    <pc:docChg chg="undo custSel modSld">
      <pc:chgData name="Boga Shashank" userId="d9288b1565e02af5" providerId="LiveId" clId="{91ED3C43-599C-45D9-B8BE-500491248CD8}" dt="2026-10-14T18:26:39.080" v="398" actId="20577"/>
      <pc:docMkLst>
        <pc:docMk/>
      </pc:docMkLst>
      <pc:sldChg chg="modSp mod">
        <pc:chgData name="Boga Shashank" userId="d9288b1565e02af5" providerId="LiveId" clId="{91ED3C43-599C-45D9-B8BE-500491248CD8}" dt="2026-10-14T18:25:29.703" v="357" actId="14100"/>
        <pc:sldMkLst>
          <pc:docMk/>
          <pc:sldMk cId="0" sldId="256"/>
        </pc:sldMkLst>
        <pc:spChg chg="mod">
          <ac:chgData name="Boga Shashank" userId="d9288b1565e02af5" providerId="LiveId" clId="{91ED3C43-599C-45D9-B8BE-500491248CD8}" dt="2026-10-14T18:25:29.703" v="357" actId="14100"/>
          <ac:spMkLst>
            <pc:docMk/>
            <pc:sldMk cId="0" sldId="256"/>
            <ac:spMk id="2" creationId="{00000000-0000-0000-0000-000000000000}"/>
          </ac:spMkLst>
        </pc:spChg>
        <pc:spChg chg="mod">
          <ac:chgData name="Boga Shashank" userId="d9288b1565e02af5" providerId="LiveId" clId="{91ED3C43-599C-45D9-B8BE-500491248CD8}" dt="2026-10-14T18:22:56.058" v="73" actId="20577"/>
          <ac:spMkLst>
            <pc:docMk/>
            <pc:sldMk cId="0" sldId="256"/>
            <ac:spMk id="8" creationId="{00000000-0000-0000-0000-000000000000}"/>
          </ac:spMkLst>
        </pc:spChg>
        <pc:spChg chg="mod">
          <ac:chgData name="Boga Shashank" userId="d9288b1565e02af5" providerId="LiveId" clId="{91ED3C43-599C-45D9-B8BE-500491248CD8}" dt="2026-10-14T18:22:33.892" v="25" actId="20577"/>
          <ac:spMkLst>
            <pc:docMk/>
            <pc:sldMk cId="0" sldId="256"/>
            <ac:spMk id="9" creationId="{00000000-0000-0000-0000-000000000000}"/>
          </ac:spMkLst>
        </pc:spChg>
        <pc:spChg chg="mod">
          <ac:chgData name="Boga Shashank" userId="d9288b1565e02af5" providerId="LiveId" clId="{91ED3C43-599C-45D9-B8BE-500491248CD8}" dt="2026-10-14T18:23:09.278" v="113" actId="20577"/>
          <ac:spMkLst>
            <pc:docMk/>
            <pc:sldMk cId="0" sldId="256"/>
            <ac:spMk id="11" creationId="{00000000-0000-0000-0000-000000000000}"/>
          </ac:spMkLst>
        </pc:spChg>
        <pc:spChg chg="mod">
          <ac:chgData name="Boga Shashank" userId="d9288b1565e02af5" providerId="LiveId" clId="{91ED3C43-599C-45D9-B8BE-500491248CD8}" dt="2026-10-14T18:22:44.158" v="46" actId="20577"/>
          <ac:spMkLst>
            <pc:docMk/>
            <pc:sldMk cId="0" sldId="256"/>
            <ac:spMk id="12" creationId="{00000000-0000-0000-0000-000000000000}"/>
          </ac:spMkLst>
        </pc:spChg>
        <pc:spChg chg="mod">
          <ac:chgData name="Boga Shashank" userId="d9288b1565e02af5" providerId="LiveId" clId="{91ED3C43-599C-45D9-B8BE-500491248CD8}" dt="2026-10-14T18:23:20.738" v="140" actId="20577"/>
          <ac:spMkLst>
            <pc:docMk/>
            <pc:sldMk cId="0" sldId="256"/>
            <ac:spMk id="14" creationId="{00000000-0000-0000-0000-000000000000}"/>
          </ac:spMkLst>
        </pc:spChg>
        <pc:spChg chg="mod">
          <ac:chgData name="Boga Shashank" userId="d9288b1565e02af5" providerId="LiveId" clId="{91ED3C43-599C-45D9-B8BE-500491248CD8}" dt="2026-10-14T18:23:25.080" v="146" actId="20577"/>
          <ac:spMkLst>
            <pc:docMk/>
            <pc:sldMk cId="0" sldId="256"/>
            <ac:spMk id="16" creationId="{00000000-0000-0000-0000-000000000000}"/>
          </ac:spMkLst>
        </pc:spChg>
        <pc:spChg chg="mod">
          <ac:chgData name="Boga Shashank" userId="d9288b1565e02af5" providerId="LiveId" clId="{91ED3C43-599C-45D9-B8BE-500491248CD8}" dt="2026-10-14T18:24:36.152" v="262" actId="20577"/>
          <ac:spMkLst>
            <pc:docMk/>
            <pc:sldMk cId="0" sldId="256"/>
            <ac:spMk id="18" creationId="{00000000-0000-0000-0000-000000000000}"/>
          </ac:spMkLst>
        </pc:spChg>
      </pc:sldChg>
      <pc:sldChg chg="modSp mod">
        <pc:chgData name="Boga Shashank" userId="d9288b1565e02af5" providerId="LiveId" clId="{91ED3C43-599C-45D9-B8BE-500491248CD8}" dt="2026-10-14T18:26:11.251" v="364" actId="1076"/>
        <pc:sldMkLst>
          <pc:docMk/>
          <pc:sldMk cId="0" sldId="262"/>
        </pc:sldMkLst>
        <pc:spChg chg="mod">
          <ac:chgData name="Boga Shashank" userId="d9288b1565e02af5" providerId="LiveId" clId="{91ED3C43-599C-45D9-B8BE-500491248CD8}" dt="2026-10-14T18:26:00.930" v="362" actId="1076"/>
          <ac:spMkLst>
            <pc:docMk/>
            <pc:sldMk cId="0" sldId="262"/>
            <ac:spMk id="14" creationId="{00000000-0000-0000-0000-000000000000}"/>
          </ac:spMkLst>
        </pc:spChg>
        <pc:spChg chg="mod">
          <ac:chgData name="Boga Shashank" userId="d9288b1565e02af5" providerId="LiveId" clId="{91ED3C43-599C-45D9-B8BE-500491248CD8}" dt="2026-10-14T18:25:45.223" v="359" actId="27636"/>
          <ac:spMkLst>
            <pc:docMk/>
            <pc:sldMk cId="0" sldId="262"/>
            <ac:spMk id="17" creationId="{00000000-0000-0000-0000-000000000000}"/>
          </ac:spMkLst>
        </pc:spChg>
        <pc:spChg chg="mod">
          <ac:chgData name="Boga Shashank" userId="d9288b1565e02af5" providerId="LiveId" clId="{91ED3C43-599C-45D9-B8BE-500491248CD8}" dt="2026-10-14T18:25:50.765" v="360" actId="1076"/>
          <ac:spMkLst>
            <pc:docMk/>
            <pc:sldMk cId="0" sldId="262"/>
            <ac:spMk id="18" creationId="{00000000-0000-0000-0000-000000000000}"/>
          </ac:spMkLst>
        </pc:spChg>
        <pc:spChg chg="mod">
          <ac:chgData name="Boga Shashank" userId="d9288b1565e02af5" providerId="LiveId" clId="{91ED3C43-599C-45D9-B8BE-500491248CD8}" dt="2026-10-14T18:26:11.251" v="364" actId="1076"/>
          <ac:spMkLst>
            <pc:docMk/>
            <pc:sldMk cId="0" sldId="262"/>
            <ac:spMk id="25" creationId="{00000000-0000-0000-0000-000000000000}"/>
          </ac:spMkLst>
        </pc:spChg>
        <pc:spChg chg="mod">
          <ac:chgData name="Boga Shashank" userId="d9288b1565e02af5" providerId="LiveId" clId="{91ED3C43-599C-45D9-B8BE-500491248CD8}" dt="2026-10-14T18:26:06.538" v="363" actId="1076"/>
          <ac:spMkLst>
            <pc:docMk/>
            <pc:sldMk cId="0" sldId="262"/>
            <ac:spMk id="31" creationId="{00000000-0000-0000-0000-000000000000}"/>
          </ac:spMkLst>
        </pc:spChg>
      </pc:sldChg>
      <pc:sldChg chg="modSp mod">
        <pc:chgData name="Boga Shashank" userId="d9288b1565e02af5" providerId="LiveId" clId="{91ED3C43-599C-45D9-B8BE-500491248CD8}" dt="2026-10-14T18:26:18.914" v="366" actId="1038"/>
        <pc:sldMkLst>
          <pc:docMk/>
          <pc:sldMk cId="0" sldId="265"/>
        </pc:sldMkLst>
        <pc:picChg chg="mod">
          <ac:chgData name="Boga Shashank" userId="d9288b1565e02af5" providerId="LiveId" clId="{91ED3C43-599C-45D9-B8BE-500491248CD8}" dt="2026-10-14T18:26:18.914" v="366" actId="1038"/>
          <ac:picMkLst>
            <pc:docMk/>
            <pc:sldMk cId="0" sldId="265"/>
            <ac:picMk id="8" creationId="{00000000-0000-0000-0000-000000000000}"/>
          </ac:picMkLst>
        </pc:picChg>
      </pc:sldChg>
      <pc:sldChg chg="delSp modSp mod">
        <pc:chgData name="Boga Shashank" userId="d9288b1565e02af5" providerId="LiveId" clId="{91ED3C43-599C-45D9-B8BE-500491248CD8}" dt="2026-10-14T18:26:39.080" v="398" actId="20577"/>
        <pc:sldMkLst>
          <pc:docMk/>
          <pc:sldMk cId="0" sldId="272"/>
        </pc:sldMkLst>
        <pc:spChg chg="del">
          <ac:chgData name="Boga Shashank" userId="d9288b1565e02af5" providerId="LiveId" clId="{91ED3C43-599C-45D9-B8BE-500491248CD8}" dt="2026-10-14T18:26:31.702" v="367" actId="478"/>
          <ac:spMkLst>
            <pc:docMk/>
            <pc:sldMk cId="0" sldId="272"/>
            <ac:spMk id="9" creationId="{00000000-0000-0000-0000-000000000000}"/>
          </ac:spMkLst>
        </pc:spChg>
        <pc:spChg chg="del">
          <ac:chgData name="Boga Shashank" userId="d9288b1565e02af5" providerId="LiveId" clId="{91ED3C43-599C-45D9-B8BE-500491248CD8}" dt="2026-10-14T18:26:31.702" v="367" actId="478"/>
          <ac:spMkLst>
            <pc:docMk/>
            <pc:sldMk cId="0" sldId="272"/>
            <ac:spMk id="10" creationId="{00000000-0000-0000-0000-000000000000}"/>
          </ac:spMkLst>
        </pc:spChg>
        <pc:spChg chg="del">
          <ac:chgData name="Boga Shashank" userId="d9288b1565e02af5" providerId="LiveId" clId="{91ED3C43-599C-45D9-B8BE-500491248CD8}" dt="2026-10-14T18:26:31.702" v="367" actId="478"/>
          <ac:spMkLst>
            <pc:docMk/>
            <pc:sldMk cId="0" sldId="272"/>
            <ac:spMk id="11" creationId="{00000000-0000-0000-0000-000000000000}"/>
          </ac:spMkLst>
        </pc:spChg>
        <pc:spChg chg="del">
          <ac:chgData name="Boga Shashank" userId="d9288b1565e02af5" providerId="LiveId" clId="{91ED3C43-599C-45D9-B8BE-500491248CD8}" dt="2026-10-14T18:26:31.702" v="367" actId="478"/>
          <ac:spMkLst>
            <pc:docMk/>
            <pc:sldMk cId="0" sldId="272"/>
            <ac:spMk id="12" creationId="{00000000-0000-0000-0000-000000000000}"/>
          </ac:spMkLst>
        </pc:spChg>
        <pc:spChg chg="del">
          <ac:chgData name="Boga Shashank" userId="d9288b1565e02af5" providerId="LiveId" clId="{91ED3C43-599C-45D9-B8BE-500491248CD8}" dt="2026-10-14T18:26:31.702" v="367" actId="478"/>
          <ac:spMkLst>
            <pc:docMk/>
            <pc:sldMk cId="0" sldId="272"/>
            <ac:spMk id="13" creationId="{00000000-0000-0000-0000-000000000000}"/>
          </ac:spMkLst>
        </pc:spChg>
        <pc:spChg chg="del">
          <ac:chgData name="Boga Shashank" userId="d9288b1565e02af5" providerId="LiveId" clId="{91ED3C43-599C-45D9-B8BE-500491248CD8}" dt="2026-10-14T18:26:31.702" v="367" actId="478"/>
          <ac:spMkLst>
            <pc:docMk/>
            <pc:sldMk cId="0" sldId="272"/>
            <ac:spMk id="14" creationId="{00000000-0000-0000-0000-000000000000}"/>
          </ac:spMkLst>
        </pc:spChg>
        <pc:spChg chg="del">
          <ac:chgData name="Boga Shashank" userId="d9288b1565e02af5" providerId="LiveId" clId="{91ED3C43-599C-45D9-B8BE-500491248CD8}" dt="2026-10-14T18:26:31.702" v="367" actId="478"/>
          <ac:spMkLst>
            <pc:docMk/>
            <pc:sldMk cId="0" sldId="272"/>
            <ac:spMk id="15" creationId="{00000000-0000-0000-0000-000000000000}"/>
          </ac:spMkLst>
        </pc:spChg>
        <pc:spChg chg="del">
          <ac:chgData name="Boga Shashank" userId="d9288b1565e02af5" providerId="LiveId" clId="{91ED3C43-599C-45D9-B8BE-500491248CD8}" dt="2026-10-14T18:26:31.702" v="367" actId="478"/>
          <ac:spMkLst>
            <pc:docMk/>
            <pc:sldMk cId="0" sldId="272"/>
            <ac:spMk id="16" creationId="{00000000-0000-0000-0000-000000000000}"/>
          </ac:spMkLst>
        </pc:spChg>
        <pc:spChg chg="mod">
          <ac:chgData name="Boga Shashank" userId="d9288b1565e02af5" providerId="LiveId" clId="{91ED3C43-599C-45D9-B8BE-500491248CD8}" dt="2026-10-14T18:26:39.080" v="398" actId="20577"/>
          <ac:spMkLst>
            <pc:docMk/>
            <pc:sldMk cId="0" sldId="272"/>
            <ac:spMk id="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0482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Greet the panel and introduce the team.
- Read both student names and roll numbers exactly as shown.
- One-line pitch: a console Java app that organises a personal playlist and auto-tracks listening statistics.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Set the context: in the streaming era playlists define how we listen — but nothing lightweight and offline records it.
- State what the app does: a menu-driven console app that manages a playlist and auto-tracks every play.
- Name the tech stack: Core Java, classes and objects, ArrayList, HashMap, File I/O.
- Say why the topic was chosen: it fills the gap for a simple offline listening tracker.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 the core statement in the navy card aloud.
- Walk the four pain points: manual logging, spreadsheet upkeep, online-only streaming stats, no instant summary.
- End on the goal line: lightweight, offline, auto-counting playlist and statistics manager in Java.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Point out that the five objectives map one-to-one to the menu features.
- Touch each briefly: playlist manager, automatic tracking, statistics, search/sort, file persistence.
- Say every objective will be verified live in the demo.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Walk the comparison table top to bottom.
- Note each method's drawback: manual counting, online-only stats, heavy database setup.
- Finish on the gap this project fills — automatic counting, fully offline, full statistics report.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Stress the two pillars: automation (plays counted with zero manual entry) and persistence (auto-save to music_data.txt).
- Walk the five advantages briefly — offline JDK-only setup, 4-class modular OOP design, code commented for the viva.
- Use the table column by column; finish on "Open, simple Java classes".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Narrate the exact flow: user presses 4 → Main calls playSong() → Playlist fetches the Song → playCount +1 → auto-save writes music_data.txt.
- Emphasise separation of controller / manager / model layers: Main, Playlist + StatsManager, Song.
- Point at the ▼ save / ▲ load pair — storage is written after every change and reloaded at every start.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Each card maps to one typed menu number — walk them briefly in order 1 to 8.
- Suggested demo order: View All Songs (1), play "Believer" (4), then Listening Stats (7).
- Point out the gold-bordered cards 4 and 7 — the project's signature features.
- Auto-save runs after every change; it needs no menu option.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One line on separation of responsibilities: model / data manager / statistics / controller.
- Each of the four classes gets its own slide with the full code next.
- Mention 628 total lines, all commented — written to be read, not just run.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Point out private fields + public getter methods — that is encapsulation.
- Show the save-file format example: Believer|Imagine Dragons|204|51.
- fromFileString is the reverse operation used when the program starts.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removeSong loops once and stops at the first title match (ignore case).
- printf keeps the table columns aligned — mention the %-26s width flags.
- Both sorts are one-line lambda comparators: A-Z by title, highest plays first.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Walk the HashMap artist tally once slowly: key = artist, value = total plays.
- Listening time = sum of length x plays, converted to hours + minutes.
- Top-5 sorts a COPY of the list, so the user's playlist order stays untouched.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Narrate the menu loop once: print menu, read choice, switch-case dispatch.
- playSong core: get song, +1 count, auto-save — three meaningful lines.
- addSong, removeSong, search and sort handlers follow the same simple pattern (full source in upload).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Point at Believer moving 51 → 52 plays — and the totals and Top-5 recomputed live in the right window.
- Highlight the aligned printf table columns in the left window.
- Offer a live demo: run java Main (OpenJDK 21) in front of the panel.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Frame the section: modular OOP design gives clean extension points for future versions.
- Highlight the top two natural next steps — GUI front-end (Swing/JavaFX) and MySQL storage via JDBC.
- Walk the remaining four briefly: shuffle/queue, smart recommendations, PDF/CSV report export, real audio playback.
- Close: the current console version is a complete, extensible Core Java base.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Point at the stat strip: 4 Java classes, 8 menu features, 100% offline and free, 0 manual entries per play.
- Read the four achievements aloud; stress that all five Slide-3 objectives were verified in the working demo.
- Learning outcomes: each member gives one personal line — OOP, collections, File I/O, input validation, modular design.
- End on the navy strip: every objective met, and a solid base ready for the GUI and database upgrades.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Thank the panel for their time and attention.
- Invite questions and suggestions on the design, the code or the statistics engine.
- Offer the live demo: run "java Main", play a song and show the stats update live.
- Close by thanking the faculty guide once more.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72492" y="195102"/>
            <a:ext cx="3505428" cy="234256"/>
          </a:xfrm>
          <a:prstGeom prst="rect">
            <a:avLst/>
          </a:prstGeom>
          <a:noFill/>
          <a:ln/>
        </p:spPr>
        <p:txBody>
          <a:bodyPr wrap="square" lIns="0" tIns="0" rIns="0" bIns="0" rtlCol="0" anchor="t"/>
          <a:lstStyle/>
          <a:p>
            <a:pPr marL="0" indent="0" algn="l">
              <a:lnSpc>
                <a:spcPts val="1097"/>
              </a:lnSpc>
              <a:buNone/>
            </a:pPr>
            <a:r>
              <a:rPr lang="en-US" sz="800" kern="0" spc="146" dirty="0">
                <a:solidFill>
                  <a:srgbClr val="8A5A14"/>
                </a:solidFill>
                <a:latin typeface="Courier New" pitchFamily="34" charset="0"/>
                <a:ea typeface="Courier New" pitchFamily="34" charset="-122"/>
                <a:cs typeface="Courier New" pitchFamily="34" charset="-120"/>
              </a:rPr>
              <a:t>Problem Solving Using Programming Java</a:t>
            </a:r>
            <a:endParaRPr lang="en-US" sz="800" dirty="0"/>
          </a:p>
        </p:txBody>
      </p:sp>
      <p:sp>
        <p:nvSpPr>
          <p:cNvPr id="3" name="Text 1"/>
          <p:cNvSpPr/>
          <p:nvPr/>
        </p:nvSpPr>
        <p:spPr>
          <a:xfrm>
            <a:off x="457200" y="700088"/>
            <a:ext cx="457200" cy="28575"/>
          </a:xfrm>
          <a:prstGeom prst="roundRect">
            <a:avLst>
              <a:gd name="adj" fmla="val 66667"/>
            </a:avLst>
          </a:prstGeom>
          <a:solidFill>
            <a:srgbClr val="B7791F"/>
          </a:solidFill>
          <a:ln/>
        </p:spPr>
        <p:txBody>
          <a:bodyPr wrap="square" rtlCol="0" anchor="ctr"/>
          <a:lstStyle/>
          <a:p>
            <a:pPr marL="0" indent="0">
              <a:buNone/>
            </a:pPr>
            <a:endParaRPr lang="en-US" dirty="0"/>
          </a:p>
        </p:txBody>
      </p:sp>
      <p:sp>
        <p:nvSpPr>
          <p:cNvPr id="4" name="Text 2"/>
          <p:cNvSpPr/>
          <p:nvPr/>
        </p:nvSpPr>
        <p:spPr>
          <a:xfrm>
            <a:off x="457200" y="914400"/>
            <a:ext cx="4517641" cy="932099"/>
          </a:xfrm>
          <a:prstGeom prst="rect">
            <a:avLst/>
          </a:prstGeom>
          <a:noFill/>
          <a:ln/>
        </p:spPr>
        <p:txBody>
          <a:bodyPr wrap="square" lIns="0" tIns="0" rIns="0" bIns="0" rtlCol="0" anchor="t"/>
          <a:lstStyle/>
          <a:p>
            <a:pPr marL="0" indent="0" algn="l">
              <a:lnSpc>
                <a:spcPts val="3399"/>
              </a:lnSpc>
              <a:buNone/>
            </a:pPr>
            <a:r>
              <a:rPr lang="en-US" sz="2981" b="1" dirty="0">
                <a:solidFill>
                  <a:srgbClr val="16305B"/>
                </a:solidFill>
                <a:latin typeface="Tinos" pitchFamily="34" charset="0"/>
                <a:ea typeface="Tinos" pitchFamily="34" charset="-122"/>
                <a:cs typeface="Tinos" pitchFamily="34" charset="-120"/>
              </a:rPr>
              <a:t>Music Playlist </a:t>
            </a:r>
            <a:r>
              <a:rPr lang="en-US" sz="2981" b="1" dirty="0">
                <a:solidFill>
                  <a:srgbClr val="8A5A14"/>
                </a:solidFill>
                <a:latin typeface="Tinos" pitchFamily="34" charset="0"/>
                <a:ea typeface="Tinos" pitchFamily="34" charset="-122"/>
                <a:cs typeface="Tinos" pitchFamily="34" charset="-120"/>
              </a:rPr>
              <a:t>&amp;</a:t>
            </a:r>
            <a:r>
              <a:rPr lang="en-US" sz="2981" b="1" dirty="0">
                <a:solidFill>
                  <a:srgbClr val="16305B"/>
                </a:solidFill>
                <a:latin typeface="Tinos" pitchFamily="34" charset="0"/>
                <a:ea typeface="Tinos" pitchFamily="34" charset="-122"/>
                <a:cs typeface="Tinos" pitchFamily="34" charset="-120"/>
              </a:rPr>
              <a:t> Listening Stats Manager</a:t>
            </a:r>
            <a:endParaRPr lang="en-US" sz="2981" dirty="0"/>
          </a:p>
        </p:txBody>
      </p:sp>
      <p:sp>
        <p:nvSpPr>
          <p:cNvPr id="5" name="Text 3"/>
          <p:cNvSpPr/>
          <p:nvPr/>
        </p:nvSpPr>
        <p:spPr>
          <a:xfrm>
            <a:off x="457200" y="1906042"/>
            <a:ext cx="4143375" cy="419517"/>
          </a:xfrm>
          <a:prstGeom prst="rect">
            <a:avLst/>
          </a:prstGeom>
          <a:noFill/>
          <a:ln/>
        </p:spPr>
        <p:txBody>
          <a:bodyPr wrap="square" lIns="0" tIns="0" rIns="0" bIns="0" rtlCol="0" anchor="t"/>
          <a:lstStyle/>
          <a:p>
            <a:pPr marL="0" indent="0" algn="l">
              <a:lnSpc>
                <a:spcPts val="1530"/>
              </a:lnSpc>
              <a:buNone/>
            </a:pPr>
            <a:r>
              <a:rPr lang="en-US" sz="956" dirty="0">
                <a:solidFill>
                  <a:srgbClr val="5B6B84"/>
                </a:solidFill>
                <a:latin typeface="Carlito" pitchFamily="34" charset="0"/>
                <a:ea typeface="Carlito" pitchFamily="34" charset="-122"/>
                <a:cs typeface="Carlito" pitchFamily="34" charset="-120"/>
              </a:rPr>
              <a:t>A console-based Java application to organise a personal music playlist and automatically track listening statistics.</a:t>
            </a:r>
            <a:endParaRPr lang="en-US" sz="956" dirty="0"/>
          </a:p>
        </p:txBody>
      </p:sp>
      <p:sp>
        <p:nvSpPr>
          <p:cNvPr id="6" name="Text 4"/>
          <p:cNvSpPr/>
          <p:nvPr/>
        </p:nvSpPr>
        <p:spPr>
          <a:xfrm>
            <a:off x="457200" y="3442395"/>
            <a:ext cx="6133262" cy="164592"/>
          </a:xfrm>
          <a:prstGeom prst="rect">
            <a:avLst/>
          </a:prstGeom>
          <a:noFill/>
          <a:ln/>
        </p:spPr>
        <p:txBody>
          <a:bodyPr wrap="none" lIns="0" tIns="0" rIns="0" bIns="0" rtlCol="0" anchor="t"/>
          <a:lstStyle/>
          <a:p>
            <a:pPr marL="0" indent="0" algn="l">
              <a:lnSpc>
                <a:spcPts val="928"/>
              </a:lnSpc>
              <a:buNone/>
            </a:pPr>
            <a:r>
              <a:rPr lang="en-US" sz="800" kern="0" spc="149" dirty="0">
                <a:solidFill>
                  <a:srgbClr val="5B6B84"/>
                </a:solidFill>
                <a:latin typeface="Courier New" pitchFamily="34" charset="0"/>
                <a:ea typeface="Courier New" pitchFamily="34" charset="-122"/>
                <a:cs typeface="Courier New" pitchFamily="34" charset="-120"/>
              </a:rPr>
              <a:t>Presented by</a:t>
            </a:r>
            <a:endParaRPr lang="en-US" sz="800" dirty="0"/>
          </a:p>
        </p:txBody>
      </p:sp>
      <p:sp>
        <p:nvSpPr>
          <p:cNvPr id="7" name="Shape 5"/>
          <p:cNvSpPr/>
          <p:nvPr/>
        </p:nvSpPr>
        <p:spPr>
          <a:xfrm>
            <a:off x="467916" y="3660279"/>
            <a:ext cx="0" cy="387102"/>
          </a:xfrm>
          <a:prstGeom prst="line">
            <a:avLst/>
          </a:prstGeom>
          <a:noFill/>
          <a:ln w="21431">
            <a:solidFill>
              <a:srgbClr val="B7791F"/>
            </a:solidFill>
            <a:prstDash val="solid"/>
          </a:ln>
        </p:spPr>
        <p:txBody>
          <a:bodyPr/>
          <a:lstStyle/>
          <a:p>
            <a:endParaRPr lang="en-IN"/>
          </a:p>
        </p:txBody>
      </p:sp>
      <p:sp>
        <p:nvSpPr>
          <p:cNvPr id="8" name="Text 6"/>
          <p:cNvSpPr/>
          <p:nvPr/>
        </p:nvSpPr>
        <p:spPr>
          <a:xfrm>
            <a:off x="578644" y="3695998"/>
            <a:ext cx="2008733" cy="154287"/>
          </a:xfrm>
          <a:prstGeom prst="rect">
            <a:avLst/>
          </a:prstGeom>
          <a:noFill/>
          <a:ln/>
        </p:spPr>
        <p:txBody>
          <a:bodyPr wrap="none" lIns="0" tIns="0" rIns="0" bIns="0" rtlCol="0" anchor="t">
            <a:normAutofit/>
          </a:bodyPr>
          <a:lstStyle/>
          <a:p>
            <a:pPr marL="0" indent="0" algn="l">
              <a:lnSpc>
                <a:spcPts val="1207"/>
              </a:lnSpc>
              <a:buNone/>
            </a:pPr>
            <a:r>
              <a:rPr lang="en-US" sz="928" b="1" dirty="0">
                <a:solidFill>
                  <a:srgbClr val="16305B"/>
                </a:solidFill>
                <a:latin typeface="Liberation Sans Narrow" pitchFamily="34" charset="0"/>
                <a:ea typeface="Liberation Sans Narrow" pitchFamily="34" charset="-122"/>
                <a:cs typeface="Liberation Sans Narrow" pitchFamily="34" charset="-120"/>
              </a:rPr>
              <a:t>Boga Shashank</a:t>
            </a:r>
            <a:endParaRPr lang="en-US" sz="928" dirty="0"/>
          </a:p>
        </p:txBody>
      </p:sp>
      <p:sp>
        <p:nvSpPr>
          <p:cNvPr id="9" name="Text 7"/>
          <p:cNvSpPr/>
          <p:nvPr/>
        </p:nvSpPr>
        <p:spPr>
          <a:xfrm>
            <a:off x="578644" y="3877717"/>
            <a:ext cx="2008733" cy="133945"/>
          </a:xfrm>
          <a:prstGeom prst="rect">
            <a:avLst/>
          </a:prstGeom>
          <a:noFill/>
          <a:ln/>
        </p:spPr>
        <p:txBody>
          <a:bodyPr wrap="none" lIns="0" tIns="0" rIns="0" bIns="0" rtlCol="0" anchor="t"/>
          <a:lstStyle/>
          <a:p>
            <a:pPr marL="0" indent="0" algn="l">
              <a:lnSpc>
                <a:spcPts val="1055"/>
              </a:lnSpc>
              <a:buNone/>
            </a:pPr>
            <a:r>
              <a:rPr lang="en-US" sz="800" dirty="0">
                <a:solidFill>
                  <a:srgbClr val="5B6B84"/>
                </a:solidFill>
                <a:latin typeface="Courier New" pitchFamily="34" charset="0"/>
                <a:ea typeface="Courier New" pitchFamily="34" charset="-122"/>
                <a:cs typeface="Courier New" pitchFamily="34" charset="-120"/>
              </a:rPr>
              <a:t>Roll No: 2620040175</a:t>
            </a:r>
            <a:endParaRPr lang="en-US" sz="800" dirty="0"/>
          </a:p>
        </p:txBody>
      </p:sp>
      <p:sp>
        <p:nvSpPr>
          <p:cNvPr id="10" name="Shape 8"/>
          <p:cNvSpPr/>
          <p:nvPr/>
        </p:nvSpPr>
        <p:spPr>
          <a:xfrm>
            <a:off x="2855268" y="3660279"/>
            <a:ext cx="0" cy="387102"/>
          </a:xfrm>
          <a:prstGeom prst="line">
            <a:avLst/>
          </a:prstGeom>
          <a:noFill/>
          <a:ln w="21431">
            <a:solidFill>
              <a:srgbClr val="B7791F"/>
            </a:solidFill>
            <a:prstDash val="solid"/>
          </a:ln>
        </p:spPr>
        <p:txBody>
          <a:bodyPr/>
          <a:lstStyle/>
          <a:p>
            <a:endParaRPr lang="en-IN"/>
          </a:p>
        </p:txBody>
      </p:sp>
      <p:sp>
        <p:nvSpPr>
          <p:cNvPr id="11" name="Text 9"/>
          <p:cNvSpPr/>
          <p:nvPr/>
        </p:nvSpPr>
        <p:spPr>
          <a:xfrm>
            <a:off x="2965996" y="3695998"/>
            <a:ext cx="2008845" cy="154287"/>
          </a:xfrm>
          <a:prstGeom prst="rect">
            <a:avLst/>
          </a:prstGeom>
          <a:noFill/>
          <a:ln/>
        </p:spPr>
        <p:txBody>
          <a:bodyPr wrap="none" lIns="0" tIns="0" rIns="0" bIns="0" rtlCol="0" anchor="t">
            <a:normAutofit/>
          </a:bodyPr>
          <a:lstStyle/>
          <a:p>
            <a:pPr marL="0" indent="0" algn="l">
              <a:lnSpc>
                <a:spcPts val="1207"/>
              </a:lnSpc>
              <a:buNone/>
            </a:pPr>
            <a:r>
              <a:rPr lang="en-US" sz="928" b="1" dirty="0">
                <a:solidFill>
                  <a:srgbClr val="16305B"/>
                </a:solidFill>
                <a:latin typeface="Liberation Sans Narrow" pitchFamily="34" charset="0"/>
                <a:ea typeface="Liberation Sans Narrow" pitchFamily="34" charset="-122"/>
                <a:cs typeface="Liberation Sans Narrow" pitchFamily="34" charset="-120"/>
              </a:rPr>
              <a:t>Yarlagadda </a:t>
            </a:r>
            <a:r>
              <a:rPr lang="en-US" sz="928" b="1" dirty="0" err="1">
                <a:solidFill>
                  <a:srgbClr val="16305B"/>
                </a:solidFill>
                <a:latin typeface="Liberation Sans Narrow" pitchFamily="34" charset="0"/>
                <a:ea typeface="Liberation Sans Narrow" pitchFamily="34" charset="-122"/>
                <a:cs typeface="Liberation Sans Narrow" pitchFamily="34" charset="-120"/>
              </a:rPr>
              <a:t>Druveen</a:t>
            </a:r>
            <a:endParaRPr lang="en-US" sz="928" dirty="0"/>
          </a:p>
        </p:txBody>
      </p:sp>
      <p:sp>
        <p:nvSpPr>
          <p:cNvPr id="12" name="Text 10"/>
          <p:cNvSpPr/>
          <p:nvPr/>
        </p:nvSpPr>
        <p:spPr>
          <a:xfrm>
            <a:off x="2965996" y="3877717"/>
            <a:ext cx="2008845" cy="133945"/>
          </a:xfrm>
          <a:prstGeom prst="rect">
            <a:avLst/>
          </a:prstGeom>
          <a:noFill/>
          <a:ln/>
        </p:spPr>
        <p:txBody>
          <a:bodyPr wrap="none" lIns="0" tIns="0" rIns="0" bIns="0" rtlCol="0" anchor="t"/>
          <a:lstStyle/>
          <a:p>
            <a:pPr marL="0" indent="0" algn="l">
              <a:lnSpc>
                <a:spcPts val="1055"/>
              </a:lnSpc>
              <a:buNone/>
            </a:pPr>
            <a:r>
              <a:rPr lang="en-US" sz="800" dirty="0">
                <a:solidFill>
                  <a:srgbClr val="5B6B84"/>
                </a:solidFill>
                <a:latin typeface="Courier New" pitchFamily="34" charset="0"/>
                <a:ea typeface="Courier New" pitchFamily="34" charset="-122"/>
                <a:cs typeface="Courier New" pitchFamily="34" charset="-120"/>
              </a:rPr>
              <a:t>Roll No: 262003528</a:t>
            </a:r>
            <a:endParaRPr lang="en-US" sz="800" dirty="0"/>
          </a:p>
        </p:txBody>
      </p:sp>
      <p:sp>
        <p:nvSpPr>
          <p:cNvPr id="13" name="Shape 11"/>
          <p:cNvSpPr/>
          <p:nvPr/>
        </p:nvSpPr>
        <p:spPr>
          <a:xfrm>
            <a:off x="467916" y="4161681"/>
            <a:ext cx="0" cy="224582"/>
          </a:xfrm>
          <a:prstGeom prst="line">
            <a:avLst/>
          </a:prstGeom>
          <a:noFill/>
          <a:ln w="21431">
            <a:solidFill>
              <a:srgbClr val="B7791F"/>
            </a:solidFill>
            <a:prstDash val="solid"/>
          </a:ln>
        </p:spPr>
        <p:txBody>
          <a:bodyPr/>
          <a:lstStyle/>
          <a:p>
            <a:endParaRPr lang="en-IN"/>
          </a:p>
        </p:txBody>
      </p:sp>
      <p:sp>
        <p:nvSpPr>
          <p:cNvPr id="14" name="Text 12"/>
          <p:cNvSpPr/>
          <p:nvPr/>
        </p:nvSpPr>
        <p:spPr>
          <a:xfrm>
            <a:off x="578644" y="4197400"/>
            <a:ext cx="2118461" cy="153144"/>
          </a:xfrm>
          <a:prstGeom prst="rect">
            <a:avLst/>
          </a:prstGeom>
          <a:noFill/>
          <a:ln/>
        </p:spPr>
        <p:txBody>
          <a:bodyPr wrap="square" lIns="0" tIns="0" rIns="0" bIns="0" rtlCol="0" anchor="t"/>
          <a:lstStyle/>
          <a:p>
            <a:pPr marL="0" indent="0" algn="l">
              <a:lnSpc>
                <a:spcPts val="1207"/>
              </a:lnSpc>
              <a:buNone/>
            </a:pPr>
            <a:r>
              <a:rPr lang="en-US" sz="928" b="1" dirty="0">
                <a:solidFill>
                  <a:srgbClr val="16305B"/>
                </a:solidFill>
                <a:latin typeface="Carlito" pitchFamily="34" charset="0"/>
                <a:ea typeface="Carlito" pitchFamily="34" charset="-122"/>
                <a:cs typeface="Carlito" pitchFamily="34" charset="-120"/>
              </a:rPr>
              <a:t>Faculty Guide: V GopiKrishna</a:t>
            </a:r>
            <a:endParaRPr lang="en-US" sz="928" dirty="0"/>
          </a:p>
        </p:txBody>
      </p:sp>
      <p:sp>
        <p:nvSpPr>
          <p:cNvPr id="15" name="Shape 13"/>
          <p:cNvSpPr/>
          <p:nvPr/>
        </p:nvSpPr>
        <p:spPr>
          <a:xfrm>
            <a:off x="2855268" y="4161681"/>
            <a:ext cx="0" cy="224582"/>
          </a:xfrm>
          <a:prstGeom prst="line">
            <a:avLst/>
          </a:prstGeom>
          <a:noFill/>
          <a:ln w="21431">
            <a:solidFill>
              <a:srgbClr val="B7791F"/>
            </a:solidFill>
            <a:prstDash val="solid"/>
          </a:ln>
        </p:spPr>
        <p:txBody>
          <a:bodyPr/>
          <a:lstStyle/>
          <a:p>
            <a:endParaRPr lang="en-IN"/>
          </a:p>
        </p:txBody>
      </p:sp>
      <p:sp>
        <p:nvSpPr>
          <p:cNvPr id="16" name="Text 14"/>
          <p:cNvSpPr/>
          <p:nvPr/>
        </p:nvSpPr>
        <p:spPr>
          <a:xfrm>
            <a:off x="2965996" y="4197400"/>
            <a:ext cx="2118573" cy="153144"/>
          </a:xfrm>
          <a:prstGeom prst="rect">
            <a:avLst/>
          </a:prstGeom>
          <a:noFill/>
          <a:ln/>
        </p:spPr>
        <p:txBody>
          <a:bodyPr wrap="square" lIns="0" tIns="0" rIns="0" bIns="0" rtlCol="0" anchor="t"/>
          <a:lstStyle/>
          <a:p>
            <a:pPr marL="0" indent="0" algn="l">
              <a:lnSpc>
                <a:spcPts val="1207"/>
              </a:lnSpc>
              <a:buNone/>
            </a:pPr>
            <a:endParaRPr lang="en-US" sz="928" dirty="0"/>
          </a:p>
        </p:txBody>
      </p:sp>
      <p:sp>
        <p:nvSpPr>
          <p:cNvPr id="17" name="Shape 15"/>
          <p:cNvSpPr/>
          <p:nvPr/>
        </p:nvSpPr>
        <p:spPr>
          <a:xfrm>
            <a:off x="457200" y="4561284"/>
            <a:ext cx="4517641" cy="0"/>
          </a:xfrm>
          <a:prstGeom prst="line">
            <a:avLst/>
          </a:prstGeom>
          <a:noFill/>
          <a:ln w="7144">
            <a:solidFill>
              <a:srgbClr val="D9E2EF"/>
            </a:solidFill>
            <a:prstDash val="solid"/>
          </a:ln>
        </p:spPr>
        <p:txBody>
          <a:bodyPr/>
          <a:lstStyle/>
          <a:p>
            <a:endParaRPr lang="en-IN"/>
          </a:p>
        </p:txBody>
      </p:sp>
      <p:sp>
        <p:nvSpPr>
          <p:cNvPr id="18" name="Text 16"/>
          <p:cNvSpPr/>
          <p:nvPr/>
        </p:nvSpPr>
        <p:spPr>
          <a:xfrm>
            <a:off x="457200" y="4557713"/>
            <a:ext cx="4517641" cy="282158"/>
          </a:xfrm>
          <a:prstGeom prst="rect">
            <a:avLst/>
          </a:prstGeom>
          <a:noFill/>
          <a:ln/>
        </p:spPr>
        <p:txBody>
          <a:bodyPr wrap="square" lIns="0" tIns="100013" rIns="0" bIns="0" rtlCol="0" anchor="t"/>
          <a:lstStyle/>
          <a:p>
            <a:pPr marL="0" indent="0" algn="l">
              <a:lnSpc>
                <a:spcPts val="1181"/>
              </a:lnSpc>
              <a:buNone/>
            </a:pPr>
            <a:endParaRPr lang="en-US" sz="800" dirty="0"/>
          </a:p>
        </p:txBody>
      </p:sp>
      <p:pic>
        <p:nvPicPr>
          <p:cNvPr id="19" name="Image 0" descr="/tmp/h2p-fit-1792001653473-g595dx.png"/>
          <p:cNvPicPr>
            <a:picLocks noChangeAspect="1"/>
          </p:cNvPicPr>
          <p:nvPr/>
        </p:nvPicPr>
        <p:blipFill>
          <a:blip r:embed="rId3"/>
          <a:stretch>
            <a:fillRect/>
          </a:stretch>
        </p:blipFill>
        <p:spPr>
          <a:xfrm>
            <a:off x="5303453" y="0"/>
            <a:ext cx="3840435" cy="5143500"/>
          </a:xfrm>
          <a:prstGeom prst="rect">
            <a:avLst/>
          </a:prstGeom>
        </p:spPr>
      </p:pic>
      <p:pic>
        <p:nvPicPr>
          <p:cNvPr id="20" name="Image 1" descr="preencoded.png"/>
          <p:cNvPicPr>
            <a:picLocks noChangeAspect="1"/>
          </p:cNvPicPr>
          <p:nvPr/>
        </p:nvPicPr>
        <p:blipFill>
          <a:blip r:embed="rId4"/>
          <a:stretch>
            <a:fillRect/>
          </a:stretch>
        </p:blipFill>
        <p:spPr>
          <a:xfrm>
            <a:off x="5303453" y="0"/>
            <a:ext cx="3840435" cy="5143500"/>
          </a:xfrm>
          <a:prstGeom prst="rect">
            <a:avLst/>
          </a:prstGeom>
        </p:spPr>
      </p:pic>
      <p:sp>
        <p:nvSpPr>
          <p:cNvPr id="21" name="Text 17"/>
          <p:cNvSpPr/>
          <p:nvPr/>
        </p:nvSpPr>
        <p:spPr>
          <a:xfrm>
            <a:off x="5574916" y="4597003"/>
            <a:ext cx="400050" cy="28575"/>
          </a:xfrm>
          <a:prstGeom prst="roundRect">
            <a:avLst>
              <a:gd name="adj" fmla="val 66667"/>
            </a:avLst>
          </a:prstGeom>
          <a:solidFill>
            <a:srgbClr val="B7791F"/>
          </a:solidFill>
          <a:ln/>
        </p:spPr>
        <p:txBody>
          <a:bodyPr wrap="square" rtlCol="0" anchor="ctr"/>
          <a:lstStyle/>
          <a:p>
            <a:pPr marL="0" indent="0">
              <a:buNone/>
            </a:pPr>
            <a:endParaRPr lang="en-US" dirty="0"/>
          </a:p>
        </p:txBody>
      </p:sp>
      <p:sp>
        <p:nvSpPr>
          <p:cNvPr id="22" name="Text 18"/>
          <p:cNvSpPr/>
          <p:nvPr/>
        </p:nvSpPr>
        <p:spPr>
          <a:xfrm>
            <a:off x="5574916" y="4725591"/>
            <a:ext cx="3297510" cy="173593"/>
          </a:xfrm>
          <a:prstGeom prst="rect">
            <a:avLst/>
          </a:prstGeom>
          <a:noFill/>
          <a:ln/>
        </p:spPr>
        <p:txBody>
          <a:bodyPr wrap="square" lIns="0" tIns="0" rIns="0" bIns="0" rtlCol="0" anchor="t"/>
          <a:lstStyle/>
          <a:p>
            <a:pPr marL="0" indent="0" algn="l">
              <a:lnSpc>
                <a:spcPts val="1266"/>
              </a:lnSpc>
              <a:buNone/>
            </a:pPr>
            <a:r>
              <a:rPr lang="en-US" sz="844" kern="0" spc="42" dirty="0">
                <a:solidFill>
                  <a:srgbClr val="FFFFFF"/>
                </a:solidFill>
                <a:latin typeface="Carlito" pitchFamily="34" charset="0"/>
                <a:ea typeface="Carlito" pitchFamily="34" charset="-122"/>
                <a:cs typeface="Carlito" pitchFamily="34" charset="-120"/>
              </a:rPr>
              <a:t>Console application • Core Java • File-based storage</a:t>
            </a:r>
            <a:endParaRPr lang="en-US" sz="84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28625" y="385763"/>
            <a:ext cx="328613" cy="328613"/>
          </a:xfrm>
          <a:prstGeom prst="roundRect">
            <a:avLst>
              <a:gd name="adj" fmla="val 28985"/>
            </a:avLst>
          </a:prstGeom>
          <a:solidFill>
            <a:srgbClr val="B7791F"/>
          </a:solidFill>
          <a:ln/>
        </p:spPr>
        <p:txBody>
          <a:bodyPr wrap="square" rtlCol="0" anchor="ctr"/>
          <a:lstStyle/>
          <a:p>
            <a:pPr marL="0" indent="0">
              <a:buNone/>
            </a:pPr>
            <a:endParaRPr lang="en-US" dirty="0"/>
          </a:p>
        </p:txBody>
      </p:sp>
      <p:sp>
        <p:nvSpPr>
          <p:cNvPr id="3" name="Text 1"/>
          <p:cNvSpPr/>
          <p:nvPr/>
        </p:nvSpPr>
        <p:spPr>
          <a:xfrm>
            <a:off x="547725" y="437555"/>
            <a:ext cx="209513" cy="243030"/>
          </a:xfrm>
          <a:prstGeom prst="rect">
            <a:avLst/>
          </a:prstGeom>
          <a:noFill/>
          <a:ln/>
        </p:spPr>
        <p:txBody>
          <a:bodyPr wrap="none" lIns="0" tIns="0" rIns="0" bIns="0" rtlCol="0" anchor="t"/>
          <a:lstStyle/>
          <a:p>
            <a:pPr marL="0" indent="0" algn="l">
              <a:lnSpc>
                <a:spcPts val="1772"/>
              </a:lnSpc>
              <a:buNone/>
            </a:pPr>
            <a:r>
              <a:rPr lang="en-US" sz="1181" b="1" dirty="0">
                <a:solidFill>
                  <a:srgbClr val="FFFFFF"/>
                </a:solidFill>
                <a:latin typeface="Liberation Sans Narrow" pitchFamily="34" charset="0"/>
                <a:ea typeface="Liberation Sans Narrow" pitchFamily="34" charset="-122"/>
                <a:cs typeface="Liberation Sans Narrow" pitchFamily="34" charset="-120"/>
              </a:rPr>
              <a:t>1</a:t>
            </a:r>
            <a:endParaRPr lang="en-US" sz="1181" dirty="0"/>
          </a:p>
        </p:txBody>
      </p:sp>
      <p:sp>
        <p:nvSpPr>
          <p:cNvPr id="4" name="Text 2"/>
          <p:cNvSpPr/>
          <p:nvPr/>
        </p:nvSpPr>
        <p:spPr>
          <a:xfrm>
            <a:off x="758678" y="416458"/>
            <a:ext cx="1902101" cy="288478"/>
          </a:xfrm>
          <a:prstGeom prst="rect">
            <a:avLst/>
          </a:prstGeom>
          <a:noFill/>
          <a:ln/>
        </p:spPr>
        <p:txBody>
          <a:bodyPr wrap="none" lIns="0" tIns="0" rIns="0" bIns="0" rtlCol="0" anchor="t"/>
          <a:lstStyle/>
          <a:p>
            <a:pPr marL="0" indent="0" algn="l">
              <a:lnSpc>
                <a:spcPts val="2104"/>
              </a:lnSpc>
              <a:buNone/>
            </a:pPr>
            <a:r>
              <a:rPr lang="en-US" sz="1913" b="1" dirty="0">
                <a:solidFill>
                  <a:srgbClr val="16305B"/>
                </a:solidFill>
                <a:latin typeface="Tinos" pitchFamily="34" charset="0"/>
                <a:ea typeface="Tinos" pitchFamily="34" charset="-122"/>
                <a:cs typeface="Tinos" pitchFamily="34" charset="-120"/>
              </a:rPr>
              <a:t>Introduction</a:t>
            </a:r>
            <a:endParaRPr lang="en-US" sz="1913" dirty="0"/>
          </a:p>
        </p:txBody>
      </p:sp>
      <p:sp>
        <p:nvSpPr>
          <p:cNvPr id="5" name="Text 3"/>
          <p:cNvSpPr/>
          <p:nvPr/>
        </p:nvSpPr>
        <p:spPr>
          <a:xfrm>
            <a:off x="2332658" y="546497"/>
            <a:ext cx="6382717" cy="7144"/>
          </a:xfrm>
          <a:prstGeom prst="rect">
            <a:avLst/>
          </a:prstGeom>
          <a:solidFill>
            <a:srgbClr val="D9E2EF"/>
          </a:solidFill>
          <a:ln/>
        </p:spPr>
        <p:txBody>
          <a:bodyPr wrap="square" rtlCol="0" anchor="ctr"/>
          <a:lstStyle/>
          <a:p>
            <a:pPr marL="0" indent="0">
              <a:buNone/>
            </a:pPr>
            <a:endParaRPr lang="en-US" dirty="0"/>
          </a:p>
        </p:txBody>
      </p:sp>
      <p:sp>
        <p:nvSpPr>
          <p:cNvPr id="6" name="Text 4"/>
          <p:cNvSpPr/>
          <p:nvPr/>
        </p:nvSpPr>
        <p:spPr>
          <a:xfrm>
            <a:off x="428625" y="928688"/>
            <a:ext cx="4987230" cy="599620"/>
          </a:xfrm>
          <a:prstGeom prst="rect">
            <a:avLst/>
          </a:prstGeom>
          <a:noFill/>
          <a:ln/>
        </p:spPr>
        <p:txBody>
          <a:bodyPr wrap="square" lIns="0" tIns="0" rIns="0" bIns="0" rtlCol="0" anchor="t"/>
          <a:lstStyle/>
          <a:p>
            <a:pPr marL="0" indent="0" algn="l">
              <a:lnSpc>
                <a:spcPts val="1458"/>
              </a:lnSpc>
              <a:buNone/>
            </a:pPr>
            <a:r>
              <a:rPr lang="en-US" sz="900" dirty="0">
                <a:solidFill>
                  <a:srgbClr val="23304A"/>
                </a:solidFill>
                <a:latin typeface="Carlito" pitchFamily="34" charset="0"/>
                <a:ea typeface="Carlito" pitchFamily="34" charset="-122"/>
                <a:cs typeface="Carlito" pitchFamily="34" charset="-120"/>
              </a:rPr>
              <a:t>In the era of Spotify and Apple Music, playlists define how we listen to music. Yet there is no lightweight, offline tool that records every song you play and summarises your listening habits in one place.</a:t>
            </a:r>
            <a:endParaRPr lang="en-US" sz="900" dirty="0"/>
          </a:p>
        </p:txBody>
      </p:sp>
      <p:sp>
        <p:nvSpPr>
          <p:cNvPr id="7" name="Text 5"/>
          <p:cNvSpPr/>
          <p:nvPr/>
        </p:nvSpPr>
        <p:spPr>
          <a:xfrm>
            <a:off x="428625" y="1641053"/>
            <a:ext cx="4987230" cy="819299"/>
          </a:xfrm>
          <a:prstGeom prst="rect">
            <a:avLst/>
          </a:prstGeom>
          <a:solidFill>
            <a:srgbClr val="F4F7FB"/>
          </a:solidFill>
          <a:ln/>
        </p:spPr>
        <p:txBody>
          <a:bodyPr wrap="square" rtlCol="0" anchor="ctr"/>
          <a:lstStyle/>
          <a:p>
            <a:pPr marL="0" indent="0">
              <a:buNone/>
            </a:pPr>
            <a:endParaRPr lang="en-US" dirty="0"/>
          </a:p>
        </p:txBody>
      </p:sp>
      <p:sp>
        <p:nvSpPr>
          <p:cNvPr id="8" name="Shape 6"/>
          <p:cNvSpPr/>
          <p:nvPr/>
        </p:nvSpPr>
        <p:spPr>
          <a:xfrm>
            <a:off x="428625" y="1644625"/>
            <a:ext cx="4987230" cy="0"/>
          </a:xfrm>
          <a:prstGeom prst="line">
            <a:avLst/>
          </a:prstGeom>
          <a:noFill/>
          <a:ln w="7144">
            <a:solidFill>
              <a:srgbClr val="D9E2EF"/>
            </a:solidFill>
            <a:prstDash val="solid"/>
          </a:ln>
        </p:spPr>
        <p:txBody>
          <a:bodyPr/>
          <a:lstStyle/>
          <a:p>
            <a:endParaRPr lang="en-IN"/>
          </a:p>
        </p:txBody>
      </p:sp>
      <p:sp>
        <p:nvSpPr>
          <p:cNvPr id="9" name="Shape 7"/>
          <p:cNvSpPr/>
          <p:nvPr/>
        </p:nvSpPr>
        <p:spPr>
          <a:xfrm>
            <a:off x="5412284" y="1641053"/>
            <a:ext cx="0" cy="819299"/>
          </a:xfrm>
          <a:prstGeom prst="line">
            <a:avLst/>
          </a:prstGeom>
          <a:noFill/>
          <a:ln w="7144">
            <a:solidFill>
              <a:srgbClr val="D9E2EF"/>
            </a:solidFill>
            <a:prstDash val="solid"/>
          </a:ln>
        </p:spPr>
        <p:txBody>
          <a:bodyPr/>
          <a:lstStyle/>
          <a:p>
            <a:endParaRPr lang="en-IN"/>
          </a:p>
        </p:txBody>
      </p:sp>
      <p:sp>
        <p:nvSpPr>
          <p:cNvPr id="10" name="Shape 8"/>
          <p:cNvSpPr/>
          <p:nvPr/>
        </p:nvSpPr>
        <p:spPr>
          <a:xfrm>
            <a:off x="428625" y="2456780"/>
            <a:ext cx="4987230" cy="0"/>
          </a:xfrm>
          <a:prstGeom prst="line">
            <a:avLst/>
          </a:prstGeom>
          <a:noFill/>
          <a:ln w="7144">
            <a:solidFill>
              <a:srgbClr val="D9E2EF"/>
            </a:solidFill>
            <a:prstDash val="solid"/>
          </a:ln>
        </p:spPr>
        <p:txBody>
          <a:bodyPr/>
          <a:lstStyle/>
          <a:p>
            <a:endParaRPr lang="en-IN"/>
          </a:p>
        </p:txBody>
      </p:sp>
      <p:sp>
        <p:nvSpPr>
          <p:cNvPr id="11" name="Shape 9"/>
          <p:cNvSpPr/>
          <p:nvPr/>
        </p:nvSpPr>
        <p:spPr>
          <a:xfrm>
            <a:off x="442913" y="1641053"/>
            <a:ext cx="0" cy="819299"/>
          </a:xfrm>
          <a:prstGeom prst="line">
            <a:avLst/>
          </a:prstGeom>
          <a:noFill/>
          <a:ln w="28575">
            <a:solidFill>
              <a:srgbClr val="B7791F"/>
            </a:solidFill>
            <a:prstDash val="solid"/>
          </a:ln>
        </p:spPr>
        <p:txBody>
          <a:bodyPr/>
          <a:lstStyle/>
          <a:p>
            <a:endParaRPr lang="en-IN"/>
          </a:p>
        </p:txBody>
      </p:sp>
      <p:sp>
        <p:nvSpPr>
          <p:cNvPr id="12" name="Text 10"/>
          <p:cNvSpPr/>
          <p:nvPr/>
        </p:nvSpPr>
        <p:spPr>
          <a:xfrm>
            <a:off x="614363" y="1776785"/>
            <a:ext cx="4637187" cy="547836"/>
          </a:xfrm>
          <a:prstGeom prst="rect">
            <a:avLst/>
          </a:prstGeom>
          <a:noFill/>
          <a:ln/>
        </p:spPr>
        <p:txBody>
          <a:bodyPr wrap="square" lIns="0" tIns="0" rIns="0" bIns="0" rtlCol="0" anchor="t"/>
          <a:lstStyle/>
          <a:p>
            <a:pPr marL="0" indent="0" algn="l">
              <a:lnSpc>
                <a:spcPts val="1439"/>
              </a:lnSpc>
              <a:buNone/>
            </a:pPr>
            <a:r>
              <a:rPr lang="en-US" sz="928" dirty="0">
                <a:solidFill>
                  <a:srgbClr val="16305B"/>
                </a:solidFill>
                <a:latin typeface="Carlito" pitchFamily="34" charset="0"/>
                <a:ea typeface="Carlito" pitchFamily="34" charset="-122"/>
                <a:cs typeface="Carlito" pitchFamily="34" charset="-120"/>
              </a:rPr>
              <a:t>This project is a menu-driven console application built in Core Java that lets a user manage a personal music playlist and automatically tracks how many times each song is played.</a:t>
            </a:r>
            <a:endParaRPr lang="en-US" sz="928" dirty="0"/>
          </a:p>
        </p:txBody>
      </p:sp>
      <p:sp>
        <p:nvSpPr>
          <p:cNvPr id="13" name="Text 11"/>
          <p:cNvSpPr/>
          <p:nvPr/>
        </p:nvSpPr>
        <p:spPr>
          <a:xfrm>
            <a:off x="428625" y="2646090"/>
            <a:ext cx="135731" cy="135731"/>
          </a:xfrm>
          <a:prstGeom prst="rect">
            <a:avLst/>
          </a:prstGeom>
          <a:noFill/>
          <a:ln/>
        </p:spPr>
        <p:txBody>
          <a:bodyPr wrap="none" lIns="0" tIns="0" rIns="0" bIns="0" rtlCol="0" anchor="ctr"/>
          <a:lstStyle/>
          <a:p>
            <a:pPr marL="0" indent="0" algn="ctr">
              <a:buNone/>
            </a:pPr>
            <a:r>
              <a:rPr lang="en-US" sz="1336" dirty="0">
                <a:solidFill>
                  <a:srgbClr val="B7791F"/>
                </a:solidFill>
                <a:latin typeface="Segoe UI Symbol" pitchFamily="34" charset="0"/>
                <a:ea typeface="Segoe UI Symbol" pitchFamily="34" charset="-122"/>
                <a:cs typeface="Segoe UI Symbol" pitchFamily="34" charset="-120"/>
              </a:rPr>
              <a:t>✓</a:t>
            </a:r>
            <a:endParaRPr lang="en-US" sz="1336" dirty="0"/>
          </a:p>
        </p:txBody>
      </p:sp>
      <p:sp>
        <p:nvSpPr>
          <p:cNvPr id="14" name="Text 12"/>
          <p:cNvSpPr/>
          <p:nvPr/>
        </p:nvSpPr>
        <p:spPr>
          <a:xfrm>
            <a:off x="642938" y="2631802"/>
            <a:ext cx="4772918" cy="173593"/>
          </a:xfrm>
          <a:prstGeom prst="rect">
            <a:avLst/>
          </a:prstGeom>
          <a:noFill/>
          <a:ln/>
        </p:spPr>
        <p:txBody>
          <a:bodyPr wrap="square" lIns="0" tIns="0" rIns="0" bIns="0" rtlCol="0" anchor="t"/>
          <a:lstStyle/>
          <a:p>
            <a:pPr marL="0" indent="0" algn="l">
              <a:lnSpc>
                <a:spcPts val="1266"/>
              </a:lnSpc>
              <a:buNone/>
            </a:pPr>
            <a:r>
              <a:rPr lang="en-US" sz="844" dirty="0">
                <a:solidFill>
                  <a:srgbClr val="23304A"/>
                </a:solidFill>
                <a:latin typeface="Carlito" pitchFamily="34" charset="0"/>
                <a:ea typeface="Carlito" pitchFamily="34" charset="-122"/>
                <a:cs typeface="Carlito" pitchFamily="34" charset="-120"/>
              </a:rPr>
              <a:t>Built with Core Java — classes &amp; objects, ArrayList, HashMap, File I/O</a:t>
            </a:r>
            <a:endParaRPr lang="en-US" sz="844" dirty="0"/>
          </a:p>
        </p:txBody>
      </p:sp>
      <p:sp>
        <p:nvSpPr>
          <p:cNvPr id="15" name="Text 13"/>
          <p:cNvSpPr/>
          <p:nvPr/>
        </p:nvSpPr>
        <p:spPr>
          <a:xfrm>
            <a:off x="428625" y="2899693"/>
            <a:ext cx="135731" cy="135731"/>
          </a:xfrm>
          <a:prstGeom prst="rect">
            <a:avLst/>
          </a:prstGeom>
          <a:noFill/>
          <a:ln/>
        </p:spPr>
        <p:txBody>
          <a:bodyPr wrap="none" lIns="0" tIns="0" rIns="0" bIns="0" rtlCol="0" anchor="ctr"/>
          <a:lstStyle/>
          <a:p>
            <a:pPr marL="0" indent="0" algn="ctr">
              <a:buNone/>
            </a:pPr>
            <a:r>
              <a:rPr lang="en-US" sz="1336" dirty="0">
                <a:solidFill>
                  <a:srgbClr val="B7791F"/>
                </a:solidFill>
                <a:latin typeface="Segoe UI Symbol" pitchFamily="34" charset="0"/>
                <a:ea typeface="Segoe UI Symbol" pitchFamily="34" charset="-122"/>
                <a:cs typeface="Segoe UI Symbol" pitchFamily="34" charset="-120"/>
              </a:rPr>
              <a:t>✓</a:t>
            </a:r>
            <a:endParaRPr lang="en-US" sz="1336" dirty="0"/>
          </a:p>
        </p:txBody>
      </p:sp>
      <p:sp>
        <p:nvSpPr>
          <p:cNvPr id="16" name="Text 14"/>
          <p:cNvSpPr/>
          <p:nvPr/>
        </p:nvSpPr>
        <p:spPr>
          <a:xfrm>
            <a:off x="642938" y="2885405"/>
            <a:ext cx="4772918" cy="173593"/>
          </a:xfrm>
          <a:prstGeom prst="rect">
            <a:avLst/>
          </a:prstGeom>
          <a:noFill/>
          <a:ln/>
        </p:spPr>
        <p:txBody>
          <a:bodyPr wrap="square" lIns="0" tIns="0" rIns="0" bIns="0" rtlCol="0" anchor="t"/>
          <a:lstStyle/>
          <a:p>
            <a:pPr marL="0" indent="0" algn="l">
              <a:lnSpc>
                <a:spcPts val="1266"/>
              </a:lnSpc>
              <a:buNone/>
            </a:pPr>
            <a:r>
              <a:rPr lang="en-US" sz="844" dirty="0">
                <a:solidFill>
                  <a:srgbClr val="23304A"/>
                </a:solidFill>
                <a:latin typeface="Carlito" pitchFamily="34" charset="0"/>
                <a:ea typeface="Carlito" pitchFamily="34" charset="-122"/>
                <a:cs typeface="Carlito" pitchFamily="34" charset="-120"/>
              </a:rPr>
              <a:t>Playlist data persists in a plain text file between runs</a:t>
            </a:r>
            <a:endParaRPr lang="en-US" sz="844" dirty="0"/>
          </a:p>
        </p:txBody>
      </p:sp>
      <p:sp>
        <p:nvSpPr>
          <p:cNvPr id="17" name="Text 15"/>
          <p:cNvSpPr/>
          <p:nvPr/>
        </p:nvSpPr>
        <p:spPr>
          <a:xfrm>
            <a:off x="428625" y="3153296"/>
            <a:ext cx="135731" cy="135731"/>
          </a:xfrm>
          <a:prstGeom prst="rect">
            <a:avLst/>
          </a:prstGeom>
          <a:noFill/>
          <a:ln/>
        </p:spPr>
        <p:txBody>
          <a:bodyPr wrap="none" lIns="0" tIns="0" rIns="0" bIns="0" rtlCol="0" anchor="ctr"/>
          <a:lstStyle/>
          <a:p>
            <a:pPr marL="0" indent="0" algn="ctr">
              <a:buNone/>
            </a:pPr>
            <a:r>
              <a:rPr lang="en-US" sz="1336" dirty="0">
                <a:solidFill>
                  <a:srgbClr val="B7791F"/>
                </a:solidFill>
                <a:latin typeface="Segoe UI Symbol" pitchFamily="34" charset="0"/>
                <a:ea typeface="Segoe UI Symbol" pitchFamily="34" charset="-122"/>
                <a:cs typeface="Segoe UI Symbol" pitchFamily="34" charset="-120"/>
              </a:rPr>
              <a:t>✓</a:t>
            </a:r>
            <a:endParaRPr lang="en-US" sz="1336" dirty="0"/>
          </a:p>
        </p:txBody>
      </p:sp>
      <p:sp>
        <p:nvSpPr>
          <p:cNvPr id="18" name="Text 16"/>
          <p:cNvSpPr/>
          <p:nvPr/>
        </p:nvSpPr>
        <p:spPr>
          <a:xfrm>
            <a:off x="642938" y="3139008"/>
            <a:ext cx="4772918" cy="173593"/>
          </a:xfrm>
          <a:prstGeom prst="rect">
            <a:avLst/>
          </a:prstGeom>
          <a:noFill/>
          <a:ln/>
        </p:spPr>
        <p:txBody>
          <a:bodyPr wrap="square" lIns="0" tIns="0" rIns="0" bIns="0" rtlCol="0" anchor="t"/>
          <a:lstStyle/>
          <a:p>
            <a:pPr marL="0" indent="0" algn="l">
              <a:lnSpc>
                <a:spcPts val="1266"/>
              </a:lnSpc>
              <a:buNone/>
            </a:pPr>
            <a:r>
              <a:rPr lang="en-US" sz="844" dirty="0">
                <a:solidFill>
                  <a:srgbClr val="23304A"/>
                </a:solidFill>
                <a:latin typeface="Carlito" pitchFamily="34" charset="0"/>
                <a:ea typeface="Carlito" pitchFamily="34" charset="-122"/>
                <a:cs typeface="Carlito" pitchFamily="34" charset="-120"/>
              </a:rPr>
              <a:t>Every play updates counters automatically — no manual logging</a:t>
            </a:r>
            <a:endParaRPr lang="en-US" sz="844" dirty="0"/>
          </a:p>
        </p:txBody>
      </p:sp>
      <p:sp>
        <p:nvSpPr>
          <p:cNvPr id="19" name="Text 17"/>
          <p:cNvSpPr/>
          <p:nvPr/>
        </p:nvSpPr>
        <p:spPr>
          <a:xfrm>
            <a:off x="428625" y="3406899"/>
            <a:ext cx="135731" cy="135731"/>
          </a:xfrm>
          <a:prstGeom prst="rect">
            <a:avLst/>
          </a:prstGeom>
          <a:noFill/>
          <a:ln/>
        </p:spPr>
        <p:txBody>
          <a:bodyPr wrap="none" lIns="0" tIns="0" rIns="0" bIns="0" rtlCol="0" anchor="ctr"/>
          <a:lstStyle/>
          <a:p>
            <a:pPr marL="0" indent="0" algn="ctr">
              <a:buNone/>
            </a:pPr>
            <a:r>
              <a:rPr lang="en-US" sz="1336" dirty="0">
                <a:solidFill>
                  <a:srgbClr val="B7791F"/>
                </a:solidFill>
                <a:latin typeface="Segoe UI Symbol" pitchFamily="34" charset="0"/>
                <a:ea typeface="Segoe UI Symbol" pitchFamily="34" charset="-122"/>
                <a:cs typeface="Segoe UI Symbol" pitchFamily="34" charset="-120"/>
              </a:rPr>
              <a:t>✓</a:t>
            </a:r>
            <a:endParaRPr lang="en-US" sz="1336" dirty="0"/>
          </a:p>
        </p:txBody>
      </p:sp>
      <p:sp>
        <p:nvSpPr>
          <p:cNvPr id="20" name="Text 18"/>
          <p:cNvSpPr/>
          <p:nvPr/>
        </p:nvSpPr>
        <p:spPr>
          <a:xfrm>
            <a:off x="642938" y="3392612"/>
            <a:ext cx="4772918" cy="173593"/>
          </a:xfrm>
          <a:prstGeom prst="rect">
            <a:avLst/>
          </a:prstGeom>
          <a:noFill/>
          <a:ln/>
        </p:spPr>
        <p:txBody>
          <a:bodyPr wrap="square" lIns="0" tIns="0" rIns="0" bIns="0" rtlCol="0" anchor="t"/>
          <a:lstStyle/>
          <a:p>
            <a:pPr marL="0" indent="0" algn="l">
              <a:lnSpc>
                <a:spcPts val="1266"/>
              </a:lnSpc>
              <a:buNone/>
            </a:pPr>
            <a:r>
              <a:rPr lang="en-US" sz="844" dirty="0">
                <a:solidFill>
                  <a:srgbClr val="23304A"/>
                </a:solidFill>
                <a:latin typeface="Carlito" pitchFamily="34" charset="0"/>
                <a:ea typeface="Carlito" pitchFamily="34" charset="-122"/>
                <a:cs typeface="Carlito" pitchFamily="34" charset="-120"/>
              </a:rPr>
              <a:t>Statistics engine reports totals, favourite artist and Top-5 songs</a:t>
            </a:r>
            <a:endParaRPr lang="en-US" sz="844" dirty="0"/>
          </a:p>
        </p:txBody>
      </p:sp>
      <p:sp>
        <p:nvSpPr>
          <p:cNvPr id="21" name="Text 19"/>
          <p:cNvSpPr/>
          <p:nvPr/>
        </p:nvSpPr>
        <p:spPr>
          <a:xfrm>
            <a:off x="5662315" y="932259"/>
            <a:ext cx="3049488" cy="3850481"/>
          </a:xfrm>
          <a:prstGeom prst="roundRect">
            <a:avLst>
              <a:gd name="adj" fmla="val 3123"/>
            </a:avLst>
          </a:prstGeom>
          <a:solidFill>
            <a:srgbClr val="FFFFFF"/>
          </a:solidFill>
          <a:ln w="7144">
            <a:solidFill>
              <a:srgbClr val="D9E2EF"/>
            </a:solidFill>
            <a:prstDash val="solid"/>
          </a:ln>
        </p:spPr>
        <p:txBody>
          <a:bodyPr wrap="square" rtlCol="0" anchor="ctr"/>
          <a:lstStyle/>
          <a:p>
            <a:pPr marL="0" indent="0">
              <a:buNone/>
            </a:pPr>
            <a:endParaRPr lang="en-US" dirty="0"/>
          </a:p>
        </p:txBody>
      </p:sp>
      <p:pic>
        <p:nvPicPr>
          <p:cNvPr id="22" name="Image 0" descr="/tmp/h2p-fit-1792001653378-byzfzr.png"/>
          <p:cNvPicPr>
            <a:picLocks noChangeAspect="1"/>
          </p:cNvPicPr>
          <p:nvPr/>
        </p:nvPicPr>
        <p:blipFill>
          <a:blip r:embed="rId3"/>
          <a:stretch>
            <a:fillRect/>
          </a:stretch>
        </p:blipFill>
        <p:spPr>
          <a:xfrm>
            <a:off x="5665887" y="935831"/>
            <a:ext cx="3042345" cy="3346847"/>
          </a:xfrm>
          <a:prstGeom prst="rect">
            <a:avLst/>
          </a:prstGeom>
        </p:spPr>
      </p:pic>
      <p:sp>
        <p:nvSpPr>
          <p:cNvPr id="23" name="Shape 20"/>
          <p:cNvSpPr/>
          <p:nvPr/>
        </p:nvSpPr>
        <p:spPr>
          <a:xfrm>
            <a:off x="5665887" y="4286250"/>
            <a:ext cx="3042345" cy="0"/>
          </a:xfrm>
          <a:prstGeom prst="line">
            <a:avLst/>
          </a:prstGeom>
          <a:noFill/>
          <a:ln w="7144">
            <a:solidFill>
              <a:srgbClr val="D9E2EF"/>
            </a:solidFill>
            <a:prstDash val="solid"/>
          </a:ln>
        </p:spPr>
        <p:txBody>
          <a:bodyPr/>
          <a:lstStyle/>
          <a:p>
            <a:endParaRPr lang="en-IN"/>
          </a:p>
        </p:txBody>
      </p:sp>
      <p:sp>
        <p:nvSpPr>
          <p:cNvPr id="24" name="Text 21"/>
          <p:cNvSpPr/>
          <p:nvPr/>
        </p:nvSpPr>
        <p:spPr>
          <a:xfrm>
            <a:off x="5794474" y="4389834"/>
            <a:ext cx="2785170" cy="289322"/>
          </a:xfrm>
          <a:prstGeom prst="rect">
            <a:avLst/>
          </a:prstGeom>
          <a:noFill/>
          <a:ln/>
        </p:spPr>
        <p:txBody>
          <a:bodyPr wrap="square" lIns="0" tIns="0" rIns="0" bIns="0" rtlCol="0" anchor="t"/>
          <a:lstStyle/>
          <a:p>
            <a:pPr marL="0" indent="0" algn="l">
              <a:lnSpc>
                <a:spcPts val="1139"/>
              </a:lnSpc>
              <a:buNone/>
            </a:pPr>
            <a:r>
              <a:rPr lang="en-US" sz="800" i="1" dirty="0">
                <a:solidFill>
                  <a:srgbClr val="5B6B84"/>
                </a:solidFill>
                <a:latin typeface="Carlito" pitchFamily="34" charset="0"/>
                <a:ea typeface="Carlito" pitchFamily="34" charset="-122"/>
                <a:cs typeface="Carlito" pitchFamily="34" charset="-120"/>
              </a:rPr>
              <a:t>Playlists generate the data — this project records and analyses it.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28625" y="371475"/>
            <a:ext cx="328613" cy="328613"/>
          </a:xfrm>
          <a:prstGeom prst="roundRect">
            <a:avLst>
              <a:gd name="adj" fmla="val 28985"/>
            </a:avLst>
          </a:prstGeom>
          <a:solidFill>
            <a:srgbClr val="B7791F"/>
          </a:solidFill>
          <a:ln/>
        </p:spPr>
        <p:txBody>
          <a:bodyPr wrap="square" rtlCol="0" anchor="ctr"/>
          <a:lstStyle/>
          <a:p>
            <a:pPr marL="0" indent="0">
              <a:buNone/>
            </a:pPr>
            <a:endParaRPr lang="en-US" dirty="0"/>
          </a:p>
        </p:txBody>
      </p:sp>
      <p:sp>
        <p:nvSpPr>
          <p:cNvPr id="3" name="Text 1"/>
          <p:cNvSpPr/>
          <p:nvPr/>
        </p:nvSpPr>
        <p:spPr>
          <a:xfrm>
            <a:off x="547725" y="423267"/>
            <a:ext cx="209513" cy="243030"/>
          </a:xfrm>
          <a:prstGeom prst="rect">
            <a:avLst/>
          </a:prstGeom>
          <a:noFill/>
          <a:ln/>
        </p:spPr>
        <p:txBody>
          <a:bodyPr wrap="none" lIns="0" tIns="0" rIns="0" bIns="0" rtlCol="0" anchor="t"/>
          <a:lstStyle/>
          <a:p>
            <a:pPr marL="0" indent="0" algn="l">
              <a:lnSpc>
                <a:spcPts val="1772"/>
              </a:lnSpc>
              <a:buNone/>
            </a:pPr>
            <a:r>
              <a:rPr lang="en-US" sz="1181" b="1" dirty="0">
                <a:solidFill>
                  <a:srgbClr val="FFFFFF"/>
                </a:solidFill>
                <a:latin typeface="Liberation Sans Narrow" pitchFamily="34" charset="0"/>
                <a:ea typeface="Liberation Sans Narrow" pitchFamily="34" charset="-122"/>
                <a:cs typeface="Liberation Sans Narrow" pitchFamily="34" charset="-120"/>
              </a:rPr>
              <a:t>2</a:t>
            </a:r>
            <a:endParaRPr lang="en-US" sz="1181" dirty="0"/>
          </a:p>
        </p:txBody>
      </p:sp>
      <p:sp>
        <p:nvSpPr>
          <p:cNvPr id="4" name="Text 2"/>
          <p:cNvSpPr/>
          <p:nvPr/>
        </p:nvSpPr>
        <p:spPr>
          <a:xfrm>
            <a:off x="885825" y="402171"/>
            <a:ext cx="2498638" cy="288478"/>
          </a:xfrm>
          <a:prstGeom prst="rect">
            <a:avLst/>
          </a:prstGeom>
          <a:noFill/>
          <a:ln/>
        </p:spPr>
        <p:txBody>
          <a:bodyPr wrap="none" lIns="0" tIns="0" rIns="0" bIns="0" rtlCol="0" anchor="t"/>
          <a:lstStyle/>
          <a:p>
            <a:pPr marL="0" indent="0" algn="l">
              <a:lnSpc>
                <a:spcPts val="2104"/>
              </a:lnSpc>
              <a:buNone/>
            </a:pPr>
            <a:r>
              <a:rPr lang="en-US" sz="1913" b="1" dirty="0">
                <a:solidFill>
                  <a:srgbClr val="16305B"/>
                </a:solidFill>
                <a:latin typeface="Tinos" pitchFamily="34" charset="0"/>
                <a:ea typeface="Tinos" pitchFamily="34" charset="-122"/>
                <a:cs typeface="Tinos" pitchFamily="34" charset="-120"/>
              </a:rPr>
              <a:t>Problem Statement</a:t>
            </a:r>
            <a:endParaRPr lang="en-US" sz="1913" dirty="0"/>
          </a:p>
        </p:txBody>
      </p:sp>
      <p:sp>
        <p:nvSpPr>
          <p:cNvPr id="5" name="Text 3"/>
          <p:cNvSpPr/>
          <p:nvPr/>
        </p:nvSpPr>
        <p:spPr>
          <a:xfrm>
            <a:off x="3013323" y="532209"/>
            <a:ext cx="5702052" cy="7144"/>
          </a:xfrm>
          <a:prstGeom prst="rect">
            <a:avLst/>
          </a:prstGeom>
          <a:solidFill>
            <a:srgbClr val="D9E2EF"/>
          </a:solidFill>
          <a:ln/>
        </p:spPr>
        <p:txBody>
          <a:bodyPr wrap="square" rtlCol="0" anchor="ctr"/>
          <a:lstStyle/>
          <a:p>
            <a:pPr marL="0" indent="0">
              <a:buNone/>
            </a:pPr>
            <a:endParaRPr lang="en-US" dirty="0"/>
          </a:p>
        </p:txBody>
      </p:sp>
      <p:sp>
        <p:nvSpPr>
          <p:cNvPr id="6" name="Text 4"/>
          <p:cNvSpPr/>
          <p:nvPr/>
        </p:nvSpPr>
        <p:spPr>
          <a:xfrm>
            <a:off x="428625" y="885825"/>
            <a:ext cx="8286750" cy="796528"/>
          </a:xfrm>
          <a:prstGeom prst="roundRect">
            <a:avLst>
              <a:gd name="adj" fmla="val 11958"/>
            </a:avLst>
          </a:prstGeom>
          <a:solidFill>
            <a:srgbClr val="16305B"/>
          </a:solidFill>
          <a:ln/>
        </p:spPr>
        <p:txBody>
          <a:bodyPr wrap="square" rtlCol="0" anchor="ctr"/>
          <a:lstStyle/>
          <a:p>
            <a:pPr marL="0" indent="0">
              <a:buNone/>
            </a:pPr>
            <a:endParaRPr lang="en-US" dirty="0"/>
          </a:p>
        </p:txBody>
      </p:sp>
      <p:sp>
        <p:nvSpPr>
          <p:cNvPr id="7" name="Text 5"/>
          <p:cNvSpPr/>
          <p:nvPr/>
        </p:nvSpPr>
        <p:spPr>
          <a:xfrm>
            <a:off x="628650" y="1042988"/>
            <a:ext cx="334863" cy="381905"/>
          </a:xfrm>
          <a:prstGeom prst="rect">
            <a:avLst/>
          </a:prstGeom>
          <a:noFill/>
          <a:ln/>
        </p:spPr>
        <p:txBody>
          <a:bodyPr wrap="none" lIns="0" tIns="0" rIns="0" bIns="0" rtlCol="0" anchor="t"/>
          <a:lstStyle/>
          <a:p>
            <a:pPr marL="0" indent="0" algn="l">
              <a:lnSpc>
                <a:spcPts val="2784"/>
              </a:lnSpc>
              <a:buNone/>
            </a:pPr>
            <a:r>
              <a:rPr lang="en-US" sz="3713" dirty="0">
                <a:solidFill>
                  <a:srgbClr val="B7791F"/>
                </a:solidFill>
                <a:latin typeface="Tinos" pitchFamily="34" charset="0"/>
                <a:ea typeface="Tinos" pitchFamily="34" charset="-122"/>
                <a:cs typeface="Tinos" pitchFamily="34" charset="-120"/>
              </a:rPr>
              <a:t>“</a:t>
            </a:r>
            <a:endParaRPr lang="en-US" sz="3713" dirty="0"/>
          </a:p>
        </p:txBody>
      </p:sp>
      <p:sp>
        <p:nvSpPr>
          <p:cNvPr id="8" name="Text 6"/>
          <p:cNvSpPr/>
          <p:nvPr/>
        </p:nvSpPr>
        <p:spPr>
          <a:xfrm>
            <a:off x="980815" y="1042988"/>
            <a:ext cx="7505960" cy="467916"/>
          </a:xfrm>
          <a:prstGeom prst="rect">
            <a:avLst/>
          </a:prstGeom>
          <a:noFill/>
          <a:ln/>
        </p:spPr>
        <p:txBody>
          <a:bodyPr wrap="square" lIns="0" tIns="28575" rIns="0" bIns="0" rtlCol="0" anchor="t"/>
          <a:lstStyle/>
          <a:p>
            <a:pPr marL="0" indent="0" algn="l">
              <a:lnSpc>
                <a:spcPts val="1730"/>
              </a:lnSpc>
              <a:buNone/>
            </a:pPr>
            <a:r>
              <a:rPr lang="en-US" sz="1153" dirty="0">
                <a:solidFill>
                  <a:srgbClr val="EAF0F9"/>
                </a:solidFill>
                <a:latin typeface="Tinos" pitchFamily="34" charset="0"/>
                <a:ea typeface="Tinos" pitchFamily="34" charset="-122"/>
                <a:cs typeface="Tinos" pitchFamily="34" charset="-120"/>
              </a:rPr>
              <a:t>Music listeners have no simple, offline way to record which songs they play and to see their listening habits summarised in one place.</a:t>
            </a:r>
            <a:endParaRPr lang="en-US" sz="1153" dirty="0"/>
          </a:p>
        </p:txBody>
      </p:sp>
      <p:sp>
        <p:nvSpPr>
          <p:cNvPr id="9" name="Text 7"/>
          <p:cNvSpPr/>
          <p:nvPr/>
        </p:nvSpPr>
        <p:spPr>
          <a:xfrm>
            <a:off x="432197" y="1828800"/>
            <a:ext cx="4079081" cy="1166217"/>
          </a:xfrm>
          <a:prstGeom prst="roundRect">
            <a:avLst>
              <a:gd name="adj" fmla="val 8167"/>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10" name="Text 8"/>
          <p:cNvSpPr/>
          <p:nvPr/>
        </p:nvSpPr>
        <p:spPr>
          <a:xfrm>
            <a:off x="582216" y="1964531"/>
            <a:ext cx="292894" cy="292894"/>
          </a:xfrm>
          <a:prstGeom prst="roundRect">
            <a:avLst>
              <a:gd name="adj" fmla="val 32520"/>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11" name="Text 9"/>
          <p:cNvSpPr/>
          <p:nvPr/>
        </p:nvSpPr>
        <p:spPr>
          <a:xfrm>
            <a:off x="609540" y="1991856"/>
            <a:ext cx="238244" cy="238244"/>
          </a:xfrm>
          <a:prstGeom prst="rect">
            <a:avLst/>
          </a:prstGeom>
          <a:noFill/>
          <a:ln/>
        </p:spPr>
        <p:txBody>
          <a:bodyPr wrap="none" lIns="0" tIns="0" rIns="0" bIns="0" rtlCol="0" anchor="ctr"/>
          <a:lstStyle/>
          <a:p>
            <a:pPr marL="0" indent="0" algn="ctr">
              <a:buNone/>
            </a:pPr>
            <a:r>
              <a:rPr lang="en-US" sz="1617" dirty="0">
                <a:solidFill>
                  <a:srgbClr val="B7791F"/>
                </a:solidFill>
                <a:latin typeface="Segoe UI Symbol" pitchFamily="34" charset="0"/>
                <a:ea typeface="Segoe UI Symbol" pitchFamily="34" charset="-122"/>
                <a:cs typeface="Segoe UI Symbol" pitchFamily="34" charset="-120"/>
              </a:rPr>
              <a:t>✎</a:t>
            </a:r>
            <a:endParaRPr lang="en-US" sz="1617" dirty="0"/>
          </a:p>
        </p:txBody>
      </p:sp>
      <p:sp>
        <p:nvSpPr>
          <p:cNvPr id="12" name="Text 10"/>
          <p:cNvSpPr/>
          <p:nvPr/>
        </p:nvSpPr>
        <p:spPr>
          <a:xfrm>
            <a:off x="992981" y="1960959"/>
            <a:ext cx="3371850" cy="154305"/>
          </a:xfrm>
          <a:prstGeom prst="rect">
            <a:avLst/>
          </a:prstGeom>
          <a:noFill/>
          <a:ln/>
        </p:spPr>
        <p:txBody>
          <a:bodyPr wrap="none" lIns="0" tIns="0" rIns="0" bIns="0" rtlCol="0" anchor="t"/>
          <a:lstStyle/>
          <a:p>
            <a:pPr marL="0" indent="0" algn="l">
              <a:lnSpc>
                <a:spcPts val="1125"/>
              </a:lnSpc>
              <a:buNone/>
            </a:pPr>
            <a:r>
              <a:rPr lang="en-US" sz="900" b="1" dirty="0">
                <a:solidFill>
                  <a:srgbClr val="16305B"/>
                </a:solidFill>
                <a:latin typeface="Carlito" pitchFamily="34" charset="0"/>
                <a:ea typeface="Carlito" pitchFamily="34" charset="-122"/>
                <a:cs typeface="Carlito" pitchFamily="34" charset="-120"/>
              </a:rPr>
              <a:t>Manual logging is tedious</a:t>
            </a:r>
            <a:endParaRPr lang="en-US" sz="900" dirty="0"/>
          </a:p>
        </p:txBody>
      </p:sp>
      <p:sp>
        <p:nvSpPr>
          <p:cNvPr id="13" name="Text 11"/>
          <p:cNvSpPr/>
          <p:nvPr/>
        </p:nvSpPr>
        <p:spPr>
          <a:xfrm>
            <a:off x="992981" y="2146697"/>
            <a:ext cx="3371850" cy="329184"/>
          </a:xfrm>
          <a:prstGeom prst="rect">
            <a:avLst/>
          </a:prstGeom>
          <a:noFill/>
          <a:ln/>
        </p:spPr>
        <p:txBody>
          <a:bodyPr wrap="square" lIns="0" tIns="0" rIns="0" bIns="0" rtlCol="0" anchor="t"/>
          <a:lstStyle/>
          <a:p>
            <a:pPr marL="0" indent="0" algn="l">
              <a:lnSpc>
                <a:spcPts val="1139"/>
              </a:lnSpc>
              <a:buNone/>
            </a:pPr>
            <a:r>
              <a:rPr lang="en-US" sz="800" dirty="0">
                <a:solidFill>
                  <a:srgbClr val="5B6B84"/>
                </a:solidFill>
                <a:latin typeface="Carlito" pitchFamily="34" charset="0"/>
                <a:ea typeface="Carlito" pitchFamily="34" charset="-122"/>
                <a:cs typeface="Carlito" pitchFamily="34" charset="-120"/>
              </a:rPr>
              <a:t>Writing down each played song by hand is slow, and entries are easily forgotten or duplicated.</a:t>
            </a:r>
            <a:endParaRPr lang="en-US" sz="800" dirty="0"/>
          </a:p>
        </p:txBody>
      </p:sp>
      <p:sp>
        <p:nvSpPr>
          <p:cNvPr id="14" name="Text 12"/>
          <p:cNvSpPr/>
          <p:nvPr/>
        </p:nvSpPr>
        <p:spPr>
          <a:xfrm>
            <a:off x="4632722" y="1828800"/>
            <a:ext cx="4079081" cy="1166217"/>
          </a:xfrm>
          <a:prstGeom prst="roundRect">
            <a:avLst>
              <a:gd name="adj" fmla="val 8167"/>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15" name="Text 13"/>
          <p:cNvSpPr/>
          <p:nvPr/>
        </p:nvSpPr>
        <p:spPr>
          <a:xfrm>
            <a:off x="4782741" y="1964531"/>
            <a:ext cx="292894" cy="292894"/>
          </a:xfrm>
          <a:prstGeom prst="roundRect">
            <a:avLst>
              <a:gd name="adj" fmla="val 32520"/>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16" name="Text 14"/>
          <p:cNvSpPr/>
          <p:nvPr/>
        </p:nvSpPr>
        <p:spPr>
          <a:xfrm>
            <a:off x="4810065" y="1991856"/>
            <a:ext cx="238244" cy="238244"/>
          </a:xfrm>
          <a:prstGeom prst="rect">
            <a:avLst/>
          </a:prstGeom>
          <a:noFill/>
          <a:ln/>
        </p:spPr>
        <p:txBody>
          <a:bodyPr wrap="none" lIns="0" tIns="0" rIns="0" bIns="0" rtlCol="0" anchor="ctr"/>
          <a:lstStyle/>
          <a:p>
            <a:pPr marL="0" indent="0" algn="ctr">
              <a:buNone/>
            </a:pPr>
            <a:r>
              <a:rPr lang="en-US" sz="1617" dirty="0">
                <a:solidFill>
                  <a:srgbClr val="B7791F"/>
                </a:solidFill>
                <a:latin typeface="Segoe UI Symbol" pitchFamily="34" charset="0"/>
                <a:ea typeface="Segoe UI Symbol" pitchFamily="34" charset="-122"/>
                <a:cs typeface="Segoe UI Symbol" pitchFamily="34" charset="-120"/>
              </a:rPr>
              <a:t>◉</a:t>
            </a:r>
            <a:endParaRPr lang="en-US" sz="1617" dirty="0"/>
          </a:p>
        </p:txBody>
      </p:sp>
      <p:sp>
        <p:nvSpPr>
          <p:cNvPr id="17" name="Text 15"/>
          <p:cNvSpPr/>
          <p:nvPr/>
        </p:nvSpPr>
        <p:spPr>
          <a:xfrm>
            <a:off x="5193506" y="1960959"/>
            <a:ext cx="3371850" cy="154305"/>
          </a:xfrm>
          <a:prstGeom prst="rect">
            <a:avLst/>
          </a:prstGeom>
          <a:noFill/>
          <a:ln/>
        </p:spPr>
        <p:txBody>
          <a:bodyPr wrap="none" lIns="0" tIns="0" rIns="0" bIns="0" rtlCol="0" anchor="t"/>
          <a:lstStyle/>
          <a:p>
            <a:pPr marL="0" indent="0" algn="l">
              <a:lnSpc>
                <a:spcPts val="1125"/>
              </a:lnSpc>
              <a:buNone/>
            </a:pPr>
            <a:r>
              <a:rPr lang="en-US" sz="900" b="1" dirty="0">
                <a:solidFill>
                  <a:srgbClr val="16305B"/>
                </a:solidFill>
                <a:latin typeface="Carlito" pitchFamily="34" charset="0"/>
                <a:ea typeface="Carlito" pitchFamily="34" charset="-122"/>
                <a:cs typeface="Carlito" pitchFamily="34" charset="-120"/>
              </a:rPr>
              <a:t>Spreadsheets need upkeep</a:t>
            </a:r>
            <a:endParaRPr lang="en-US" sz="900" dirty="0"/>
          </a:p>
        </p:txBody>
      </p:sp>
      <p:sp>
        <p:nvSpPr>
          <p:cNvPr id="18" name="Text 16"/>
          <p:cNvSpPr/>
          <p:nvPr/>
        </p:nvSpPr>
        <p:spPr>
          <a:xfrm>
            <a:off x="5193506" y="2146697"/>
            <a:ext cx="3371850" cy="329184"/>
          </a:xfrm>
          <a:prstGeom prst="rect">
            <a:avLst/>
          </a:prstGeom>
          <a:noFill/>
          <a:ln/>
        </p:spPr>
        <p:txBody>
          <a:bodyPr wrap="square" lIns="0" tIns="0" rIns="0" bIns="0" rtlCol="0" anchor="t"/>
          <a:lstStyle/>
          <a:p>
            <a:pPr marL="0" indent="0" algn="l">
              <a:lnSpc>
                <a:spcPts val="1139"/>
              </a:lnSpc>
              <a:buNone/>
            </a:pPr>
            <a:r>
              <a:rPr lang="en-US" sz="800" dirty="0">
                <a:solidFill>
                  <a:srgbClr val="5B6B84"/>
                </a:solidFill>
                <a:latin typeface="Carlito" pitchFamily="34" charset="0"/>
                <a:ea typeface="Carlito" pitchFamily="34" charset="-122"/>
                <a:cs typeface="Carlito" pitchFamily="34" charset="-120"/>
              </a:rPr>
              <a:t>Excel trackers must be updated manually, so play counts end up guessed instead of measured.</a:t>
            </a:r>
            <a:endParaRPr lang="en-US" sz="800" dirty="0"/>
          </a:p>
        </p:txBody>
      </p:sp>
      <p:sp>
        <p:nvSpPr>
          <p:cNvPr id="19" name="Text 17"/>
          <p:cNvSpPr/>
          <p:nvPr/>
        </p:nvSpPr>
        <p:spPr>
          <a:xfrm>
            <a:off x="432197" y="3116461"/>
            <a:ext cx="4079081" cy="1166217"/>
          </a:xfrm>
          <a:prstGeom prst="roundRect">
            <a:avLst>
              <a:gd name="adj" fmla="val 8167"/>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20" name="Text 18"/>
          <p:cNvSpPr/>
          <p:nvPr/>
        </p:nvSpPr>
        <p:spPr>
          <a:xfrm>
            <a:off x="582216" y="3252192"/>
            <a:ext cx="292894" cy="292894"/>
          </a:xfrm>
          <a:prstGeom prst="roundRect">
            <a:avLst>
              <a:gd name="adj" fmla="val 32520"/>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21" name="Text 19"/>
          <p:cNvSpPr/>
          <p:nvPr/>
        </p:nvSpPr>
        <p:spPr>
          <a:xfrm>
            <a:off x="609540" y="3279517"/>
            <a:ext cx="238244" cy="238244"/>
          </a:xfrm>
          <a:prstGeom prst="rect">
            <a:avLst/>
          </a:prstGeom>
          <a:noFill/>
          <a:ln/>
        </p:spPr>
        <p:txBody>
          <a:bodyPr wrap="none" lIns="0" tIns="0" rIns="0" bIns="0" rtlCol="0" anchor="ctr"/>
          <a:lstStyle/>
          <a:p>
            <a:pPr marL="0" indent="0" algn="ctr">
              <a:buNone/>
            </a:pPr>
            <a:r>
              <a:rPr lang="en-US" sz="1617" dirty="0">
                <a:solidFill>
                  <a:srgbClr val="B7791F"/>
                </a:solidFill>
                <a:latin typeface="Segoe UI Symbol" pitchFamily="34" charset="0"/>
                <a:ea typeface="Segoe UI Symbol" pitchFamily="34" charset="-122"/>
                <a:cs typeface="Segoe UI Symbol" pitchFamily="34" charset="-120"/>
              </a:rPr>
              <a:t>☁</a:t>
            </a:r>
            <a:endParaRPr lang="en-US" sz="1617" dirty="0"/>
          </a:p>
        </p:txBody>
      </p:sp>
      <p:sp>
        <p:nvSpPr>
          <p:cNvPr id="22" name="Text 20"/>
          <p:cNvSpPr/>
          <p:nvPr/>
        </p:nvSpPr>
        <p:spPr>
          <a:xfrm>
            <a:off x="992981" y="3248620"/>
            <a:ext cx="3481578" cy="154305"/>
          </a:xfrm>
          <a:prstGeom prst="rect">
            <a:avLst/>
          </a:prstGeom>
          <a:noFill/>
          <a:ln/>
        </p:spPr>
        <p:txBody>
          <a:bodyPr wrap="square" lIns="0" tIns="0" rIns="0" bIns="0" rtlCol="0" anchor="t"/>
          <a:lstStyle/>
          <a:p>
            <a:pPr marL="0" indent="0" algn="l">
              <a:lnSpc>
                <a:spcPts val="1125"/>
              </a:lnSpc>
              <a:buNone/>
            </a:pPr>
            <a:r>
              <a:rPr lang="en-US" sz="900" b="1" dirty="0">
                <a:solidFill>
                  <a:srgbClr val="16305B"/>
                </a:solidFill>
                <a:latin typeface="Carlito" pitchFamily="34" charset="0"/>
                <a:ea typeface="Carlito" pitchFamily="34" charset="-122"/>
                <a:cs typeface="Carlito" pitchFamily="34" charset="-120"/>
              </a:rPr>
              <a:t>Streaming apps are online-only</a:t>
            </a:r>
            <a:endParaRPr lang="en-US" sz="900" dirty="0"/>
          </a:p>
        </p:txBody>
      </p:sp>
      <p:sp>
        <p:nvSpPr>
          <p:cNvPr id="23" name="Text 21"/>
          <p:cNvSpPr/>
          <p:nvPr/>
        </p:nvSpPr>
        <p:spPr>
          <a:xfrm>
            <a:off x="992981" y="3434358"/>
            <a:ext cx="3371850" cy="329184"/>
          </a:xfrm>
          <a:prstGeom prst="rect">
            <a:avLst/>
          </a:prstGeom>
          <a:noFill/>
          <a:ln/>
        </p:spPr>
        <p:txBody>
          <a:bodyPr wrap="square" lIns="0" tIns="0" rIns="0" bIns="0" rtlCol="0" anchor="t"/>
          <a:lstStyle/>
          <a:p>
            <a:pPr marL="0" indent="0" algn="l">
              <a:lnSpc>
                <a:spcPts val="1139"/>
              </a:lnSpc>
              <a:buNone/>
            </a:pPr>
            <a:r>
              <a:rPr lang="en-US" sz="800" dirty="0">
                <a:solidFill>
                  <a:srgbClr val="5B6B84"/>
                </a:solidFill>
                <a:latin typeface="Carlito" pitchFamily="34" charset="0"/>
                <a:ea typeface="Carlito" pitchFamily="34" charset="-122"/>
                <a:cs typeface="Carlito" pitchFamily="34" charset="-120"/>
              </a:rPr>
              <a:t>Their statistics need an internet connection and an account, and cannot be customised or exported.</a:t>
            </a:r>
            <a:endParaRPr lang="en-US" sz="800" dirty="0"/>
          </a:p>
        </p:txBody>
      </p:sp>
      <p:sp>
        <p:nvSpPr>
          <p:cNvPr id="24" name="Text 22"/>
          <p:cNvSpPr/>
          <p:nvPr/>
        </p:nvSpPr>
        <p:spPr>
          <a:xfrm>
            <a:off x="4632722" y="3116461"/>
            <a:ext cx="4079081" cy="1166217"/>
          </a:xfrm>
          <a:prstGeom prst="roundRect">
            <a:avLst>
              <a:gd name="adj" fmla="val 8167"/>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25" name="Text 23"/>
          <p:cNvSpPr/>
          <p:nvPr/>
        </p:nvSpPr>
        <p:spPr>
          <a:xfrm>
            <a:off x="4782741" y="3252192"/>
            <a:ext cx="292894" cy="292894"/>
          </a:xfrm>
          <a:prstGeom prst="roundRect">
            <a:avLst>
              <a:gd name="adj" fmla="val 32520"/>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26" name="Text 24"/>
          <p:cNvSpPr/>
          <p:nvPr/>
        </p:nvSpPr>
        <p:spPr>
          <a:xfrm>
            <a:off x="4810065" y="3279517"/>
            <a:ext cx="238244" cy="238244"/>
          </a:xfrm>
          <a:prstGeom prst="rect">
            <a:avLst/>
          </a:prstGeom>
          <a:noFill/>
          <a:ln/>
        </p:spPr>
        <p:txBody>
          <a:bodyPr wrap="none" lIns="0" tIns="0" rIns="0" bIns="0" rtlCol="0" anchor="ctr"/>
          <a:lstStyle/>
          <a:p>
            <a:pPr marL="0" indent="0" algn="ctr">
              <a:buNone/>
            </a:pPr>
            <a:r>
              <a:rPr lang="en-US" sz="1617" dirty="0">
                <a:solidFill>
                  <a:srgbClr val="B7791F"/>
                </a:solidFill>
                <a:latin typeface="Segoe UI Symbol" pitchFamily="34" charset="0"/>
                <a:ea typeface="Segoe UI Symbol" pitchFamily="34" charset="-122"/>
                <a:cs typeface="Segoe UI Symbol" pitchFamily="34" charset="-120"/>
              </a:rPr>
              <a:t>?</a:t>
            </a:r>
            <a:endParaRPr lang="en-US" sz="1617" dirty="0"/>
          </a:p>
        </p:txBody>
      </p:sp>
      <p:sp>
        <p:nvSpPr>
          <p:cNvPr id="27" name="Text 25"/>
          <p:cNvSpPr/>
          <p:nvPr/>
        </p:nvSpPr>
        <p:spPr>
          <a:xfrm>
            <a:off x="5193506" y="3248620"/>
            <a:ext cx="3326666" cy="154305"/>
          </a:xfrm>
          <a:prstGeom prst="rect">
            <a:avLst/>
          </a:prstGeom>
          <a:noFill/>
          <a:ln/>
        </p:spPr>
        <p:txBody>
          <a:bodyPr wrap="none" lIns="0" tIns="0" rIns="0" bIns="0" rtlCol="0" anchor="t"/>
          <a:lstStyle/>
          <a:p>
            <a:pPr marL="0" indent="0" algn="l">
              <a:lnSpc>
                <a:spcPts val="1125"/>
              </a:lnSpc>
              <a:buNone/>
            </a:pPr>
            <a:r>
              <a:rPr lang="en-US" sz="900" b="1" dirty="0">
                <a:solidFill>
                  <a:srgbClr val="16305B"/>
                </a:solidFill>
                <a:latin typeface="Carlito" pitchFamily="34" charset="0"/>
                <a:ea typeface="Carlito" pitchFamily="34" charset="-122"/>
                <a:cs typeface="Carlito" pitchFamily="34" charset="-120"/>
              </a:rPr>
              <a:t>No instant summary</a:t>
            </a:r>
            <a:endParaRPr lang="en-US" sz="900" dirty="0"/>
          </a:p>
        </p:txBody>
      </p:sp>
      <p:sp>
        <p:nvSpPr>
          <p:cNvPr id="28" name="Text 26"/>
          <p:cNvSpPr/>
          <p:nvPr/>
        </p:nvSpPr>
        <p:spPr>
          <a:xfrm>
            <a:off x="5193506" y="3434358"/>
            <a:ext cx="3168253" cy="164592"/>
          </a:xfrm>
          <a:prstGeom prst="rect">
            <a:avLst/>
          </a:prstGeom>
          <a:noFill/>
          <a:ln/>
        </p:spPr>
        <p:txBody>
          <a:bodyPr wrap="square" lIns="0" tIns="0" rIns="0" bIns="0" rtlCol="0" anchor="t"/>
          <a:lstStyle/>
          <a:p>
            <a:pPr marL="0" indent="0" algn="l">
              <a:lnSpc>
                <a:spcPts val="1139"/>
              </a:lnSpc>
              <a:buNone/>
            </a:pPr>
            <a:r>
              <a:rPr lang="en-US" sz="759" dirty="0">
                <a:solidFill>
                  <a:srgbClr val="5B6B84"/>
                </a:solidFill>
                <a:latin typeface="Carlito" pitchFamily="34" charset="0"/>
                <a:ea typeface="Carlito" pitchFamily="34" charset="-122"/>
                <a:cs typeface="Carlito" pitchFamily="34" charset="-120"/>
              </a:rPr>
              <a:t>Finding your most-played song or favourite artist means counting by hand.</a:t>
            </a:r>
            <a:endParaRPr lang="en-US" sz="759" dirty="0"/>
          </a:p>
        </p:txBody>
      </p:sp>
      <p:sp>
        <p:nvSpPr>
          <p:cNvPr id="29" name="Text 27"/>
          <p:cNvSpPr/>
          <p:nvPr/>
        </p:nvSpPr>
        <p:spPr>
          <a:xfrm>
            <a:off x="428625" y="4429125"/>
            <a:ext cx="8286750" cy="371475"/>
          </a:xfrm>
          <a:prstGeom prst="rect">
            <a:avLst/>
          </a:prstGeom>
          <a:solidFill>
            <a:srgbClr val="F4F7FB"/>
          </a:solidFill>
          <a:ln/>
        </p:spPr>
        <p:txBody>
          <a:bodyPr wrap="square" rtlCol="0" anchor="ctr"/>
          <a:lstStyle/>
          <a:p>
            <a:pPr marL="0" indent="0">
              <a:buNone/>
            </a:pPr>
            <a:endParaRPr lang="en-US" dirty="0"/>
          </a:p>
        </p:txBody>
      </p:sp>
      <p:sp>
        <p:nvSpPr>
          <p:cNvPr id="30" name="Shape 28"/>
          <p:cNvSpPr/>
          <p:nvPr/>
        </p:nvSpPr>
        <p:spPr>
          <a:xfrm>
            <a:off x="428625" y="4432697"/>
            <a:ext cx="8286750" cy="0"/>
          </a:xfrm>
          <a:prstGeom prst="line">
            <a:avLst/>
          </a:prstGeom>
          <a:noFill/>
          <a:ln w="7144">
            <a:solidFill>
              <a:srgbClr val="D9E2EF"/>
            </a:solidFill>
            <a:prstDash val="solid"/>
          </a:ln>
        </p:spPr>
        <p:txBody>
          <a:bodyPr/>
          <a:lstStyle/>
          <a:p>
            <a:endParaRPr lang="en-IN"/>
          </a:p>
        </p:txBody>
      </p:sp>
      <p:sp>
        <p:nvSpPr>
          <p:cNvPr id="31" name="Shape 29"/>
          <p:cNvSpPr/>
          <p:nvPr/>
        </p:nvSpPr>
        <p:spPr>
          <a:xfrm>
            <a:off x="8711803" y="4429125"/>
            <a:ext cx="0" cy="371475"/>
          </a:xfrm>
          <a:prstGeom prst="line">
            <a:avLst/>
          </a:prstGeom>
          <a:noFill/>
          <a:ln w="7144">
            <a:solidFill>
              <a:srgbClr val="D9E2EF"/>
            </a:solidFill>
            <a:prstDash val="solid"/>
          </a:ln>
        </p:spPr>
        <p:txBody>
          <a:bodyPr/>
          <a:lstStyle/>
          <a:p>
            <a:endParaRPr lang="en-IN"/>
          </a:p>
        </p:txBody>
      </p:sp>
      <p:sp>
        <p:nvSpPr>
          <p:cNvPr id="32" name="Shape 30"/>
          <p:cNvSpPr/>
          <p:nvPr/>
        </p:nvSpPr>
        <p:spPr>
          <a:xfrm>
            <a:off x="428625" y="4797028"/>
            <a:ext cx="8286750" cy="0"/>
          </a:xfrm>
          <a:prstGeom prst="line">
            <a:avLst/>
          </a:prstGeom>
          <a:noFill/>
          <a:ln w="7144">
            <a:solidFill>
              <a:srgbClr val="D9E2EF"/>
            </a:solidFill>
            <a:prstDash val="solid"/>
          </a:ln>
        </p:spPr>
        <p:txBody>
          <a:bodyPr/>
          <a:lstStyle/>
          <a:p>
            <a:endParaRPr lang="en-IN"/>
          </a:p>
        </p:txBody>
      </p:sp>
      <p:sp>
        <p:nvSpPr>
          <p:cNvPr id="33" name="Shape 31"/>
          <p:cNvSpPr/>
          <p:nvPr/>
        </p:nvSpPr>
        <p:spPr>
          <a:xfrm>
            <a:off x="442913" y="4429125"/>
            <a:ext cx="0" cy="371475"/>
          </a:xfrm>
          <a:prstGeom prst="line">
            <a:avLst/>
          </a:prstGeom>
          <a:noFill/>
          <a:ln w="28575">
            <a:solidFill>
              <a:srgbClr val="B7791F"/>
            </a:solidFill>
            <a:prstDash val="solid"/>
          </a:ln>
        </p:spPr>
        <p:txBody>
          <a:bodyPr/>
          <a:lstStyle/>
          <a:p>
            <a:endParaRPr lang="en-IN"/>
          </a:p>
        </p:txBody>
      </p:sp>
      <p:sp>
        <p:nvSpPr>
          <p:cNvPr id="34" name="Text 32"/>
          <p:cNvSpPr/>
          <p:nvPr/>
        </p:nvSpPr>
        <p:spPr>
          <a:xfrm>
            <a:off x="600075" y="4536281"/>
            <a:ext cx="157163" cy="157163"/>
          </a:xfrm>
          <a:prstGeom prst="rect">
            <a:avLst/>
          </a:prstGeom>
          <a:noFill/>
          <a:ln/>
        </p:spPr>
        <p:txBody>
          <a:bodyPr wrap="none" lIns="0" tIns="0" rIns="0" bIns="0" rtlCol="0" anchor="ctr"/>
          <a:lstStyle/>
          <a:p>
            <a:pPr marL="0" indent="0" algn="ctr">
              <a:buNone/>
            </a:pPr>
            <a:r>
              <a:rPr lang="en-US" sz="1547" dirty="0">
                <a:solidFill>
                  <a:srgbClr val="B7791F"/>
                </a:solidFill>
                <a:latin typeface="Segoe UI Symbol" pitchFamily="34" charset="0"/>
                <a:ea typeface="Segoe UI Symbol" pitchFamily="34" charset="-122"/>
                <a:cs typeface="Segoe UI Symbol" pitchFamily="34" charset="-120"/>
              </a:rPr>
              <a:t>⚑</a:t>
            </a:r>
            <a:endParaRPr lang="en-US" sz="1547" dirty="0"/>
          </a:p>
        </p:txBody>
      </p:sp>
      <p:sp>
        <p:nvSpPr>
          <p:cNvPr id="35" name="Text 33"/>
          <p:cNvSpPr/>
          <p:nvPr/>
        </p:nvSpPr>
        <p:spPr>
          <a:xfrm>
            <a:off x="842963" y="4537174"/>
            <a:ext cx="7722394" cy="156270"/>
          </a:xfrm>
          <a:prstGeom prst="rect">
            <a:avLst/>
          </a:prstGeom>
          <a:noFill/>
          <a:ln/>
        </p:spPr>
        <p:txBody>
          <a:bodyPr wrap="square" lIns="0" tIns="0" rIns="0" bIns="0" rtlCol="0" anchor="t"/>
          <a:lstStyle/>
          <a:p>
            <a:pPr marL="0" indent="0" algn="l">
              <a:lnSpc>
                <a:spcPts val="1223"/>
              </a:lnSpc>
              <a:buNone/>
            </a:pPr>
            <a:r>
              <a:rPr lang="en-US" sz="844" b="1" dirty="0">
                <a:solidFill>
                  <a:srgbClr val="16305B"/>
                </a:solidFill>
                <a:latin typeface="Carlito" pitchFamily="34" charset="0"/>
                <a:ea typeface="Carlito" pitchFamily="34" charset="-122"/>
                <a:cs typeface="Carlito" pitchFamily="34" charset="-120"/>
              </a:rPr>
              <a:t>Project goal</a:t>
            </a:r>
            <a:r>
              <a:rPr lang="en-US" sz="844" dirty="0">
                <a:solidFill>
                  <a:srgbClr val="23304A"/>
                </a:solidFill>
                <a:latin typeface="Carlito" pitchFamily="34" charset="0"/>
                <a:ea typeface="Carlito" pitchFamily="34" charset="-122"/>
                <a:cs typeface="Carlito" pitchFamily="34" charset="-120"/>
              </a:rPr>
              <a:t> — a lightweight, offline, auto-counting playlist and statistics manager built in Java.</a:t>
            </a:r>
            <a:endParaRPr lang="en-US" sz="84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5763"/>
            <a:ext cx="328613" cy="328613"/>
          </a:xfrm>
          <a:prstGeom prst="roundRect">
            <a:avLst>
              <a:gd name="adj" fmla="val 28985"/>
            </a:avLst>
          </a:prstGeom>
          <a:solidFill>
            <a:srgbClr val="B7791F"/>
          </a:solidFill>
          <a:ln/>
        </p:spPr>
        <p:txBody>
          <a:bodyPr wrap="square" rtlCol="0" anchor="ctr"/>
          <a:lstStyle/>
          <a:p>
            <a:pPr marL="0" indent="0">
              <a:buNone/>
            </a:pPr>
            <a:endParaRPr lang="en-US" dirty="0"/>
          </a:p>
        </p:txBody>
      </p:sp>
      <p:sp>
        <p:nvSpPr>
          <p:cNvPr id="3" name="Text 1"/>
          <p:cNvSpPr/>
          <p:nvPr/>
        </p:nvSpPr>
        <p:spPr>
          <a:xfrm>
            <a:off x="576300" y="437555"/>
            <a:ext cx="209513" cy="243030"/>
          </a:xfrm>
          <a:prstGeom prst="rect">
            <a:avLst/>
          </a:prstGeom>
          <a:noFill/>
          <a:ln/>
        </p:spPr>
        <p:txBody>
          <a:bodyPr wrap="none" lIns="0" tIns="0" rIns="0" bIns="0" rtlCol="0" anchor="t"/>
          <a:lstStyle/>
          <a:p>
            <a:pPr marL="0" indent="0" algn="l">
              <a:lnSpc>
                <a:spcPts val="1772"/>
              </a:lnSpc>
              <a:buNone/>
            </a:pPr>
            <a:r>
              <a:rPr lang="en-US" sz="1181" b="1" dirty="0">
                <a:solidFill>
                  <a:srgbClr val="FFFFFF"/>
                </a:solidFill>
                <a:latin typeface="Liberation Sans Narrow" pitchFamily="34" charset="0"/>
                <a:ea typeface="Liberation Sans Narrow" pitchFamily="34" charset="-122"/>
                <a:cs typeface="Liberation Sans Narrow" pitchFamily="34" charset="-120"/>
              </a:rPr>
              <a:t>3</a:t>
            </a:r>
            <a:endParaRPr lang="en-US" sz="1181" dirty="0"/>
          </a:p>
        </p:txBody>
      </p:sp>
      <p:sp>
        <p:nvSpPr>
          <p:cNvPr id="4" name="Text 2"/>
          <p:cNvSpPr/>
          <p:nvPr/>
        </p:nvSpPr>
        <p:spPr>
          <a:xfrm>
            <a:off x="795297" y="416458"/>
            <a:ext cx="1604029" cy="288478"/>
          </a:xfrm>
          <a:prstGeom prst="rect">
            <a:avLst/>
          </a:prstGeom>
          <a:noFill/>
          <a:ln/>
        </p:spPr>
        <p:txBody>
          <a:bodyPr wrap="none" lIns="0" tIns="0" rIns="0" bIns="0" rtlCol="0" anchor="t"/>
          <a:lstStyle/>
          <a:p>
            <a:pPr marL="0" indent="0" algn="l">
              <a:lnSpc>
                <a:spcPts val="2104"/>
              </a:lnSpc>
              <a:buNone/>
            </a:pPr>
            <a:r>
              <a:rPr lang="en-US" sz="1913" b="1" dirty="0">
                <a:solidFill>
                  <a:srgbClr val="16305B"/>
                </a:solidFill>
                <a:latin typeface="Tinos" pitchFamily="34" charset="0"/>
                <a:ea typeface="Tinos" pitchFamily="34" charset="-122"/>
                <a:cs typeface="Tinos" pitchFamily="34" charset="-120"/>
              </a:rPr>
              <a:t>Objectives</a:t>
            </a:r>
            <a:endParaRPr lang="en-US" sz="1913" dirty="0"/>
          </a:p>
        </p:txBody>
      </p:sp>
      <p:sp>
        <p:nvSpPr>
          <p:cNvPr id="5" name="Text 3"/>
          <p:cNvSpPr/>
          <p:nvPr/>
        </p:nvSpPr>
        <p:spPr>
          <a:xfrm>
            <a:off x="2135646" y="546497"/>
            <a:ext cx="6551154" cy="7144"/>
          </a:xfrm>
          <a:prstGeom prst="rect">
            <a:avLst/>
          </a:prstGeom>
          <a:solidFill>
            <a:srgbClr val="D9E2EF"/>
          </a:solidFill>
          <a:ln/>
        </p:spPr>
        <p:txBody>
          <a:bodyPr wrap="square" rtlCol="0" anchor="ctr"/>
          <a:lstStyle/>
          <a:p>
            <a:pPr marL="0" indent="0">
              <a:buNone/>
            </a:pPr>
            <a:endParaRPr lang="en-US" dirty="0"/>
          </a:p>
        </p:txBody>
      </p:sp>
      <p:sp>
        <p:nvSpPr>
          <p:cNvPr id="6" name="Text 4"/>
          <p:cNvSpPr/>
          <p:nvPr/>
        </p:nvSpPr>
        <p:spPr>
          <a:xfrm>
            <a:off x="457200" y="828675"/>
            <a:ext cx="8229600" cy="179380"/>
          </a:xfrm>
          <a:prstGeom prst="rect">
            <a:avLst/>
          </a:prstGeom>
          <a:noFill/>
          <a:ln/>
        </p:spPr>
        <p:txBody>
          <a:bodyPr wrap="square" lIns="0" tIns="0" rIns="0" bIns="0" rtlCol="0" anchor="t"/>
          <a:lstStyle/>
          <a:p>
            <a:pPr marL="0" indent="0" algn="l">
              <a:lnSpc>
                <a:spcPts val="1308"/>
              </a:lnSpc>
              <a:buNone/>
            </a:pPr>
            <a:r>
              <a:rPr lang="en-US" sz="872" dirty="0">
                <a:solidFill>
                  <a:srgbClr val="5B6B84"/>
                </a:solidFill>
                <a:latin typeface="Carlito" pitchFamily="34" charset="0"/>
                <a:ea typeface="Carlito" pitchFamily="34" charset="-122"/>
                <a:cs typeface="Carlito" pitchFamily="34" charset="-120"/>
              </a:rPr>
              <a:t>Five clear objectives guided the design of the application.</a:t>
            </a:r>
            <a:endParaRPr lang="en-US" sz="872" dirty="0"/>
          </a:p>
        </p:txBody>
      </p:sp>
      <p:sp>
        <p:nvSpPr>
          <p:cNvPr id="7" name="Text 5"/>
          <p:cNvSpPr/>
          <p:nvPr/>
        </p:nvSpPr>
        <p:spPr>
          <a:xfrm>
            <a:off x="460772" y="1198364"/>
            <a:ext cx="4036219" cy="712031"/>
          </a:xfrm>
          <a:prstGeom prst="roundRect">
            <a:avLst>
              <a:gd name="adj" fmla="val 13377"/>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8" name="Text 6"/>
          <p:cNvSpPr/>
          <p:nvPr/>
        </p:nvSpPr>
        <p:spPr>
          <a:xfrm>
            <a:off x="650081" y="1373386"/>
            <a:ext cx="550605" cy="308610"/>
          </a:xfrm>
          <a:prstGeom prst="rect">
            <a:avLst/>
          </a:prstGeom>
          <a:noFill/>
          <a:ln/>
        </p:spPr>
        <p:txBody>
          <a:bodyPr wrap="none" lIns="0" tIns="0" rIns="0" bIns="0" rtlCol="0" anchor="t"/>
          <a:lstStyle/>
          <a:p>
            <a:pPr marL="0" indent="0" algn="l">
              <a:lnSpc>
                <a:spcPts val="2250"/>
              </a:lnSpc>
              <a:buNone/>
            </a:pPr>
            <a:r>
              <a:rPr lang="en-US" sz="2250" b="1" dirty="0">
                <a:solidFill>
                  <a:srgbClr val="8A5A14"/>
                </a:solidFill>
                <a:latin typeface="Liberation Sans Narrow" pitchFamily="34" charset="0"/>
                <a:ea typeface="Liberation Sans Narrow" pitchFamily="34" charset="-122"/>
                <a:cs typeface="Liberation Sans Narrow" pitchFamily="34" charset="-120"/>
              </a:rPr>
              <a:t>01</a:t>
            </a:r>
            <a:endParaRPr lang="en-US" sz="2250" dirty="0"/>
          </a:p>
        </p:txBody>
      </p:sp>
      <p:sp>
        <p:nvSpPr>
          <p:cNvPr id="9" name="Text 7"/>
          <p:cNvSpPr/>
          <p:nvPr/>
        </p:nvSpPr>
        <p:spPr>
          <a:xfrm>
            <a:off x="1137084" y="1373386"/>
            <a:ext cx="2932632" cy="175522"/>
          </a:xfrm>
          <a:prstGeom prst="rect">
            <a:avLst/>
          </a:prstGeom>
          <a:noFill/>
          <a:ln/>
        </p:spPr>
        <p:txBody>
          <a:bodyPr wrap="none" lIns="0" tIns="0" rIns="0" bIns="0" rtlCol="0" anchor="t"/>
          <a:lstStyle/>
          <a:p>
            <a:pPr marL="0" indent="0" algn="l">
              <a:lnSpc>
                <a:spcPts val="1280"/>
              </a:lnSpc>
              <a:buNone/>
            </a:pPr>
            <a:r>
              <a:rPr lang="en-US" sz="984" b="1" dirty="0">
                <a:solidFill>
                  <a:srgbClr val="16305B"/>
                </a:solidFill>
                <a:latin typeface="Carlito" pitchFamily="34" charset="0"/>
                <a:ea typeface="Carlito" pitchFamily="34" charset="-122"/>
                <a:cs typeface="Carlito" pitchFamily="34" charset="-120"/>
              </a:rPr>
              <a:t>Build a playlist manager</a:t>
            </a:r>
            <a:endParaRPr lang="en-US" sz="984" dirty="0"/>
          </a:p>
        </p:txBody>
      </p:sp>
      <p:sp>
        <p:nvSpPr>
          <p:cNvPr id="10" name="Text 8"/>
          <p:cNvSpPr/>
          <p:nvPr/>
        </p:nvSpPr>
        <p:spPr>
          <a:xfrm>
            <a:off x="1137084" y="1585913"/>
            <a:ext cx="2792983" cy="149461"/>
          </a:xfrm>
          <a:prstGeom prst="rect">
            <a:avLst/>
          </a:prstGeom>
          <a:noFill/>
          <a:ln/>
        </p:spPr>
        <p:txBody>
          <a:bodyPr wrap="square" lIns="0" tIns="0" rIns="0" bIns="0" rtlCol="0" anchor="t"/>
          <a:lstStyle/>
          <a:p>
            <a:pPr marL="0" indent="0" algn="l">
              <a:lnSpc>
                <a:spcPts val="1177"/>
              </a:lnSpc>
              <a:buNone/>
            </a:pPr>
            <a:r>
              <a:rPr lang="en-US" sz="759" dirty="0">
                <a:solidFill>
                  <a:srgbClr val="5B6B84"/>
                </a:solidFill>
                <a:latin typeface="Carlito" pitchFamily="34" charset="0"/>
                <a:ea typeface="Carlito" pitchFamily="34" charset="-122"/>
                <a:cs typeface="Carlito" pitchFamily="34" charset="-120"/>
              </a:rPr>
              <a:t>Add, view and remove songs using clean object-oriented classes.</a:t>
            </a:r>
            <a:endParaRPr lang="en-US" sz="759" dirty="0"/>
          </a:p>
        </p:txBody>
      </p:sp>
      <p:sp>
        <p:nvSpPr>
          <p:cNvPr id="11" name="Text 9"/>
          <p:cNvSpPr/>
          <p:nvPr/>
        </p:nvSpPr>
        <p:spPr>
          <a:xfrm>
            <a:off x="4647009" y="1198364"/>
            <a:ext cx="4036219" cy="712031"/>
          </a:xfrm>
          <a:prstGeom prst="roundRect">
            <a:avLst>
              <a:gd name="adj" fmla="val 13377"/>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12" name="Text 10"/>
          <p:cNvSpPr/>
          <p:nvPr/>
        </p:nvSpPr>
        <p:spPr>
          <a:xfrm>
            <a:off x="4836319" y="1373386"/>
            <a:ext cx="550605" cy="308610"/>
          </a:xfrm>
          <a:prstGeom prst="rect">
            <a:avLst/>
          </a:prstGeom>
          <a:noFill/>
          <a:ln/>
        </p:spPr>
        <p:txBody>
          <a:bodyPr wrap="none" lIns="0" tIns="0" rIns="0" bIns="0" rtlCol="0" anchor="t"/>
          <a:lstStyle/>
          <a:p>
            <a:pPr marL="0" indent="0" algn="l">
              <a:lnSpc>
                <a:spcPts val="2250"/>
              </a:lnSpc>
              <a:buNone/>
            </a:pPr>
            <a:r>
              <a:rPr lang="en-US" sz="2250" b="1" dirty="0">
                <a:solidFill>
                  <a:srgbClr val="8A5A14"/>
                </a:solidFill>
                <a:latin typeface="Liberation Sans Narrow" pitchFamily="34" charset="0"/>
                <a:ea typeface="Liberation Sans Narrow" pitchFamily="34" charset="-122"/>
                <a:cs typeface="Liberation Sans Narrow" pitchFamily="34" charset="-120"/>
              </a:rPr>
              <a:t>02</a:t>
            </a:r>
            <a:endParaRPr lang="en-US" sz="2250" dirty="0"/>
          </a:p>
        </p:txBody>
      </p:sp>
      <p:sp>
        <p:nvSpPr>
          <p:cNvPr id="13" name="Text 11"/>
          <p:cNvSpPr/>
          <p:nvPr/>
        </p:nvSpPr>
        <p:spPr>
          <a:xfrm>
            <a:off x="5323322" y="1373386"/>
            <a:ext cx="3170597" cy="175522"/>
          </a:xfrm>
          <a:prstGeom prst="rect">
            <a:avLst/>
          </a:prstGeom>
          <a:noFill/>
          <a:ln/>
        </p:spPr>
        <p:txBody>
          <a:bodyPr wrap="none" lIns="0" tIns="0" rIns="0" bIns="0" rtlCol="0" anchor="t"/>
          <a:lstStyle/>
          <a:p>
            <a:pPr marL="0" indent="0" algn="l">
              <a:lnSpc>
                <a:spcPts val="1280"/>
              </a:lnSpc>
              <a:buNone/>
            </a:pPr>
            <a:r>
              <a:rPr lang="en-US" sz="984" b="1" dirty="0">
                <a:solidFill>
                  <a:srgbClr val="16305B"/>
                </a:solidFill>
                <a:latin typeface="Carlito" pitchFamily="34" charset="0"/>
                <a:ea typeface="Carlito" pitchFamily="34" charset="-122"/>
                <a:cs typeface="Carlito" pitchFamily="34" charset="-120"/>
              </a:rPr>
              <a:t>Automate play tracking</a:t>
            </a:r>
            <a:endParaRPr lang="en-US" sz="984" dirty="0"/>
          </a:p>
        </p:txBody>
      </p:sp>
      <p:sp>
        <p:nvSpPr>
          <p:cNvPr id="14" name="Text 12"/>
          <p:cNvSpPr/>
          <p:nvPr/>
        </p:nvSpPr>
        <p:spPr>
          <a:xfrm>
            <a:off x="5323322" y="1585913"/>
            <a:ext cx="3166132" cy="149461"/>
          </a:xfrm>
          <a:prstGeom prst="rect">
            <a:avLst/>
          </a:prstGeom>
          <a:noFill/>
          <a:ln/>
        </p:spPr>
        <p:txBody>
          <a:bodyPr wrap="square" lIns="0" tIns="0" rIns="0" bIns="0" rtlCol="0" anchor="t"/>
          <a:lstStyle/>
          <a:p>
            <a:pPr marL="0" indent="0" algn="l">
              <a:lnSpc>
                <a:spcPts val="1177"/>
              </a:lnSpc>
              <a:buNone/>
            </a:pPr>
            <a:r>
              <a:rPr lang="en-US" sz="759" dirty="0">
                <a:solidFill>
                  <a:srgbClr val="5B6B84"/>
                </a:solidFill>
                <a:latin typeface="Carlito" pitchFamily="34" charset="0"/>
                <a:ea typeface="Carlito" pitchFamily="34" charset="-122"/>
                <a:cs typeface="Carlito" pitchFamily="34" charset="-120"/>
              </a:rPr>
              <a:t>Every play of a song increments its counter instantly — zero manual entry.</a:t>
            </a:r>
            <a:endParaRPr lang="en-US" sz="759" dirty="0"/>
          </a:p>
        </p:txBody>
      </p:sp>
      <p:sp>
        <p:nvSpPr>
          <p:cNvPr id="15" name="Text 13"/>
          <p:cNvSpPr/>
          <p:nvPr/>
        </p:nvSpPr>
        <p:spPr>
          <a:xfrm>
            <a:off x="460772" y="2060414"/>
            <a:ext cx="2640732" cy="2708039"/>
          </a:xfrm>
          <a:prstGeom prst="roundRect">
            <a:avLst>
              <a:gd name="adj" fmla="val 3607"/>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16" name="Text 14"/>
          <p:cNvSpPr/>
          <p:nvPr/>
        </p:nvSpPr>
        <p:spPr>
          <a:xfrm>
            <a:off x="650081" y="2235436"/>
            <a:ext cx="440412" cy="246888"/>
          </a:xfrm>
          <a:prstGeom prst="rect">
            <a:avLst/>
          </a:prstGeom>
          <a:noFill/>
          <a:ln/>
        </p:spPr>
        <p:txBody>
          <a:bodyPr wrap="none" lIns="0" tIns="0" rIns="0" bIns="0" rtlCol="0" anchor="t"/>
          <a:lstStyle/>
          <a:p>
            <a:pPr marL="0" indent="0" algn="l">
              <a:lnSpc>
                <a:spcPts val="1800"/>
              </a:lnSpc>
              <a:buNone/>
            </a:pPr>
            <a:r>
              <a:rPr lang="en-US" sz="1800" b="1" dirty="0">
                <a:solidFill>
                  <a:srgbClr val="8A5A14"/>
                </a:solidFill>
                <a:latin typeface="Liberation Sans Narrow" pitchFamily="34" charset="0"/>
                <a:ea typeface="Liberation Sans Narrow" pitchFamily="34" charset="-122"/>
                <a:cs typeface="Liberation Sans Narrow" pitchFamily="34" charset="-120"/>
              </a:rPr>
              <a:t>03</a:t>
            </a:r>
            <a:endParaRPr lang="en-US" sz="1800" dirty="0"/>
          </a:p>
        </p:txBody>
      </p:sp>
      <p:sp>
        <p:nvSpPr>
          <p:cNvPr id="17" name="Text 15"/>
          <p:cNvSpPr/>
          <p:nvPr/>
        </p:nvSpPr>
        <p:spPr>
          <a:xfrm>
            <a:off x="1068214" y="2235436"/>
            <a:ext cx="1953708" cy="160453"/>
          </a:xfrm>
          <a:prstGeom prst="rect">
            <a:avLst/>
          </a:prstGeom>
          <a:noFill/>
          <a:ln/>
        </p:spPr>
        <p:txBody>
          <a:bodyPr wrap="square" lIns="0" tIns="0" rIns="0" bIns="0" rtlCol="0" anchor="t"/>
          <a:lstStyle/>
          <a:p>
            <a:pPr marL="0" indent="0" algn="l">
              <a:lnSpc>
                <a:spcPts val="1170"/>
              </a:lnSpc>
              <a:buNone/>
            </a:pPr>
            <a:r>
              <a:rPr lang="en-US" sz="900" b="1" dirty="0">
                <a:solidFill>
                  <a:srgbClr val="16305B"/>
                </a:solidFill>
                <a:latin typeface="Carlito" pitchFamily="34" charset="0"/>
                <a:ea typeface="Carlito" pitchFamily="34" charset="-122"/>
                <a:cs typeface="Carlito" pitchFamily="34" charset="-120"/>
              </a:rPr>
              <a:t>Generate listening statistics</a:t>
            </a:r>
            <a:endParaRPr lang="en-US" sz="900" dirty="0"/>
          </a:p>
        </p:txBody>
      </p:sp>
      <p:sp>
        <p:nvSpPr>
          <p:cNvPr id="18" name="Text 16"/>
          <p:cNvSpPr/>
          <p:nvPr/>
        </p:nvSpPr>
        <p:spPr>
          <a:xfrm>
            <a:off x="1068214" y="2434010"/>
            <a:ext cx="1843980" cy="339999"/>
          </a:xfrm>
          <a:prstGeom prst="rect">
            <a:avLst/>
          </a:prstGeom>
          <a:noFill/>
          <a:ln/>
        </p:spPr>
        <p:txBody>
          <a:bodyPr wrap="square" lIns="0" tIns="0" rIns="0" bIns="0" rtlCol="0" anchor="t"/>
          <a:lstStyle/>
          <a:p>
            <a:pPr marL="0" indent="0" algn="l">
              <a:lnSpc>
                <a:spcPts val="1133"/>
              </a:lnSpc>
              <a:buNone/>
            </a:pPr>
            <a:r>
              <a:rPr lang="en-US" sz="800" dirty="0">
                <a:solidFill>
                  <a:srgbClr val="5B6B84"/>
                </a:solidFill>
                <a:latin typeface="Carlito" pitchFamily="34" charset="0"/>
                <a:ea typeface="Carlito" pitchFamily="34" charset="-122"/>
                <a:cs typeface="Carlito" pitchFamily="34" charset="-120"/>
              </a:rPr>
              <a:t>Compute total plays, total listening time, favourite artist and the Top-5 songs.</a:t>
            </a:r>
            <a:endParaRPr lang="en-US" sz="800" dirty="0"/>
          </a:p>
        </p:txBody>
      </p:sp>
      <p:sp>
        <p:nvSpPr>
          <p:cNvPr id="19" name="Text 17"/>
          <p:cNvSpPr/>
          <p:nvPr/>
        </p:nvSpPr>
        <p:spPr>
          <a:xfrm>
            <a:off x="3251522" y="2060414"/>
            <a:ext cx="2640843" cy="2708039"/>
          </a:xfrm>
          <a:prstGeom prst="roundRect">
            <a:avLst>
              <a:gd name="adj" fmla="val 3607"/>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20" name="Text 18"/>
          <p:cNvSpPr/>
          <p:nvPr/>
        </p:nvSpPr>
        <p:spPr>
          <a:xfrm>
            <a:off x="3440832" y="2235436"/>
            <a:ext cx="440412" cy="246888"/>
          </a:xfrm>
          <a:prstGeom prst="rect">
            <a:avLst/>
          </a:prstGeom>
          <a:noFill/>
          <a:ln/>
        </p:spPr>
        <p:txBody>
          <a:bodyPr wrap="none" lIns="0" tIns="0" rIns="0" bIns="0" rtlCol="0" anchor="t"/>
          <a:lstStyle/>
          <a:p>
            <a:pPr marL="0" indent="0" algn="l">
              <a:lnSpc>
                <a:spcPts val="1800"/>
              </a:lnSpc>
              <a:buNone/>
            </a:pPr>
            <a:r>
              <a:rPr lang="en-US" sz="1800" b="1" dirty="0">
                <a:solidFill>
                  <a:srgbClr val="8A5A14"/>
                </a:solidFill>
                <a:latin typeface="Liberation Sans Narrow" pitchFamily="34" charset="0"/>
                <a:ea typeface="Liberation Sans Narrow" pitchFamily="34" charset="-122"/>
                <a:cs typeface="Liberation Sans Narrow" pitchFamily="34" charset="-120"/>
              </a:rPr>
              <a:t>04</a:t>
            </a:r>
            <a:endParaRPr lang="en-US" sz="1800" dirty="0"/>
          </a:p>
        </p:txBody>
      </p:sp>
      <p:sp>
        <p:nvSpPr>
          <p:cNvPr id="21" name="Text 19"/>
          <p:cNvSpPr/>
          <p:nvPr/>
        </p:nvSpPr>
        <p:spPr>
          <a:xfrm>
            <a:off x="3858964" y="2235436"/>
            <a:ext cx="1844092" cy="160453"/>
          </a:xfrm>
          <a:prstGeom prst="rect">
            <a:avLst/>
          </a:prstGeom>
          <a:noFill/>
          <a:ln/>
        </p:spPr>
        <p:txBody>
          <a:bodyPr wrap="none" lIns="0" tIns="0" rIns="0" bIns="0" rtlCol="0" anchor="t"/>
          <a:lstStyle/>
          <a:p>
            <a:pPr marL="0" indent="0" algn="l">
              <a:lnSpc>
                <a:spcPts val="1170"/>
              </a:lnSpc>
              <a:buNone/>
            </a:pPr>
            <a:r>
              <a:rPr lang="en-US" sz="900" b="1" dirty="0">
                <a:solidFill>
                  <a:srgbClr val="16305B"/>
                </a:solidFill>
                <a:latin typeface="Carlito" pitchFamily="34" charset="0"/>
                <a:ea typeface="Carlito" pitchFamily="34" charset="-122"/>
                <a:cs typeface="Carlito" pitchFamily="34" charset="-120"/>
              </a:rPr>
              <a:t>Provide search and sort</a:t>
            </a:r>
            <a:endParaRPr lang="en-US" sz="900" dirty="0"/>
          </a:p>
        </p:txBody>
      </p:sp>
      <p:sp>
        <p:nvSpPr>
          <p:cNvPr id="22" name="Text 20"/>
          <p:cNvSpPr/>
          <p:nvPr/>
        </p:nvSpPr>
        <p:spPr>
          <a:xfrm>
            <a:off x="3858964" y="2434010"/>
            <a:ext cx="1844092" cy="339999"/>
          </a:xfrm>
          <a:prstGeom prst="rect">
            <a:avLst/>
          </a:prstGeom>
          <a:noFill/>
          <a:ln/>
        </p:spPr>
        <p:txBody>
          <a:bodyPr wrap="square" lIns="0" tIns="0" rIns="0" bIns="0" rtlCol="0" anchor="t"/>
          <a:lstStyle/>
          <a:p>
            <a:pPr marL="0" indent="0" algn="l">
              <a:lnSpc>
                <a:spcPts val="1133"/>
              </a:lnSpc>
              <a:buNone/>
            </a:pPr>
            <a:r>
              <a:rPr lang="en-US" sz="800" dirty="0">
                <a:solidFill>
                  <a:srgbClr val="5B6B84"/>
                </a:solidFill>
                <a:latin typeface="Carlito" pitchFamily="34" charset="0"/>
                <a:ea typeface="Carlito" pitchFamily="34" charset="-122"/>
                <a:cs typeface="Carlito" pitchFamily="34" charset="-120"/>
              </a:rPr>
              <a:t>Find any song by title or artist and rank the playlist alphabetically or by plays.</a:t>
            </a:r>
            <a:endParaRPr lang="en-US" sz="800" dirty="0"/>
          </a:p>
        </p:txBody>
      </p:sp>
      <p:sp>
        <p:nvSpPr>
          <p:cNvPr id="23" name="Text 21"/>
          <p:cNvSpPr/>
          <p:nvPr/>
        </p:nvSpPr>
        <p:spPr>
          <a:xfrm>
            <a:off x="6042385" y="2060414"/>
            <a:ext cx="2640732" cy="2708039"/>
          </a:xfrm>
          <a:prstGeom prst="roundRect">
            <a:avLst>
              <a:gd name="adj" fmla="val 3607"/>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24" name="Text 22"/>
          <p:cNvSpPr/>
          <p:nvPr/>
        </p:nvSpPr>
        <p:spPr>
          <a:xfrm>
            <a:off x="6231694" y="2235436"/>
            <a:ext cx="440412" cy="246888"/>
          </a:xfrm>
          <a:prstGeom prst="rect">
            <a:avLst/>
          </a:prstGeom>
          <a:noFill/>
          <a:ln/>
        </p:spPr>
        <p:txBody>
          <a:bodyPr wrap="none" lIns="0" tIns="0" rIns="0" bIns="0" rtlCol="0" anchor="t"/>
          <a:lstStyle/>
          <a:p>
            <a:pPr marL="0" indent="0" algn="l">
              <a:lnSpc>
                <a:spcPts val="1800"/>
              </a:lnSpc>
              <a:buNone/>
            </a:pPr>
            <a:r>
              <a:rPr lang="en-US" sz="1800" b="1" dirty="0">
                <a:solidFill>
                  <a:srgbClr val="8A5A14"/>
                </a:solidFill>
                <a:latin typeface="Liberation Sans Narrow" pitchFamily="34" charset="0"/>
                <a:ea typeface="Liberation Sans Narrow" pitchFamily="34" charset="-122"/>
                <a:cs typeface="Liberation Sans Narrow" pitchFamily="34" charset="-120"/>
              </a:rPr>
              <a:t>05</a:t>
            </a:r>
            <a:endParaRPr lang="en-US" sz="1800" dirty="0"/>
          </a:p>
        </p:txBody>
      </p:sp>
      <p:sp>
        <p:nvSpPr>
          <p:cNvPr id="25" name="Text 23"/>
          <p:cNvSpPr/>
          <p:nvPr/>
        </p:nvSpPr>
        <p:spPr>
          <a:xfrm>
            <a:off x="6649827" y="2235436"/>
            <a:ext cx="1843980" cy="160453"/>
          </a:xfrm>
          <a:prstGeom prst="rect">
            <a:avLst/>
          </a:prstGeom>
          <a:noFill/>
          <a:ln/>
        </p:spPr>
        <p:txBody>
          <a:bodyPr wrap="none" lIns="0" tIns="0" rIns="0" bIns="0" rtlCol="0" anchor="t"/>
          <a:lstStyle/>
          <a:p>
            <a:pPr marL="0" indent="0" algn="l">
              <a:lnSpc>
                <a:spcPts val="1170"/>
              </a:lnSpc>
              <a:buNone/>
            </a:pPr>
            <a:r>
              <a:rPr lang="en-US" sz="900" b="1" dirty="0">
                <a:solidFill>
                  <a:srgbClr val="16305B"/>
                </a:solidFill>
                <a:latin typeface="Carlito" pitchFamily="34" charset="0"/>
                <a:ea typeface="Carlito" pitchFamily="34" charset="-122"/>
                <a:cs typeface="Carlito" pitchFamily="34" charset="-120"/>
              </a:rPr>
              <a:t>Persist data with File I/O</a:t>
            </a:r>
            <a:endParaRPr lang="en-US" sz="900" dirty="0"/>
          </a:p>
        </p:txBody>
      </p:sp>
      <p:sp>
        <p:nvSpPr>
          <p:cNvPr id="26" name="Text 24"/>
          <p:cNvSpPr/>
          <p:nvPr/>
        </p:nvSpPr>
        <p:spPr>
          <a:xfrm>
            <a:off x="6649827" y="2434010"/>
            <a:ext cx="1843980" cy="339999"/>
          </a:xfrm>
          <a:prstGeom prst="rect">
            <a:avLst/>
          </a:prstGeom>
          <a:noFill/>
          <a:ln/>
        </p:spPr>
        <p:txBody>
          <a:bodyPr wrap="square" lIns="0" tIns="0" rIns="0" bIns="0" rtlCol="0" anchor="t"/>
          <a:lstStyle/>
          <a:p>
            <a:pPr marL="0" indent="0" algn="l">
              <a:lnSpc>
                <a:spcPts val="1133"/>
              </a:lnSpc>
              <a:buNone/>
            </a:pPr>
            <a:r>
              <a:rPr lang="en-US" sz="800" dirty="0">
                <a:solidFill>
                  <a:srgbClr val="5B6B84"/>
                </a:solidFill>
                <a:latin typeface="Carlito" pitchFamily="34" charset="0"/>
                <a:ea typeface="Carlito" pitchFamily="34" charset="-122"/>
                <a:cs typeface="Carlito" pitchFamily="34" charset="-120"/>
              </a:rPr>
              <a:t>Save the playlist to a text file and reload it automatically on every run.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28625" y="371475"/>
            <a:ext cx="328613" cy="328613"/>
          </a:xfrm>
          <a:prstGeom prst="roundRect">
            <a:avLst>
              <a:gd name="adj" fmla="val 28985"/>
            </a:avLst>
          </a:prstGeom>
          <a:solidFill>
            <a:srgbClr val="B7791F"/>
          </a:solidFill>
          <a:ln/>
        </p:spPr>
        <p:txBody>
          <a:bodyPr wrap="square" rtlCol="0" anchor="ctr"/>
          <a:lstStyle/>
          <a:p>
            <a:pPr marL="0" indent="0">
              <a:buNone/>
            </a:pPr>
            <a:endParaRPr lang="en-US" dirty="0"/>
          </a:p>
        </p:txBody>
      </p:sp>
      <p:sp>
        <p:nvSpPr>
          <p:cNvPr id="3" name="Text 1"/>
          <p:cNvSpPr/>
          <p:nvPr/>
        </p:nvSpPr>
        <p:spPr>
          <a:xfrm>
            <a:off x="547725" y="423267"/>
            <a:ext cx="209513" cy="243030"/>
          </a:xfrm>
          <a:prstGeom prst="rect">
            <a:avLst/>
          </a:prstGeom>
          <a:noFill/>
          <a:ln/>
        </p:spPr>
        <p:txBody>
          <a:bodyPr wrap="none" lIns="0" tIns="0" rIns="0" bIns="0" rtlCol="0" anchor="t"/>
          <a:lstStyle/>
          <a:p>
            <a:pPr marL="0" indent="0" algn="l">
              <a:lnSpc>
                <a:spcPts val="1772"/>
              </a:lnSpc>
              <a:buNone/>
            </a:pPr>
            <a:r>
              <a:rPr lang="en-US" sz="1181" b="1" dirty="0">
                <a:solidFill>
                  <a:srgbClr val="FFFFFF"/>
                </a:solidFill>
                <a:latin typeface="Liberation Sans Narrow" pitchFamily="34" charset="0"/>
                <a:ea typeface="Liberation Sans Narrow" pitchFamily="34" charset="-122"/>
                <a:cs typeface="Liberation Sans Narrow" pitchFamily="34" charset="-120"/>
              </a:rPr>
              <a:t>4</a:t>
            </a:r>
            <a:endParaRPr lang="en-US" sz="1181" dirty="0"/>
          </a:p>
        </p:txBody>
      </p:sp>
      <p:sp>
        <p:nvSpPr>
          <p:cNvPr id="4" name="Text 2"/>
          <p:cNvSpPr/>
          <p:nvPr/>
        </p:nvSpPr>
        <p:spPr>
          <a:xfrm>
            <a:off x="885825" y="402171"/>
            <a:ext cx="2066525" cy="288478"/>
          </a:xfrm>
          <a:prstGeom prst="rect">
            <a:avLst/>
          </a:prstGeom>
          <a:noFill/>
          <a:ln/>
        </p:spPr>
        <p:txBody>
          <a:bodyPr wrap="none" lIns="0" tIns="0" rIns="0" bIns="0" rtlCol="0" anchor="t"/>
          <a:lstStyle/>
          <a:p>
            <a:pPr marL="0" indent="0" algn="l">
              <a:lnSpc>
                <a:spcPts val="2104"/>
              </a:lnSpc>
              <a:buNone/>
            </a:pPr>
            <a:r>
              <a:rPr lang="en-US" sz="1913" b="1" dirty="0">
                <a:solidFill>
                  <a:srgbClr val="16305B"/>
                </a:solidFill>
                <a:latin typeface="Tinos" pitchFamily="34" charset="0"/>
                <a:ea typeface="Tinos" pitchFamily="34" charset="-122"/>
                <a:cs typeface="Tinos" pitchFamily="34" charset="-120"/>
              </a:rPr>
              <a:t>Existing System</a:t>
            </a:r>
            <a:endParaRPr lang="en-US" sz="1913" dirty="0"/>
          </a:p>
        </p:txBody>
      </p:sp>
      <p:sp>
        <p:nvSpPr>
          <p:cNvPr id="5" name="Text 3"/>
          <p:cNvSpPr/>
          <p:nvPr/>
        </p:nvSpPr>
        <p:spPr>
          <a:xfrm>
            <a:off x="2667633" y="532209"/>
            <a:ext cx="6047742" cy="7144"/>
          </a:xfrm>
          <a:prstGeom prst="rect">
            <a:avLst/>
          </a:prstGeom>
          <a:solidFill>
            <a:srgbClr val="D9E2EF"/>
          </a:solidFill>
          <a:ln/>
        </p:spPr>
        <p:txBody>
          <a:bodyPr wrap="square" rtlCol="0" anchor="ctr"/>
          <a:lstStyle/>
          <a:p>
            <a:pPr marL="0" indent="0">
              <a:buNone/>
            </a:pPr>
            <a:endParaRPr lang="en-US" dirty="0"/>
          </a:p>
        </p:txBody>
      </p:sp>
      <p:sp>
        <p:nvSpPr>
          <p:cNvPr id="6" name="Text 4"/>
          <p:cNvSpPr/>
          <p:nvPr/>
        </p:nvSpPr>
        <p:spPr>
          <a:xfrm>
            <a:off x="428625" y="885825"/>
            <a:ext cx="4029075" cy="370573"/>
          </a:xfrm>
          <a:prstGeom prst="rect">
            <a:avLst/>
          </a:prstGeom>
          <a:noFill/>
          <a:ln/>
        </p:spPr>
        <p:txBody>
          <a:bodyPr wrap="square" lIns="0" tIns="0" rIns="0" bIns="0" rtlCol="0" anchor="t"/>
          <a:lstStyle/>
          <a:p>
            <a:pPr marL="0" indent="0" algn="l">
              <a:lnSpc>
                <a:spcPts val="1351"/>
              </a:lnSpc>
              <a:buNone/>
            </a:pPr>
            <a:r>
              <a:rPr lang="en-US" sz="872" dirty="0">
                <a:solidFill>
                  <a:srgbClr val="23304A"/>
                </a:solidFill>
                <a:latin typeface="Carlito" pitchFamily="34" charset="0"/>
                <a:ea typeface="Carlito" pitchFamily="34" charset="-122"/>
                <a:cs typeface="Carlito" pitchFamily="34" charset="-120"/>
              </a:rPr>
              <a:t>Today, listeners track their music in three common ways — each with clear drawbacks:</a:t>
            </a:r>
            <a:endParaRPr lang="en-US" sz="872" dirty="0"/>
          </a:p>
        </p:txBody>
      </p:sp>
      <p:sp>
        <p:nvSpPr>
          <p:cNvPr id="7" name="Text 5"/>
          <p:cNvSpPr/>
          <p:nvPr/>
        </p:nvSpPr>
        <p:spPr>
          <a:xfrm>
            <a:off x="432197" y="1361108"/>
            <a:ext cx="4021931" cy="672517"/>
          </a:xfrm>
          <a:prstGeom prst="roundRect">
            <a:avLst>
              <a:gd name="adj" fmla="val 14163"/>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8" name="Text 6"/>
          <p:cNvSpPr/>
          <p:nvPr/>
        </p:nvSpPr>
        <p:spPr>
          <a:xfrm>
            <a:off x="564356" y="1486123"/>
            <a:ext cx="150019" cy="150019"/>
          </a:xfrm>
          <a:prstGeom prst="rect">
            <a:avLst/>
          </a:prstGeom>
          <a:noFill/>
          <a:ln/>
        </p:spPr>
        <p:txBody>
          <a:bodyPr wrap="none" lIns="0" tIns="0" rIns="0" bIns="0" rtlCol="0" anchor="ctr"/>
          <a:lstStyle/>
          <a:p>
            <a:pPr marL="0" indent="0" algn="ctr">
              <a:buNone/>
            </a:pPr>
            <a:r>
              <a:rPr lang="en-US" sz="1477" dirty="0">
                <a:solidFill>
                  <a:srgbClr val="B7791F"/>
                </a:solidFill>
                <a:latin typeface="Segoe UI Symbol" pitchFamily="34" charset="0"/>
                <a:ea typeface="Segoe UI Symbol" pitchFamily="34" charset="-122"/>
                <a:cs typeface="Segoe UI Symbol" pitchFamily="34" charset="-120"/>
              </a:rPr>
              <a:t>✓</a:t>
            </a:r>
            <a:endParaRPr lang="en-US" sz="1477" dirty="0"/>
          </a:p>
        </p:txBody>
      </p:sp>
      <p:sp>
        <p:nvSpPr>
          <p:cNvPr id="9" name="Text 7"/>
          <p:cNvSpPr/>
          <p:nvPr/>
        </p:nvSpPr>
        <p:spPr>
          <a:xfrm>
            <a:off x="814388" y="1471836"/>
            <a:ext cx="3617309" cy="145023"/>
          </a:xfrm>
          <a:prstGeom prst="rect">
            <a:avLst/>
          </a:prstGeom>
          <a:noFill/>
          <a:ln/>
        </p:spPr>
        <p:txBody>
          <a:bodyPr wrap="square" lIns="0" tIns="0" rIns="0" bIns="0" rtlCol="0" anchor="t">
            <a:normAutofit/>
          </a:bodyPr>
          <a:lstStyle/>
          <a:p>
            <a:pPr marL="0" indent="0" algn="l">
              <a:lnSpc>
                <a:spcPts val="1133"/>
              </a:lnSpc>
              <a:buNone/>
            </a:pPr>
            <a:r>
              <a:rPr lang="en-US" sz="872" b="1" dirty="0">
                <a:solidFill>
                  <a:srgbClr val="16305B"/>
                </a:solidFill>
                <a:latin typeface="Carlito" pitchFamily="34" charset="0"/>
                <a:ea typeface="Carlito" pitchFamily="34" charset="-122"/>
                <a:cs typeface="Carlito" pitchFamily="34" charset="-120"/>
              </a:rPr>
              <a:t>Handwritten lists / spreadsheets</a:t>
            </a:r>
            <a:endParaRPr lang="en-US" sz="872" dirty="0"/>
          </a:p>
        </p:txBody>
      </p:sp>
      <p:sp>
        <p:nvSpPr>
          <p:cNvPr id="10" name="Text 8"/>
          <p:cNvSpPr/>
          <p:nvPr/>
        </p:nvSpPr>
        <p:spPr>
          <a:xfrm>
            <a:off x="814388" y="1644290"/>
            <a:ext cx="3507581" cy="278606"/>
          </a:xfrm>
          <a:prstGeom prst="rect">
            <a:avLst/>
          </a:prstGeom>
          <a:noFill/>
          <a:ln/>
        </p:spPr>
        <p:txBody>
          <a:bodyPr wrap="square" lIns="0" tIns="0" rIns="0" bIns="0" rtlCol="0" anchor="t"/>
          <a:lstStyle/>
          <a:p>
            <a:pPr marL="0" indent="0" algn="l">
              <a:lnSpc>
                <a:spcPts val="1097"/>
              </a:lnSpc>
              <a:buNone/>
            </a:pPr>
            <a:r>
              <a:rPr lang="en-US" sz="800" dirty="0">
                <a:solidFill>
                  <a:srgbClr val="5B6B84"/>
                </a:solidFill>
                <a:latin typeface="Carlito" pitchFamily="34" charset="0"/>
                <a:ea typeface="Carlito" pitchFamily="34" charset="-122"/>
                <a:cs typeface="Carlito" pitchFamily="34" charset="-120"/>
              </a:rPr>
              <a:t>Play counts are noted or guessed by hand; the sheet drifts out of date and errors accumulate.</a:t>
            </a:r>
            <a:endParaRPr lang="en-US" sz="800" dirty="0"/>
          </a:p>
        </p:txBody>
      </p:sp>
      <p:sp>
        <p:nvSpPr>
          <p:cNvPr id="11" name="Text 9"/>
          <p:cNvSpPr/>
          <p:nvPr/>
        </p:nvSpPr>
        <p:spPr>
          <a:xfrm>
            <a:off x="432197" y="2140781"/>
            <a:ext cx="4021931" cy="672517"/>
          </a:xfrm>
          <a:prstGeom prst="roundRect">
            <a:avLst>
              <a:gd name="adj" fmla="val 14163"/>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12" name="Text 10"/>
          <p:cNvSpPr/>
          <p:nvPr/>
        </p:nvSpPr>
        <p:spPr>
          <a:xfrm>
            <a:off x="564356" y="2265797"/>
            <a:ext cx="150019" cy="150019"/>
          </a:xfrm>
          <a:prstGeom prst="rect">
            <a:avLst/>
          </a:prstGeom>
          <a:noFill/>
          <a:ln/>
        </p:spPr>
        <p:txBody>
          <a:bodyPr wrap="none" lIns="0" tIns="0" rIns="0" bIns="0" rtlCol="0" anchor="ctr"/>
          <a:lstStyle/>
          <a:p>
            <a:pPr marL="0" indent="0" algn="ctr">
              <a:buNone/>
            </a:pPr>
            <a:r>
              <a:rPr lang="en-US" sz="1477" dirty="0">
                <a:solidFill>
                  <a:srgbClr val="B7791F"/>
                </a:solidFill>
                <a:latin typeface="Segoe UI Symbol" pitchFamily="34" charset="0"/>
                <a:ea typeface="Segoe UI Symbol" pitchFamily="34" charset="-122"/>
                <a:cs typeface="Segoe UI Symbol" pitchFamily="34" charset="-120"/>
              </a:rPr>
              <a:t>☁</a:t>
            </a:r>
            <a:endParaRPr lang="en-US" sz="1477" dirty="0"/>
          </a:p>
        </p:txBody>
      </p:sp>
      <p:sp>
        <p:nvSpPr>
          <p:cNvPr id="13" name="Text 11"/>
          <p:cNvSpPr/>
          <p:nvPr/>
        </p:nvSpPr>
        <p:spPr>
          <a:xfrm>
            <a:off x="814388" y="2251509"/>
            <a:ext cx="3617309" cy="145023"/>
          </a:xfrm>
          <a:prstGeom prst="rect">
            <a:avLst/>
          </a:prstGeom>
          <a:noFill/>
          <a:ln/>
        </p:spPr>
        <p:txBody>
          <a:bodyPr wrap="square" lIns="0" tIns="0" rIns="0" bIns="0" rtlCol="0" anchor="t">
            <a:normAutofit/>
          </a:bodyPr>
          <a:lstStyle/>
          <a:p>
            <a:pPr marL="0" indent="0" algn="l">
              <a:lnSpc>
                <a:spcPts val="1133"/>
              </a:lnSpc>
              <a:buNone/>
            </a:pPr>
            <a:r>
              <a:rPr lang="en-US" sz="872" b="1" dirty="0">
                <a:solidFill>
                  <a:srgbClr val="16305B"/>
                </a:solidFill>
                <a:latin typeface="Carlito" pitchFamily="34" charset="0"/>
                <a:ea typeface="Carlito" pitchFamily="34" charset="-122"/>
                <a:cs typeface="Carlito" pitchFamily="34" charset="-120"/>
              </a:rPr>
              <a:t>Streaming apps (Spotify, Apple Music)</a:t>
            </a:r>
            <a:endParaRPr lang="en-US" sz="872" dirty="0"/>
          </a:p>
        </p:txBody>
      </p:sp>
      <p:sp>
        <p:nvSpPr>
          <p:cNvPr id="14" name="Text 12"/>
          <p:cNvSpPr/>
          <p:nvPr/>
        </p:nvSpPr>
        <p:spPr>
          <a:xfrm>
            <a:off x="814388" y="2423964"/>
            <a:ext cx="3507581" cy="278606"/>
          </a:xfrm>
          <a:prstGeom prst="rect">
            <a:avLst/>
          </a:prstGeom>
          <a:noFill/>
          <a:ln/>
        </p:spPr>
        <p:txBody>
          <a:bodyPr wrap="square" lIns="0" tIns="0" rIns="0" bIns="0" rtlCol="0" anchor="t"/>
          <a:lstStyle/>
          <a:p>
            <a:pPr marL="0" indent="0" algn="l">
              <a:lnSpc>
                <a:spcPts val="1097"/>
              </a:lnSpc>
              <a:buNone/>
            </a:pPr>
            <a:r>
              <a:rPr lang="en-US" sz="800" dirty="0">
                <a:solidFill>
                  <a:srgbClr val="5B6B84"/>
                </a:solidFill>
                <a:latin typeface="Carlito" pitchFamily="34" charset="0"/>
                <a:ea typeface="Carlito" pitchFamily="34" charset="-122"/>
                <a:cs typeface="Carlito" pitchFamily="34" charset="-120"/>
              </a:rPr>
              <a:t>Rich, but online-only: they need an account and internet, and show only the statistics the app decides to expose.</a:t>
            </a:r>
            <a:endParaRPr lang="en-US" sz="800" dirty="0"/>
          </a:p>
        </p:txBody>
      </p:sp>
      <p:sp>
        <p:nvSpPr>
          <p:cNvPr id="15" name="Text 13"/>
          <p:cNvSpPr/>
          <p:nvPr/>
        </p:nvSpPr>
        <p:spPr>
          <a:xfrm>
            <a:off x="432197" y="2920454"/>
            <a:ext cx="4021931" cy="533214"/>
          </a:xfrm>
          <a:prstGeom prst="roundRect">
            <a:avLst>
              <a:gd name="adj" fmla="val 17863"/>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16" name="Text 14"/>
          <p:cNvSpPr/>
          <p:nvPr/>
        </p:nvSpPr>
        <p:spPr>
          <a:xfrm>
            <a:off x="564356" y="3045470"/>
            <a:ext cx="150019" cy="150019"/>
          </a:xfrm>
          <a:prstGeom prst="rect">
            <a:avLst/>
          </a:prstGeom>
          <a:noFill/>
          <a:ln/>
        </p:spPr>
        <p:txBody>
          <a:bodyPr wrap="none" lIns="0" tIns="0" rIns="0" bIns="0" rtlCol="0" anchor="ctr"/>
          <a:lstStyle/>
          <a:p>
            <a:pPr marL="0" indent="0" algn="ctr">
              <a:buNone/>
            </a:pPr>
            <a:r>
              <a:rPr lang="en-US" sz="1477" dirty="0">
                <a:solidFill>
                  <a:srgbClr val="B7791F"/>
                </a:solidFill>
                <a:latin typeface="Segoe UI Symbol" pitchFamily="34" charset="0"/>
                <a:ea typeface="Segoe UI Symbol" pitchFamily="34" charset="-122"/>
                <a:cs typeface="Segoe UI Symbol" pitchFamily="34" charset="-120"/>
              </a:rPr>
              <a:t>▦</a:t>
            </a:r>
            <a:endParaRPr lang="en-US" sz="1477" dirty="0"/>
          </a:p>
        </p:txBody>
      </p:sp>
      <p:sp>
        <p:nvSpPr>
          <p:cNvPr id="17" name="Text 15"/>
          <p:cNvSpPr/>
          <p:nvPr/>
        </p:nvSpPr>
        <p:spPr>
          <a:xfrm>
            <a:off x="814388" y="3031182"/>
            <a:ext cx="3617309" cy="145023"/>
          </a:xfrm>
          <a:prstGeom prst="rect">
            <a:avLst/>
          </a:prstGeom>
          <a:noFill/>
          <a:ln/>
        </p:spPr>
        <p:txBody>
          <a:bodyPr wrap="square" lIns="0" tIns="0" rIns="0" bIns="0" rtlCol="0" anchor="t">
            <a:normAutofit/>
          </a:bodyPr>
          <a:lstStyle/>
          <a:p>
            <a:pPr marL="0" indent="0" algn="l">
              <a:lnSpc>
                <a:spcPts val="1133"/>
              </a:lnSpc>
              <a:buNone/>
            </a:pPr>
            <a:r>
              <a:rPr lang="en-US" sz="872" b="1" dirty="0">
                <a:solidFill>
                  <a:srgbClr val="16305B"/>
                </a:solidFill>
                <a:latin typeface="Carlito" pitchFamily="34" charset="0"/>
                <a:ea typeface="Carlito" pitchFamily="34" charset="-122"/>
                <a:cs typeface="Carlito" pitchFamily="34" charset="-120"/>
              </a:rPr>
              <a:t>Database-based trackers (MySQL projects)</a:t>
            </a:r>
            <a:endParaRPr lang="en-US" sz="872" dirty="0"/>
          </a:p>
        </p:txBody>
      </p:sp>
      <p:sp>
        <p:nvSpPr>
          <p:cNvPr id="18" name="Text 16"/>
          <p:cNvSpPr/>
          <p:nvPr/>
        </p:nvSpPr>
        <p:spPr>
          <a:xfrm>
            <a:off x="814388" y="3203637"/>
            <a:ext cx="3460477" cy="139303"/>
          </a:xfrm>
          <a:prstGeom prst="rect">
            <a:avLst/>
          </a:prstGeom>
          <a:noFill/>
          <a:ln/>
        </p:spPr>
        <p:txBody>
          <a:bodyPr wrap="square" lIns="0" tIns="0" rIns="0" bIns="0" rtlCol="0" anchor="t"/>
          <a:lstStyle/>
          <a:p>
            <a:pPr marL="0" indent="0" algn="l">
              <a:lnSpc>
                <a:spcPts val="1097"/>
              </a:lnSpc>
              <a:buNone/>
            </a:pPr>
            <a:r>
              <a:rPr lang="en-US" sz="731" dirty="0">
                <a:solidFill>
                  <a:srgbClr val="5B6B84"/>
                </a:solidFill>
                <a:latin typeface="Carlito" pitchFamily="34" charset="0"/>
                <a:ea typeface="Carlito" pitchFamily="34" charset="-122"/>
                <a:cs typeface="Carlito" pitchFamily="34" charset="-120"/>
              </a:rPr>
              <a:t>Powerful but heavy — installation and setup are overkill for a single listener’s needs.</a:t>
            </a:r>
            <a:endParaRPr lang="en-US" sz="731" dirty="0"/>
          </a:p>
        </p:txBody>
      </p:sp>
      <p:sp>
        <p:nvSpPr>
          <p:cNvPr id="19" name="Text 17"/>
          <p:cNvSpPr/>
          <p:nvPr/>
        </p:nvSpPr>
        <p:spPr>
          <a:xfrm>
            <a:off x="4689872" y="889397"/>
            <a:ext cx="4021931" cy="3907631"/>
          </a:xfrm>
          <a:prstGeom prst="roundRect">
            <a:avLst>
              <a:gd name="adj" fmla="val 2438"/>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20" name="Text 18"/>
          <p:cNvSpPr/>
          <p:nvPr/>
        </p:nvSpPr>
        <p:spPr>
          <a:xfrm>
            <a:off x="4836319" y="1007269"/>
            <a:ext cx="3871913" cy="208312"/>
          </a:xfrm>
          <a:prstGeom prst="rect">
            <a:avLst/>
          </a:prstGeom>
          <a:noFill/>
          <a:ln/>
        </p:spPr>
        <p:txBody>
          <a:bodyPr wrap="none" lIns="0" tIns="0" rIns="0" bIns="0" rtlCol="0" anchor="t"/>
          <a:lstStyle/>
          <a:p>
            <a:pPr marL="0" indent="0" algn="l">
              <a:lnSpc>
                <a:spcPts val="1519"/>
              </a:lnSpc>
              <a:buNone/>
            </a:pPr>
            <a:r>
              <a:rPr lang="en-US" sz="1013" b="1" dirty="0">
                <a:solidFill>
                  <a:srgbClr val="16305B"/>
                </a:solidFill>
                <a:latin typeface="Tinos" pitchFamily="34" charset="0"/>
                <a:ea typeface="Tinos" pitchFamily="34" charset="-122"/>
                <a:cs typeface="Tinos" pitchFamily="34" charset="-120"/>
              </a:rPr>
              <a:t>Quick comparison</a:t>
            </a:r>
            <a:endParaRPr lang="en-US" sz="1013"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693444" y="1293019"/>
          <a:ext cx="4014787" cy="1502570"/>
        </p:xfrm>
        <a:graphic>
          <a:graphicData uri="http://schemas.openxmlformats.org/drawingml/2006/table">
            <a:tbl>
              <a:tblPr/>
              <a:tblGrid>
                <a:gridCol w="1215330">
                  <a:extLst>
                    <a:ext uri="{9D8B030D-6E8A-4147-A177-3AD203B41FA5}">
                      <a16:colId xmlns:a16="http://schemas.microsoft.com/office/drawing/2014/main" val="20000"/>
                    </a:ext>
                  </a:extLst>
                </a:gridCol>
                <a:gridCol w="995437">
                  <a:extLst>
                    <a:ext uri="{9D8B030D-6E8A-4147-A177-3AD203B41FA5}">
                      <a16:colId xmlns:a16="http://schemas.microsoft.com/office/drawing/2014/main" val="20001"/>
                    </a:ext>
                  </a:extLst>
                </a:gridCol>
                <a:gridCol w="717724">
                  <a:extLst>
                    <a:ext uri="{9D8B030D-6E8A-4147-A177-3AD203B41FA5}">
                      <a16:colId xmlns:a16="http://schemas.microsoft.com/office/drawing/2014/main" val="20002"/>
                    </a:ext>
                  </a:extLst>
                </a:gridCol>
                <a:gridCol w="1086296">
                  <a:extLst>
                    <a:ext uri="{9D8B030D-6E8A-4147-A177-3AD203B41FA5}">
                      <a16:colId xmlns:a16="http://schemas.microsoft.com/office/drawing/2014/main" val="20003"/>
                    </a:ext>
                  </a:extLst>
                </a:gridCol>
              </a:tblGrid>
              <a:tr h="0">
                <a:tc>
                  <a:txBody>
                    <a:bodyPr/>
                    <a:lstStyle/>
                    <a:p>
                      <a:pPr marL="0" indent="0" algn="l">
                        <a:buNone/>
                      </a:pPr>
                      <a:r>
                        <a:rPr lang="en-US" sz="800" b="1" dirty="0">
                          <a:solidFill>
                            <a:srgbClr val="EAF0F9"/>
                          </a:solidFill>
                          <a:latin typeface="Carlito" pitchFamily="34" charset="0"/>
                          <a:ea typeface="Carlito" pitchFamily="34" charset="-122"/>
                          <a:cs typeface="Carlito" pitchFamily="34" charset="-120"/>
                        </a:rPr>
                        <a:t>Method</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solidFill>
                      <a:srgbClr val="16305B"/>
                    </a:solidFill>
                  </a:tcPr>
                </a:tc>
                <a:tc>
                  <a:txBody>
                    <a:bodyPr/>
                    <a:lstStyle/>
                    <a:p>
                      <a:pPr marL="0" indent="0" algn="ctr">
                        <a:buNone/>
                      </a:pPr>
                      <a:r>
                        <a:rPr lang="en-US" sz="800" b="1" dirty="0">
                          <a:solidFill>
                            <a:srgbClr val="EAF0F9"/>
                          </a:solidFill>
                          <a:latin typeface="Carlito" pitchFamily="34" charset="0"/>
                          <a:ea typeface="Carlito" pitchFamily="34" charset="-122"/>
                          <a:cs typeface="Carlito" pitchFamily="34" charset="-120"/>
                        </a:rPr>
                        <a:t>Auto count</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solidFill>
                      <a:srgbClr val="16305B"/>
                    </a:solidFill>
                  </a:tcPr>
                </a:tc>
                <a:tc>
                  <a:txBody>
                    <a:bodyPr/>
                    <a:lstStyle/>
                    <a:p>
                      <a:pPr marL="0" indent="0" algn="ctr">
                        <a:buNone/>
                      </a:pPr>
                      <a:r>
                        <a:rPr lang="en-US" sz="800" b="1" dirty="0">
                          <a:solidFill>
                            <a:srgbClr val="EAF0F9"/>
                          </a:solidFill>
                          <a:latin typeface="Carlito" pitchFamily="34" charset="0"/>
                          <a:ea typeface="Carlito" pitchFamily="34" charset="-122"/>
                          <a:cs typeface="Carlito" pitchFamily="34" charset="-120"/>
                        </a:rPr>
                        <a:t>Offline</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solidFill>
                      <a:srgbClr val="16305B"/>
                    </a:solidFill>
                  </a:tcPr>
                </a:tc>
                <a:tc>
                  <a:txBody>
                    <a:bodyPr/>
                    <a:lstStyle/>
                    <a:p>
                      <a:pPr marL="0" indent="0" algn="ctr">
                        <a:buNone/>
                      </a:pPr>
                      <a:r>
                        <a:rPr lang="en-US" sz="800" b="1" dirty="0">
                          <a:solidFill>
                            <a:srgbClr val="EAF0F9"/>
                          </a:solidFill>
                          <a:latin typeface="Carlito" pitchFamily="34" charset="0"/>
                          <a:ea typeface="Carlito" pitchFamily="34" charset="-122"/>
                          <a:cs typeface="Carlito" pitchFamily="34" charset="-120"/>
                        </a:rPr>
                        <a:t>Full stats</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solidFill>
                      <a:srgbClr val="16305B"/>
                    </a:solidFill>
                  </a:tcPr>
                </a:tc>
                <a:extLst>
                  <a:ext uri="{0D108BD9-81ED-4DB2-BD59-A6C34878D82A}">
                    <a16:rowId xmlns:a16="http://schemas.microsoft.com/office/drawing/2014/main" val="10000"/>
                  </a:ext>
                </a:extLst>
              </a:tr>
              <a:tr h="0">
                <a:tc>
                  <a:txBody>
                    <a:bodyPr/>
                    <a:lstStyle/>
                    <a:p>
                      <a:pPr marL="0" indent="0" algn="l">
                        <a:buNone/>
                      </a:pPr>
                      <a:r>
                        <a:rPr lang="en-US" sz="800" dirty="0">
                          <a:solidFill>
                            <a:srgbClr val="23304A"/>
                          </a:solidFill>
                          <a:latin typeface="Carlito" pitchFamily="34" charset="0"/>
                          <a:ea typeface="Carlito" pitchFamily="34" charset="-122"/>
                          <a:cs typeface="Carlito" pitchFamily="34" charset="-120"/>
                        </a:rPr>
                        <a:t>Handwritten list</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ctr">
                        <a:buNone/>
                      </a:pPr>
                      <a:r>
                        <a:rPr lang="en-US" sz="800" dirty="0">
                          <a:solidFill>
                            <a:srgbClr val="2330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ctr">
                        <a:buNone/>
                      </a:pPr>
                      <a:r>
                        <a:rPr lang="en-US" sz="800" dirty="0">
                          <a:solidFill>
                            <a:srgbClr val="2330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ctr">
                        <a:buNone/>
                      </a:pPr>
                      <a:r>
                        <a:rPr lang="en-US" sz="800" dirty="0">
                          <a:solidFill>
                            <a:srgbClr val="2330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dirty="0">
                          <a:solidFill>
                            <a:srgbClr val="23304A"/>
                          </a:solidFill>
                          <a:latin typeface="Carlito" pitchFamily="34" charset="0"/>
                          <a:ea typeface="Carlito" pitchFamily="34" charset="-122"/>
                          <a:cs typeface="Carlito" pitchFamily="34" charset="-120"/>
                        </a:rPr>
                        <a:t>Spreadsheet</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ctr">
                        <a:buNone/>
                      </a:pPr>
                      <a:r>
                        <a:rPr lang="en-US" sz="800" dirty="0">
                          <a:solidFill>
                            <a:srgbClr val="2330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ctr">
                        <a:buNone/>
                      </a:pPr>
                      <a:r>
                        <a:rPr lang="en-US" sz="800" dirty="0">
                          <a:solidFill>
                            <a:srgbClr val="2330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ctr">
                        <a:buNone/>
                      </a:pPr>
                      <a:r>
                        <a:rPr lang="en-US" sz="800" dirty="0">
                          <a:solidFill>
                            <a:srgbClr val="23304A"/>
                          </a:solidFill>
                          <a:latin typeface="Carlito" pitchFamily="34" charset="0"/>
                          <a:ea typeface="Carlito" pitchFamily="34" charset="-122"/>
                          <a:cs typeface="Carlito" pitchFamily="34" charset="-120"/>
                        </a:rPr>
                        <a:t>manual</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800" dirty="0">
                          <a:solidFill>
                            <a:srgbClr val="23304A"/>
                          </a:solidFill>
                          <a:latin typeface="Carlito" pitchFamily="34" charset="0"/>
                          <a:ea typeface="Carlito" pitchFamily="34" charset="-122"/>
                          <a:cs typeface="Carlito" pitchFamily="34" charset="-120"/>
                        </a:rPr>
                        <a:t>Streaming app</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ctr">
                        <a:buNone/>
                      </a:pPr>
                      <a:r>
                        <a:rPr lang="en-US" sz="800" dirty="0">
                          <a:solidFill>
                            <a:srgbClr val="2330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ctr">
                        <a:buNone/>
                      </a:pPr>
                      <a:r>
                        <a:rPr lang="en-US" sz="800" dirty="0">
                          <a:solidFill>
                            <a:srgbClr val="23304A"/>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ctr">
                        <a:buNone/>
                      </a:pPr>
                      <a:r>
                        <a:rPr lang="en-US" sz="800" dirty="0">
                          <a:solidFill>
                            <a:srgbClr val="23304A"/>
                          </a:solidFill>
                          <a:latin typeface="Carlito" pitchFamily="34" charset="0"/>
                          <a:ea typeface="Carlito" pitchFamily="34" charset="-122"/>
                          <a:cs typeface="Carlito" pitchFamily="34" charset="-120"/>
                        </a:rPr>
                        <a:t>limited</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800" b="1" dirty="0">
                          <a:solidFill>
                            <a:srgbClr val="16305B"/>
                          </a:solidFill>
                          <a:latin typeface="Carlito" pitchFamily="34" charset="0"/>
                          <a:ea typeface="Carlito" pitchFamily="34" charset="-122"/>
                          <a:cs typeface="Carlito" pitchFamily="34" charset="-120"/>
                        </a:rPr>
                        <a:t>This project</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solidFill>
                      <a:srgbClr val="B7791F">
                        <a:alpha val="13000"/>
                      </a:srgbClr>
                    </a:solidFill>
                  </a:tcPr>
                </a:tc>
                <a:tc>
                  <a:txBody>
                    <a:bodyPr/>
                    <a:lstStyle/>
                    <a:p>
                      <a:pPr marL="0" indent="0" algn="ctr">
                        <a:buNone/>
                      </a:pPr>
                      <a:r>
                        <a:rPr lang="en-US" sz="800" b="1" dirty="0">
                          <a:solidFill>
                            <a:srgbClr val="16305B"/>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solidFill>
                      <a:srgbClr val="B7791F">
                        <a:alpha val="13000"/>
                      </a:srgbClr>
                    </a:solidFill>
                  </a:tcPr>
                </a:tc>
                <a:tc>
                  <a:txBody>
                    <a:bodyPr/>
                    <a:lstStyle/>
                    <a:p>
                      <a:pPr marL="0" indent="0" algn="ctr">
                        <a:buNone/>
                      </a:pPr>
                      <a:r>
                        <a:rPr lang="en-US" sz="800" b="1" dirty="0">
                          <a:solidFill>
                            <a:srgbClr val="16305B"/>
                          </a:solidFill>
                          <a:latin typeface="Carlito" pitchFamily="34" charset="0"/>
                          <a:ea typeface="Carlito" pitchFamily="34" charset="-122"/>
                          <a:cs typeface="Carlito" pitchFamily="34" charset="-120"/>
                        </a:rPr>
                        <a:t>✓</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solidFill>
                      <a:srgbClr val="B7791F">
                        <a:alpha val="13000"/>
                      </a:srgbClr>
                    </a:solidFill>
                  </a:tcPr>
                </a:tc>
                <a:tc>
                  <a:txBody>
                    <a:bodyPr/>
                    <a:lstStyle/>
                    <a:p>
                      <a:pPr marL="0" indent="0" algn="ctr">
                        <a:buNone/>
                      </a:pPr>
                      <a:r>
                        <a:rPr lang="en-US" sz="800" b="1" dirty="0">
                          <a:solidFill>
                            <a:srgbClr val="16305B"/>
                          </a:solidFill>
                          <a:latin typeface="Carlito" pitchFamily="34" charset="0"/>
                          <a:ea typeface="Carlito" pitchFamily="34" charset="-122"/>
                          <a:cs typeface="Carlito" pitchFamily="34" charset="-120"/>
                        </a:rPr>
                        <a:t>full report</a:t>
                      </a:r>
                      <a:endParaRPr lang="en-US" sz="800" dirty="0">
                        <a:latin typeface="Carlito" charset="0"/>
                        <a:ea typeface="Carlito" charset="0"/>
                        <a:cs typeface="Carlito" charset="0"/>
                      </a:endParaRPr>
                    </a:p>
                  </a:txBody>
                  <a:tcPr marL="78581" marR="100013" marT="100013"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solidFill>
                      <a:srgbClr val="B7791F">
                        <a:alpha val="13000"/>
                      </a:srgb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28625" y="371475"/>
            <a:ext cx="328613" cy="328613"/>
          </a:xfrm>
          <a:prstGeom prst="roundRect">
            <a:avLst>
              <a:gd name="adj" fmla="val 28985"/>
            </a:avLst>
          </a:prstGeom>
          <a:solidFill>
            <a:srgbClr val="B7791F"/>
          </a:solidFill>
          <a:ln/>
        </p:spPr>
        <p:txBody>
          <a:bodyPr wrap="square" rtlCol="0" anchor="ctr"/>
          <a:lstStyle/>
          <a:p>
            <a:pPr marL="0" indent="0">
              <a:buNone/>
            </a:pPr>
            <a:endParaRPr lang="en-US" dirty="0"/>
          </a:p>
        </p:txBody>
      </p:sp>
      <p:sp>
        <p:nvSpPr>
          <p:cNvPr id="3" name="Text 1"/>
          <p:cNvSpPr/>
          <p:nvPr/>
        </p:nvSpPr>
        <p:spPr>
          <a:xfrm>
            <a:off x="547725" y="423267"/>
            <a:ext cx="209513" cy="243030"/>
          </a:xfrm>
          <a:prstGeom prst="rect">
            <a:avLst/>
          </a:prstGeom>
          <a:noFill/>
          <a:ln/>
        </p:spPr>
        <p:txBody>
          <a:bodyPr wrap="none" lIns="0" tIns="0" rIns="0" bIns="0" rtlCol="0" anchor="t"/>
          <a:lstStyle/>
          <a:p>
            <a:pPr marL="0" indent="0" algn="l">
              <a:lnSpc>
                <a:spcPts val="1772"/>
              </a:lnSpc>
              <a:buNone/>
            </a:pPr>
            <a:r>
              <a:rPr lang="en-US" sz="1181" b="1" dirty="0">
                <a:solidFill>
                  <a:srgbClr val="FFFFFF"/>
                </a:solidFill>
                <a:latin typeface="Liberation Sans Narrow" pitchFamily="34" charset="0"/>
                <a:ea typeface="Liberation Sans Narrow" pitchFamily="34" charset="-122"/>
                <a:cs typeface="Liberation Sans Narrow" pitchFamily="34" charset="-120"/>
              </a:rPr>
              <a:t>5</a:t>
            </a:r>
            <a:endParaRPr lang="en-US" sz="1181" dirty="0"/>
          </a:p>
        </p:txBody>
      </p:sp>
      <p:sp>
        <p:nvSpPr>
          <p:cNvPr id="4" name="Text 2"/>
          <p:cNvSpPr/>
          <p:nvPr/>
        </p:nvSpPr>
        <p:spPr>
          <a:xfrm>
            <a:off x="885825" y="402171"/>
            <a:ext cx="2212470" cy="288478"/>
          </a:xfrm>
          <a:prstGeom prst="rect">
            <a:avLst/>
          </a:prstGeom>
          <a:noFill/>
          <a:ln/>
        </p:spPr>
        <p:txBody>
          <a:bodyPr wrap="none" lIns="0" tIns="0" rIns="0" bIns="0" rtlCol="0" anchor="t"/>
          <a:lstStyle/>
          <a:p>
            <a:pPr marL="0" indent="0" algn="l">
              <a:lnSpc>
                <a:spcPts val="2104"/>
              </a:lnSpc>
              <a:buNone/>
            </a:pPr>
            <a:r>
              <a:rPr lang="en-US" sz="1913" b="1" dirty="0">
                <a:solidFill>
                  <a:srgbClr val="16305B"/>
                </a:solidFill>
                <a:latin typeface="Tinos" pitchFamily="34" charset="0"/>
                <a:ea typeface="Tinos" pitchFamily="34" charset="-122"/>
                <a:cs typeface="Tinos" pitchFamily="34" charset="-120"/>
              </a:rPr>
              <a:t>Proposed System</a:t>
            </a:r>
            <a:endParaRPr lang="en-US" sz="1913" dirty="0"/>
          </a:p>
        </p:txBody>
      </p:sp>
      <p:sp>
        <p:nvSpPr>
          <p:cNvPr id="5" name="Text 3"/>
          <p:cNvSpPr/>
          <p:nvPr/>
        </p:nvSpPr>
        <p:spPr>
          <a:xfrm>
            <a:off x="2784388" y="532209"/>
            <a:ext cx="5930987" cy="7144"/>
          </a:xfrm>
          <a:prstGeom prst="rect">
            <a:avLst/>
          </a:prstGeom>
          <a:solidFill>
            <a:srgbClr val="D9E2EF"/>
          </a:solidFill>
          <a:ln/>
        </p:spPr>
        <p:txBody>
          <a:bodyPr wrap="square" rtlCol="0" anchor="ctr"/>
          <a:lstStyle/>
          <a:p>
            <a:pPr marL="0" indent="0">
              <a:buNone/>
            </a:pPr>
            <a:endParaRPr lang="en-US" dirty="0"/>
          </a:p>
        </p:txBody>
      </p:sp>
      <p:sp>
        <p:nvSpPr>
          <p:cNvPr id="6" name="Text 4"/>
          <p:cNvSpPr/>
          <p:nvPr/>
        </p:nvSpPr>
        <p:spPr>
          <a:xfrm>
            <a:off x="428625" y="814388"/>
            <a:ext cx="8286750" cy="517922"/>
          </a:xfrm>
          <a:prstGeom prst="roundRect">
            <a:avLst>
              <a:gd name="adj" fmla="val 18391"/>
            </a:avLst>
          </a:prstGeom>
          <a:solidFill>
            <a:srgbClr val="F4F7FB"/>
          </a:solidFill>
          <a:ln/>
        </p:spPr>
        <p:txBody>
          <a:bodyPr wrap="square" rtlCol="0" anchor="ctr"/>
          <a:lstStyle/>
          <a:p>
            <a:pPr marL="0" indent="0">
              <a:buNone/>
            </a:pPr>
            <a:endParaRPr lang="en-US" dirty="0"/>
          </a:p>
        </p:txBody>
      </p:sp>
      <p:sp>
        <p:nvSpPr>
          <p:cNvPr id="7" name="Shape 5"/>
          <p:cNvSpPr/>
          <p:nvPr/>
        </p:nvSpPr>
        <p:spPr>
          <a:xfrm>
            <a:off x="428625" y="817959"/>
            <a:ext cx="8286750" cy="0"/>
          </a:xfrm>
          <a:prstGeom prst="line">
            <a:avLst/>
          </a:prstGeom>
          <a:noFill/>
          <a:ln w="7144">
            <a:solidFill>
              <a:srgbClr val="D9E2EF"/>
            </a:solidFill>
            <a:prstDash val="solid"/>
          </a:ln>
        </p:spPr>
        <p:txBody>
          <a:bodyPr/>
          <a:lstStyle/>
          <a:p>
            <a:endParaRPr lang="en-IN"/>
          </a:p>
        </p:txBody>
      </p:sp>
      <p:sp>
        <p:nvSpPr>
          <p:cNvPr id="8" name="Shape 6"/>
          <p:cNvSpPr/>
          <p:nvPr/>
        </p:nvSpPr>
        <p:spPr>
          <a:xfrm>
            <a:off x="8711803" y="814388"/>
            <a:ext cx="0" cy="517922"/>
          </a:xfrm>
          <a:prstGeom prst="line">
            <a:avLst/>
          </a:prstGeom>
          <a:noFill/>
          <a:ln w="7144">
            <a:solidFill>
              <a:srgbClr val="D9E2EF"/>
            </a:solidFill>
            <a:prstDash val="solid"/>
          </a:ln>
        </p:spPr>
        <p:txBody>
          <a:bodyPr/>
          <a:lstStyle/>
          <a:p>
            <a:endParaRPr lang="en-IN"/>
          </a:p>
        </p:txBody>
      </p:sp>
      <p:sp>
        <p:nvSpPr>
          <p:cNvPr id="9" name="Shape 7"/>
          <p:cNvSpPr/>
          <p:nvPr/>
        </p:nvSpPr>
        <p:spPr>
          <a:xfrm>
            <a:off x="428625" y="1328738"/>
            <a:ext cx="8286750" cy="0"/>
          </a:xfrm>
          <a:prstGeom prst="line">
            <a:avLst/>
          </a:prstGeom>
          <a:noFill/>
          <a:ln w="7144">
            <a:solidFill>
              <a:srgbClr val="D9E2EF"/>
            </a:solidFill>
            <a:prstDash val="solid"/>
          </a:ln>
        </p:spPr>
        <p:txBody>
          <a:bodyPr/>
          <a:lstStyle/>
          <a:p>
            <a:endParaRPr lang="en-IN"/>
          </a:p>
        </p:txBody>
      </p:sp>
      <p:sp>
        <p:nvSpPr>
          <p:cNvPr id="10" name="Shape 8"/>
          <p:cNvSpPr/>
          <p:nvPr/>
        </p:nvSpPr>
        <p:spPr>
          <a:xfrm>
            <a:off x="442913" y="814388"/>
            <a:ext cx="0" cy="517922"/>
          </a:xfrm>
          <a:prstGeom prst="line">
            <a:avLst/>
          </a:prstGeom>
          <a:noFill/>
          <a:ln w="28575">
            <a:solidFill>
              <a:srgbClr val="B7791F"/>
            </a:solidFill>
            <a:prstDash val="solid"/>
          </a:ln>
        </p:spPr>
        <p:txBody>
          <a:bodyPr/>
          <a:lstStyle/>
          <a:p>
            <a:endParaRPr lang="en-IN"/>
          </a:p>
        </p:txBody>
      </p:sp>
      <p:sp>
        <p:nvSpPr>
          <p:cNvPr id="11" name="Text 9"/>
          <p:cNvSpPr/>
          <p:nvPr/>
        </p:nvSpPr>
        <p:spPr>
          <a:xfrm>
            <a:off x="585788" y="907256"/>
            <a:ext cx="7993856" cy="332184"/>
          </a:xfrm>
          <a:prstGeom prst="rect">
            <a:avLst/>
          </a:prstGeom>
          <a:noFill/>
          <a:ln/>
        </p:spPr>
        <p:txBody>
          <a:bodyPr wrap="square" lIns="0" tIns="0" rIns="0" bIns="0" rtlCol="0" anchor="t"/>
          <a:lstStyle/>
          <a:p>
            <a:pPr marL="0" indent="0" algn="l">
              <a:lnSpc>
                <a:spcPts val="1308"/>
              </a:lnSpc>
              <a:buNone/>
            </a:pPr>
            <a:r>
              <a:rPr lang="en-US" sz="872" dirty="0">
                <a:solidFill>
                  <a:srgbClr val="23304A"/>
                </a:solidFill>
                <a:latin typeface="Carlito" pitchFamily="34" charset="0"/>
                <a:ea typeface="Carlito" pitchFamily="34" charset="-122"/>
                <a:cs typeface="Carlito" pitchFamily="34" charset="-120"/>
              </a:rPr>
              <a:t>A lightweight Java console application where </a:t>
            </a:r>
            <a:r>
              <a:rPr lang="en-US" sz="872" b="1" dirty="0">
                <a:solidFill>
                  <a:srgbClr val="16305B"/>
                </a:solidFill>
                <a:latin typeface="Carlito" pitchFamily="34" charset="0"/>
                <a:ea typeface="Carlito" pitchFamily="34" charset="-122"/>
                <a:cs typeface="Carlito" pitchFamily="34" charset="-120"/>
              </a:rPr>
              <a:t>playing a song updates its counter automatically</a:t>
            </a:r>
            <a:r>
              <a:rPr lang="en-US" sz="872" dirty="0">
                <a:solidFill>
                  <a:srgbClr val="23304A"/>
                </a:solidFill>
                <a:latin typeface="Carlito" pitchFamily="34" charset="0"/>
                <a:ea typeface="Carlito" pitchFamily="34" charset="-122"/>
                <a:cs typeface="Carlito" pitchFamily="34" charset="-120"/>
              </a:rPr>
              <a:t>, and a built-in </a:t>
            </a:r>
            <a:r>
              <a:rPr lang="en-US" sz="872" b="1" dirty="0">
                <a:solidFill>
                  <a:srgbClr val="16305B"/>
                </a:solidFill>
                <a:latin typeface="Carlito" pitchFamily="34" charset="0"/>
                <a:ea typeface="Carlito" pitchFamily="34" charset="-122"/>
                <a:cs typeface="Carlito" pitchFamily="34" charset="-120"/>
              </a:rPr>
              <a:t>stats engine</a:t>
            </a:r>
            <a:r>
              <a:rPr lang="en-US" sz="872" dirty="0">
                <a:solidFill>
                  <a:srgbClr val="23304A"/>
                </a:solidFill>
                <a:latin typeface="Carlito" pitchFamily="34" charset="0"/>
                <a:ea typeface="Carlito" pitchFamily="34" charset="-122"/>
                <a:cs typeface="Carlito" pitchFamily="34" charset="-120"/>
              </a:rPr>
              <a:t> summarises listening habits instantly — all data stored in a plain text file.</a:t>
            </a:r>
            <a:endParaRPr lang="en-US" sz="872" dirty="0"/>
          </a:p>
        </p:txBody>
      </p:sp>
      <p:sp>
        <p:nvSpPr>
          <p:cNvPr id="12" name="Text 10"/>
          <p:cNvSpPr/>
          <p:nvPr/>
        </p:nvSpPr>
        <p:spPr>
          <a:xfrm>
            <a:off x="428625" y="1446609"/>
            <a:ext cx="4282099" cy="127945"/>
          </a:xfrm>
          <a:prstGeom prst="rect">
            <a:avLst/>
          </a:prstGeom>
          <a:noFill/>
          <a:ln/>
        </p:spPr>
        <p:txBody>
          <a:bodyPr wrap="none" lIns="0" tIns="0" rIns="0" bIns="0" rtlCol="0" anchor="t">
            <a:normAutofit/>
          </a:bodyPr>
          <a:lstStyle/>
          <a:p>
            <a:pPr marL="0" indent="0" algn="l">
              <a:lnSpc>
                <a:spcPts val="886"/>
              </a:lnSpc>
              <a:buNone/>
            </a:pPr>
            <a:r>
              <a:rPr lang="en-US" sz="800" kern="0" spc="83" dirty="0">
                <a:solidFill>
                  <a:srgbClr val="5B6B84"/>
                </a:solidFill>
                <a:latin typeface="Courier New" pitchFamily="34" charset="0"/>
                <a:ea typeface="Courier New" pitchFamily="34" charset="-122"/>
                <a:cs typeface="Courier New" pitchFamily="34" charset="-120"/>
              </a:rPr>
              <a:t>KEY ADVANTAGES</a:t>
            </a:r>
            <a:endParaRPr lang="en-US" sz="800" dirty="0"/>
          </a:p>
        </p:txBody>
      </p:sp>
      <p:sp>
        <p:nvSpPr>
          <p:cNvPr id="13" name="Text 11"/>
          <p:cNvSpPr/>
          <p:nvPr/>
        </p:nvSpPr>
        <p:spPr>
          <a:xfrm>
            <a:off x="428625" y="1734592"/>
            <a:ext cx="300038" cy="300038"/>
          </a:xfrm>
          <a:prstGeom prst="roundRect">
            <a:avLst>
              <a:gd name="adj" fmla="val 34921"/>
            </a:avLst>
          </a:prstGeom>
          <a:solidFill>
            <a:srgbClr val="B7791F">
              <a:alpha val="12000"/>
            </a:srgbClr>
          </a:solidFill>
          <a:ln/>
        </p:spPr>
        <p:txBody>
          <a:bodyPr wrap="square" rtlCol="0" anchor="ctr"/>
          <a:lstStyle/>
          <a:p>
            <a:pPr marL="0" indent="0">
              <a:buNone/>
            </a:pPr>
            <a:endParaRPr lang="en-US" dirty="0"/>
          </a:p>
        </p:txBody>
      </p:sp>
      <p:sp>
        <p:nvSpPr>
          <p:cNvPr id="14" name="Text 12"/>
          <p:cNvSpPr/>
          <p:nvPr/>
        </p:nvSpPr>
        <p:spPr>
          <a:xfrm>
            <a:off x="464701" y="1770668"/>
            <a:ext cx="227886" cy="227886"/>
          </a:xfrm>
          <a:prstGeom prst="rect">
            <a:avLst/>
          </a:prstGeom>
          <a:noFill/>
          <a:ln/>
        </p:spPr>
        <p:txBody>
          <a:bodyPr wrap="none" lIns="0" tIns="0" rIns="0" bIns="0" rtlCol="0" anchor="ctr"/>
          <a:lstStyle/>
          <a:p>
            <a:pPr marL="0" indent="0" algn="ctr">
              <a:buNone/>
            </a:pPr>
            <a:r>
              <a:rPr lang="en-US" sz="1547" dirty="0">
                <a:solidFill>
                  <a:srgbClr val="8A5A14"/>
                </a:solidFill>
                <a:latin typeface="Segoe UI Symbol" pitchFamily="34" charset="0"/>
                <a:ea typeface="Segoe UI Symbol" pitchFamily="34" charset="-122"/>
                <a:cs typeface="Segoe UI Symbol" pitchFamily="34" charset="-120"/>
              </a:rPr>
              <a:t>⚡</a:t>
            </a:r>
            <a:endParaRPr lang="en-US" sz="1547" dirty="0"/>
          </a:p>
        </p:txBody>
      </p:sp>
      <p:sp>
        <p:nvSpPr>
          <p:cNvPr id="15" name="Text 13"/>
          <p:cNvSpPr/>
          <p:nvPr/>
        </p:nvSpPr>
        <p:spPr>
          <a:xfrm>
            <a:off x="828675" y="1809490"/>
            <a:ext cx="2957513" cy="170815"/>
          </a:xfrm>
          <a:prstGeom prst="rect">
            <a:avLst/>
          </a:prstGeom>
          <a:noFill/>
          <a:ln/>
        </p:spPr>
        <p:txBody>
          <a:bodyPr wrap="square" lIns="0" tIns="0" rIns="0" bIns="0" rtlCol="0" anchor="t"/>
          <a:lstStyle/>
          <a:p>
            <a:pPr marL="0" indent="0" algn="l">
              <a:lnSpc>
                <a:spcPts val="1123"/>
              </a:lnSpc>
              <a:buNone/>
            </a:pPr>
            <a:r>
              <a:rPr lang="en-US" sz="774" b="1" dirty="0">
                <a:solidFill>
                  <a:srgbClr val="16305B"/>
                </a:solidFill>
                <a:latin typeface="Carlito" pitchFamily="34" charset="0"/>
                <a:ea typeface="Carlito" pitchFamily="34" charset="-122"/>
                <a:cs typeface="Carlito" pitchFamily="34" charset="-120"/>
              </a:rPr>
              <a:t>Automatic play counting</a:t>
            </a:r>
            <a:r>
              <a:rPr lang="en-US" sz="759" dirty="0">
                <a:solidFill>
                  <a:srgbClr val="5B6B84"/>
                </a:solidFill>
                <a:latin typeface="Carlito" pitchFamily="34" charset="0"/>
                <a:ea typeface="Carlito" pitchFamily="34" charset="-122"/>
                <a:cs typeface="Carlito" pitchFamily="34" charset="-120"/>
              </a:rPr>
              <a:t> — statistics are always current</a:t>
            </a:r>
            <a:endParaRPr lang="en-US" sz="759" dirty="0"/>
          </a:p>
        </p:txBody>
      </p:sp>
      <p:sp>
        <p:nvSpPr>
          <p:cNvPr id="16" name="Text 14"/>
          <p:cNvSpPr/>
          <p:nvPr/>
        </p:nvSpPr>
        <p:spPr>
          <a:xfrm>
            <a:off x="428625" y="2299953"/>
            <a:ext cx="300038" cy="300038"/>
          </a:xfrm>
          <a:prstGeom prst="roundRect">
            <a:avLst>
              <a:gd name="adj" fmla="val 34921"/>
            </a:avLst>
          </a:prstGeom>
          <a:solidFill>
            <a:srgbClr val="B7791F">
              <a:alpha val="12000"/>
            </a:srgbClr>
          </a:solidFill>
          <a:ln/>
        </p:spPr>
        <p:txBody>
          <a:bodyPr wrap="square" rtlCol="0" anchor="ctr"/>
          <a:lstStyle/>
          <a:p>
            <a:pPr marL="0" indent="0">
              <a:buNone/>
            </a:pPr>
            <a:endParaRPr lang="en-US" dirty="0"/>
          </a:p>
        </p:txBody>
      </p:sp>
      <p:sp>
        <p:nvSpPr>
          <p:cNvPr id="17" name="Text 15"/>
          <p:cNvSpPr/>
          <p:nvPr/>
        </p:nvSpPr>
        <p:spPr>
          <a:xfrm>
            <a:off x="464701" y="2336029"/>
            <a:ext cx="227886" cy="227886"/>
          </a:xfrm>
          <a:prstGeom prst="rect">
            <a:avLst/>
          </a:prstGeom>
          <a:noFill/>
          <a:ln/>
        </p:spPr>
        <p:txBody>
          <a:bodyPr wrap="none" lIns="0" tIns="0" rIns="0" bIns="0" rtlCol="0" anchor="ctr"/>
          <a:lstStyle/>
          <a:p>
            <a:pPr marL="0" indent="0" algn="ctr">
              <a:buNone/>
            </a:pPr>
            <a:r>
              <a:rPr lang="en-US" sz="1547" dirty="0">
                <a:solidFill>
                  <a:srgbClr val="8A5A14"/>
                </a:solidFill>
                <a:latin typeface="Segoe UI Symbol" pitchFamily="34" charset="0"/>
                <a:ea typeface="Segoe UI Symbol" pitchFamily="34" charset="-122"/>
                <a:cs typeface="Segoe UI Symbol" pitchFamily="34" charset="-120"/>
              </a:rPr>
              <a:t>◌</a:t>
            </a:r>
            <a:endParaRPr lang="en-US" sz="1547" dirty="0"/>
          </a:p>
        </p:txBody>
      </p:sp>
      <p:sp>
        <p:nvSpPr>
          <p:cNvPr id="18" name="Text 16"/>
          <p:cNvSpPr/>
          <p:nvPr/>
        </p:nvSpPr>
        <p:spPr>
          <a:xfrm>
            <a:off x="828675" y="2374850"/>
            <a:ext cx="2957513" cy="170815"/>
          </a:xfrm>
          <a:prstGeom prst="rect">
            <a:avLst/>
          </a:prstGeom>
          <a:noFill/>
          <a:ln/>
        </p:spPr>
        <p:txBody>
          <a:bodyPr wrap="square" lIns="0" tIns="0" rIns="0" bIns="0" rtlCol="0" anchor="t"/>
          <a:lstStyle/>
          <a:p>
            <a:pPr marL="0" indent="0" algn="l">
              <a:lnSpc>
                <a:spcPts val="1123"/>
              </a:lnSpc>
              <a:buNone/>
            </a:pPr>
            <a:r>
              <a:rPr lang="en-US" sz="774" b="1" dirty="0">
                <a:solidFill>
                  <a:srgbClr val="16305B"/>
                </a:solidFill>
                <a:latin typeface="Carlito" pitchFamily="34" charset="0"/>
                <a:ea typeface="Carlito" pitchFamily="34" charset="-122"/>
                <a:cs typeface="Carlito" pitchFamily="34" charset="-120"/>
              </a:rPr>
              <a:t>Works fully offline</a:t>
            </a:r>
            <a:r>
              <a:rPr lang="en-US" sz="759" dirty="0">
                <a:solidFill>
                  <a:srgbClr val="5B6B84"/>
                </a:solidFill>
                <a:latin typeface="Carlito" pitchFamily="34" charset="0"/>
                <a:ea typeface="Carlito" pitchFamily="34" charset="-122"/>
                <a:cs typeface="Carlito" pitchFamily="34" charset="-120"/>
              </a:rPr>
              <a:t> — only a JDK is required, no database install</a:t>
            </a:r>
            <a:endParaRPr lang="en-US" sz="759" dirty="0"/>
          </a:p>
        </p:txBody>
      </p:sp>
      <p:sp>
        <p:nvSpPr>
          <p:cNvPr id="19" name="Text 17"/>
          <p:cNvSpPr/>
          <p:nvPr/>
        </p:nvSpPr>
        <p:spPr>
          <a:xfrm>
            <a:off x="428625" y="2865313"/>
            <a:ext cx="300038" cy="300038"/>
          </a:xfrm>
          <a:prstGeom prst="roundRect">
            <a:avLst>
              <a:gd name="adj" fmla="val 34921"/>
            </a:avLst>
          </a:prstGeom>
          <a:solidFill>
            <a:srgbClr val="B7791F">
              <a:alpha val="12000"/>
            </a:srgbClr>
          </a:solidFill>
          <a:ln/>
        </p:spPr>
        <p:txBody>
          <a:bodyPr wrap="square" rtlCol="0" anchor="ctr"/>
          <a:lstStyle/>
          <a:p>
            <a:pPr marL="0" indent="0">
              <a:buNone/>
            </a:pPr>
            <a:endParaRPr lang="en-US" dirty="0"/>
          </a:p>
        </p:txBody>
      </p:sp>
      <p:sp>
        <p:nvSpPr>
          <p:cNvPr id="20" name="Text 18"/>
          <p:cNvSpPr/>
          <p:nvPr/>
        </p:nvSpPr>
        <p:spPr>
          <a:xfrm>
            <a:off x="464701" y="2901389"/>
            <a:ext cx="227886" cy="227886"/>
          </a:xfrm>
          <a:prstGeom prst="rect">
            <a:avLst/>
          </a:prstGeom>
          <a:noFill/>
          <a:ln/>
        </p:spPr>
        <p:txBody>
          <a:bodyPr wrap="none" lIns="0" tIns="0" rIns="0" bIns="0" rtlCol="0" anchor="ctr"/>
          <a:lstStyle/>
          <a:p>
            <a:pPr marL="0" indent="0" algn="ctr">
              <a:buNone/>
            </a:pPr>
            <a:r>
              <a:rPr lang="en-US" sz="1547" dirty="0">
                <a:solidFill>
                  <a:srgbClr val="8A5A14"/>
                </a:solidFill>
                <a:latin typeface="Segoe UI Symbol" pitchFamily="34" charset="0"/>
                <a:ea typeface="Segoe UI Symbol" pitchFamily="34" charset="-122"/>
                <a:cs typeface="Segoe UI Symbol" pitchFamily="34" charset="-120"/>
              </a:rPr>
              <a:t>⤓</a:t>
            </a:r>
            <a:endParaRPr lang="en-US" sz="1547" dirty="0"/>
          </a:p>
        </p:txBody>
      </p:sp>
      <p:sp>
        <p:nvSpPr>
          <p:cNvPr id="21" name="Text 19"/>
          <p:cNvSpPr/>
          <p:nvPr/>
        </p:nvSpPr>
        <p:spPr>
          <a:xfrm>
            <a:off x="828675" y="2870336"/>
            <a:ext cx="2957513" cy="329819"/>
          </a:xfrm>
          <a:prstGeom prst="rect">
            <a:avLst/>
          </a:prstGeom>
          <a:noFill/>
          <a:ln/>
        </p:spPr>
        <p:txBody>
          <a:bodyPr wrap="square" lIns="0" tIns="0" rIns="0" bIns="0" rtlCol="0" anchor="t"/>
          <a:lstStyle/>
          <a:p>
            <a:pPr marL="0" indent="0" algn="l">
              <a:lnSpc>
                <a:spcPts val="1123"/>
              </a:lnSpc>
              <a:buNone/>
            </a:pPr>
            <a:r>
              <a:rPr lang="en-US" sz="816" b="1" dirty="0">
                <a:solidFill>
                  <a:srgbClr val="16305B"/>
                </a:solidFill>
                <a:latin typeface="Carlito" pitchFamily="34" charset="0"/>
                <a:ea typeface="Carlito" pitchFamily="34" charset="-122"/>
                <a:cs typeface="Carlito" pitchFamily="34" charset="-120"/>
              </a:rPr>
              <a:t>Persistent storage</a:t>
            </a:r>
            <a:r>
              <a:rPr lang="en-US" sz="800" dirty="0">
                <a:solidFill>
                  <a:srgbClr val="5B6B84"/>
                </a:solidFill>
                <a:latin typeface="Carlito" pitchFamily="34" charset="0"/>
                <a:ea typeface="Carlito" pitchFamily="34" charset="-122"/>
                <a:cs typeface="Carlito" pitchFamily="34" charset="-120"/>
              </a:rPr>
              <a:t> — auto-saves to </a:t>
            </a:r>
            <a:r>
              <a:rPr lang="en-US" sz="800" dirty="0">
                <a:solidFill>
                  <a:srgbClr val="8A5A14"/>
                </a:solidFill>
                <a:latin typeface="Courier New" pitchFamily="34" charset="0"/>
                <a:ea typeface="Courier New" pitchFamily="34" charset="-122"/>
                <a:cs typeface="Courier New" pitchFamily="34" charset="-120"/>
              </a:rPr>
              <a:t>music_data.txt</a:t>
            </a:r>
            <a:r>
              <a:rPr lang="en-US" sz="800" dirty="0">
                <a:solidFill>
                  <a:srgbClr val="5B6B84"/>
                </a:solidFill>
                <a:latin typeface="Carlito" pitchFamily="34" charset="0"/>
                <a:ea typeface="Carlito" pitchFamily="34" charset="-122"/>
                <a:cs typeface="Carlito" pitchFamily="34" charset="-120"/>
              </a:rPr>
              <a:t> after every change</a:t>
            </a:r>
            <a:endParaRPr lang="en-US" sz="800" dirty="0"/>
          </a:p>
        </p:txBody>
      </p:sp>
      <p:sp>
        <p:nvSpPr>
          <p:cNvPr id="22" name="Text 20"/>
          <p:cNvSpPr/>
          <p:nvPr/>
        </p:nvSpPr>
        <p:spPr>
          <a:xfrm>
            <a:off x="428625" y="3430674"/>
            <a:ext cx="300038" cy="300038"/>
          </a:xfrm>
          <a:prstGeom prst="roundRect">
            <a:avLst>
              <a:gd name="adj" fmla="val 34921"/>
            </a:avLst>
          </a:prstGeom>
          <a:solidFill>
            <a:srgbClr val="B7791F">
              <a:alpha val="12000"/>
            </a:srgbClr>
          </a:solidFill>
          <a:ln/>
        </p:spPr>
        <p:txBody>
          <a:bodyPr wrap="square" rtlCol="0" anchor="ctr"/>
          <a:lstStyle/>
          <a:p>
            <a:pPr marL="0" indent="0">
              <a:buNone/>
            </a:pPr>
            <a:endParaRPr lang="en-US" dirty="0"/>
          </a:p>
        </p:txBody>
      </p:sp>
      <p:sp>
        <p:nvSpPr>
          <p:cNvPr id="23" name="Text 21"/>
          <p:cNvSpPr/>
          <p:nvPr/>
        </p:nvSpPr>
        <p:spPr>
          <a:xfrm>
            <a:off x="464701" y="3466750"/>
            <a:ext cx="227886" cy="227886"/>
          </a:xfrm>
          <a:prstGeom prst="rect">
            <a:avLst/>
          </a:prstGeom>
          <a:noFill/>
          <a:ln/>
        </p:spPr>
        <p:txBody>
          <a:bodyPr wrap="none" lIns="0" tIns="0" rIns="0" bIns="0" rtlCol="0" anchor="ctr"/>
          <a:lstStyle/>
          <a:p>
            <a:pPr marL="0" indent="0" algn="ctr">
              <a:buNone/>
            </a:pPr>
            <a:r>
              <a:rPr lang="en-US" sz="1547" dirty="0">
                <a:solidFill>
                  <a:srgbClr val="8A5A14"/>
                </a:solidFill>
                <a:latin typeface="Segoe UI Symbol" pitchFamily="34" charset="0"/>
                <a:ea typeface="Segoe UI Symbol" pitchFamily="34" charset="-122"/>
                <a:cs typeface="Segoe UI Symbol" pitchFamily="34" charset="-120"/>
              </a:rPr>
              <a:t>✦</a:t>
            </a:r>
            <a:endParaRPr lang="en-US" sz="1547" dirty="0"/>
          </a:p>
        </p:txBody>
      </p:sp>
      <p:sp>
        <p:nvSpPr>
          <p:cNvPr id="24" name="Text 22"/>
          <p:cNvSpPr/>
          <p:nvPr/>
        </p:nvSpPr>
        <p:spPr>
          <a:xfrm>
            <a:off x="828675" y="3505572"/>
            <a:ext cx="2957513" cy="170815"/>
          </a:xfrm>
          <a:prstGeom prst="rect">
            <a:avLst/>
          </a:prstGeom>
          <a:noFill/>
          <a:ln/>
        </p:spPr>
        <p:txBody>
          <a:bodyPr wrap="square" lIns="0" tIns="0" rIns="0" bIns="0" rtlCol="0" anchor="t"/>
          <a:lstStyle/>
          <a:p>
            <a:pPr marL="0" indent="0" algn="l">
              <a:lnSpc>
                <a:spcPts val="1123"/>
              </a:lnSpc>
              <a:buNone/>
            </a:pPr>
            <a:r>
              <a:rPr lang="en-US" sz="774" b="1" dirty="0">
                <a:solidFill>
                  <a:srgbClr val="16305B"/>
                </a:solidFill>
                <a:latin typeface="Carlito" pitchFamily="34" charset="0"/>
                <a:ea typeface="Carlito" pitchFamily="34" charset="-122"/>
                <a:cs typeface="Carlito" pitchFamily="34" charset="-120"/>
              </a:rPr>
              <a:t>Modular OOP design</a:t>
            </a:r>
            <a:r>
              <a:rPr lang="en-US" sz="759" dirty="0">
                <a:solidFill>
                  <a:srgbClr val="5B6B84"/>
                </a:solidFill>
                <a:latin typeface="Carlito" pitchFamily="34" charset="0"/>
                <a:ea typeface="Carlito" pitchFamily="34" charset="-122"/>
                <a:cs typeface="Carlito" pitchFamily="34" charset="-120"/>
              </a:rPr>
              <a:t> — 4 small classes, easy to read and extend</a:t>
            </a:r>
            <a:endParaRPr lang="en-US" sz="759" dirty="0"/>
          </a:p>
        </p:txBody>
      </p:sp>
      <p:sp>
        <p:nvSpPr>
          <p:cNvPr id="25" name="Text 23"/>
          <p:cNvSpPr/>
          <p:nvPr/>
        </p:nvSpPr>
        <p:spPr>
          <a:xfrm>
            <a:off x="428625" y="3996035"/>
            <a:ext cx="300038" cy="300038"/>
          </a:xfrm>
          <a:prstGeom prst="roundRect">
            <a:avLst>
              <a:gd name="adj" fmla="val 34921"/>
            </a:avLst>
          </a:prstGeom>
          <a:solidFill>
            <a:srgbClr val="B7791F">
              <a:alpha val="12000"/>
            </a:srgbClr>
          </a:solidFill>
          <a:ln/>
        </p:spPr>
        <p:txBody>
          <a:bodyPr wrap="square" rtlCol="0" anchor="ctr"/>
          <a:lstStyle/>
          <a:p>
            <a:pPr marL="0" indent="0">
              <a:buNone/>
            </a:pPr>
            <a:endParaRPr lang="en-US" dirty="0"/>
          </a:p>
        </p:txBody>
      </p:sp>
      <p:sp>
        <p:nvSpPr>
          <p:cNvPr id="26" name="Text 24"/>
          <p:cNvSpPr/>
          <p:nvPr/>
        </p:nvSpPr>
        <p:spPr>
          <a:xfrm>
            <a:off x="464701" y="4032111"/>
            <a:ext cx="227886" cy="227886"/>
          </a:xfrm>
          <a:prstGeom prst="rect">
            <a:avLst/>
          </a:prstGeom>
          <a:noFill/>
          <a:ln/>
        </p:spPr>
        <p:txBody>
          <a:bodyPr wrap="none" lIns="0" tIns="0" rIns="0" bIns="0" rtlCol="0" anchor="ctr"/>
          <a:lstStyle/>
          <a:p>
            <a:pPr marL="0" indent="0" algn="ctr">
              <a:buNone/>
            </a:pPr>
            <a:r>
              <a:rPr lang="en-US" sz="1547" dirty="0">
                <a:solidFill>
                  <a:srgbClr val="8A5A14"/>
                </a:solidFill>
                <a:latin typeface="Segoe UI Symbol" pitchFamily="34" charset="0"/>
                <a:ea typeface="Segoe UI Symbol" pitchFamily="34" charset="-122"/>
                <a:cs typeface="Segoe UI Symbol" pitchFamily="34" charset="-120"/>
              </a:rPr>
              <a:t>▿</a:t>
            </a:r>
            <a:endParaRPr lang="en-US" sz="1547" dirty="0"/>
          </a:p>
        </p:txBody>
      </p:sp>
      <p:sp>
        <p:nvSpPr>
          <p:cNvPr id="27" name="Text 25"/>
          <p:cNvSpPr/>
          <p:nvPr/>
        </p:nvSpPr>
        <p:spPr>
          <a:xfrm>
            <a:off x="828675" y="4001058"/>
            <a:ext cx="2957513" cy="329819"/>
          </a:xfrm>
          <a:prstGeom prst="rect">
            <a:avLst/>
          </a:prstGeom>
          <a:noFill/>
          <a:ln/>
        </p:spPr>
        <p:txBody>
          <a:bodyPr wrap="square" lIns="0" tIns="0" rIns="0" bIns="0" rtlCol="0" anchor="t"/>
          <a:lstStyle/>
          <a:p>
            <a:pPr marL="0" indent="0" algn="l">
              <a:lnSpc>
                <a:spcPts val="1123"/>
              </a:lnSpc>
              <a:buNone/>
            </a:pPr>
            <a:r>
              <a:rPr lang="en-US" sz="816" b="1" dirty="0">
                <a:solidFill>
                  <a:srgbClr val="16305B"/>
                </a:solidFill>
                <a:latin typeface="Carlito" pitchFamily="34" charset="0"/>
                <a:ea typeface="Carlito" pitchFamily="34" charset="-122"/>
                <a:cs typeface="Carlito" pitchFamily="34" charset="-120"/>
              </a:rPr>
              <a:t>Beginner-friendly code</a:t>
            </a:r>
            <a:r>
              <a:rPr lang="en-US" sz="800" dirty="0">
                <a:solidFill>
                  <a:srgbClr val="5B6B84"/>
                </a:solidFill>
                <a:latin typeface="Carlito" pitchFamily="34" charset="0"/>
                <a:ea typeface="Carlito" pitchFamily="34" charset="-122"/>
                <a:cs typeface="Carlito" pitchFamily="34" charset="-120"/>
              </a:rPr>
              <a:t> — heavily commented for viva explanation</a:t>
            </a:r>
            <a:endParaRPr lang="en-US" sz="800" dirty="0"/>
          </a:p>
        </p:txBody>
      </p:sp>
      <p:sp>
        <p:nvSpPr>
          <p:cNvPr id="28" name="Text 26"/>
          <p:cNvSpPr/>
          <p:nvPr/>
        </p:nvSpPr>
        <p:spPr>
          <a:xfrm>
            <a:off x="3989784" y="1450181"/>
            <a:ext cx="4722019" cy="2975372"/>
          </a:xfrm>
          <a:prstGeom prst="roundRect">
            <a:avLst>
              <a:gd name="adj" fmla="val 3201"/>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29" name="Text 27"/>
          <p:cNvSpPr/>
          <p:nvPr/>
        </p:nvSpPr>
        <p:spPr>
          <a:xfrm>
            <a:off x="4121944" y="1575197"/>
            <a:ext cx="135731" cy="135731"/>
          </a:xfrm>
          <a:prstGeom prst="rect">
            <a:avLst/>
          </a:prstGeom>
          <a:noFill/>
          <a:ln/>
        </p:spPr>
        <p:txBody>
          <a:bodyPr wrap="none" lIns="0" tIns="0" rIns="0" bIns="0" rtlCol="0" anchor="ctr"/>
          <a:lstStyle/>
          <a:p>
            <a:pPr marL="0" indent="0" algn="ctr">
              <a:buNone/>
            </a:pPr>
            <a:r>
              <a:rPr lang="en-US" sz="1336" dirty="0">
                <a:solidFill>
                  <a:srgbClr val="8A5A14"/>
                </a:solidFill>
                <a:latin typeface="Segoe UI Symbol" pitchFamily="34" charset="0"/>
                <a:ea typeface="Segoe UI Symbol" pitchFamily="34" charset="-122"/>
                <a:cs typeface="Segoe UI Symbol" pitchFamily="34" charset="-120"/>
              </a:rPr>
              <a:t>⇄</a:t>
            </a:r>
            <a:endParaRPr lang="en-US" sz="1336" dirty="0"/>
          </a:p>
        </p:txBody>
      </p:sp>
      <p:sp>
        <p:nvSpPr>
          <p:cNvPr id="30" name="Text 28"/>
          <p:cNvSpPr/>
          <p:nvPr/>
        </p:nvSpPr>
        <p:spPr>
          <a:xfrm>
            <a:off x="4321969" y="1546622"/>
            <a:ext cx="4257675" cy="208312"/>
          </a:xfrm>
          <a:prstGeom prst="rect">
            <a:avLst/>
          </a:prstGeom>
          <a:noFill/>
          <a:ln/>
        </p:spPr>
        <p:txBody>
          <a:bodyPr wrap="none" lIns="0" tIns="0" rIns="0" bIns="0" rtlCol="0" anchor="t"/>
          <a:lstStyle/>
          <a:p>
            <a:pPr marL="0" indent="0" algn="l">
              <a:lnSpc>
                <a:spcPts val="1519"/>
              </a:lnSpc>
              <a:buNone/>
            </a:pPr>
            <a:r>
              <a:rPr lang="en-US" sz="1013" b="1" dirty="0">
                <a:solidFill>
                  <a:srgbClr val="16305B"/>
                </a:solidFill>
                <a:latin typeface="Tinos" pitchFamily="34" charset="0"/>
                <a:ea typeface="Tinos" pitchFamily="34" charset="-122"/>
                <a:cs typeface="Tinos" pitchFamily="34" charset="-120"/>
              </a:rPr>
              <a:t>Existing vs Proposed</a:t>
            </a:r>
            <a:endParaRPr lang="en-US" sz="1013" dirty="0"/>
          </a:p>
        </p:txBody>
      </p:sp>
      <p:sp>
        <p:nvSpPr>
          <p:cNvPr id="31" name="Text 29"/>
          <p:cNvSpPr/>
          <p:nvPr/>
        </p:nvSpPr>
        <p:spPr>
          <a:xfrm>
            <a:off x="3993356" y="1810941"/>
            <a:ext cx="4714875" cy="271463"/>
          </a:xfrm>
          <a:prstGeom prst="rect">
            <a:avLst/>
          </a:prstGeom>
          <a:solidFill>
            <a:srgbClr val="16305B"/>
          </a:solidFill>
          <a:ln/>
        </p:spPr>
        <p:txBody>
          <a:bodyPr wrap="square" rtlCol="0" anchor="ctr"/>
          <a:lstStyle/>
          <a:p>
            <a:pPr marL="0" indent="0">
              <a:buNone/>
            </a:pPr>
            <a:endParaRPr lang="en-US" dirty="0"/>
          </a:p>
        </p:txBody>
      </p:sp>
      <p:sp>
        <p:nvSpPr>
          <p:cNvPr id="32" name="Text 30"/>
          <p:cNvSpPr/>
          <p:nvPr/>
        </p:nvSpPr>
        <p:spPr>
          <a:xfrm>
            <a:off x="3993356" y="1810941"/>
            <a:ext cx="1178719" cy="271463"/>
          </a:xfrm>
          <a:prstGeom prst="rect">
            <a:avLst/>
          </a:prstGeom>
          <a:noFill/>
          <a:ln/>
        </p:spPr>
        <p:txBody>
          <a:bodyPr wrap="none" lIns="114300" tIns="71438" rIns="114300" bIns="71438" rtlCol="0" anchor="t"/>
          <a:lstStyle/>
          <a:p>
            <a:pPr marL="0" indent="0" algn="l">
              <a:lnSpc>
                <a:spcPts val="1013"/>
              </a:lnSpc>
              <a:buNone/>
            </a:pPr>
            <a:r>
              <a:rPr lang="en-US" sz="800" kern="0" spc="34" dirty="0">
                <a:solidFill>
                  <a:srgbClr val="EAF0F9"/>
                </a:solidFill>
                <a:latin typeface="Carlito" pitchFamily="34" charset="0"/>
                <a:ea typeface="Carlito" pitchFamily="34" charset="-122"/>
                <a:cs typeface="Carlito" pitchFamily="34" charset="-120"/>
              </a:rPr>
              <a:t>Feature</a:t>
            </a:r>
            <a:endParaRPr lang="en-US" sz="800" dirty="0"/>
          </a:p>
        </p:txBody>
      </p:sp>
      <p:sp>
        <p:nvSpPr>
          <p:cNvPr id="33" name="Text 31"/>
          <p:cNvSpPr/>
          <p:nvPr/>
        </p:nvSpPr>
        <p:spPr>
          <a:xfrm>
            <a:off x="5172075" y="1810941"/>
            <a:ext cx="1667954" cy="271463"/>
          </a:xfrm>
          <a:prstGeom prst="rect">
            <a:avLst/>
          </a:prstGeom>
          <a:noFill/>
          <a:ln/>
        </p:spPr>
        <p:txBody>
          <a:bodyPr wrap="none" lIns="114300" tIns="71438" rIns="114300" bIns="71438" rtlCol="0" anchor="t"/>
          <a:lstStyle/>
          <a:p>
            <a:pPr marL="0" indent="0" algn="l">
              <a:lnSpc>
                <a:spcPts val="1013"/>
              </a:lnSpc>
              <a:buNone/>
            </a:pPr>
            <a:r>
              <a:rPr lang="en-US" sz="800" kern="0" spc="34" dirty="0">
                <a:solidFill>
                  <a:srgbClr val="EAF0F9"/>
                </a:solidFill>
                <a:latin typeface="Carlito" pitchFamily="34" charset="0"/>
                <a:ea typeface="Carlito" pitchFamily="34" charset="-122"/>
                <a:cs typeface="Carlito" pitchFamily="34" charset="-120"/>
              </a:rPr>
              <a:t>Existing tools</a:t>
            </a:r>
            <a:endParaRPr lang="en-US" sz="800" dirty="0"/>
          </a:p>
        </p:txBody>
      </p:sp>
      <p:sp>
        <p:nvSpPr>
          <p:cNvPr id="34" name="Text 32"/>
          <p:cNvSpPr/>
          <p:nvPr/>
        </p:nvSpPr>
        <p:spPr>
          <a:xfrm>
            <a:off x="6840029" y="1810941"/>
            <a:ext cx="1868202" cy="271463"/>
          </a:xfrm>
          <a:prstGeom prst="rect">
            <a:avLst/>
          </a:prstGeom>
          <a:solidFill>
            <a:srgbClr val="F2C879">
              <a:alpha val="14000"/>
            </a:srgbClr>
          </a:solidFill>
          <a:ln/>
        </p:spPr>
        <p:txBody>
          <a:bodyPr wrap="square" rtlCol="0" anchor="ctr"/>
          <a:lstStyle/>
          <a:p>
            <a:pPr marL="0" indent="0">
              <a:buNone/>
            </a:pPr>
            <a:endParaRPr lang="en-US" dirty="0"/>
          </a:p>
        </p:txBody>
      </p:sp>
      <p:sp>
        <p:nvSpPr>
          <p:cNvPr id="35" name="Text 33"/>
          <p:cNvSpPr/>
          <p:nvPr/>
        </p:nvSpPr>
        <p:spPr>
          <a:xfrm>
            <a:off x="6840029" y="1810941"/>
            <a:ext cx="1868202" cy="271463"/>
          </a:xfrm>
          <a:prstGeom prst="rect">
            <a:avLst/>
          </a:prstGeom>
          <a:noFill/>
          <a:ln/>
        </p:spPr>
        <p:txBody>
          <a:bodyPr wrap="none" lIns="114300" tIns="71438" rIns="114300" bIns="71438" rtlCol="0" anchor="t"/>
          <a:lstStyle/>
          <a:p>
            <a:pPr marL="0" indent="0" algn="l">
              <a:lnSpc>
                <a:spcPts val="1013"/>
              </a:lnSpc>
              <a:buNone/>
            </a:pPr>
            <a:r>
              <a:rPr lang="en-US" sz="800" kern="0" spc="34" dirty="0">
                <a:solidFill>
                  <a:srgbClr val="F2C879"/>
                </a:solidFill>
                <a:latin typeface="Carlito" pitchFamily="34" charset="0"/>
                <a:ea typeface="Carlito" pitchFamily="34" charset="-122"/>
                <a:cs typeface="Carlito" pitchFamily="34" charset="-120"/>
              </a:rPr>
              <a:t>This project</a:t>
            </a:r>
            <a:endParaRPr lang="en-US" sz="800" dirty="0"/>
          </a:p>
        </p:txBody>
      </p:sp>
      <p:sp>
        <p:nvSpPr>
          <p:cNvPr id="36" name="Shape 34"/>
          <p:cNvSpPr/>
          <p:nvPr/>
        </p:nvSpPr>
        <p:spPr>
          <a:xfrm>
            <a:off x="3993356" y="2085975"/>
            <a:ext cx="4714875" cy="0"/>
          </a:xfrm>
          <a:prstGeom prst="line">
            <a:avLst/>
          </a:prstGeom>
          <a:noFill/>
          <a:ln w="7144">
            <a:solidFill>
              <a:srgbClr val="D9E2EF"/>
            </a:solidFill>
            <a:prstDash val="solid"/>
          </a:ln>
        </p:spPr>
        <p:txBody>
          <a:bodyPr/>
          <a:lstStyle/>
          <a:p>
            <a:endParaRPr lang="en-IN"/>
          </a:p>
        </p:txBody>
      </p:sp>
      <p:sp>
        <p:nvSpPr>
          <p:cNvPr id="37" name="Text 35"/>
          <p:cNvSpPr/>
          <p:nvPr/>
        </p:nvSpPr>
        <p:spPr>
          <a:xfrm>
            <a:off x="3993356" y="2089547"/>
            <a:ext cx="1178719" cy="460772"/>
          </a:xfrm>
          <a:prstGeom prst="rect">
            <a:avLst/>
          </a:prstGeom>
          <a:noFill/>
          <a:ln/>
        </p:spPr>
        <p:txBody>
          <a:bodyPr wrap="none" lIns="114300" tIns="42863" rIns="114300" bIns="42863" rtlCol="0" anchor="t"/>
          <a:lstStyle/>
          <a:p>
            <a:pPr marL="0" indent="0" algn="l">
              <a:lnSpc>
                <a:spcPts val="987"/>
              </a:lnSpc>
              <a:buNone/>
            </a:pPr>
            <a:r>
              <a:rPr lang="en-US" sz="800" dirty="0">
                <a:solidFill>
                  <a:srgbClr val="23304A"/>
                </a:solidFill>
                <a:latin typeface="Carlito" pitchFamily="34" charset="0"/>
                <a:ea typeface="Carlito" pitchFamily="34" charset="-122"/>
                <a:cs typeface="Carlito" pitchFamily="34" charset="-120"/>
              </a:rPr>
              <a:t>Play counting</a:t>
            </a:r>
            <a:endParaRPr lang="en-US" sz="800" dirty="0"/>
          </a:p>
        </p:txBody>
      </p:sp>
      <p:sp>
        <p:nvSpPr>
          <p:cNvPr id="38" name="Text 36"/>
          <p:cNvSpPr/>
          <p:nvPr/>
        </p:nvSpPr>
        <p:spPr>
          <a:xfrm>
            <a:off x="5172075" y="2089547"/>
            <a:ext cx="1667954" cy="460772"/>
          </a:xfrm>
          <a:prstGeom prst="rect">
            <a:avLst/>
          </a:prstGeom>
          <a:noFill/>
          <a:ln/>
        </p:spPr>
        <p:txBody>
          <a:bodyPr wrap="none" lIns="114300" tIns="42863" rIns="114300" bIns="42863" rtlCol="0" anchor="t"/>
          <a:lstStyle/>
          <a:p>
            <a:pPr marL="0" indent="0" algn="l">
              <a:lnSpc>
                <a:spcPts val="987"/>
              </a:lnSpc>
              <a:buNone/>
            </a:pPr>
            <a:r>
              <a:rPr lang="en-US" sz="800" dirty="0">
                <a:solidFill>
                  <a:srgbClr val="5B6B84"/>
                </a:solidFill>
                <a:latin typeface="Carlito" pitchFamily="34" charset="0"/>
                <a:ea typeface="Carlito" pitchFamily="34" charset="-122"/>
                <a:cs typeface="Carlito" pitchFamily="34" charset="-120"/>
              </a:rPr>
              <a:t>Manual entry</a:t>
            </a:r>
            <a:endParaRPr lang="en-US" sz="800" dirty="0"/>
          </a:p>
        </p:txBody>
      </p:sp>
      <p:sp>
        <p:nvSpPr>
          <p:cNvPr id="39" name="Text 37"/>
          <p:cNvSpPr/>
          <p:nvPr/>
        </p:nvSpPr>
        <p:spPr>
          <a:xfrm>
            <a:off x="6840029" y="2089547"/>
            <a:ext cx="1868202" cy="460772"/>
          </a:xfrm>
          <a:prstGeom prst="rect">
            <a:avLst/>
          </a:prstGeom>
          <a:solidFill>
            <a:srgbClr val="B7791F">
              <a:alpha val="9000"/>
            </a:srgbClr>
          </a:solidFill>
          <a:ln/>
        </p:spPr>
        <p:txBody>
          <a:bodyPr wrap="square" rtlCol="0" anchor="ctr"/>
          <a:lstStyle/>
          <a:p>
            <a:pPr marL="0" indent="0">
              <a:buNone/>
            </a:pPr>
            <a:endParaRPr lang="en-US" dirty="0"/>
          </a:p>
        </p:txBody>
      </p:sp>
      <p:sp>
        <p:nvSpPr>
          <p:cNvPr id="40" name="Text 38"/>
          <p:cNvSpPr/>
          <p:nvPr/>
        </p:nvSpPr>
        <p:spPr>
          <a:xfrm>
            <a:off x="6840029" y="2089547"/>
            <a:ext cx="1868202" cy="460772"/>
          </a:xfrm>
          <a:prstGeom prst="rect">
            <a:avLst/>
          </a:prstGeom>
          <a:noFill/>
          <a:ln/>
        </p:spPr>
        <p:txBody>
          <a:bodyPr wrap="none" lIns="114300" tIns="42863" rIns="114300" bIns="42863" rtlCol="0" anchor="t"/>
          <a:lstStyle/>
          <a:p>
            <a:pPr marL="0" indent="0" algn="l">
              <a:lnSpc>
                <a:spcPts val="987"/>
              </a:lnSpc>
              <a:buNone/>
            </a:pPr>
            <a:r>
              <a:rPr lang="en-US" sz="800" b="1" dirty="0">
                <a:solidFill>
                  <a:srgbClr val="16305B"/>
                </a:solidFill>
                <a:latin typeface="Liberation Sans Narrow" pitchFamily="34" charset="0"/>
                <a:ea typeface="Liberation Sans Narrow" pitchFamily="34" charset="-122"/>
                <a:cs typeface="Liberation Sans Narrow" pitchFamily="34" charset="-120"/>
              </a:rPr>
              <a:t>Automatic (+1 per play)</a:t>
            </a:r>
            <a:endParaRPr lang="en-US" sz="800" dirty="0"/>
          </a:p>
        </p:txBody>
      </p:sp>
      <p:sp>
        <p:nvSpPr>
          <p:cNvPr id="41" name="Shape 39"/>
          <p:cNvSpPr/>
          <p:nvPr/>
        </p:nvSpPr>
        <p:spPr>
          <a:xfrm>
            <a:off x="3993356" y="2553891"/>
            <a:ext cx="4714875" cy="0"/>
          </a:xfrm>
          <a:prstGeom prst="line">
            <a:avLst/>
          </a:prstGeom>
          <a:noFill/>
          <a:ln w="7144">
            <a:solidFill>
              <a:srgbClr val="D9E2EF"/>
            </a:solidFill>
            <a:prstDash val="solid"/>
          </a:ln>
        </p:spPr>
        <p:txBody>
          <a:bodyPr/>
          <a:lstStyle/>
          <a:p>
            <a:endParaRPr lang="en-IN"/>
          </a:p>
        </p:txBody>
      </p:sp>
      <p:sp>
        <p:nvSpPr>
          <p:cNvPr id="42" name="Text 40"/>
          <p:cNvSpPr/>
          <p:nvPr/>
        </p:nvSpPr>
        <p:spPr>
          <a:xfrm>
            <a:off x="3993356" y="2557463"/>
            <a:ext cx="1178719" cy="460772"/>
          </a:xfrm>
          <a:prstGeom prst="rect">
            <a:avLst/>
          </a:prstGeom>
          <a:noFill/>
          <a:ln/>
        </p:spPr>
        <p:txBody>
          <a:bodyPr wrap="none" lIns="114300" tIns="42863" rIns="114300" bIns="42863" rtlCol="0" anchor="t"/>
          <a:lstStyle/>
          <a:p>
            <a:pPr marL="0" indent="0" algn="l">
              <a:lnSpc>
                <a:spcPts val="987"/>
              </a:lnSpc>
              <a:buNone/>
            </a:pPr>
            <a:r>
              <a:rPr lang="en-US" sz="800" dirty="0">
                <a:solidFill>
                  <a:srgbClr val="23304A"/>
                </a:solidFill>
                <a:latin typeface="Carlito" pitchFamily="34" charset="0"/>
                <a:ea typeface="Carlito" pitchFamily="34" charset="-122"/>
                <a:cs typeface="Carlito" pitchFamily="34" charset="-120"/>
              </a:rPr>
              <a:t>Internet needed</a:t>
            </a:r>
            <a:endParaRPr lang="en-US" sz="800" dirty="0"/>
          </a:p>
        </p:txBody>
      </p:sp>
      <p:sp>
        <p:nvSpPr>
          <p:cNvPr id="43" name="Text 41"/>
          <p:cNvSpPr/>
          <p:nvPr/>
        </p:nvSpPr>
        <p:spPr>
          <a:xfrm>
            <a:off x="5172075" y="2557463"/>
            <a:ext cx="1667954" cy="460772"/>
          </a:xfrm>
          <a:prstGeom prst="rect">
            <a:avLst/>
          </a:prstGeom>
          <a:noFill/>
          <a:ln/>
        </p:spPr>
        <p:txBody>
          <a:bodyPr wrap="none" lIns="114300" tIns="42863" rIns="114300" bIns="42863" rtlCol="0" anchor="t"/>
          <a:lstStyle/>
          <a:p>
            <a:pPr marL="0" indent="0" algn="l">
              <a:lnSpc>
                <a:spcPts val="987"/>
              </a:lnSpc>
              <a:buNone/>
            </a:pPr>
            <a:r>
              <a:rPr lang="en-US" sz="800" dirty="0">
                <a:solidFill>
                  <a:srgbClr val="5B6B84"/>
                </a:solidFill>
                <a:latin typeface="Carlito" pitchFamily="34" charset="0"/>
                <a:ea typeface="Carlito" pitchFamily="34" charset="-122"/>
                <a:cs typeface="Carlito" pitchFamily="34" charset="-120"/>
              </a:rPr>
              <a:t>Often (streaming apps)</a:t>
            </a:r>
            <a:endParaRPr lang="en-US" sz="800" dirty="0"/>
          </a:p>
        </p:txBody>
      </p:sp>
      <p:sp>
        <p:nvSpPr>
          <p:cNvPr id="44" name="Text 42"/>
          <p:cNvSpPr/>
          <p:nvPr/>
        </p:nvSpPr>
        <p:spPr>
          <a:xfrm>
            <a:off x="6840029" y="2557463"/>
            <a:ext cx="1868202" cy="460772"/>
          </a:xfrm>
          <a:prstGeom prst="rect">
            <a:avLst/>
          </a:prstGeom>
          <a:solidFill>
            <a:srgbClr val="B7791F">
              <a:alpha val="9000"/>
            </a:srgbClr>
          </a:solidFill>
          <a:ln/>
        </p:spPr>
        <p:txBody>
          <a:bodyPr wrap="square" rtlCol="0" anchor="ctr"/>
          <a:lstStyle/>
          <a:p>
            <a:pPr marL="0" indent="0">
              <a:buNone/>
            </a:pPr>
            <a:endParaRPr lang="en-US" dirty="0"/>
          </a:p>
        </p:txBody>
      </p:sp>
      <p:sp>
        <p:nvSpPr>
          <p:cNvPr id="45" name="Text 43"/>
          <p:cNvSpPr/>
          <p:nvPr/>
        </p:nvSpPr>
        <p:spPr>
          <a:xfrm>
            <a:off x="6840029" y="2557463"/>
            <a:ext cx="1868202" cy="460772"/>
          </a:xfrm>
          <a:prstGeom prst="rect">
            <a:avLst/>
          </a:prstGeom>
          <a:noFill/>
          <a:ln/>
        </p:spPr>
        <p:txBody>
          <a:bodyPr wrap="none" lIns="114300" tIns="42863" rIns="114300" bIns="42863" rtlCol="0" anchor="t"/>
          <a:lstStyle/>
          <a:p>
            <a:pPr marL="0" indent="0" algn="l">
              <a:lnSpc>
                <a:spcPts val="987"/>
              </a:lnSpc>
              <a:buNone/>
            </a:pPr>
            <a:r>
              <a:rPr lang="en-US" sz="800" b="1" dirty="0">
                <a:solidFill>
                  <a:srgbClr val="16305B"/>
                </a:solidFill>
                <a:latin typeface="Liberation Sans Narrow" pitchFamily="34" charset="0"/>
                <a:ea typeface="Liberation Sans Narrow" pitchFamily="34" charset="-122"/>
                <a:cs typeface="Liberation Sans Narrow" pitchFamily="34" charset="-120"/>
              </a:rPr>
              <a:t>Never — 100% offline</a:t>
            </a:r>
            <a:endParaRPr lang="en-US" sz="800" dirty="0"/>
          </a:p>
        </p:txBody>
      </p:sp>
      <p:sp>
        <p:nvSpPr>
          <p:cNvPr id="46" name="Shape 44"/>
          <p:cNvSpPr/>
          <p:nvPr/>
        </p:nvSpPr>
        <p:spPr>
          <a:xfrm>
            <a:off x="3993356" y="3021806"/>
            <a:ext cx="4714875" cy="0"/>
          </a:xfrm>
          <a:prstGeom prst="line">
            <a:avLst/>
          </a:prstGeom>
          <a:noFill/>
          <a:ln w="7144">
            <a:solidFill>
              <a:srgbClr val="D9E2EF"/>
            </a:solidFill>
            <a:prstDash val="solid"/>
          </a:ln>
        </p:spPr>
        <p:txBody>
          <a:bodyPr/>
          <a:lstStyle/>
          <a:p>
            <a:endParaRPr lang="en-IN"/>
          </a:p>
        </p:txBody>
      </p:sp>
      <p:sp>
        <p:nvSpPr>
          <p:cNvPr id="47" name="Text 45"/>
          <p:cNvSpPr/>
          <p:nvPr/>
        </p:nvSpPr>
        <p:spPr>
          <a:xfrm>
            <a:off x="3993356" y="3025378"/>
            <a:ext cx="1178719" cy="460772"/>
          </a:xfrm>
          <a:prstGeom prst="rect">
            <a:avLst/>
          </a:prstGeom>
          <a:noFill/>
          <a:ln/>
        </p:spPr>
        <p:txBody>
          <a:bodyPr wrap="none" lIns="114300" tIns="42863" rIns="114300" bIns="42863" rtlCol="0" anchor="t"/>
          <a:lstStyle/>
          <a:p>
            <a:pPr marL="0" indent="0" algn="l">
              <a:lnSpc>
                <a:spcPts val="987"/>
              </a:lnSpc>
              <a:buNone/>
            </a:pPr>
            <a:r>
              <a:rPr lang="en-US" sz="800" dirty="0">
                <a:solidFill>
                  <a:srgbClr val="23304A"/>
                </a:solidFill>
                <a:latin typeface="Carlito" pitchFamily="34" charset="0"/>
                <a:ea typeface="Carlito" pitchFamily="34" charset="-122"/>
                <a:cs typeface="Carlito" pitchFamily="34" charset="-120"/>
              </a:rPr>
              <a:t>Storage</a:t>
            </a:r>
            <a:endParaRPr lang="en-US" sz="800" dirty="0"/>
          </a:p>
        </p:txBody>
      </p:sp>
      <p:sp>
        <p:nvSpPr>
          <p:cNvPr id="48" name="Text 46"/>
          <p:cNvSpPr/>
          <p:nvPr/>
        </p:nvSpPr>
        <p:spPr>
          <a:xfrm>
            <a:off x="5172075" y="3025378"/>
            <a:ext cx="1667954" cy="460772"/>
          </a:xfrm>
          <a:prstGeom prst="rect">
            <a:avLst/>
          </a:prstGeom>
          <a:noFill/>
          <a:ln/>
        </p:spPr>
        <p:txBody>
          <a:bodyPr wrap="none" lIns="114300" tIns="42863" rIns="114300" bIns="42863" rtlCol="0" anchor="t"/>
          <a:lstStyle/>
          <a:p>
            <a:pPr marL="0" indent="0" algn="l">
              <a:lnSpc>
                <a:spcPts val="987"/>
              </a:lnSpc>
              <a:buNone/>
            </a:pPr>
            <a:r>
              <a:rPr lang="en-US" sz="800" dirty="0">
                <a:solidFill>
                  <a:srgbClr val="5B6B84"/>
                </a:solidFill>
                <a:latin typeface="Carlito" pitchFamily="34" charset="0"/>
                <a:ea typeface="Carlito" pitchFamily="34" charset="-122"/>
                <a:cs typeface="Carlito" pitchFamily="34" charset="-120"/>
              </a:rPr>
              <a:t>Cloud / app account</a:t>
            </a:r>
            <a:endParaRPr lang="en-US" sz="800" dirty="0"/>
          </a:p>
        </p:txBody>
      </p:sp>
      <p:sp>
        <p:nvSpPr>
          <p:cNvPr id="49" name="Text 47"/>
          <p:cNvSpPr/>
          <p:nvPr/>
        </p:nvSpPr>
        <p:spPr>
          <a:xfrm>
            <a:off x="6840029" y="3025378"/>
            <a:ext cx="1868202" cy="460772"/>
          </a:xfrm>
          <a:prstGeom prst="rect">
            <a:avLst/>
          </a:prstGeom>
          <a:solidFill>
            <a:srgbClr val="B7791F">
              <a:alpha val="9000"/>
            </a:srgbClr>
          </a:solidFill>
          <a:ln/>
        </p:spPr>
        <p:txBody>
          <a:bodyPr wrap="square" rtlCol="0" anchor="ctr"/>
          <a:lstStyle/>
          <a:p>
            <a:pPr marL="0" indent="0">
              <a:buNone/>
            </a:pPr>
            <a:endParaRPr lang="en-US" dirty="0"/>
          </a:p>
        </p:txBody>
      </p:sp>
      <p:sp>
        <p:nvSpPr>
          <p:cNvPr id="50" name="Text 48"/>
          <p:cNvSpPr/>
          <p:nvPr/>
        </p:nvSpPr>
        <p:spPr>
          <a:xfrm>
            <a:off x="6840029" y="3025378"/>
            <a:ext cx="1868202" cy="460772"/>
          </a:xfrm>
          <a:prstGeom prst="rect">
            <a:avLst/>
          </a:prstGeom>
          <a:noFill/>
          <a:ln/>
        </p:spPr>
        <p:txBody>
          <a:bodyPr wrap="none" lIns="114300" tIns="42863" rIns="114300" bIns="42863" rtlCol="0" anchor="t"/>
          <a:lstStyle/>
          <a:p>
            <a:pPr marL="0" indent="0" algn="l">
              <a:lnSpc>
                <a:spcPts val="987"/>
              </a:lnSpc>
              <a:buNone/>
            </a:pPr>
            <a:r>
              <a:rPr lang="en-US" sz="800" b="1" dirty="0">
                <a:solidFill>
                  <a:srgbClr val="16305B"/>
                </a:solidFill>
                <a:latin typeface="Carlito" pitchFamily="34" charset="0"/>
                <a:ea typeface="Carlito" pitchFamily="34" charset="-122"/>
                <a:cs typeface="Carlito" pitchFamily="34" charset="-120"/>
              </a:rPr>
              <a:t>Local text file, portable</a:t>
            </a:r>
            <a:endParaRPr lang="en-US" sz="800" dirty="0"/>
          </a:p>
        </p:txBody>
      </p:sp>
      <p:sp>
        <p:nvSpPr>
          <p:cNvPr id="51" name="Shape 49"/>
          <p:cNvSpPr/>
          <p:nvPr/>
        </p:nvSpPr>
        <p:spPr>
          <a:xfrm>
            <a:off x="3993356" y="3489722"/>
            <a:ext cx="4714875" cy="0"/>
          </a:xfrm>
          <a:prstGeom prst="line">
            <a:avLst/>
          </a:prstGeom>
          <a:noFill/>
          <a:ln w="7144">
            <a:solidFill>
              <a:srgbClr val="D9E2EF"/>
            </a:solidFill>
            <a:prstDash val="solid"/>
          </a:ln>
        </p:spPr>
        <p:txBody>
          <a:bodyPr/>
          <a:lstStyle/>
          <a:p>
            <a:endParaRPr lang="en-IN"/>
          </a:p>
        </p:txBody>
      </p:sp>
      <p:sp>
        <p:nvSpPr>
          <p:cNvPr id="52" name="Text 50"/>
          <p:cNvSpPr/>
          <p:nvPr/>
        </p:nvSpPr>
        <p:spPr>
          <a:xfrm>
            <a:off x="3993356" y="3493294"/>
            <a:ext cx="1178719" cy="460772"/>
          </a:xfrm>
          <a:prstGeom prst="rect">
            <a:avLst/>
          </a:prstGeom>
          <a:noFill/>
          <a:ln/>
        </p:spPr>
        <p:txBody>
          <a:bodyPr wrap="none" lIns="114300" tIns="42863" rIns="114300" bIns="42863" rtlCol="0" anchor="t"/>
          <a:lstStyle/>
          <a:p>
            <a:pPr marL="0" indent="0" algn="l">
              <a:lnSpc>
                <a:spcPts val="987"/>
              </a:lnSpc>
              <a:buNone/>
            </a:pPr>
            <a:r>
              <a:rPr lang="en-US" sz="800" dirty="0">
                <a:solidFill>
                  <a:srgbClr val="23304A"/>
                </a:solidFill>
                <a:latin typeface="Carlito" pitchFamily="34" charset="0"/>
                <a:ea typeface="Carlito" pitchFamily="34" charset="-122"/>
                <a:cs typeface="Carlito" pitchFamily="34" charset="-120"/>
              </a:rPr>
              <a:t>Statistics</a:t>
            </a:r>
            <a:endParaRPr lang="en-US" sz="800" dirty="0"/>
          </a:p>
        </p:txBody>
      </p:sp>
      <p:sp>
        <p:nvSpPr>
          <p:cNvPr id="53" name="Text 51"/>
          <p:cNvSpPr/>
          <p:nvPr/>
        </p:nvSpPr>
        <p:spPr>
          <a:xfrm>
            <a:off x="5172075" y="3493294"/>
            <a:ext cx="1667954" cy="460772"/>
          </a:xfrm>
          <a:prstGeom prst="rect">
            <a:avLst/>
          </a:prstGeom>
          <a:noFill/>
          <a:ln/>
        </p:spPr>
        <p:txBody>
          <a:bodyPr wrap="none" lIns="114300" tIns="42863" rIns="114300" bIns="42863" rtlCol="0" anchor="t"/>
          <a:lstStyle/>
          <a:p>
            <a:pPr marL="0" indent="0" algn="l">
              <a:lnSpc>
                <a:spcPts val="987"/>
              </a:lnSpc>
              <a:buNone/>
            </a:pPr>
            <a:r>
              <a:rPr lang="en-US" sz="800" dirty="0">
                <a:solidFill>
                  <a:srgbClr val="5B6B84"/>
                </a:solidFill>
                <a:latin typeface="Carlito" pitchFamily="34" charset="0"/>
                <a:ea typeface="Carlito" pitchFamily="34" charset="-122"/>
                <a:cs typeface="Carlito" pitchFamily="34" charset="-120"/>
              </a:rPr>
              <a:t>Limited, app-defined</a:t>
            </a:r>
            <a:endParaRPr lang="en-US" sz="800" dirty="0"/>
          </a:p>
        </p:txBody>
      </p:sp>
      <p:sp>
        <p:nvSpPr>
          <p:cNvPr id="54" name="Text 52"/>
          <p:cNvSpPr/>
          <p:nvPr/>
        </p:nvSpPr>
        <p:spPr>
          <a:xfrm>
            <a:off x="6840029" y="3493294"/>
            <a:ext cx="1868202" cy="460772"/>
          </a:xfrm>
          <a:prstGeom prst="rect">
            <a:avLst/>
          </a:prstGeom>
          <a:solidFill>
            <a:srgbClr val="B7791F">
              <a:alpha val="9000"/>
            </a:srgbClr>
          </a:solidFill>
          <a:ln/>
        </p:spPr>
        <p:txBody>
          <a:bodyPr wrap="square" rtlCol="0" anchor="ctr"/>
          <a:lstStyle/>
          <a:p>
            <a:pPr marL="0" indent="0">
              <a:buNone/>
            </a:pPr>
            <a:endParaRPr lang="en-US" dirty="0"/>
          </a:p>
        </p:txBody>
      </p:sp>
      <p:sp>
        <p:nvSpPr>
          <p:cNvPr id="55" name="Text 53"/>
          <p:cNvSpPr/>
          <p:nvPr/>
        </p:nvSpPr>
        <p:spPr>
          <a:xfrm>
            <a:off x="6840029" y="3493294"/>
            <a:ext cx="1868202" cy="460772"/>
          </a:xfrm>
          <a:prstGeom prst="rect">
            <a:avLst/>
          </a:prstGeom>
          <a:noFill/>
          <a:ln/>
        </p:spPr>
        <p:txBody>
          <a:bodyPr wrap="none" lIns="114300" tIns="42863" rIns="114300" bIns="42863" rtlCol="0" anchor="t"/>
          <a:lstStyle/>
          <a:p>
            <a:pPr marL="0" indent="0" algn="l">
              <a:lnSpc>
                <a:spcPts val="987"/>
              </a:lnSpc>
              <a:buNone/>
            </a:pPr>
            <a:r>
              <a:rPr lang="en-US" sz="800" b="1" dirty="0">
                <a:solidFill>
                  <a:srgbClr val="16305B"/>
                </a:solidFill>
                <a:latin typeface="Liberation Sans Narrow" pitchFamily="34" charset="0"/>
                <a:ea typeface="Liberation Sans Narrow" pitchFamily="34" charset="-122"/>
                <a:cs typeface="Liberation Sans Narrow" pitchFamily="34" charset="-120"/>
              </a:rPr>
              <a:t>Full local report + Top-5</a:t>
            </a:r>
            <a:endParaRPr lang="en-US" sz="800" dirty="0"/>
          </a:p>
        </p:txBody>
      </p:sp>
      <p:sp>
        <p:nvSpPr>
          <p:cNvPr id="56" name="Shape 54"/>
          <p:cNvSpPr/>
          <p:nvPr/>
        </p:nvSpPr>
        <p:spPr>
          <a:xfrm>
            <a:off x="3993356" y="3957638"/>
            <a:ext cx="4714875" cy="0"/>
          </a:xfrm>
          <a:prstGeom prst="line">
            <a:avLst/>
          </a:prstGeom>
          <a:noFill/>
          <a:ln w="7144">
            <a:solidFill>
              <a:srgbClr val="D9E2EF"/>
            </a:solidFill>
            <a:prstDash val="solid"/>
          </a:ln>
        </p:spPr>
        <p:txBody>
          <a:bodyPr/>
          <a:lstStyle/>
          <a:p>
            <a:endParaRPr lang="en-IN"/>
          </a:p>
        </p:txBody>
      </p:sp>
      <p:sp>
        <p:nvSpPr>
          <p:cNvPr id="57" name="Text 55"/>
          <p:cNvSpPr/>
          <p:nvPr/>
        </p:nvSpPr>
        <p:spPr>
          <a:xfrm>
            <a:off x="3993356" y="3961209"/>
            <a:ext cx="1178719" cy="460772"/>
          </a:xfrm>
          <a:prstGeom prst="rect">
            <a:avLst/>
          </a:prstGeom>
          <a:noFill/>
          <a:ln/>
        </p:spPr>
        <p:txBody>
          <a:bodyPr wrap="none" lIns="114300" tIns="42863" rIns="114300" bIns="42863" rtlCol="0" anchor="t"/>
          <a:lstStyle/>
          <a:p>
            <a:pPr marL="0" indent="0" algn="l">
              <a:lnSpc>
                <a:spcPts val="987"/>
              </a:lnSpc>
              <a:buNone/>
            </a:pPr>
            <a:r>
              <a:rPr lang="en-US" sz="800" dirty="0">
                <a:solidFill>
                  <a:srgbClr val="23304A"/>
                </a:solidFill>
                <a:latin typeface="Carlito" pitchFamily="34" charset="0"/>
                <a:ea typeface="Carlito" pitchFamily="34" charset="-122"/>
                <a:cs typeface="Carlito" pitchFamily="34" charset="-120"/>
              </a:rPr>
              <a:t>Source code control</a:t>
            </a:r>
            <a:endParaRPr lang="en-US" sz="800" dirty="0"/>
          </a:p>
        </p:txBody>
      </p:sp>
      <p:sp>
        <p:nvSpPr>
          <p:cNvPr id="58" name="Text 56"/>
          <p:cNvSpPr/>
          <p:nvPr/>
        </p:nvSpPr>
        <p:spPr>
          <a:xfrm>
            <a:off x="5172075" y="3961209"/>
            <a:ext cx="1667954" cy="460772"/>
          </a:xfrm>
          <a:prstGeom prst="rect">
            <a:avLst/>
          </a:prstGeom>
          <a:noFill/>
          <a:ln/>
        </p:spPr>
        <p:txBody>
          <a:bodyPr wrap="none" lIns="114300" tIns="42863" rIns="114300" bIns="42863" rtlCol="0" anchor="t"/>
          <a:lstStyle/>
          <a:p>
            <a:pPr marL="0" indent="0" algn="l">
              <a:lnSpc>
                <a:spcPts val="987"/>
              </a:lnSpc>
              <a:buNone/>
            </a:pPr>
            <a:r>
              <a:rPr lang="en-US" sz="800" dirty="0">
                <a:solidFill>
                  <a:srgbClr val="5B6B84"/>
                </a:solidFill>
                <a:latin typeface="Carlito" pitchFamily="34" charset="0"/>
                <a:ea typeface="Carlito" pitchFamily="34" charset="-122"/>
                <a:cs typeface="Carlito" pitchFamily="34" charset="-120"/>
              </a:rPr>
              <a:t>Closed</a:t>
            </a:r>
            <a:endParaRPr lang="en-US" sz="800" dirty="0"/>
          </a:p>
        </p:txBody>
      </p:sp>
      <p:sp>
        <p:nvSpPr>
          <p:cNvPr id="59" name="Text 57"/>
          <p:cNvSpPr/>
          <p:nvPr/>
        </p:nvSpPr>
        <p:spPr>
          <a:xfrm>
            <a:off x="6840029" y="3961209"/>
            <a:ext cx="1868202" cy="460772"/>
          </a:xfrm>
          <a:prstGeom prst="rect">
            <a:avLst/>
          </a:prstGeom>
          <a:solidFill>
            <a:srgbClr val="B7791F">
              <a:alpha val="9000"/>
            </a:srgbClr>
          </a:solidFill>
          <a:ln/>
        </p:spPr>
        <p:txBody>
          <a:bodyPr wrap="square" rtlCol="0" anchor="ctr"/>
          <a:lstStyle/>
          <a:p>
            <a:pPr marL="0" indent="0">
              <a:buNone/>
            </a:pPr>
            <a:endParaRPr lang="en-US" dirty="0"/>
          </a:p>
        </p:txBody>
      </p:sp>
      <p:sp>
        <p:nvSpPr>
          <p:cNvPr id="60" name="Text 58"/>
          <p:cNvSpPr/>
          <p:nvPr/>
        </p:nvSpPr>
        <p:spPr>
          <a:xfrm>
            <a:off x="6840029" y="3961209"/>
            <a:ext cx="1868202" cy="460772"/>
          </a:xfrm>
          <a:prstGeom prst="rect">
            <a:avLst/>
          </a:prstGeom>
          <a:noFill/>
          <a:ln/>
        </p:spPr>
        <p:txBody>
          <a:bodyPr wrap="none" lIns="114300" tIns="42863" rIns="114300" bIns="42863" rtlCol="0" anchor="t"/>
          <a:lstStyle/>
          <a:p>
            <a:pPr marL="0" indent="0" algn="l">
              <a:lnSpc>
                <a:spcPts val="987"/>
              </a:lnSpc>
              <a:buNone/>
            </a:pPr>
            <a:r>
              <a:rPr lang="en-US" sz="800" b="1" dirty="0">
                <a:solidFill>
                  <a:srgbClr val="16305B"/>
                </a:solidFill>
                <a:latin typeface="Carlito" pitchFamily="34" charset="0"/>
                <a:ea typeface="Carlito" pitchFamily="34" charset="-122"/>
                <a:cs typeface="Carlito" pitchFamily="34" charset="-120"/>
              </a:rPr>
              <a:t>Open, simple Java classes</a:t>
            </a:r>
            <a:endParaRPr lang="en-US" sz="800" dirty="0"/>
          </a:p>
        </p:txBody>
      </p:sp>
      <p:sp>
        <p:nvSpPr>
          <p:cNvPr id="61" name="Text 59"/>
          <p:cNvSpPr/>
          <p:nvPr/>
        </p:nvSpPr>
        <p:spPr>
          <a:xfrm>
            <a:off x="428625" y="4529138"/>
            <a:ext cx="4086225" cy="300038"/>
          </a:xfrm>
          <a:prstGeom prst="roundRect">
            <a:avLst>
              <a:gd name="adj" fmla="val 31746"/>
            </a:avLst>
          </a:prstGeom>
          <a:solidFill>
            <a:srgbClr val="FFFFFF"/>
          </a:solidFill>
          <a:ln/>
        </p:spPr>
        <p:txBody>
          <a:bodyPr wrap="square" rtlCol="0" anchor="ctr"/>
          <a:lstStyle/>
          <a:p>
            <a:pPr marL="0" indent="0">
              <a:buNone/>
            </a:pPr>
            <a:endParaRPr lang="en-US" dirty="0"/>
          </a:p>
        </p:txBody>
      </p:sp>
      <p:sp>
        <p:nvSpPr>
          <p:cNvPr id="62" name="Shape 60"/>
          <p:cNvSpPr/>
          <p:nvPr/>
        </p:nvSpPr>
        <p:spPr>
          <a:xfrm>
            <a:off x="428625" y="4532709"/>
            <a:ext cx="4086225" cy="0"/>
          </a:xfrm>
          <a:prstGeom prst="line">
            <a:avLst/>
          </a:prstGeom>
          <a:noFill/>
          <a:ln w="7144">
            <a:solidFill>
              <a:srgbClr val="D9E2EF"/>
            </a:solidFill>
            <a:prstDash val="solid"/>
          </a:ln>
        </p:spPr>
        <p:txBody>
          <a:bodyPr/>
          <a:lstStyle/>
          <a:p>
            <a:endParaRPr lang="en-IN"/>
          </a:p>
        </p:txBody>
      </p:sp>
      <p:sp>
        <p:nvSpPr>
          <p:cNvPr id="63" name="Shape 61"/>
          <p:cNvSpPr/>
          <p:nvPr/>
        </p:nvSpPr>
        <p:spPr>
          <a:xfrm>
            <a:off x="4511278" y="4529138"/>
            <a:ext cx="0" cy="300038"/>
          </a:xfrm>
          <a:prstGeom prst="line">
            <a:avLst/>
          </a:prstGeom>
          <a:noFill/>
          <a:ln w="7144">
            <a:solidFill>
              <a:srgbClr val="D9E2EF"/>
            </a:solidFill>
            <a:prstDash val="solid"/>
          </a:ln>
        </p:spPr>
        <p:txBody>
          <a:bodyPr/>
          <a:lstStyle/>
          <a:p>
            <a:endParaRPr lang="en-IN"/>
          </a:p>
        </p:txBody>
      </p:sp>
      <p:sp>
        <p:nvSpPr>
          <p:cNvPr id="64" name="Shape 62"/>
          <p:cNvSpPr/>
          <p:nvPr/>
        </p:nvSpPr>
        <p:spPr>
          <a:xfrm>
            <a:off x="428625" y="4825603"/>
            <a:ext cx="4086225" cy="0"/>
          </a:xfrm>
          <a:prstGeom prst="line">
            <a:avLst/>
          </a:prstGeom>
          <a:noFill/>
          <a:ln w="7144">
            <a:solidFill>
              <a:srgbClr val="D9E2EF"/>
            </a:solidFill>
            <a:prstDash val="solid"/>
          </a:ln>
        </p:spPr>
        <p:txBody>
          <a:bodyPr/>
          <a:lstStyle/>
          <a:p>
            <a:endParaRPr lang="en-IN"/>
          </a:p>
        </p:txBody>
      </p:sp>
      <p:sp>
        <p:nvSpPr>
          <p:cNvPr id="65" name="Shape 63"/>
          <p:cNvSpPr/>
          <p:nvPr/>
        </p:nvSpPr>
        <p:spPr>
          <a:xfrm>
            <a:off x="442913" y="4529138"/>
            <a:ext cx="0" cy="300038"/>
          </a:xfrm>
          <a:prstGeom prst="line">
            <a:avLst/>
          </a:prstGeom>
          <a:noFill/>
          <a:ln w="28575">
            <a:solidFill>
              <a:srgbClr val="B7791F"/>
            </a:solidFill>
            <a:prstDash val="solid"/>
          </a:ln>
        </p:spPr>
        <p:txBody>
          <a:bodyPr/>
          <a:lstStyle/>
          <a:p>
            <a:endParaRPr lang="en-IN"/>
          </a:p>
        </p:txBody>
      </p:sp>
      <p:sp>
        <p:nvSpPr>
          <p:cNvPr id="66" name="Text 64"/>
          <p:cNvSpPr/>
          <p:nvPr/>
        </p:nvSpPr>
        <p:spPr>
          <a:xfrm>
            <a:off x="571500" y="4600575"/>
            <a:ext cx="157163" cy="157163"/>
          </a:xfrm>
          <a:prstGeom prst="rect">
            <a:avLst/>
          </a:prstGeom>
          <a:noFill/>
          <a:ln/>
        </p:spPr>
        <p:txBody>
          <a:bodyPr wrap="none" lIns="0" tIns="0" rIns="0" bIns="0" rtlCol="0" anchor="ctr"/>
          <a:lstStyle/>
          <a:p>
            <a:pPr marL="0" indent="0" algn="ctr">
              <a:buNone/>
            </a:pPr>
            <a:r>
              <a:rPr lang="en-US" sz="1547" dirty="0">
                <a:solidFill>
                  <a:srgbClr val="8A5A14"/>
                </a:solidFill>
                <a:latin typeface="Segoe UI Symbol" pitchFamily="34" charset="0"/>
                <a:ea typeface="Segoe UI Symbol" pitchFamily="34" charset="-122"/>
                <a:cs typeface="Segoe UI Symbol" pitchFamily="34" charset="-120"/>
              </a:rPr>
              <a:t>⚡</a:t>
            </a:r>
            <a:endParaRPr lang="en-US" sz="1547" dirty="0"/>
          </a:p>
        </p:txBody>
      </p:sp>
      <p:sp>
        <p:nvSpPr>
          <p:cNvPr id="67" name="Text 65"/>
          <p:cNvSpPr/>
          <p:nvPr/>
        </p:nvSpPr>
        <p:spPr>
          <a:xfrm>
            <a:off x="814388" y="4614193"/>
            <a:ext cx="3579019" cy="143545"/>
          </a:xfrm>
          <a:prstGeom prst="rect">
            <a:avLst/>
          </a:prstGeom>
          <a:noFill/>
          <a:ln/>
        </p:spPr>
        <p:txBody>
          <a:bodyPr wrap="square" lIns="0" tIns="0" rIns="0" bIns="0" rtlCol="0" anchor="t"/>
          <a:lstStyle/>
          <a:p>
            <a:pPr marL="0" indent="0" algn="l">
              <a:lnSpc>
                <a:spcPts val="1024"/>
              </a:lnSpc>
              <a:buNone/>
            </a:pPr>
            <a:r>
              <a:rPr lang="en-US" sz="731" b="1" dirty="0">
                <a:solidFill>
                  <a:srgbClr val="16305B"/>
                </a:solidFill>
                <a:latin typeface="Liberation Sans Narrow" pitchFamily="34" charset="0"/>
                <a:ea typeface="Liberation Sans Narrow" pitchFamily="34" charset="-122"/>
                <a:cs typeface="Liberation Sans Narrow" pitchFamily="34" charset="-120"/>
              </a:rPr>
              <a:t>Pillar 1 · Automation</a:t>
            </a:r>
            <a:r>
              <a:rPr lang="en-US" sz="731" dirty="0">
                <a:solidFill>
                  <a:srgbClr val="5B6B84"/>
                </a:solidFill>
                <a:latin typeface="Carlito" pitchFamily="34" charset="0"/>
                <a:ea typeface="Carlito" pitchFamily="34" charset="-122"/>
                <a:cs typeface="Carlito" pitchFamily="34" charset="-120"/>
              </a:rPr>
              <a:t> — every play updates the counters with zero manual entry.</a:t>
            </a:r>
            <a:endParaRPr lang="en-US" sz="731" dirty="0"/>
          </a:p>
        </p:txBody>
      </p:sp>
      <p:sp>
        <p:nvSpPr>
          <p:cNvPr id="68" name="Text 66"/>
          <p:cNvSpPr/>
          <p:nvPr/>
        </p:nvSpPr>
        <p:spPr>
          <a:xfrm>
            <a:off x="4629150" y="4529138"/>
            <a:ext cx="4086225" cy="300038"/>
          </a:xfrm>
          <a:prstGeom prst="roundRect">
            <a:avLst>
              <a:gd name="adj" fmla="val 31746"/>
            </a:avLst>
          </a:prstGeom>
          <a:solidFill>
            <a:srgbClr val="FFFFFF"/>
          </a:solidFill>
          <a:ln/>
        </p:spPr>
        <p:txBody>
          <a:bodyPr wrap="square" rtlCol="0" anchor="ctr"/>
          <a:lstStyle/>
          <a:p>
            <a:pPr marL="0" indent="0">
              <a:buNone/>
            </a:pPr>
            <a:endParaRPr lang="en-US" dirty="0"/>
          </a:p>
        </p:txBody>
      </p:sp>
      <p:sp>
        <p:nvSpPr>
          <p:cNvPr id="69" name="Shape 67"/>
          <p:cNvSpPr/>
          <p:nvPr/>
        </p:nvSpPr>
        <p:spPr>
          <a:xfrm>
            <a:off x="4629150" y="4532709"/>
            <a:ext cx="4086225" cy="0"/>
          </a:xfrm>
          <a:prstGeom prst="line">
            <a:avLst/>
          </a:prstGeom>
          <a:noFill/>
          <a:ln w="7144">
            <a:solidFill>
              <a:srgbClr val="D9E2EF"/>
            </a:solidFill>
            <a:prstDash val="solid"/>
          </a:ln>
        </p:spPr>
        <p:txBody>
          <a:bodyPr/>
          <a:lstStyle/>
          <a:p>
            <a:endParaRPr lang="en-IN"/>
          </a:p>
        </p:txBody>
      </p:sp>
      <p:sp>
        <p:nvSpPr>
          <p:cNvPr id="70" name="Shape 68"/>
          <p:cNvSpPr/>
          <p:nvPr/>
        </p:nvSpPr>
        <p:spPr>
          <a:xfrm>
            <a:off x="8711803" y="4529138"/>
            <a:ext cx="0" cy="300038"/>
          </a:xfrm>
          <a:prstGeom prst="line">
            <a:avLst/>
          </a:prstGeom>
          <a:noFill/>
          <a:ln w="7144">
            <a:solidFill>
              <a:srgbClr val="D9E2EF"/>
            </a:solidFill>
            <a:prstDash val="solid"/>
          </a:ln>
        </p:spPr>
        <p:txBody>
          <a:bodyPr/>
          <a:lstStyle/>
          <a:p>
            <a:endParaRPr lang="en-IN"/>
          </a:p>
        </p:txBody>
      </p:sp>
      <p:sp>
        <p:nvSpPr>
          <p:cNvPr id="71" name="Shape 69"/>
          <p:cNvSpPr/>
          <p:nvPr/>
        </p:nvSpPr>
        <p:spPr>
          <a:xfrm>
            <a:off x="4629150" y="4825603"/>
            <a:ext cx="4086225" cy="0"/>
          </a:xfrm>
          <a:prstGeom prst="line">
            <a:avLst/>
          </a:prstGeom>
          <a:noFill/>
          <a:ln w="7144">
            <a:solidFill>
              <a:srgbClr val="D9E2EF"/>
            </a:solidFill>
            <a:prstDash val="solid"/>
          </a:ln>
        </p:spPr>
        <p:txBody>
          <a:bodyPr/>
          <a:lstStyle/>
          <a:p>
            <a:endParaRPr lang="en-IN"/>
          </a:p>
        </p:txBody>
      </p:sp>
      <p:sp>
        <p:nvSpPr>
          <p:cNvPr id="72" name="Shape 70"/>
          <p:cNvSpPr/>
          <p:nvPr/>
        </p:nvSpPr>
        <p:spPr>
          <a:xfrm>
            <a:off x="4643438" y="4529138"/>
            <a:ext cx="0" cy="300038"/>
          </a:xfrm>
          <a:prstGeom prst="line">
            <a:avLst/>
          </a:prstGeom>
          <a:noFill/>
          <a:ln w="28575">
            <a:solidFill>
              <a:srgbClr val="B7791F"/>
            </a:solidFill>
            <a:prstDash val="solid"/>
          </a:ln>
        </p:spPr>
        <p:txBody>
          <a:bodyPr/>
          <a:lstStyle/>
          <a:p>
            <a:endParaRPr lang="en-IN"/>
          </a:p>
        </p:txBody>
      </p:sp>
      <p:sp>
        <p:nvSpPr>
          <p:cNvPr id="73" name="Text 71"/>
          <p:cNvSpPr/>
          <p:nvPr/>
        </p:nvSpPr>
        <p:spPr>
          <a:xfrm>
            <a:off x="4772025" y="4600575"/>
            <a:ext cx="157163" cy="157163"/>
          </a:xfrm>
          <a:prstGeom prst="rect">
            <a:avLst/>
          </a:prstGeom>
          <a:noFill/>
          <a:ln/>
        </p:spPr>
        <p:txBody>
          <a:bodyPr wrap="none" lIns="0" tIns="0" rIns="0" bIns="0" rtlCol="0" anchor="ctr"/>
          <a:lstStyle/>
          <a:p>
            <a:pPr marL="0" indent="0" algn="ctr">
              <a:buNone/>
            </a:pPr>
            <a:r>
              <a:rPr lang="en-US" sz="1547" dirty="0">
                <a:solidFill>
                  <a:srgbClr val="8A5A14"/>
                </a:solidFill>
                <a:latin typeface="Segoe UI Symbol" pitchFamily="34" charset="0"/>
                <a:ea typeface="Segoe UI Symbol" pitchFamily="34" charset="-122"/>
                <a:cs typeface="Segoe UI Symbol" pitchFamily="34" charset="-120"/>
              </a:rPr>
              <a:t>⤓</a:t>
            </a:r>
            <a:endParaRPr lang="en-US" sz="1547" dirty="0"/>
          </a:p>
        </p:txBody>
      </p:sp>
      <p:sp>
        <p:nvSpPr>
          <p:cNvPr id="74" name="Text 72"/>
          <p:cNvSpPr/>
          <p:nvPr/>
        </p:nvSpPr>
        <p:spPr>
          <a:xfrm>
            <a:off x="5014913" y="4614193"/>
            <a:ext cx="3579019" cy="143545"/>
          </a:xfrm>
          <a:prstGeom prst="rect">
            <a:avLst/>
          </a:prstGeom>
          <a:noFill/>
          <a:ln/>
        </p:spPr>
        <p:txBody>
          <a:bodyPr wrap="square" lIns="0" tIns="0" rIns="0" bIns="0" rtlCol="0" anchor="t"/>
          <a:lstStyle/>
          <a:p>
            <a:pPr marL="0" indent="0" algn="l">
              <a:lnSpc>
                <a:spcPts val="1024"/>
              </a:lnSpc>
              <a:buNone/>
            </a:pPr>
            <a:r>
              <a:rPr lang="en-US" sz="731" b="1" dirty="0">
                <a:solidFill>
                  <a:srgbClr val="16305B"/>
                </a:solidFill>
                <a:latin typeface="Liberation Sans Narrow" pitchFamily="34" charset="0"/>
                <a:ea typeface="Liberation Sans Narrow" pitchFamily="34" charset="-122"/>
                <a:cs typeface="Liberation Sans Narrow" pitchFamily="34" charset="-120"/>
              </a:rPr>
              <a:t>Pillar 2 · Persistence</a:t>
            </a:r>
            <a:r>
              <a:rPr lang="en-US" sz="731" dirty="0">
                <a:solidFill>
                  <a:srgbClr val="5B6B84"/>
                </a:solidFill>
                <a:latin typeface="Carlito" pitchFamily="34" charset="0"/>
                <a:ea typeface="Carlito" pitchFamily="34" charset="-122"/>
                <a:cs typeface="Carlito" pitchFamily="34" charset="-120"/>
              </a:rPr>
              <a:t> — every change is saved to </a:t>
            </a:r>
            <a:r>
              <a:rPr lang="en-US" sz="731" dirty="0">
                <a:solidFill>
                  <a:srgbClr val="5B6B84"/>
                </a:solidFill>
                <a:latin typeface="Courier New" pitchFamily="34" charset="0"/>
                <a:ea typeface="Courier New" pitchFamily="34" charset="-122"/>
                <a:cs typeface="Courier New" pitchFamily="34" charset="-120"/>
              </a:rPr>
              <a:t>music_data.txt</a:t>
            </a:r>
            <a:r>
              <a:rPr lang="en-US" sz="731" dirty="0">
                <a:solidFill>
                  <a:srgbClr val="5B6B84"/>
                </a:solidFill>
                <a:latin typeface="Carlito" pitchFamily="34" charset="0"/>
                <a:ea typeface="Carlito" pitchFamily="34" charset="-122"/>
                <a:cs typeface="Carlito" pitchFamily="34" charset="-120"/>
              </a:rPr>
              <a:t> on the spot.</a:t>
            </a:r>
            <a:endParaRPr lang="en-US" sz="73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28625" y="371475"/>
            <a:ext cx="328613" cy="328613"/>
          </a:xfrm>
          <a:prstGeom prst="roundRect">
            <a:avLst>
              <a:gd name="adj" fmla="val 28985"/>
            </a:avLst>
          </a:prstGeom>
          <a:solidFill>
            <a:srgbClr val="B7791F"/>
          </a:solidFill>
          <a:ln/>
        </p:spPr>
        <p:txBody>
          <a:bodyPr wrap="square" rtlCol="0" anchor="ctr"/>
          <a:lstStyle/>
          <a:p>
            <a:pPr marL="0" indent="0">
              <a:buNone/>
            </a:pPr>
            <a:endParaRPr lang="en-US" dirty="0"/>
          </a:p>
        </p:txBody>
      </p:sp>
      <p:sp>
        <p:nvSpPr>
          <p:cNvPr id="3" name="Text 1"/>
          <p:cNvSpPr/>
          <p:nvPr/>
        </p:nvSpPr>
        <p:spPr>
          <a:xfrm>
            <a:off x="547725" y="423267"/>
            <a:ext cx="209513" cy="243030"/>
          </a:xfrm>
          <a:prstGeom prst="rect">
            <a:avLst/>
          </a:prstGeom>
          <a:noFill/>
          <a:ln/>
        </p:spPr>
        <p:txBody>
          <a:bodyPr wrap="none" lIns="0" tIns="0" rIns="0" bIns="0" rtlCol="0" anchor="t"/>
          <a:lstStyle/>
          <a:p>
            <a:pPr marL="0" indent="0" algn="l">
              <a:lnSpc>
                <a:spcPts val="1772"/>
              </a:lnSpc>
              <a:buNone/>
            </a:pPr>
            <a:r>
              <a:rPr lang="en-US" sz="1181" b="1" dirty="0">
                <a:solidFill>
                  <a:srgbClr val="FFFFFF"/>
                </a:solidFill>
                <a:latin typeface="Liberation Sans Narrow" pitchFamily="34" charset="0"/>
                <a:ea typeface="Liberation Sans Narrow" pitchFamily="34" charset="-122"/>
                <a:cs typeface="Liberation Sans Narrow" pitchFamily="34" charset="-120"/>
              </a:rPr>
              <a:t>6</a:t>
            </a:r>
            <a:endParaRPr lang="en-US" sz="1181" dirty="0"/>
          </a:p>
        </p:txBody>
      </p:sp>
      <p:sp>
        <p:nvSpPr>
          <p:cNvPr id="4" name="Text 2"/>
          <p:cNvSpPr/>
          <p:nvPr/>
        </p:nvSpPr>
        <p:spPr>
          <a:xfrm>
            <a:off x="885825" y="402171"/>
            <a:ext cx="2627840" cy="288478"/>
          </a:xfrm>
          <a:prstGeom prst="rect">
            <a:avLst/>
          </a:prstGeom>
          <a:noFill/>
          <a:ln/>
        </p:spPr>
        <p:txBody>
          <a:bodyPr wrap="none" lIns="0" tIns="0" rIns="0" bIns="0" rtlCol="0" anchor="t"/>
          <a:lstStyle/>
          <a:p>
            <a:pPr marL="0" indent="0" algn="l">
              <a:lnSpc>
                <a:spcPts val="2104"/>
              </a:lnSpc>
              <a:buNone/>
            </a:pPr>
            <a:r>
              <a:rPr lang="en-US" sz="1913" b="1" dirty="0">
                <a:solidFill>
                  <a:srgbClr val="16305B"/>
                </a:solidFill>
                <a:latin typeface="Tinos" pitchFamily="34" charset="0"/>
                <a:ea typeface="Tinos" pitchFamily="34" charset="-122"/>
                <a:cs typeface="Tinos" pitchFamily="34" charset="-120"/>
              </a:rPr>
              <a:t>System Architecture</a:t>
            </a:r>
            <a:endParaRPr lang="en-US" sz="1913" dirty="0"/>
          </a:p>
        </p:txBody>
      </p:sp>
      <p:sp>
        <p:nvSpPr>
          <p:cNvPr id="5" name="Text 3"/>
          <p:cNvSpPr/>
          <p:nvPr/>
        </p:nvSpPr>
        <p:spPr>
          <a:xfrm>
            <a:off x="3116684" y="532209"/>
            <a:ext cx="5598691" cy="7144"/>
          </a:xfrm>
          <a:prstGeom prst="rect">
            <a:avLst/>
          </a:prstGeom>
          <a:solidFill>
            <a:srgbClr val="D9E2EF"/>
          </a:solidFill>
          <a:ln/>
        </p:spPr>
        <p:txBody>
          <a:bodyPr wrap="square" rtlCol="0" anchor="ctr"/>
          <a:lstStyle/>
          <a:p>
            <a:pPr marL="0" indent="0">
              <a:buNone/>
            </a:pPr>
            <a:endParaRPr lang="en-US" dirty="0"/>
          </a:p>
        </p:txBody>
      </p:sp>
      <p:sp>
        <p:nvSpPr>
          <p:cNvPr id="6" name="Text 4"/>
          <p:cNvSpPr/>
          <p:nvPr/>
        </p:nvSpPr>
        <p:spPr>
          <a:xfrm>
            <a:off x="1143000" y="970992"/>
            <a:ext cx="6858000" cy="424830"/>
          </a:xfrm>
          <a:prstGeom prst="roundRect">
            <a:avLst>
              <a:gd name="adj" fmla="val 22421"/>
            </a:avLst>
          </a:prstGeom>
          <a:solidFill>
            <a:srgbClr val="16305B"/>
          </a:solidFill>
          <a:ln/>
        </p:spPr>
        <p:txBody>
          <a:bodyPr wrap="square" rtlCol="0" anchor="ctr"/>
          <a:lstStyle/>
          <a:p>
            <a:pPr marL="0" indent="0">
              <a:buNone/>
            </a:pPr>
            <a:endParaRPr lang="en-US" dirty="0"/>
          </a:p>
        </p:txBody>
      </p:sp>
      <p:sp>
        <p:nvSpPr>
          <p:cNvPr id="7" name="Text 5"/>
          <p:cNvSpPr/>
          <p:nvPr/>
        </p:nvSpPr>
        <p:spPr>
          <a:xfrm>
            <a:off x="1285875" y="1097682"/>
            <a:ext cx="171450" cy="171450"/>
          </a:xfrm>
          <a:prstGeom prst="rect">
            <a:avLst/>
          </a:prstGeom>
          <a:noFill/>
          <a:ln/>
        </p:spPr>
        <p:txBody>
          <a:bodyPr wrap="none" lIns="0" tIns="0" rIns="0" bIns="0" rtlCol="0" anchor="ctr"/>
          <a:lstStyle/>
          <a:p>
            <a:pPr marL="0" indent="0" algn="ctr">
              <a:buNone/>
            </a:pPr>
            <a:r>
              <a:rPr lang="en-US" sz="1688" dirty="0">
                <a:solidFill>
                  <a:srgbClr val="F2C879"/>
                </a:solidFill>
                <a:latin typeface="Segoe UI Symbol" pitchFamily="34" charset="0"/>
                <a:ea typeface="Segoe UI Symbol" pitchFamily="34" charset="-122"/>
                <a:cs typeface="Segoe UI Symbol" pitchFamily="34" charset="-120"/>
              </a:rPr>
              <a:t>☻</a:t>
            </a:r>
            <a:endParaRPr lang="en-US" sz="1688" dirty="0"/>
          </a:p>
        </p:txBody>
      </p:sp>
      <p:sp>
        <p:nvSpPr>
          <p:cNvPr id="8" name="Text 6"/>
          <p:cNvSpPr/>
          <p:nvPr/>
        </p:nvSpPr>
        <p:spPr>
          <a:xfrm>
            <a:off x="1557338" y="1091395"/>
            <a:ext cx="415119" cy="184023"/>
          </a:xfrm>
          <a:prstGeom prst="roundRect">
            <a:avLst>
              <a:gd name="adj" fmla="val 5170807"/>
            </a:avLst>
          </a:prstGeom>
          <a:solidFill>
            <a:srgbClr val="F2C879">
              <a:alpha val="18000"/>
            </a:srgbClr>
          </a:solidFill>
          <a:ln w="7144">
            <a:solidFill>
              <a:srgbClr val="F2C879"/>
            </a:solidFill>
            <a:prstDash val="solid"/>
          </a:ln>
        </p:spPr>
        <p:txBody>
          <a:bodyPr wrap="square" rtlCol="0" anchor="ctr"/>
          <a:lstStyle/>
          <a:p>
            <a:pPr marL="0" indent="0">
              <a:buNone/>
            </a:pPr>
            <a:endParaRPr lang="en-US" dirty="0"/>
          </a:p>
        </p:txBody>
      </p:sp>
      <p:sp>
        <p:nvSpPr>
          <p:cNvPr id="9" name="Text 7"/>
          <p:cNvSpPr/>
          <p:nvPr/>
        </p:nvSpPr>
        <p:spPr>
          <a:xfrm>
            <a:off x="1557338" y="1101254"/>
            <a:ext cx="415119" cy="164306"/>
          </a:xfrm>
          <a:prstGeom prst="rect">
            <a:avLst/>
          </a:prstGeom>
          <a:noFill/>
          <a:ln/>
        </p:spPr>
        <p:txBody>
          <a:bodyPr wrap="none" lIns="0" tIns="0" rIns="0" bIns="0" rtlCol="0" anchor="ctr"/>
          <a:lstStyle/>
          <a:p>
            <a:pPr marL="0" indent="0" algn="ctr">
              <a:lnSpc>
                <a:spcPts val="844"/>
              </a:lnSpc>
              <a:buNone/>
            </a:pPr>
            <a:r>
              <a:rPr lang="en-US" sz="800" kern="0" spc="68" dirty="0">
                <a:solidFill>
                  <a:srgbClr val="F2C879"/>
                </a:solidFill>
                <a:latin typeface="Courier New" pitchFamily="34" charset="0"/>
                <a:ea typeface="Courier New" pitchFamily="34" charset="-122"/>
                <a:cs typeface="Courier New" pitchFamily="34" charset="-120"/>
              </a:rPr>
              <a:t>INPUT</a:t>
            </a:r>
            <a:endParaRPr lang="en-US" sz="800" dirty="0"/>
          </a:p>
        </p:txBody>
      </p:sp>
      <p:sp>
        <p:nvSpPr>
          <p:cNvPr id="10" name="Text 8"/>
          <p:cNvSpPr/>
          <p:nvPr/>
        </p:nvSpPr>
        <p:spPr>
          <a:xfrm>
            <a:off x="2072469" y="1049573"/>
            <a:ext cx="4705849" cy="119685"/>
          </a:xfrm>
          <a:prstGeom prst="rect">
            <a:avLst/>
          </a:prstGeom>
          <a:noFill/>
          <a:ln/>
        </p:spPr>
        <p:txBody>
          <a:bodyPr wrap="none" lIns="0" tIns="0" rIns="0" bIns="0" rtlCol="0" anchor="t">
            <a:normAutofit/>
          </a:bodyPr>
          <a:lstStyle/>
          <a:p>
            <a:pPr marL="0" indent="0" algn="l">
              <a:lnSpc>
                <a:spcPts val="1046"/>
              </a:lnSpc>
              <a:buNone/>
            </a:pPr>
            <a:r>
              <a:rPr lang="en-US" sz="872" b="1" dirty="0">
                <a:solidFill>
                  <a:srgbClr val="FFFFFF"/>
                </a:solidFill>
                <a:latin typeface="Carlito" pitchFamily="34" charset="0"/>
                <a:ea typeface="Carlito" pitchFamily="34" charset="-122"/>
                <a:cs typeface="Carlito" pitchFamily="34" charset="-120"/>
              </a:rPr>
              <a:t>USER</a:t>
            </a:r>
            <a:endParaRPr lang="en-US" sz="872" dirty="0"/>
          </a:p>
        </p:txBody>
      </p:sp>
      <p:sp>
        <p:nvSpPr>
          <p:cNvPr id="11" name="Text 9"/>
          <p:cNvSpPr/>
          <p:nvPr/>
        </p:nvSpPr>
        <p:spPr>
          <a:xfrm>
            <a:off x="2072469" y="1196690"/>
            <a:ext cx="2978386" cy="120551"/>
          </a:xfrm>
          <a:prstGeom prst="rect">
            <a:avLst/>
          </a:prstGeom>
          <a:noFill/>
          <a:ln/>
        </p:spPr>
        <p:txBody>
          <a:bodyPr wrap="square" lIns="0" tIns="0" rIns="0" bIns="0" rtlCol="0" anchor="t"/>
          <a:lstStyle/>
          <a:p>
            <a:pPr marL="0" indent="0" algn="l">
              <a:lnSpc>
                <a:spcPts val="949"/>
              </a:lnSpc>
              <a:buNone/>
            </a:pPr>
            <a:r>
              <a:rPr lang="en-US" sz="703" dirty="0">
                <a:solidFill>
                  <a:srgbClr val="C6D3E8"/>
                </a:solidFill>
                <a:latin typeface="Carlito" pitchFamily="34" charset="0"/>
                <a:ea typeface="Carlito" pitchFamily="34" charset="-122"/>
                <a:cs typeface="Carlito" pitchFamily="34" charset="-120"/>
              </a:rPr>
              <a:t>Chooses menu options; types song details on the keyboard (Scanner input)</a:t>
            </a:r>
            <a:endParaRPr lang="en-US" sz="703" dirty="0"/>
          </a:p>
        </p:txBody>
      </p:sp>
      <p:sp>
        <p:nvSpPr>
          <p:cNvPr id="12" name="Text 10"/>
          <p:cNvSpPr/>
          <p:nvPr/>
        </p:nvSpPr>
        <p:spPr>
          <a:xfrm>
            <a:off x="7183822" y="1127150"/>
            <a:ext cx="674303" cy="164592"/>
          </a:xfrm>
          <a:prstGeom prst="rect">
            <a:avLst/>
          </a:prstGeom>
          <a:noFill/>
          <a:ln/>
        </p:spPr>
        <p:txBody>
          <a:bodyPr wrap="none" lIns="0" tIns="0" rIns="0" bIns="0" rtlCol="0" anchor="t"/>
          <a:lstStyle/>
          <a:p>
            <a:pPr marL="0" indent="0" algn="l">
              <a:lnSpc>
                <a:spcPts val="886"/>
              </a:lnSpc>
              <a:buNone/>
            </a:pPr>
            <a:r>
              <a:rPr lang="en-US" sz="600" kern="0" spc="24" dirty="0">
                <a:solidFill>
                  <a:srgbClr val="8FA3C2"/>
                </a:solidFill>
                <a:latin typeface="Courier New" pitchFamily="34" charset="0"/>
                <a:ea typeface="Courier New" pitchFamily="34" charset="-122"/>
                <a:cs typeface="Courier New" pitchFamily="34" charset="-120"/>
              </a:rPr>
              <a:t>keyboard input</a:t>
            </a:r>
            <a:endParaRPr lang="en-US" sz="600" dirty="0"/>
          </a:p>
        </p:txBody>
      </p:sp>
      <p:sp>
        <p:nvSpPr>
          <p:cNvPr id="13" name="Text 11"/>
          <p:cNvSpPr/>
          <p:nvPr/>
        </p:nvSpPr>
        <p:spPr>
          <a:xfrm>
            <a:off x="4515408" y="1445828"/>
            <a:ext cx="113184" cy="114300"/>
          </a:xfrm>
          <a:prstGeom prst="rect">
            <a:avLst/>
          </a:prstGeom>
          <a:noFill/>
          <a:ln/>
        </p:spPr>
        <p:txBody>
          <a:bodyPr wrap="none" lIns="0" tIns="0" rIns="0" bIns="0" rtlCol="0" anchor="ctr"/>
          <a:lstStyle/>
          <a:p>
            <a:pPr marL="0" indent="0" algn="ctr">
              <a:buNone/>
            </a:pPr>
            <a:r>
              <a:rPr lang="en-US" sz="900" dirty="0">
                <a:solidFill>
                  <a:srgbClr val="B7791F"/>
                </a:solidFill>
                <a:latin typeface="Segoe UI Symbol" pitchFamily="34" charset="0"/>
                <a:ea typeface="Segoe UI Symbol" pitchFamily="34" charset="-122"/>
                <a:cs typeface="Segoe UI Symbol" pitchFamily="34" charset="-120"/>
              </a:rPr>
              <a:t>▼</a:t>
            </a:r>
            <a:endParaRPr lang="en-US" sz="900" dirty="0"/>
          </a:p>
        </p:txBody>
      </p:sp>
      <p:sp>
        <p:nvSpPr>
          <p:cNvPr id="14" name="Text 12"/>
          <p:cNvSpPr/>
          <p:nvPr/>
        </p:nvSpPr>
        <p:spPr>
          <a:xfrm>
            <a:off x="1146572" y="1634660"/>
            <a:ext cx="6850856" cy="431974"/>
          </a:xfrm>
          <a:prstGeom prst="roundRect">
            <a:avLst>
              <a:gd name="adj" fmla="val 22050"/>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15" name="Text 13"/>
          <p:cNvSpPr/>
          <p:nvPr/>
        </p:nvSpPr>
        <p:spPr>
          <a:xfrm>
            <a:off x="1293019" y="1745682"/>
            <a:ext cx="658788" cy="168021"/>
          </a:xfrm>
          <a:prstGeom prst="roundRect">
            <a:avLst>
              <a:gd name="adj" fmla="val 5663265"/>
            </a:avLst>
          </a:prstGeom>
          <a:solidFill>
            <a:srgbClr val="EAF0F9"/>
          </a:solidFill>
          <a:ln/>
        </p:spPr>
        <p:txBody>
          <a:bodyPr wrap="square" rtlCol="0" anchor="ctr"/>
          <a:lstStyle/>
          <a:p>
            <a:pPr marL="0" indent="0">
              <a:buNone/>
            </a:pPr>
            <a:endParaRPr lang="en-US" dirty="0"/>
          </a:p>
        </p:txBody>
      </p:sp>
      <p:sp>
        <p:nvSpPr>
          <p:cNvPr id="16" name="Text 14"/>
          <p:cNvSpPr/>
          <p:nvPr/>
        </p:nvSpPr>
        <p:spPr>
          <a:xfrm>
            <a:off x="1232980" y="1754684"/>
            <a:ext cx="778866" cy="150019"/>
          </a:xfrm>
          <a:prstGeom prst="rect">
            <a:avLst/>
          </a:prstGeom>
          <a:noFill/>
          <a:ln/>
        </p:spPr>
        <p:txBody>
          <a:bodyPr wrap="none" lIns="0" tIns="0" rIns="0" bIns="0" rtlCol="0" anchor="ctr"/>
          <a:lstStyle/>
          <a:p>
            <a:pPr marL="0" indent="0" algn="ctr">
              <a:lnSpc>
                <a:spcPts val="844"/>
              </a:lnSpc>
              <a:buNone/>
            </a:pPr>
            <a:r>
              <a:rPr lang="en-US" sz="800" kern="0" spc="68" dirty="0">
                <a:solidFill>
                  <a:srgbClr val="16305B"/>
                </a:solidFill>
                <a:latin typeface="Courier New" pitchFamily="34" charset="0"/>
                <a:ea typeface="Courier New" pitchFamily="34" charset="-122"/>
                <a:cs typeface="Courier New" pitchFamily="34" charset="-120"/>
              </a:rPr>
              <a:t>CONTROLLER</a:t>
            </a:r>
            <a:endParaRPr lang="en-US" sz="800" dirty="0"/>
          </a:p>
        </p:txBody>
      </p:sp>
      <p:sp>
        <p:nvSpPr>
          <p:cNvPr id="17" name="Text 15"/>
          <p:cNvSpPr/>
          <p:nvPr/>
        </p:nvSpPr>
        <p:spPr>
          <a:xfrm>
            <a:off x="2040657" y="1641151"/>
            <a:ext cx="2652988" cy="119685"/>
          </a:xfrm>
          <a:prstGeom prst="rect">
            <a:avLst/>
          </a:prstGeom>
          <a:noFill/>
          <a:ln/>
        </p:spPr>
        <p:txBody>
          <a:bodyPr wrap="none" lIns="0" tIns="0" rIns="0" bIns="0" rtlCol="0" anchor="t">
            <a:normAutofit fontScale="85000" lnSpcReduction="10000"/>
          </a:bodyPr>
          <a:lstStyle/>
          <a:p>
            <a:pPr marL="0" indent="0" algn="l">
              <a:lnSpc>
                <a:spcPts val="1046"/>
              </a:lnSpc>
              <a:buNone/>
            </a:pPr>
            <a:r>
              <a:rPr lang="en-US" sz="872" b="1" dirty="0">
                <a:solidFill>
                  <a:srgbClr val="16305B"/>
                </a:solidFill>
                <a:latin typeface="Carlito" pitchFamily="34" charset="0"/>
                <a:ea typeface="Carlito" pitchFamily="34" charset="-122"/>
                <a:cs typeface="Carlito" pitchFamily="34" charset="-120"/>
              </a:rPr>
              <a:t>Main.java — Controller</a:t>
            </a:r>
            <a:endParaRPr lang="en-US" sz="872" dirty="0"/>
          </a:p>
        </p:txBody>
      </p:sp>
      <p:sp>
        <p:nvSpPr>
          <p:cNvPr id="18" name="Text 16"/>
          <p:cNvSpPr/>
          <p:nvPr/>
        </p:nvSpPr>
        <p:spPr>
          <a:xfrm>
            <a:off x="2051819" y="1823051"/>
            <a:ext cx="2526655" cy="120551"/>
          </a:xfrm>
          <a:prstGeom prst="rect">
            <a:avLst/>
          </a:prstGeom>
          <a:noFill/>
          <a:ln/>
        </p:spPr>
        <p:txBody>
          <a:bodyPr wrap="square" lIns="0" tIns="0" rIns="0" bIns="0" rtlCol="0" anchor="t"/>
          <a:lstStyle/>
          <a:p>
            <a:pPr marL="0" indent="0" algn="l">
              <a:lnSpc>
                <a:spcPts val="949"/>
              </a:lnSpc>
              <a:buNone/>
            </a:pPr>
            <a:r>
              <a:rPr lang="en-US" sz="703" dirty="0">
                <a:solidFill>
                  <a:srgbClr val="5B6B84"/>
                </a:solidFill>
                <a:latin typeface="Carlito" pitchFamily="34" charset="0"/>
                <a:ea typeface="Carlito" pitchFamily="34" charset="-122"/>
                <a:cs typeface="Carlito" pitchFamily="34" charset="-120"/>
              </a:rPr>
              <a:t>Menu loop, input validation, load-on-start and auto-save triggers</a:t>
            </a:r>
            <a:endParaRPr lang="en-US" sz="703" dirty="0"/>
          </a:p>
        </p:txBody>
      </p:sp>
      <p:sp>
        <p:nvSpPr>
          <p:cNvPr id="19" name="Text 17"/>
          <p:cNvSpPr/>
          <p:nvPr/>
        </p:nvSpPr>
        <p:spPr>
          <a:xfrm>
            <a:off x="7080349" y="1773436"/>
            <a:ext cx="770632" cy="164592"/>
          </a:xfrm>
          <a:prstGeom prst="rect">
            <a:avLst/>
          </a:prstGeom>
          <a:noFill/>
          <a:ln/>
        </p:spPr>
        <p:txBody>
          <a:bodyPr wrap="none" lIns="0" tIns="0" rIns="0" bIns="0" rtlCol="0" anchor="t"/>
          <a:lstStyle/>
          <a:p>
            <a:pPr marL="0" indent="0" algn="l">
              <a:lnSpc>
                <a:spcPts val="886"/>
              </a:lnSpc>
              <a:buNone/>
            </a:pPr>
            <a:r>
              <a:rPr lang="en-US" sz="600" kern="0" spc="24" dirty="0">
                <a:solidFill>
                  <a:srgbClr val="5B6B84"/>
                </a:solidFill>
                <a:latin typeface="Courier New" pitchFamily="34" charset="0"/>
                <a:ea typeface="Courier New" pitchFamily="34" charset="-122"/>
                <a:cs typeface="Courier New" pitchFamily="34" charset="-120"/>
              </a:rPr>
              <a:t>switch-case menu</a:t>
            </a:r>
            <a:endParaRPr lang="en-US" sz="600" dirty="0"/>
          </a:p>
        </p:txBody>
      </p:sp>
      <p:sp>
        <p:nvSpPr>
          <p:cNvPr id="20" name="Text 18"/>
          <p:cNvSpPr/>
          <p:nvPr/>
        </p:nvSpPr>
        <p:spPr>
          <a:xfrm>
            <a:off x="4515408" y="2099258"/>
            <a:ext cx="113184" cy="114300"/>
          </a:xfrm>
          <a:prstGeom prst="rect">
            <a:avLst/>
          </a:prstGeom>
          <a:noFill/>
          <a:ln/>
        </p:spPr>
        <p:txBody>
          <a:bodyPr wrap="none" lIns="0" tIns="0" rIns="0" bIns="0" rtlCol="0" anchor="ctr"/>
          <a:lstStyle/>
          <a:p>
            <a:pPr marL="0" indent="0" algn="ctr">
              <a:buNone/>
            </a:pPr>
            <a:r>
              <a:rPr lang="en-US" sz="900" dirty="0">
                <a:solidFill>
                  <a:srgbClr val="B7791F"/>
                </a:solidFill>
                <a:latin typeface="Segoe UI Symbol" pitchFamily="34" charset="0"/>
                <a:ea typeface="Segoe UI Symbol" pitchFamily="34" charset="-122"/>
                <a:cs typeface="Segoe UI Symbol" pitchFamily="34" charset="-120"/>
              </a:rPr>
              <a:t>▼</a:t>
            </a:r>
            <a:endParaRPr lang="en-US" sz="900" dirty="0"/>
          </a:p>
        </p:txBody>
      </p:sp>
      <p:sp>
        <p:nvSpPr>
          <p:cNvPr id="21" name="Text 19"/>
          <p:cNvSpPr/>
          <p:nvPr/>
        </p:nvSpPr>
        <p:spPr>
          <a:xfrm>
            <a:off x="1146572" y="2267136"/>
            <a:ext cx="3364706" cy="577081"/>
          </a:xfrm>
          <a:prstGeom prst="roundRect">
            <a:avLst>
              <a:gd name="adj" fmla="val 16505"/>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22" name="Text 20"/>
          <p:cNvSpPr/>
          <p:nvPr/>
        </p:nvSpPr>
        <p:spPr>
          <a:xfrm>
            <a:off x="1278731" y="2333144"/>
            <a:ext cx="761926" cy="168021"/>
          </a:xfrm>
          <a:prstGeom prst="roundRect">
            <a:avLst>
              <a:gd name="adj" fmla="val 5663265"/>
            </a:avLst>
          </a:prstGeom>
          <a:solidFill>
            <a:srgbClr val="EAF0F9"/>
          </a:solidFill>
          <a:ln/>
        </p:spPr>
        <p:txBody>
          <a:bodyPr wrap="square" rtlCol="0" anchor="ctr"/>
          <a:lstStyle/>
          <a:p>
            <a:pPr marL="0" indent="0">
              <a:buNone/>
            </a:pPr>
            <a:endParaRPr lang="en-US" dirty="0"/>
          </a:p>
        </p:txBody>
      </p:sp>
      <p:sp>
        <p:nvSpPr>
          <p:cNvPr id="23" name="Text 21"/>
          <p:cNvSpPr/>
          <p:nvPr/>
        </p:nvSpPr>
        <p:spPr>
          <a:xfrm>
            <a:off x="1216312" y="2342145"/>
            <a:ext cx="886765" cy="150019"/>
          </a:xfrm>
          <a:prstGeom prst="rect">
            <a:avLst/>
          </a:prstGeom>
          <a:noFill/>
          <a:ln/>
        </p:spPr>
        <p:txBody>
          <a:bodyPr wrap="none" lIns="0" tIns="0" rIns="0" bIns="0" rtlCol="0" anchor="ctr"/>
          <a:lstStyle/>
          <a:p>
            <a:pPr marL="0" indent="0" algn="ctr">
              <a:lnSpc>
                <a:spcPts val="844"/>
              </a:lnSpc>
              <a:buNone/>
            </a:pPr>
            <a:r>
              <a:rPr lang="en-US" sz="800" kern="0" spc="68" dirty="0">
                <a:solidFill>
                  <a:srgbClr val="16305B"/>
                </a:solidFill>
                <a:latin typeface="Courier New" pitchFamily="34" charset="0"/>
                <a:ea typeface="Courier New" pitchFamily="34" charset="-122"/>
                <a:cs typeface="Courier New" pitchFamily="34" charset="-120"/>
              </a:rPr>
              <a:t>DATA MANAGER</a:t>
            </a:r>
            <a:endParaRPr lang="en-US" sz="800" dirty="0"/>
          </a:p>
        </p:txBody>
      </p:sp>
      <p:sp>
        <p:nvSpPr>
          <p:cNvPr id="24" name="Text 22"/>
          <p:cNvSpPr/>
          <p:nvPr/>
        </p:nvSpPr>
        <p:spPr>
          <a:xfrm>
            <a:off x="2112094" y="2360898"/>
            <a:ext cx="868000" cy="164592"/>
          </a:xfrm>
          <a:prstGeom prst="rect">
            <a:avLst/>
          </a:prstGeom>
          <a:noFill/>
          <a:ln/>
        </p:spPr>
        <p:txBody>
          <a:bodyPr wrap="none" lIns="0" tIns="0" rIns="0" bIns="0" rtlCol="0" anchor="t"/>
          <a:lstStyle/>
          <a:p>
            <a:pPr marL="0" indent="0" algn="l">
              <a:lnSpc>
                <a:spcPts val="886"/>
              </a:lnSpc>
              <a:buNone/>
            </a:pPr>
            <a:r>
              <a:rPr lang="en-US" sz="600" kern="0" spc="24" dirty="0">
                <a:solidFill>
                  <a:srgbClr val="5B6B84"/>
                </a:solidFill>
                <a:latin typeface="Courier New" pitchFamily="34" charset="0"/>
                <a:ea typeface="Courier New" pitchFamily="34" charset="-122"/>
                <a:cs typeface="Courier New" pitchFamily="34" charset="-120"/>
              </a:rPr>
              <a:t>ArrayList&lt;Song&gt;</a:t>
            </a:r>
            <a:endParaRPr lang="en-US" sz="600" dirty="0"/>
          </a:p>
        </p:txBody>
      </p:sp>
      <p:sp>
        <p:nvSpPr>
          <p:cNvPr id="25" name="Text 23"/>
          <p:cNvSpPr/>
          <p:nvPr/>
        </p:nvSpPr>
        <p:spPr>
          <a:xfrm>
            <a:off x="1414797" y="2675728"/>
            <a:ext cx="697297" cy="398487"/>
          </a:xfrm>
          <a:prstGeom prst="rect">
            <a:avLst/>
          </a:prstGeom>
          <a:noFill/>
          <a:ln/>
        </p:spPr>
        <p:txBody>
          <a:bodyPr wrap="none" lIns="0" tIns="0" rIns="0" bIns="0" rtlCol="0" anchor="t"/>
          <a:lstStyle/>
          <a:p>
            <a:pPr marL="0" indent="0" algn="l">
              <a:lnSpc>
                <a:spcPts val="1046"/>
              </a:lnSpc>
              <a:buNone/>
            </a:pPr>
            <a:r>
              <a:rPr lang="en-US" sz="872" b="1" dirty="0">
                <a:solidFill>
                  <a:srgbClr val="16305B"/>
                </a:solidFill>
                <a:latin typeface="Carlito" pitchFamily="34" charset="0"/>
                <a:ea typeface="Carlito" pitchFamily="34" charset="-122"/>
                <a:cs typeface="Carlito" pitchFamily="34" charset="-120"/>
              </a:rPr>
              <a:t>Playlist.java — Data Manager</a:t>
            </a:r>
            <a:endParaRPr lang="en-US" sz="872" dirty="0"/>
          </a:p>
        </p:txBody>
      </p:sp>
      <p:sp>
        <p:nvSpPr>
          <p:cNvPr id="26" name="Text 24"/>
          <p:cNvSpPr/>
          <p:nvPr/>
        </p:nvSpPr>
        <p:spPr>
          <a:xfrm>
            <a:off x="3435697" y="2356433"/>
            <a:ext cx="1000027" cy="412775"/>
          </a:xfrm>
          <a:prstGeom prst="rect">
            <a:avLst/>
          </a:prstGeom>
          <a:noFill/>
          <a:ln/>
        </p:spPr>
        <p:txBody>
          <a:bodyPr wrap="square" lIns="0" tIns="0" rIns="0" bIns="0" rtlCol="0" anchor="t"/>
          <a:lstStyle/>
          <a:p>
            <a:pPr marL="0" indent="0" algn="l">
              <a:lnSpc>
                <a:spcPts val="949"/>
              </a:lnSpc>
              <a:buNone/>
            </a:pPr>
            <a:r>
              <a:rPr lang="en-US" sz="800" dirty="0">
                <a:solidFill>
                  <a:srgbClr val="5B6B84"/>
                </a:solidFill>
                <a:latin typeface="Carlito" pitchFamily="34" charset="0"/>
                <a:ea typeface="Carlito" pitchFamily="34" charset="-122"/>
                <a:cs typeface="Carlito" pitchFamily="34" charset="-120"/>
              </a:rPr>
              <a:t>holds the ArrayList of songs: add / remove / search / sort</a:t>
            </a:r>
            <a:endParaRPr lang="en-US" sz="800" dirty="0"/>
          </a:p>
        </p:txBody>
      </p:sp>
      <p:sp>
        <p:nvSpPr>
          <p:cNvPr id="27" name="Text 25"/>
          <p:cNvSpPr/>
          <p:nvPr/>
        </p:nvSpPr>
        <p:spPr>
          <a:xfrm>
            <a:off x="4632722" y="2267136"/>
            <a:ext cx="3364706" cy="577081"/>
          </a:xfrm>
          <a:prstGeom prst="roundRect">
            <a:avLst>
              <a:gd name="adj" fmla="val 16505"/>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28" name="Text 26"/>
          <p:cNvSpPr/>
          <p:nvPr/>
        </p:nvSpPr>
        <p:spPr>
          <a:xfrm>
            <a:off x="4764881" y="2333144"/>
            <a:ext cx="658788" cy="168021"/>
          </a:xfrm>
          <a:prstGeom prst="roundRect">
            <a:avLst>
              <a:gd name="adj" fmla="val 5663265"/>
            </a:avLst>
          </a:prstGeom>
          <a:solidFill>
            <a:srgbClr val="EAF0F9"/>
          </a:solidFill>
          <a:ln/>
        </p:spPr>
        <p:txBody>
          <a:bodyPr wrap="square" rtlCol="0" anchor="ctr"/>
          <a:lstStyle/>
          <a:p>
            <a:pPr marL="0" indent="0">
              <a:buNone/>
            </a:pPr>
            <a:endParaRPr lang="en-US" dirty="0"/>
          </a:p>
        </p:txBody>
      </p:sp>
      <p:sp>
        <p:nvSpPr>
          <p:cNvPr id="29" name="Text 27"/>
          <p:cNvSpPr/>
          <p:nvPr/>
        </p:nvSpPr>
        <p:spPr>
          <a:xfrm>
            <a:off x="4704842" y="2342145"/>
            <a:ext cx="778866" cy="150019"/>
          </a:xfrm>
          <a:prstGeom prst="rect">
            <a:avLst/>
          </a:prstGeom>
          <a:noFill/>
          <a:ln/>
        </p:spPr>
        <p:txBody>
          <a:bodyPr wrap="none" lIns="0" tIns="0" rIns="0" bIns="0" rtlCol="0" anchor="ctr"/>
          <a:lstStyle/>
          <a:p>
            <a:pPr marL="0" indent="0" algn="ctr">
              <a:lnSpc>
                <a:spcPts val="844"/>
              </a:lnSpc>
              <a:buNone/>
            </a:pPr>
            <a:r>
              <a:rPr lang="en-US" sz="800" kern="0" spc="68" dirty="0">
                <a:solidFill>
                  <a:srgbClr val="16305B"/>
                </a:solidFill>
                <a:latin typeface="Courier New" pitchFamily="34" charset="0"/>
                <a:ea typeface="Courier New" pitchFamily="34" charset="-122"/>
                <a:cs typeface="Courier New" pitchFamily="34" charset="-120"/>
              </a:rPr>
              <a:t>CALCULATOR</a:t>
            </a:r>
            <a:endParaRPr lang="en-US" sz="800" dirty="0"/>
          </a:p>
        </p:txBody>
      </p:sp>
      <p:sp>
        <p:nvSpPr>
          <p:cNvPr id="30" name="Text 28"/>
          <p:cNvSpPr/>
          <p:nvPr/>
        </p:nvSpPr>
        <p:spPr>
          <a:xfrm>
            <a:off x="5495106" y="2360898"/>
            <a:ext cx="810196" cy="164592"/>
          </a:xfrm>
          <a:prstGeom prst="rect">
            <a:avLst/>
          </a:prstGeom>
          <a:noFill/>
          <a:ln/>
        </p:spPr>
        <p:txBody>
          <a:bodyPr wrap="none" lIns="0" tIns="0" rIns="0" bIns="0" rtlCol="0" anchor="t"/>
          <a:lstStyle/>
          <a:p>
            <a:pPr marL="0" indent="0" algn="l">
              <a:lnSpc>
                <a:spcPts val="886"/>
              </a:lnSpc>
              <a:buNone/>
            </a:pPr>
            <a:r>
              <a:rPr lang="en-US" sz="600" kern="0" spc="24" dirty="0">
                <a:solidFill>
                  <a:srgbClr val="5B6B84"/>
                </a:solidFill>
                <a:latin typeface="Courier New" pitchFamily="34" charset="0"/>
                <a:ea typeface="Courier New" pitchFamily="34" charset="-122"/>
                <a:cs typeface="Courier New" pitchFamily="34" charset="-120"/>
              </a:rPr>
              <a:t>HashMap totals</a:t>
            </a:r>
            <a:endParaRPr lang="en-US" sz="600" dirty="0"/>
          </a:p>
        </p:txBody>
      </p:sp>
      <p:sp>
        <p:nvSpPr>
          <p:cNvPr id="31" name="Text 29"/>
          <p:cNvSpPr/>
          <p:nvPr/>
        </p:nvSpPr>
        <p:spPr>
          <a:xfrm>
            <a:off x="5151715" y="2615885"/>
            <a:ext cx="1016310" cy="286911"/>
          </a:xfrm>
          <a:prstGeom prst="rect">
            <a:avLst/>
          </a:prstGeom>
          <a:noFill/>
          <a:ln/>
        </p:spPr>
        <p:txBody>
          <a:bodyPr wrap="none" lIns="0" tIns="0" rIns="0" bIns="0" rtlCol="0" anchor="t"/>
          <a:lstStyle/>
          <a:p>
            <a:pPr marL="0" indent="0" algn="l">
              <a:lnSpc>
                <a:spcPts val="1046"/>
              </a:lnSpc>
              <a:buNone/>
            </a:pPr>
            <a:r>
              <a:rPr lang="en-US" sz="872" b="1" dirty="0">
                <a:solidFill>
                  <a:srgbClr val="16305B"/>
                </a:solidFill>
                <a:latin typeface="Carlito" pitchFamily="34" charset="0"/>
                <a:ea typeface="Carlito" pitchFamily="34" charset="-122"/>
                <a:cs typeface="Carlito" pitchFamily="34" charset="-120"/>
              </a:rPr>
              <a:t>StatsManager.java — Calculator</a:t>
            </a:r>
            <a:endParaRPr lang="en-US" sz="872" dirty="0"/>
          </a:p>
        </p:txBody>
      </p:sp>
      <p:sp>
        <p:nvSpPr>
          <p:cNvPr id="32" name="Text 30"/>
          <p:cNvSpPr/>
          <p:nvPr/>
        </p:nvSpPr>
        <p:spPr>
          <a:xfrm>
            <a:off x="7077112" y="2356433"/>
            <a:ext cx="835446" cy="412775"/>
          </a:xfrm>
          <a:prstGeom prst="rect">
            <a:avLst/>
          </a:prstGeom>
          <a:noFill/>
          <a:ln/>
        </p:spPr>
        <p:txBody>
          <a:bodyPr wrap="square" lIns="0" tIns="0" rIns="0" bIns="0" rtlCol="0" anchor="t"/>
          <a:lstStyle/>
          <a:p>
            <a:pPr marL="0" indent="0" algn="l">
              <a:lnSpc>
                <a:spcPts val="949"/>
              </a:lnSpc>
              <a:buNone/>
            </a:pPr>
            <a:r>
              <a:rPr lang="en-US" sz="800" dirty="0">
                <a:solidFill>
                  <a:srgbClr val="5B6B84"/>
                </a:solidFill>
                <a:latin typeface="Carlito" pitchFamily="34" charset="0"/>
                <a:ea typeface="Carlito" pitchFamily="34" charset="-122"/>
                <a:cs typeface="Carlito" pitchFamily="34" charset="-120"/>
              </a:rPr>
              <a:t>totals, listening time, favourite artist (HashMap), Top-5</a:t>
            </a:r>
            <a:endParaRPr lang="en-US" sz="800" dirty="0"/>
          </a:p>
        </p:txBody>
      </p:sp>
      <p:sp>
        <p:nvSpPr>
          <p:cNvPr id="33" name="Text 31"/>
          <p:cNvSpPr/>
          <p:nvPr/>
        </p:nvSpPr>
        <p:spPr>
          <a:xfrm>
            <a:off x="4515408" y="2897795"/>
            <a:ext cx="113184" cy="114300"/>
          </a:xfrm>
          <a:prstGeom prst="rect">
            <a:avLst/>
          </a:prstGeom>
          <a:noFill/>
          <a:ln/>
        </p:spPr>
        <p:txBody>
          <a:bodyPr wrap="none" lIns="0" tIns="0" rIns="0" bIns="0" rtlCol="0" anchor="ctr"/>
          <a:lstStyle/>
          <a:p>
            <a:pPr marL="0" indent="0" algn="ctr">
              <a:buNone/>
            </a:pPr>
            <a:r>
              <a:rPr lang="en-US" sz="900" dirty="0">
                <a:solidFill>
                  <a:srgbClr val="B7791F"/>
                </a:solidFill>
                <a:latin typeface="Segoe UI Symbol" pitchFamily="34" charset="0"/>
                <a:ea typeface="Segoe UI Symbol" pitchFamily="34" charset="-122"/>
                <a:cs typeface="Segoe UI Symbol" pitchFamily="34" charset="-120"/>
              </a:rPr>
              <a:t>▼</a:t>
            </a:r>
            <a:endParaRPr lang="en-US" sz="900" dirty="0"/>
          </a:p>
        </p:txBody>
      </p:sp>
      <p:sp>
        <p:nvSpPr>
          <p:cNvPr id="34" name="Text 32"/>
          <p:cNvSpPr/>
          <p:nvPr/>
        </p:nvSpPr>
        <p:spPr>
          <a:xfrm>
            <a:off x="1146572" y="3065673"/>
            <a:ext cx="6850856" cy="431974"/>
          </a:xfrm>
          <a:prstGeom prst="roundRect">
            <a:avLst>
              <a:gd name="adj" fmla="val 22050"/>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35" name="Text 33"/>
          <p:cNvSpPr/>
          <p:nvPr/>
        </p:nvSpPr>
        <p:spPr>
          <a:xfrm>
            <a:off x="1293019" y="3197650"/>
            <a:ext cx="400831" cy="168021"/>
          </a:xfrm>
          <a:prstGeom prst="roundRect">
            <a:avLst>
              <a:gd name="adj" fmla="val 5663265"/>
            </a:avLst>
          </a:prstGeom>
          <a:solidFill>
            <a:srgbClr val="EAF0F9"/>
          </a:solidFill>
          <a:ln/>
        </p:spPr>
        <p:txBody>
          <a:bodyPr wrap="square" rtlCol="0" anchor="ctr"/>
          <a:lstStyle/>
          <a:p>
            <a:pPr marL="0" indent="0">
              <a:buNone/>
            </a:pPr>
            <a:endParaRPr lang="en-US" dirty="0"/>
          </a:p>
        </p:txBody>
      </p:sp>
      <p:sp>
        <p:nvSpPr>
          <p:cNvPr id="36" name="Text 34"/>
          <p:cNvSpPr/>
          <p:nvPr/>
        </p:nvSpPr>
        <p:spPr>
          <a:xfrm>
            <a:off x="1289828" y="3206651"/>
            <a:ext cx="407213" cy="150019"/>
          </a:xfrm>
          <a:prstGeom prst="rect">
            <a:avLst/>
          </a:prstGeom>
          <a:noFill/>
          <a:ln/>
        </p:spPr>
        <p:txBody>
          <a:bodyPr wrap="none" lIns="0" tIns="0" rIns="0" bIns="0" rtlCol="0" anchor="ctr"/>
          <a:lstStyle/>
          <a:p>
            <a:pPr marL="0" indent="0" algn="ctr">
              <a:lnSpc>
                <a:spcPts val="844"/>
              </a:lnSpc>
              <a:buNone/>
            </a:pPr>
            <a:r>
              <a:rPr lang="en-US" sz="800" kern="0" spc="68" dirty="0">
                <a:solidFill>
                  <a:srgbClr val="16305B"/>
                </a:solidFill>
                <a:latin typeface="Courier New" pitchFamily="34" charset="0"/>
                <a:ea typeface="Courier New" pitchFamily="34" charset="-122"/>
                <a:cs typeface="Courier New" pitchFamily="34" charset="-120"/>
              </a:rPr>
              <a:t>MODEL</a:t>
            </a:r>
            <a:endParaRPr lang="en-US" sz="800" dirty="0"/>
          </a:p>
        </p:txBody>
      </p:sp>
      <p:sp>
        <p:nvSpPr>
          <p:cNvPr id="37" name="Text 35"/>
          <p:cNvSpPr/>
          <p:nvPr/>
        </p:nvSpPr>
        <p:spPr>
          <a:xfrm>
            <a:off x="1793863" y="3147826"/>
            <a:ext cx="2142221" cy="119685"/>
          </a:xfrm>
          <a:prstGeom prst="rect">
            <a:avLst/>
          </a:prstGeom>
          <a:noFill/>
          <a:ln/>
        </p:spPr>
        <p:txBody>
          <a:bodyPr wrap="none" lIns="0" tIns="0" rIns="0" bIns="0" rtlCol="0" anchor="t">
            <a:normAutofit/>
          </a:bodyPr>
          <a:lstStyle/>
          <a:p>
            <a:pPr marL="0" indent="0" algn="l">
              <a:lnSpc>
                <a:spcPts val="1046"/>
              </a:lnSpc>
              <a:buNone/>
            </a:pPr>
            <a:r>
              <a:rPr lang="en-US" sz="872" b="1" dirty="0">
                <a:solidFill>
                  <a:srgbClr val="16305B"/>
                </a:solidFill>
                <a:latin typeface="Carlito" pitchFamily="34" charset="0"/>
                <a:ea typeface="Carlito" pitchFamily="34" charset="-122"/>
                <a:cs typeface="Carlito" pitchFamily="34" charset="-120"/>
              </a:rPr>
              <a:t>Song.java — Model</a:t>
            </a:r>
            <a:endParaRPr lang="en-US" sz="872" dirty="0"/>
          </a:p>
        </p:txBody>
      </p:sp>
      <p:sp>
        <p:nvSpPr>
          <p:cNvPr id="38" name="Text 36"/>
          <p:cNvSpPr/>
          <p:nvPr/>
        </p:nvSpPr>
        <p:spPr>
          <a:xfrm>
            <a:off x="1793863" y="3294943"/>
            <a:ext cx="2040210" cy="120551"/>
          </a:xfrm>
          <a:prstGeom prst="rect">
            <a:avLst/>
          </a:prstGeom>
          <a:noFill/>
          <a:ln/>
        </p:spPr>
        <p:txBody>
          <a:bodyPr wrap="square" lIns="0" tIns="0" rIns="0" bIns="0" rtlCol="0" anchor="t"/>
          <a:lstStyle/>
          <a:p>
            <a:pPr marL="0" indent="0" algn="l">
              <a:lnSpc>
                <a:spcPts val="949"/>
              </a:lnSpc>
              <a:buNone/>
            </a:pPr>
            <a:r>
              <a:rPr lang="en-US" sz="703" dirty="0">
                <a:solidFill>
                  <a:srgbClr val="5B6B84"/>
                </a:solidFill>
                <a:latin typeface="Carlito" pitchFamily="34" charset="0"/>
                <a:ea typeface="Carlito" pitchFamily="34" charset="-122"/>
                <a:cs typeface="Carlito" pitchFamily="34" charset="-120"/>
              </a:rPr>
              <a:t>one object per song: title, artist, duration, playCount</a:t>
            </a:r>
            <a:endParaRPr lang="en-US" sz="703" dirty="0"/>
          </a:p>
        </p:txBody>
      </p:sp>
      <p:sp>
        <p:nvSpPr>
          <p:cNvPr id="39" name="Text 37"/>
          <p:cNvSpPr/>
          <p:nvPr/>
        </p:nvSpPr>
        <p:spPr>
          <a:xfrm>
            <a:off x="7128570" y="3225403"/>
            <a:ext cx="722412" cy="164592"/>
          </a:xfrm>
          <a:prstGeom prst="rect">
            <a:avLst/>
          </a:prstGeom>
          <a:noFill/>
          <a:ln/>
        </p:spPr>
        <p:txBody>
          <a:bodyPr wrap="none" lIns="0" tIns="0" rIns="0" bIns="0" rtlCol="0" anchor="t"/>
          <a:lstStyle/>
          <a:p>
            <a:pPr marL="0" indent="0" algn="l">
              <a:lnSpc>
                <a:spcPts val="886"/>
              </a:lnSpc>
              <a:buNone/>
            </a:pPr>
            <a:r>
              <a:rPr lang="en-US" sz="600" kern="0" spc="24" dirty="0">
                <a:solidFill>
                  <a:srgbClr val="5B6B84"/>
                </a:solidFill>
                <a:latin typeface="Liberation Sans Narrow" pitchFamily="34" charset="0"/>
                <a:ea typeface="Liberation Sans Narrow" pitchFamily="34" charset="-122"/>
                <a:cs typeface="Liberation Sans Narrow" pitchFamily="34" charset="-120"/>
              </a:rPr>
              <a:t>POJO · 4 fields</a:t>
            </a:r>
            <a:endParaRPr lang="en-US" sz="600" dirty="0"/>
          </a:p>
        </p:txBody>
      </p:sp>
      <p:sp>
        <p:nvSpPr>
          <p:cNvPr id="40" name="Text 38"/>
          <p:cNvSpPr/>
          <p:nvPr/>
        </p:nvSpPr>
        <p:spPr>
          <a:xfrm>
            <a:off x="4088681" y="3551225"/>
            <a:ext cx="113184" cy="123444"/>
          </a:xfrm>
          <a:prstGeom prst="rect">
            <a:avLst/>
          </a:prstGeom>
          <a:noFill/>
          <a:ln/>
        </p:spPr>
        <p:txBody>
          <a:bodyPr wrap="none" lIns="0" tIns="0" rIns="0" bIns="0" rtlCol="0" anchor="t"/>
          <a:lstStyle/>
          <a:p>
            <a:pPr marL="0" indent="0" algn="l">
              <a:buNone/>
            </a:pPr>
            <a:r>
              <a:rPr lang="en-US" sz="900" dirty="0">
                <a:solidFill>
                  <a:srgbClr val="B7791F"/>
                </a:solidFill>
                <a:latin typeface="Segoe UI Symbol" pitchFamily="34" charset="0"/>
                <a:ea typeface="Segoe UI Symbol" pitchFamily="34" charset="-122"/>
                <a:cs typeface="Segoe UI Symbol" pitchFamily="34" charset="-120"/>
              </a:rPr>
              <a:t>▼</a:t>
            </a:r>
            <a:endParaRPr lang="en-US" sz="900" dirty="0"/>
          </a:p>
        </p:txBody>
      </p:sp>
      <p:sp>
        <p:nvSpPr>
          <p:cNvPr id="41" name="Text 39"/>
          <p:cNvSpPr/>
          <p:nvPr/>
        </p:nvSpPr>
        <p:spPr>
          <a:xfrm>
            <a:off x="4273302" y="3549439"/>
            <a:ext cx="333077" cy="164592"/>
          </a:xfrm>
          <a:prstGeom prst="rect">
            <a:avLst/>
          </a:prstGeom>
          <a:noFill/>
          <a:ln/>
        </p:spPr>
        <p:txBody>
          <a:bodyPr wrap="none" lIns="0" tIns="0" rIns="0" bIns="0" rtlCol="0" anchor="t"/>
          <a:lstStyle/>
          <a:p>
            <a:pPr marL="0" indent="0" algn="l">
              <a:lnSpc>
                <a:spcPts val="928"/>
              </a:lnSpc>
              <a:buNone/>
            </a:pPr>
            <a:r>
              <a:rPr lang="en-US" sz="800" kern="0" spc="37" dirty="0">
                <a:solidFill>
                  <a:srgbClr val="8A5A14"/>
                </a:solidFill>
                <a:latin typeface="Courier New" pitchFamily="34" charset="0"/>
                <a:ea typeface="Courier New" pitchFamily="34" charset="-122"/>
                <a:cs typeface="Courier New" pitchFamily="34" charset="-120"/>
              </a:rPr>
              <a:t>save</a:t>
            </a:r>
            <a:endParaRPr lang="en-US" sz="800" dirty="0"/>
          </a:p>
        </p:txBody>
      </p:sp>
      <p:sp>
        <p:nvSpPr>
          <p:cNvPr id="42" name="Text 40"/>
          <p:cNvSpPr/>
          <p:nvPr/>
        </p:nvSpPr>
        <p:spPr>
          <a:xfrm>
            <a:off x="4552913" y="3522650"/>
            <a:ext cx="91440" cy="185166"/>
          </a:xfrm>
          <a:prstGeom prst="rect">
            <a:avLst/>
          </a:prstGeom>
          <a:noFill/>
          <a:ln/>
        </p:spPr>
        <p:txBody>
          <a:bodyPr wrap="none" lIns="0" tIns="0" rIns="0" bIns="0" rtlCol="0" anchor="t"/>
          <a:lstStyle/>
          <a:p>
            <a:pPr marL="0" indent="0" algn="l">
              <a:lnSpc>
                <a:spcPts val="1350"/>
              </a:lnSpc>
              <a:buNone/>
            </a:pPr>
            <a:r>
              <a:rPr lang="en-US" sz="900" dirty="0">
                <a:solidFill>
                  <a:srgbClr val="D9E2EF"/>
                </a:solidFill>
                <a:latin typeface="Carlito" pitchFamily="34" charset="0"/>
                <a:ea typeface="Carlito" pitchFamily="34" charset="-122"/>
                <a:cs typeface="Carlito" pitchFamily="34" charset="-120"/>
              </a:rPr>
              <a:t>·</a:t>
            </a:r>
            <a:endParaRPr lang="en-US" sz="900" dirty="0"/>
          </a:p>
        </p:txBody>
      </p:sp>
      <p:sp>
        <p:nvSpPr>
          <p:cNvPr id="43" name="Text 41"/>
          <p:cNvSpPr/>
          <p:nvPr/>
        </p:nvSpPr>
        <p:spPr>
          <a:xfrm>
            <a:off x="4662413" y="3551225"/>
            <a:ext cx="113184" cy="123444"/>
          </a:xfrm>
          <a:prstGeom prst="rect">
            <a:avLst/>
          </a:prstGeom>
          <a:noFill/>
          <a:ln/>
        </p:spPr>
        <p:txBody>
          <a:bodyPr wrap="none" lIns="0" tIns="0" rIns="0" bIns="0" rtlCol="0" anchor="t"/>
          <a:lstStyle/>
          <a:p>
            <a:pPr marL="0" indent="0" algn="l">
              <a:buNone/>
            </a:pPr>
            <a:r>
              <a:rPr lang="en-US" sz="900" dirty="0">
                <a:solidFill>
                  <a:srgbClr val="B7791F"/>
                </a:solidFill>
                <a:latin typeface="Segoe UI Symbol" pitchFamily="34" charset="0"/>
                <a:ea typeface="Segoe UI Symbol" pitchFamily="34" charset="-122"/>
                <a:cs typeface="Segoe UI Symbol" pitchFamily="34" charset="-120"/>
              </a:rPr>
              <a:t>▲</a:t>
            </a:r>
            <a:endParaRPr lang="en-US" sz="900" dirty="0"/>
          </a:p>
        </p:txBody>
      </p:sp>
      <p:sp>
        <p:nvSpPr>
          <p:cNvPr id="44" name="Text 42"/>
          <p:cNvSpPr/>
          <p:nvPr/>
        </p:nvSpPr>
        <p:spPr>
          <a:xfrm>
            <a:off x="4847034" y="3549439"/>
            <a:ext cx="3153966" cy="164592"/>
          </a:xfrm>
          <a:prstGeom prst="rect">
            <a:avLst/>
          </a:prstGeom>
          <a:noFill/>
          <a:ln/>
        </p:spPr>
        <p:txBody>
          <a:bodyPr wrap="none" lIns="0" tIns="0" rIns="0" bIns="0" rtlCol="0" anchor="t"/>
          <a:lstStyle/>
          <a:p>
            <a:pPr marL="0" indent="0" algn="l">
              <a:lnSpc>
                <a:spcPts val="928"/>
              </a:lnSpc>
              <a:buNone/>
            </a:pPr>
            <a:r>
              <a:rPr lang="en-US" sz="800" kern="0" spc="37" dirty="0">
                <a:solidFill>
                  <a:srgbClr val="8A5A14"/>
                </a:solidFill>
                <a:latin typeface="Courier New" pitchFamily="34" charset="0"/>
                <a:ea typeface="Courier New" pitchFamily="34" charset="-122"/>
                <a:cs typeface="Courier New" pitchFamily="34" charset="-120"/>
              </a:rPr>
              <a:t>load</a:t>
            </a:r>
            <a:endParaRPr lang="en-US" sz="800" dirty="0"/>
          </a:p>
        </p:txBody>
      </p:sp>
      <p:sp>
        <p:nvSpPr>
          <p:cNvPr id="45" name="Text 43"/>
          <p:cNvSpPr/>
          <p:nvPr/>
        </p:nvSpPr>
        <p:spPr>
          <a:xfrm>
            <a:off x="1146572" y="3719103"/>
            <a:ext cx="6850856" cy="431974"/>
          </a:xfrm>
          <a:prstGeom prst="roundRect">
            <a:avLst>
              <a:gd name="adj" fmla="val 22050"/>
            </a:avLst>
          </a:prstGeom>
          <a:solidFill>
            <a:srgbClr val="FDF6E7"/>
          </a:solidFill>
          <a:ln w="7144">
            <a:solidFill>
              <a:srgbClr val="B7791F"/>
            </a:solidFill>
            <a:prstDash val="solid"/>
          </a:ln>
        </p:spPr>
        <p:txBody>
          <a:bodyPr wrap="square" rtlCol="0" anchor="ctr"/>
          <a:lstStyle/>
          <a:p>
            <a:pPr marL="0" indent="0">
              <a:buNone/>
            </a:pPr>
            <a:endParaRPr lang="en-US" dirty="0"/>
          </a:p>
        </p:txBody>
      </p:sp>
      <p:sp>
        <p:nvSpPr>
          <p:cNvPr id="46" name="Text 44"/>
          <p:cNvSpPr/>
          <p:nvPr/>
        </p:nvSpPr>
        <p:spPr>
          <a:xfrm>
            <a:off x="1293019" y="3856509"/>
            <a:ext cx="157163" cy="157163"/>
          </a:xfrm>
          <a:prstGeom prst="rect">
            <a:avLst/>
          </a:prstGeom>
          <a:noFill/>
          <a:ln/>
        </p:spPr>
        <p:txBody>
          <a:bodyPr wrap="none" lIns="0" tIns="0" rIns="0" bIns="0" rtlCol="0" anchor="ctr"/>
          <a:lstStyle/>
          <a:p>
            <a:pPr marL="0" indent="0" algn="ctr">
              <a:buNone/>
            </a:pPr>
            <a:r>
              <a:rPr lang="en-US" sz="1547" dirty="0">
                <a:solidFill>
                  <a:srgbClr val="8A5A14"/>
                </a:solidFill>
                <a:latin typeface="Segoe UI Symbol" pitchFamily="34" charset="0"/>
                <a:ea typeface="Segoe UI Symbol" pitchFamily="34" charset="-122"/>
                <a:cs typeface="Segoe UI Symbol" pitchFamily="34" charset="-120"/>
              </a:rPr>
              <a:t>▤</a:t>
            </a:r>
            <a:endParaRPr lang="en-US" sz="1547" dirty="0"/>
          </a:p>
        </p:txBody>
      </p:sp>
      <p:sp>
        <p:nvSpPr>
          <p:cNvPr id="47" name="Text 45"/>
          <p:cNvSpPr/>
          <p:nvPr/>
        </p:nvSpPr>
        <p:spPr>
          <a:xfrm>
            <a:off x="1550194" y="3851080"/>
            <a:ext cx="503969" cy="168021"/>
          </a:xfrm>
          <a:prstGeom prst="roundRect">
            <a:avLst>
              <a:gd name="adj" fmla="val 5663265"/>
            </a:avLst>
          </a:prstGeom>
          <a:solidFill>
            <a:srgbClr val="B7791F">
              <a:alpha val="12000"/>
            </a:srgbClr>
          </a:solidFill>
          <a:ln/>
        </p:spPr>
        <p:txBody>
          <a:bodyPr wrap="square" rtlCol="0" anchor="ctr"/>
          <a:lstStyle/>
          <a:p>
            <a:pPr marL="0" indent="0">
              <a:buNone/>
            </a:pPr>
            <a:endParaRPr lang="en-US" dirty="0"/>
          </a:p>
        </p:txBody>
      </p:sp>
      <p:sp>
        <p:nvSpPr>
          <p:cNvPr id="48" name="Text 46"/>
          <p:cNvSpPr/>
          <p:nvPr/>
        </p:nvSpPr>
        <p:spPr>
          <a:xfrm>
            <a:off x="1524241" y="3860081"/>
            <a:ext cx="555874" cy="150019"/>
          </a:xfrm>
          <a:prstGeom prst="rect">
            <a:avLst/>
          </a:prstGeom>
          <a:noFill/>
          <a:ln/>
        </p:spPr>
        <p:txBody>
          <a:bodyPr wrap="none" lIns="0" tIns="0" rIns="0" bIns="0" rtlCol="0" anchor="ctr"/>
          <a:lstStyle/>
          <a:p>
            <a:pPr marL="0" indent="0" algn="ctr">
              <a:lnSpc>
                <a:spcPts val="844"/>
              </a:lnSpc>
              <a:buNone/>
            </a:pPr>
            <a:r>
              <a:rPr lang="en-US" sz="800" kern="0" spc="68" dirty="0">
                <a:solidFill>
                  <a:srgbClr val="8A5A14"/>
                </a:solidFill>
                <a:latin typeface="Courier New" pitchFamily="34" charset="0"/>
                <a:ea typeface="Courier New" pitchFamily="34" charset="-122"/>
                <a:cs typeface="Courier New" pitchFamily="34" charset="-120"/>
              </a:rPr>
              <a:t>STORAGE</a:t>
            </a:r>
            <a:endParaRPr lang="en-US" sz="800" dirty="0"/>
          </a:p>
        </p:txBody>
      </p:sp>
      <p:sp>
        <p:nvSpPr>
          <p:cNvPr id="49" name="Text 47"/>
          <p:cNvSpPr/>
          <p:nvPr/>
        </p:nvSpPr>
        <p:spPr>
          <a:xfrm>
            <a:off x="2154175" y="3801256"/>
            <a:ext cx="3434251" cy="119685"/>
          </a:xfrm>
          <a:prstGeom prst="rect">
            <a:avLst/>
          </a:prstGeom>
          <a:noFill/>
          <a:ln/>
        </p:spPr>
        <p:txBody>
          <a:bodyPr wrap="square" lIns="0" tIns="0" rIns="0" bIns="0" rtlCol="0" anchor="t">
            <a:normAutofit/>
          </a:bodyPr>
          <a:lstStyle/>
          <a:p>
            <a:pPr marL="0" indent="0" algn="l">
              <a:lnSpc>
                <a:spcPts val="1046"/>
              </a:lnSpc>
              <a:buNone/>
            </a:pPr>
            <a:r>
              <a:rPr lang="en-US" sz="872" b="1" dirty="0">
                <a:solidFill>
                  <a:srgbClr val="16305B"/>
                </a:solidFill>
                <a:latin typeface="Courier New" pitchFamily="34" charset="0"/>
                <a:ea typeface="Courier New" pitchFamily="34" charset="-122"/>
                <a:cs typeface="Courier New" pitchFamily="34" charset="-120"/>
              </a:rPr>
              <a:t>music_data.txt</a:t>
            </a:r>
            <a:r>
              <a:rPr lang="en-US" sz="872" b="1" dirty="0">
                <a:solidFill>
                  <a:srgbClr val="16305B"/>
                </a:solidFill>
                <a:latin typeface="Carlito" pitchFamily="34" charset="0"/>
                <a:ea typeface="Carlito" pitchFamily="34" charset="-122"/>
                <a:cs typeface="Carlito" pitchFamily="34" charset="-120"/>
              </a:rPr>
              <a:t> — Persistent Storage</a:t>
            </a:r>
            <a:endParaRPr lang="en-US" sz="872" dirty="0"/>
          </a:p>
        </p:txBody>
      </p:sp>
      <p:sp>
        <p:nvSpPr>
          <p:cNvPr id="50" name="Text 48"/>
          <p:cNvSpPr/>
          <p:nvPr/>
        </p:nvSpPr>
        <p:spPr>
          <a:xfrm>
            <a:off x="2154175" y="3948373"/>
            <a:ext cx="3179862" cy="120551"/>
          </a:xfrm>
          <a:prstGeom prst="rect">
            <a:avLst/>
          </a:prstGeom>
          <a:noFill/>
          <a:ln/>
        </p:spPr>
        <p:txBody>
          <a:bodyPr wrap="square" lIns="0" tIns="0" rIns="0" bIns="0" rtlCol="0" anchor="t"/>
          <a:lstStyle/>
          <a:p>
            <a:pPr marL="0" indent="0" algn="l">
              <a:lnSpc>
                <a:spcPts val="949"/>
              </a:lnSpc>
              <a:buNone/>
            </a:pPr>
            <a:r>
              <a:rPr lang="en-US" sz="703" dirty="0">
                <a:solidFill>
                  <a:srgbClr val="5B6B84"/>
                </a:solidFill>
                <a:latin typeface="Carlito" pitchFamily="34" charset="0"/>
                <a:ea typeface="Carlito" pitchFamily="34" charset="-122"/>
                <a:cs typeface="Carlito" pitchFamily="34" charset="-120"/>
              </a:rPr>
              <a:t>One line per song: </a:t>
            </a:r>
            <a:r>
              <a:rPr lang="en-US" sz="703" dirty="0">
                <a:solidFill>
                  <a:srgbClr val="8A5A14"/>
                </a:solidFill>
                <a:latin typeface="Courier New" pitchFamily="34" charset="0"/>
                <a:ea typeface="Courier New" pitchFamily="34" charset="-122"/>
                <a:cs typeface="Courier New" pitchFamily="34" charset="-120"/>
              </a:rPr>
              <a:t>title|artist|seconds|plays</a:t>
            </a:r>
            <a:r>
              <a:rPr lang="en-US" sz="703" dirty="0">
                <a:solidFill>
                  <a:srgbClr val="5B6B84"/>
                </a:solidFill>
                <a:latin typeface="Carlito" pitchFamily="34" charset="0"/>
                <a:ea typeface="Carlito" pitchFamily="34" charset="-122"/>
                <a:cs typeface="Carlito" pitchFamily="34" charset="-120"/>
              </a:rPr>
              <a:t> — reloaded at every start</a:t>
            </a:r>
            <a:endParaRPr lang="en-US" sz="703" dirty="0"/>
          </a:p>
        </p:txBody>
      </p:sp>
      <p:sp>
        <p:nvSpPr>
          <p:cNvPr id="51" name="Text 49"/>
          <p:cNvSpPr/>
          <p:nvPr/>
        </p:nvSpPr>
        <p:spPr>
          <a:xfrm>
            <a:off x="428625" y="4454128"/>
            <a:ext cx="8286750" cy="403622"/>
          </a:xfrm>
          <a:prstGeom prst="roundRect">
            <a:avLst>
              <a:gd name="adj" fmla="val 23599"/>
            </a:avLst>
          </a:prstGeom>
          <a:solidFill>
            <a:srgbClr val="F4F7FB"/>
          </a:solidFill>
          <a:ln/>
        </p:spPr>
        <p:txBody>
          <a:bodyPr wrap="square" rtlCol="0" anchor="ctr"/>
          <a:lstStyle/>
          <a:p>
            <a:pPr marL="0" indent="0">
              <a:buNone/>
            </a:pPr>
            <a:endParaRPr lang="en-US" dirty="0"/>
          </a:p>
        </p:txBody>
      </p:sp>
      <p:sp>
        <p:nvSpPr>
          <p:cNvPr id="52" name="Shape 50"/>
          <p:cNvSpPr/>
          <p:nvPr/>
        </p:nvSpPr>
        <p:spPr>
          <a:xfrm>
            <a:off x="428625" y="4457700"/>
            <a:ext cx="8286750" cy="0"/>
          </a:xfrm>
          <a:prstGeom prst="line">
            <a:avLst/>
          </a:prstGeom>
          <a:noFill/>
          <a:ln w="7144">
            <a:solidFill>
              <a:srgbClr val="D9E2EF"/>
            </a:solidFill>
            <a:prstDash val="solid"/>
          </a:ln>
        </p:spPr>
        <p:txBody>
          <a:bodyPr/>
          <a:lstStyle/>
          <a:p>
            <a:endParaRPr lang="en-IN"/>
          </a:p>
        </p:txBody>
      </p:sp>
      <p:sp>
        <p:nvSpPr>
          <p:cNvPr id="53" name="Shape 51"/>
          <p:cNvSpPr/>
          <p:nvPr/>
        </p:nvSpPr>
        <p:spPr>
          <a:xfrm>
            <a:off x="8711803" y="4454128"/>
            <a:ext cx="0" cy="403622"/>
          </a:xfrm>
          <a:prstGeom prst="line">
            <a:avLst/>
          </a:prstGeom>
          <a:noFill/>
          <a:ln w="7144">
            <a:solidFill>
              <a:srgbClr val="D9E2EF"/>
            </a:solidFill>
            <a:prstDash val="solid"/>
          </a:ln>
        </p:spPr>
        <p:txBody>
          <a:bodyPr/>
          <a:lstStyle/>
          <a:p>
            <a:endParaRPr lang="en-IN"/>
          </a:p>
        </p:txBody>
      </p:sp>
      <p:sp>
        <p:nvSpPr>
          <p:cNvPr id="54" name="Shape 52"/>
          <p:cNvSpPr/>
          <p:nvPr/>
        </p:nvSpPr>
        <p:spPr>
          <a:xfrm>
            <a:off x="428625" y="4854178"/>
            <a:ext cx="8286750" cy="0"/>
          </a:xfrm>
          <a:prstGeom prst="line">
            <a:avLst/>
          </a:prstGeom>
          <a:noFill/>
          <a:ln w="7144">
            <a:solidFill>
              <a:srgbClr val="D9E2EF"/>
            </a:solidFill>
            <a:prstDash val="solid"/>
          </a:ln>
        </p:spPr>
        <p:txBody>
          <a:bodyPr/>
          <a:lstStyle/>
          <a:p>
            <a:endParaRPr lang="en-IN"/>
          </a:p>
        </p:txBody>
      </p:sp>
      <p:sp>
        <p:nvSpPr>
          <p:cNvPr id="55" name="Shape 53"/>
          <p:cNvSpPr/>
          <p:nvPr/>
        </p:nvSpPr>
        <p:spPr>
          <a:xfrm>
            <a:off x="442913" y="4454128"/>
            <a:ext cx="0" cy="403622"/>
          </a:xfrm>
          <a:prstGeom prst="line">
            <a:avLst/>
          </a:prstGeom>
          <a:noFill/>
          <a:ln w="28575">
            <a:solidFill>
              <a:srgbClr val="B7791F"/>
            </a:solidFill>
            <a:prstDash val="solid"/>
          </a:ln>
        </p:spPr>
        <p:txBody>
          <a:bodyPr/>
          <a:lstStyle/>
          <a:p>
            <a:endParaRPr lang="en-IN"/>
          </a:p>
        </p:txBody>
      </p:sp>
      <p:sp>
        <p:nvSpPr>
          <p:cNvPr id="56" name="Text 54"/>
          <p:cNvSpPr/>
          <p:nvPr/>
        </p:nvSpPr>
        <p:spPr>
          <a:xfrm>
            <a:off x="585788" y="4577358"/>
            <a:ext cx="157163" cy="157163"/>
          </a:xfrm>
          <a:prstGeom prst="rect">
            <a:avLst/>
          </a:prstGeom>
          <a:noFill/>
          <a:ln/>
        </p:spPr>
        <p:txBody>
          <a:bodyPr wrap="none" lIns="0" tIns="0" rIns="0" bIns="0" rtlCol="0" anchor="ctr"/>
          <a:lstStyle/>
          <a:p>
            <a:pPr marL="0" indent="0" algn="ctr">
              <a:buNone/>
            </a:pPr>
            <a:r>
              <a:rPr lang="en-US" sz="1547" dirty="0">
                <a:solidFill>
                  <a:srgbClr val="8A5A14"/>
                </a:solidFill>
                <a:latin typeface="Segoe UI Symbol" pitchFamily="34" charset="0"/>
                <a:ea typeface="Segoe UI Symbol" pitchFamily="34" charset="-122"/>
                <a:cs typeface="Segoe UI Symbol" pitchFamily="34" charset="-120"/>
              </a:rPr>
              <a:t>✦</a:t>
            </a:r>
            <a:endParaRPr lang="en-US" sz="1547" dirty="0"/>
          </a:p>
        </p:txBody>
      </p:sp>
      <p:sp>
        <p:nvSpPr>
          <p:cNvPr id="57" name="Text 55"/>
          <p:cNvSpPr/>
          <p:nvPr/>
        </p:nvSpPr>
        <p:spPr>
          <a:xfrm>
            <a:off x="842963" y="4532709"/>
            <a:ext cx="1479851" cy="91440"/>
          </a:xfrm>
          <a:prstGeom prst="rect">
            <a:avLst/>
          </a:prstGeom>
          <a:noFill/>
          <a:ln/>
        </p:spPr>
        <p:txBody>
          <a:bodyPr wrap="none" lIns="0" tIns="0" rIns="0" bIns="0" rtlCol="0" anchor="t">
            <a:normAutofit/>
          </a:bodyPr>
          <a:lstStyle/>
          <a:p>
            <a:pPr marL="0" indent="0" algn="l">
              <a:lnSpc>
                <a:spcPts val="844"/>
              </a:lnSpc>
              <a:buNone/>
            </a:pPr>
            <a:r>
              <a:rPr lang="en-US" sz="800" kern="0" spc="79" dirty="0">
                <a:solidFill>
                  <a:srgbClr val="5B6B84"/>
                </a:solidFill>
                <a:latin typeface="Courier New" pitchFamily="34" charset="0"/>
                <a:ea typeface="Courier New" pitchFamily="34" charset="-122"/>
                <a:cs typeface="Courier New" pitchFamily="34" charset="-120"/>
              </a:rPr>
              <a:t>DATA FLOW</a:t>
            </a:r>
            <a:endParaRPr lang="en-US" sz="800" dirty="0"/>
          </a:p>
        </p:txBody>
      </p:sp>
      <p:sp>
        <p:nvSpPr>
          <p:cNvPr id="58" name="Text 56"/>
          <p:cNvSpPr/>
          <p:nvPr/>
        </p:nvSpPr>
        <p:spPr>
          <a:xfrm>
            <a:off x="842963" y="4639866"/>
            <a:ext cx="1180929" cy="139303"/>
          </a:xfrm>
          <a:prstGeom prst="rect">
            <a:avLst/>
          </a:prstGeom>
          <a:noFill/>
          <a:ln/>
        </p:spPr>
        <p:txBody>
          <a:bodyPr wrap="none" lIns="0" tIns="0" rIns="0" bIns="0" rtlCol="0" anchor="t"/>
          <a:lstStyle/>
          <a:p>
            <a:pPr marL="0" indent="0" algn="l">
              <a:lnSpc>
                <a:spcPts val="1097"/>
              </a:lnSpc>
              <a:buNone/>
            </a:pPr>
            <a:r>
              <a:rPr lang="en-US" sz="731" b="1" dirty="0">
                <a:solidFill>
                  <a:srgbClr val="16305B"/>
                </a:solidFill>
                <a:latin typeface="Carlito" pitchFamily="34" charset="0"/>
                <a:ea typeface="Carlito" pitchFamily="34" charset="-122"/>
                <a:cs typeface="Carlito" pitchFamily="34" charset="-120"/>
              </a:rPr>
              <a:t>Example — Play a song:</a:t>
            </a:r>
            <a:endParaRPr lang="en-US" sz="731" dirty="0"/>
          </a:p>
        </p:txBody>
      </p:sp>
      <p:sp>
        <p:nvSpPr>
          <p:cNvPr id="59" name="Text 57"/>
          <p:cNvSpPr/>
          <p:nvPr/>
        </p:nvSpPr>
        <p:spPr>
          <a:xfrm>
            <a:off x="2016547" y="4548783"/>
            <a:ext cx="7144" cy="214313"/>
          </a:xfrm>
          <a:prstGeom prst="rect">
            <a:avLst/>
          </a:prstGeom>
          <a:solidFill>
            <a:srgbClr val="D9E2EF"/>
          </a:solidFill>
          <a:ln/>
        </p:spPr>
        <p:txBody>
          <a:bodyPr wrap="square" rtlCol="0" anchor="ctr"/>
          <a:lstStyle/>
          <a:p>
            <a:pPr marL="0" indent="0">
              <a:buNone/>
            </a:pPr>
            <a:endParaRPr lang="en-US" dirty="0"/>
          </a:p>
        </p:txBody>
      </p:sp>
      <p:sp>
        <p:nvSpPr>
          <p:cNvPr id="60" name="Text 58"/>
          <p:cNvSpPr/>
          <p:nvPr/>
        </p:nvSpPr>
        <p:spPr>
          <a:xfrm>
            <a:off x="2100290" y="4597003"/>
            <a:ext cx="874776" cy="164592"/>
          </a:xfrm>
          <a:prstGeom prst="rect">
            <a:avLst/>
          </a:prstGeom>
          <a:noFill/>
          <a:ln/>
        </p:spPr>
        <p:txBody>
          <a:bodyPr wrap="none" lIns="0" tIns="0" rIns="0" bIns="0" rtlCol="0" anchor="t"/>
          <a:lstStyle/>
          <a:p>
            <a:pPr marL="0" indent="0" algn="l">
              <a:lnSpc>
                <a:spcPts val="928"/>
              </a:lnSpc>
              <a:buNone/>
            </a:pPr>
            <a:r>
              <a:rPr lang="en-US" sz="800" dirty="0">
                <a:solidFill>
                  <a:srgbClr val="23304A"/>
                </a:solidFill>
                <a:latin typeface="Liberation Sans Narrow" pitchFamily="34" charset="0"/>
                <a:ea typeface="Liberation Sans Narrow" pitchFamily="34" charset="-122"/>
                <a:cs typeface="Liberation Sans Narrow" pitchFamily="34" charset="-120"/>
              </a:rPr>
              <a:t>User presses 4</a:t>
            </a:r>
            <a:endParaRPr lang="en-US" sz="800" dirty="0"/>
          </a:p>
        </p:txBody>
      </p:sp>
      <p:sp>
        <p:nvSpPr>
          <p:cNvPr id="61" name="Text 59"/>
          <p:cNvSpPr/>
          <p:nvPr/>
        </p:nvSpPr>
        <p:spPr>
          <a:xfrm>
            <a:off x="2850356" y="4597003"/>
            <a:ext cx="91440" cy="117872"/>
          </a:xfrm>
          <a:prstGeom prst="rect">
            <a:avLst/>
          </a:prstGeom>
          <a:noFill/>
          <a:ln/>
        </p:spPr>
        <p:txBody>
          <a:bodyPr wrap="none" lIns="0" tIns="0" rIns="0" bIns="0" rtlCol="0" anchor="ctr"/>
          <a:lstStyle/>
          <a:p>
            <a:pPr marL="0" indent="0" algn="ctr">
              <a:buNone/>
            </a:pPr>
            <a:r>
              <a:rPr lang="en-US" sz="800" b="1" dirty="0">
                <a:solidFill>
                  <a:srgbClr val="B7791F"/>
                </a:solidFill>
                <a:latin typeface="Segoe UI Symbol" pitchFamily="34" charset="0"/>
                <a:ea typeface="Segoe UI Symbol" pitchFamily="34" charset="-122"/>
                <a:cs typeface="Segoe UI Symbol" pitchFamily="34" charset="-120"/>
              </a:rPr>
              <a:t>→</a:t>
            </a:r>
            <a:endParaRPr lang="en-US" sz="800" dirty="0"/>
          </a:p>
        </p:txBody>
      </p:sp>
      <p:sp>
        <p:nvSpPr>
          <p:cNvPr id="62" name="Text 60"/>
          <p:cNvSpPr/>
          <p:nvPr/>
        </p:nvSpPr>
        <p:spPr>
          <a:xfrm>
            <a:off x="2961977" y="4597003"/>
            <a:ext cx="1241924" cy="164592"/>
          </a:xfrm>
          <a:prstGeom prst="rect">
            <a:avLst/>
          </a:prstGeom>
          <a:noFill/>
          <a:ln/>
        </p:spPr>
        <p:txBody>
          <a:bodyPr wrap="none" lIns="0" tIns="0" rIns="0" bIns="0" rtlCol="0" anchor="t"/>
          <a:lstStyle/>
          <a:p>
            <a:pPr marL="0" indent="0" algn="l">
              <a:lnSpc>
                <a:spcPts val="928"/>
              </a:lnSpc>
              <a:buNone/>
            </a:pPr>
            <a:r>
              <a:rPr lang="en-US" sz="800" dirty="0">
                <a:solidFill>
                  <a:srgbClr val="23304A"/>
                </a:solidFill>
                <a:latin typeface="Courier New" pitchFamily="34" charset="0"/>
                <a:ea typeface="Courier New" pitchFamily="34" charset="-122"/>
                <a:cs typeface="Courier New" pitchFamily="34" charset="-120"/>
              </a:rPr>
              <a:t>Main calls playSong()</a:t>
            </a:r>
            <a:endParaRPr lang="en-US" sz="800" dirty="0"/>
          </a:p>
        </p:txBody>
      </p:sp>
      <p:sp>
        <p:nvSpPr>
          <p:cNvPr id="63" name="Text 61"/>
          <p:cNvSpPr/>
          <p:nvPr/>
        </p:nvSpPr>
        <p:spPr>
          <a:xfrm>
            <a:off x="4019810" y="4597003"/>
            <a:ext cx="91440" cy="117872"/>
          </a:xfrm>
          <a:prstGeom prst="rect">
            <a:avLst/>
          </a:prstGeom>
          <a:noFill/>
          <a:ln/>
        </p:spPr>
        <p:txBody>
          <a:bodyPr wrap="none" lIns="0" tIns="0" rIns="0" bIns="0" rtlCol="0" anchor="ctr"/>
          <a:lstStyle/>
          <a:p>
            <a:pPr marL="0" indent="0" algn="ctr">
              <a:buNone/>
            </a:pPr>
            <a:r>
              <a:rPr lang="en-US" sz="800" b="1" dirty="0">
                <a:solidFill>
                  <a:srgbClr val="B7791F"/>
                </a:solidFill>
                <a:latin typeface="Segoe UI Symbol" pitchFamily="34" charset="0"/>
                <a:ea typeface="Segoe UI Symbol" pitchFamily="34" charset="-122"/>
                <a:cs typeface="Segoe UI Symbol" pitchFamily="34" charset="-120"/>
              </a:rPr>
              <a:t>→</a:t>
            </a:r>
            <a:endParaRPr lang="en-US" sz="800" dirty="0"/>
          </a:p>
        </p:txBody>
      </p:sp>
      <p:sp>
        <p:nvSpPr>
          <p:cNvPr id="64" name="Text 62"/>
          <p:cNvSpPr/>
          <p:nvPr/>
        </p:nvSpPr>
        <p:spPr>
          <a:xfrm>
            <a:off x="4131432" y="4597003"/>
            <a:ext cx="1478561" cy="164592"/>
          </a:xfrm>
          <a:prstGeom prst="rect">
            <a:avLst/>
          </a:prstGeom>
          <a:noFill/>
          <a:ln/>
        </p:spPr>
        <p:txBody>
          <a:bodyPr wrap="none" lIns="0" tIns="0" rIns="0" bIns="0" rtlCol="0" anchor="t"/>
          <a:lstStyle/>
          <a:p>
            <a:pPr marL="0" indent="0" algn="l">
              <a:lnSpc>
                <a:spcPts val="928"/>
              </a:lnSpc>
              <a:buNone/>
            </a:pPr>
            <a:r>
              <a:rPr lang="en-US" sz="800" dirty="0">
                <a:solidFill>
                  <a:srgbClr val="23304A"/>
                </a:solidFill>
                <a:latin typeface="Courier New" pitchFamily="34" charset="0"/>
                <a:ea typeface="Courier New" pitchFamily="34" charset="-122"/>
                <a:cs typeface="Courier New" pitchFamily="34" charset="-120"/>
              </a:rPr>
              <a:t>Playlist fetches the Song</a:t>
            </a:r>
            <a:endParaRPr lang="en-US" sz="800" dirty="0"/>
          </a:p>
        </p:txBody>
      </p:sp>
      <p:sp>
        <p:nvSpPr>
          <p:cNvPr id="65" name="Text 63"/>
          <p:cNvSpPr/>
          <p:nvPr/>
        </p:nvSpPr>
        <p:spPr>
          <a:xfrm>
            <a:off x="5378574" y="4597003"/>
            <a:ext cx="91440" cy="117872"/>
          </a:xfrm>
          <a:prstGeom prst="rect">
            <a:avLst/>
          </a:prstGeom>
          <a:noFill/>
          <a:ln/>
        </p:spPr>
        <p:txBody>
          <a:bodyPr wrap="none" lIns="0" tIns="0" rIns="0" bIns="0" rtlCol="0" anchor="ctr"/>
          <a:lstStyle/>
          <a:p>
            <a:pPr marL="0" indent="0" algn="ctr">
              <a:buNone/>
            </a:pPr>
            <a:r>
              <a:rPr lang="en-US" sz="800" b="1" dirty="0">
                <a:solidFill>
                  <a:srgbClr val="B7791F"/>
                </a:solidFill>
                <a:latin typeface="Segoe UI Symbol" pitchFamily="34" charset="0"/>
                <a:ea typeface="Segoe UI Symbol" pitchFamily="34" charset="-122"/>
                <a:cs typeface="Segoe UI Symbol" pitchFamily="34" charset="-120"/>
              </a:rPr>
              <a:t>→</a:t>
            </a:r>
            <a:endParaRPr lang="en-US" sz="800" dirty="0"/>
          </a:p>
        </p:txBody>
      </p:sp>
      <p:sp>
        <p:nvSpPr>
          <p:cNvPr id="66" name="Text 64"/>
          <p:cNvSpPr/>
          <p:nvPr/>
        </p:nvSpPr>
        <p:spPr>
          <a:xfrm>
            <a:off x="5459844" y="4597003"/>
            <a:ext cx="770473" cy="164592"/>
          </a:xfrm>
          <a:prstGeom prst="rect">
            <a:avLst/>
          </a:prstGeom>
          <a:noFill/>
          <a:ln/>
        </p:spPr>
        <p:txBody>
          <a:bodyPr wrap="none" lIns="0" tIns="0" rIns="0" bIns="0" rtlCol="0" anchor="t"/>
          <a:lstStyle/>
          <a:p>
            <a:pPr marL="0" indent="0" algn="l">
              <a:lnSpc>
                <a:spcPts val="928"/>
              </a:lnSpc>
              <a:buNone/>
            </a:pPr>
            <a:r>
              <a:rPr lang="en-US" sz="800" dirty="0">
                <a:solidFill>
                  <a:srgbClr val="23304A"/>
                </a:solidFill>
                <a:latin typeface="Liberation Sans Narrow" pitchFamily="34" charset="0"/>
                <a:ea typeface="Liberation Sans Narrow" pitchFamily="34" charset="-122"/>
                <a:cs typeface="Liberation Sans Narrow" pitchFamily="34" charset="-120"/>
              </a:rPr>
              <a:t>playCount +1</a:t>
            </a:r>
            <a:endParaRPr lang="en-US" sz="800" dirty="0"/>
          </a:p>
        </p:txBody>
      </p:sp>
      <p:sp>
        <p:nvSpPr>
          <p:cNvPr id="67" name="Text 65"/>
          <p:cNvSpPr/>
          <p:nvPr/>
        </p:nvSpPr>
        <p:spPr>
          <a:xfrm>
            <a:off x="6122305" y="4597003"/>
            <a:ext cx="91440" cy="117872"/>
          </a:xfrm>
          <a:prstGeom prst="rect">
            <a:avLst/>
          </a:prstGeom>
          <a:noFill/>
          <a:ln/>
        </p:spPr>
        <p:txBody>
          <a:bodyPr wrap="none" lIns="0" tIns="0" rIns="0" bIns="0" rtlCol="0" anchor="ctr"/>
          <a:lstStyle/>
          <a:p>
            <a:pPr marL="0" indent="0" algn="ctr">
              <a:buNone/>
            </a:pPr>
            <a:r>
              <a:rPr lang="en-US" sz="800" b="1" dirty="0">
                <a:solidFill>
                  <a:srgbClr val="B7791F"/>
                </a:solidFill>
                <a:latin typeface="Segoe UI Symbol" pitchFamily="34" charset="0"/>
                <a:ea typeface="Segoe UI Symbol" pitchFamily="34" charset="-122"/>
                <a:cs typeface="Segoe UI Symbol" pitchFamily="34" charset="-120"/>
              </a:rPr>
              <a:t>→</a:t>
            </a:r>
            <a:endParaRPr lang="en-US" sz="800" dirty="0"/>
          </a:p>
        </p:txBody>
      </p:sp>
      <p:sp>
        <p:nvSpPr>
          <p:cNvPr id="68" name="Text 66"/>
          <p:cNvSpPr/>
          <p:nvPr/>
        </p:nvSpPr>
        <p:spPr>
          <a:xfrm>
            <a:off x="6233926" y="4597003"/>
            <a:ext cx="1584037" cy="164592"/>
          </a:xfrm>
          <a:prstGeom prst="rect">
            <a:avLst/>
          </a:prstGeom>
          <a:noFill/>
          <a:ln/>
        </p:spPr>
        <p:txBody>
          <a:bodyPr wrap="none" lIns="0" tIns="0" rIns="0" bIns="0" rtlCol="0" anchor="t"/>
          <a:lstStyle/>
          <a:p>
            <a:pPr marL="0" indent="0" algn="l">
              <a:lnSpc>
                <a:spcPts val="928"/>
              </a:lnSpc>
              <a:buNone/>
            </a:pPr>
            <a:r>
              <a:rPr lang="en-US" sz="619" dirty="0">
                <a:solidFill>
                  <a:srgbClr val="23304A"/>
                </a:solidFill>
                <a:latin typeface="Courier New" pitchFamily="34" charset="0"/>
                <a:ea typeface="Courier New" pitchFamily="34" charset="-122"/>
                <a:cs typeface="Courier New" pitchFamily="34" charset="-120"/>
              </a:rPr>
              <a:t>auto-save writes music_data.txt</a:t>
            </a:r>
            <a:endParaRPr lang="en-US" sz="619"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28625" y="371475"/>
            <a:ext cx="328613" cy="328613"/>
          </a:xfrm>
          <a:prstGeom prst="roundRect">
            <a:avLst>
              <a:gd name="adj" fmla="val 28985"/>
            </a:avLst>
          </a:prstGeom>
          <a:solidFill>
            <a:srgbClr val="B7791F"/>
          </a:solidFill>
          <a:ln/>
        </p:spPr>
        <p:txBody>
          <a:bodyPr wrap="square" rtlCol="0" anchor="ctr"/>
          <a:lstStyle/>
          <a:p>
            <a:pPr marL="0" indent="0">
              <a:buNone/>
            </a:pPr>
            <a:endParaRPr lang="en-US" dirty="0"/>
          </a:p>
        </p:txBody>
      </p:sp>
      <p:sp>
        <p:nvSpPr>
          <p:cNvPr id="3" name="Text 1"/>
          <p:cNvSpPr/>
          <p:nvPr/>
        </p:nvSpPr>
        <p:spPr>
          <a:xfrm>
            <a:off x="547725" y="423267"/>
            <a:ext cx="209513" cy="243030"/>
          </a:xfrm>
          <a:prstGeom prst="rect">
            <a:avLst/>
          </a:prstGeom>
          <a:noFill/>
          <a:ln/>
        </p:spPr>
        <p:txBody>
          <a:bodyPr wrap="none" lIns="0" tIns="0" rIns="0" bIns="0" rtlCol="0" anchor="t"/>
          <a:lstStyle/>
          <a:p>
            <a:pPr marL="0" indent="0" algn="l">
              <a:lnSpc>
                <a:spcPts val="1772"/>
              </a:lnSpc>
              <a:buNone/>
            </a:pPr>
            <a:r>
              <a:rPr lang="en-US" sz="1181" b="1" dirty="0">
                <a:solidFill>
                  <a:srgbClr val="FFFFFF"/>
                </a:solidFill>
                <a:latin typeface="Liberation Sans Narrow" pitchFamily="34" charset="0"/>
                <a:ea typeface="Liberation Sans Narrow" pitchFamily="34" charset="-122"/>
                <a:cs typeface="Liberation Sans Narrow" pitchFamily="34" charset="-120"/>
              </a:rPr>
              <a:t>7</a:t>
            </a:r>
            <a:endParaRPr lang="en-US" sz="1181" dirty="0"/>
          </a:p>
        </p:txBody>
      </p:sp>
      <p:sp>
        <p:nvSpPr>
          <p:cNvPr id="4" name="Text 2"/>
          <p:cNvSpPr/>
          <p:nvPr/>
        </p:nvSpPr>
        <p:spPr>
          <a:xfrm>
            <a:off x="885825" y="402171"/>
            <a:ext cx="1922952" cy="288478"/>
          </a:xfrm>
          <a:prstGeom prst="rect">
            <a:avLst/>
          </a:prstGeom>
          <a:noFill/>
          <a:ln/>
        </p:spPr>
        <p:txBody>
          <a:bodyPr wrap="none" lIns="0" tIns="0" rIns="0" bIns="0" rtlCol="0" anchor="t"/>
          <a:lstStyle/>
          <a:p>
            <a:pPr marL="0" indent="0" algn="l">
              <a:lnSpc>
                <a:spcPts val="2104"/>
              </a:lnSpc>
              <a:buNone/>
            </a:pPr>
            <a:r>
              <a:rPr lang="en-US" sz="1913" b="1" dirty="0">
                <a:solidFill>
                  <a:srgbClr val="16305B"/>
                </a:solidFill>
                <a:latin typeface="Tinos" pitchFamily="34" charset="0"/>
                <a:ea typeface="Tinos" pitchFamily="34" charset="-122"/>
                <a:cs typeface="Tinos" pitchFamily="34" charset="-120"/>
              </a:rPr>
              <a:t>Functionalities</a:t>
            </a:r>
            <a:endParaRPr lang="en-US" sz="1913" dirty="0"/>
          </a:p>
        </p:txBody>
      </p:sp>
      <p:sp>
        <p:nvSpPr>
          <p:cNvPr id="5" name="Text 3"/>
          <p:cNvSpPr/>
          <p:nvPr/>
        </p:nvSpPr>
        <p:spPr>
          <a:xfrm>
            <a:off x="2552774" y="532209"/>
            <a:ext cx="6162601" cy="7144"/>
          </a:xfrm>
          <a:prstGeom prst="rect">
            <a:avLst/>
          </a:prstGeom>
          <a:solidFill>
            <a:srgbClr val="D9E2EF"/>
          </a:solidFill>
          <a:ln/>
        </p:spPr>
        <p:txBody>
          <a:bodyPr wrap="square" rtlCol="0" anchor="ctr"/>
          <a:lstStyle/>
          <a:p>
            <a:pPr marL="0" indent="0">
              <a:buNone/>
            </a:pPr>
            <a:endParaRPr lang="en-US" dirty="0"/>
          </a:p>
        </p:txBody>
      </p:sp>
      <p:sp>
        <p:nvSpPr>
          <p:cNvPr id="6" name="Text 4"/>
          <p:cNvSpPr/>
          <p:nvPr/>
        </p:nvSpPr>
        <p:spPr>
          <a:xfrm>
            <a:off x="428625" y="800100"/>
            <a:ext cx="6903095" cy="156595"/>
          </a:xfrm>
          <a:prstGeom prst="rect">
            <a:avLst/>
          </a:prstGeom>
          <a:noFill/>
          <a:ln/>
        </p:spPr>
        <p:txBody>
          <a:bodyPr wrap="square" lIns="0" tIns="0" rIns="0" bIns="0" rtlCol="0" anchor="t"/>
          <a:lstStyle/>
          <a:p>
            <a:pPr marL="0" indent="0" algn="l">
              <a:lnSpc>
                <a:spcPts val="1142"/>
              </a:lnSpc>
              <a:buNone/>
            </a:pPr>
            <a:r>
              <a:rPr lang="en-US" sz="816" dirty="0">
                <a:solidFill>
                  <a:srgbClr val="23304A"/>
                </a:solidFill>
                <a:latin typeface="Carlito" pitchFamily="34" charset="0"/>
                <a:ea typeface="Carlito" pitchFamily="34" charset="-122"/>
                <a:cs typeface="Carlito" pitchFamily="34" charset="-120"/>
              </a:rPr>
              <a:t>Eight menu options cover the complete workflow — </a:t>
            </a:r>
            <a:r>
              <a:rPr lang="en-US" sz="816" b="1" dirty="0">
                <a:solidFill>
                  <a:srgbClr val="16305B"/>
                </a:solidFill>
                <a:latin typeface="Carlito" pitchFamily="34" charset="0"/>
                <a:ea typeface="Carlito" pitchFamily="34" charset="-122"/>
                <a:cs typeface="Carlito" pitchFamily="34" charset="-120"/>
              </a:rPr>
              <a:t>each maps to one menu number the user types</a:t>
            </a:r>
            <a:r>
              <a:rPr lang="en-US" sz="816" dirty="0">
                <a:solidFill>
                  <a:srgbClr val="23304A"/>
                </a:solidFill>
                <a:latin typeface="Carlito" pitchFamily="34" charset="0"/>
                <a:ea typeface="Carlito" pitchFamily="34" charset="-122"/>
                <a:cs typeface="Carlito" pitchFamily="34" charset="-120"/>
              </a:rPr>
              <a:t>.</a:t>
            </a:r>
            <a:endParaRPr lang="en-US" sz="816" dirty="0"/>
          </a:p>
        </p:txBody>
      </p:sp>
      <p:sp>
        <p:nvSpPr>
          <p:cNvPr id="7" name="Text 5"/>
          <p:cNvSpPr/>
          <p:nvPr/>
        </p:nvSpPr>
        <p:spPr>
          <a:xfrm>
            <a:off x="7346007" y="818964"/>
            <a:ext cx="107156" cy="107156"/>
          </a:xfrm>
          <a:prstGeom prst="rect">
            <a:avLst/>
          </a:prstGeom>
          <a:noFill/>
          <a:ln/>
        </p:spPr>
        <p:txBody>
          <a:bodyPr wrap="none" lIns="0" tIns="0" rIns="0" bIns="0" rtlCol="0" anchor="ctr"/>
          <a:lstStyle/>
          <a:p>
            <a:pPr marL="0" indent="0" algn="ctr">
              <a:buNone/>
            </a:pPr>
            <a:r>
              <a:rPr lang="en-US" sz="1055" dirty="0">
                <a:solidFill>
                  <a:srgbClr val="8A5A14"/>
                </a:solidFill>
                <a:latin typeface="Segoe UI Symbol" pitchFamily="34" charset="0"/>
                <a:ea typeface="Segoe UI Symbol" pitchFamily="34" charset="-122"/>
                <a:cs typeface="Segoe UI Symbol" pitchFamily="34" charset="-120"/>
              </a:rPr>
              <a:t>★</a:t>
            </a:r>
            <a:endParaRPr lang="en-US" sz="1055" dirty="0"/>
          </a:p>
        </p:txBody>
      </p:sp>
      <p:sp>
        <p:nvSpPr>
          <p:cNvPr id="8" name="Text 6"/>
          <p:cNvSpPr/>
          <p:nvPr/>
        </p:nvSpPr>
        <p:spPr>
          <a:xfrm>
            <a:off x="7496026" y="810927"/>
            <a:ext cx="1316897" cy="164592"/>
          </a:xfrm>
          <a:prstGeom prst="rect">
            <a:avLst/>
          </a:prstGeom>
          <a:noFill/>
          <a:ln/>
        </p:spPr>
        <p:txBody>
          <a:bodyPr wrap="square" lIns="0" tIns="0" rIns="0" bIns="0" rtlCol="0" anchor="t"/>
          <a:lstStyle/>
          <a:p>
            <a:pPr marL="0" indent="0" algn="l">
              <a:lnSpc>
                <a:spcPts val="970"/>
              </a:lnSpc>
              <a:buNone/>
            </a:pPr>
            <a:r>
              <a:rPr lang="en-US" sz="647" dirty="0">
                <a:solidFill>
                  <a:srgbClr val="5B6B84"/>
                </a:solidFill>
                <a:latin typeface="Carlito" pitchFamily="34" charset="0"/>
                <a:ea typeface="Carlito" pitchFamily="34" charset="-122"/>
                <a:cs typeface="Carlito" pitchFamily="34" charset="-120"/>
              </a:rPr>
              <a:t>Gold border — signature features</a:t>
            </a:r>
            <a:endParaRPr lang="en-US" sz="647" dirty="0"/>
          </a:p>
        </p:txBody>
      </p:sp>
      <p:sp>
        <p:nvSpPr>
          <p:cNvPr id="9" name="Text 7"/>
          <p:cNvSpPr/>
          <p:nvPr/>
        </p:nvSpPr>
        <p:spPr>
          <a:xfrm>
            <a:off x="432197" y="1034393"/>
            <a:ext cx="1989534" cy="1645518"/>
          </a:xfrm>
          <a:prstGeom prst="roundRect">
            <a:avLst>
              <a:gd name="adj" fmla="val 6946"/>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10" name="Text 8"/>
          <p:cNvSpPr/>
          <p:nvPr/>
        </p:nvSpPr>
        <p:spPr>
          <a:xfrm>
            <a:off x="557213" y="1166552"/>
            <a:ext cx="314325" cy="314325"/>
          </a:xfrm>
          <a:prstGeom prst="roundRect">
            <a:avLst>
              <a:gd name="adj" fmla="val 33333"/>
            </a:avLst>
          </a:prstGeom>
          <a:solidFill>
            <a:srgbClr val="B7791F">
              <a:alpha val="12000"/>
            </a:srgbClr>
          </a:solidFill>
          <a:ln/>
        </p:spPr>
        <p:txBody>
          <a:bodyPr wrap="square" rtlCol="0" anchor="ctr"/>
          <a:lstStyle/>
          <a:p>
            <a:pPr marL="0" indent="0">
              <a:buNone/>
            </a:pPr>
            <a:endParaRPr lang="en-US" dirty="0"/>
          </a:p>
        </p:txBody>
      </p:sp>
      <p:sp>
        <p:nvSpPr>
          <p:cNvPr id="11" name="Text 9"/>
          <p:cNvSpPr/>
          <p:nvPr/>
        </p:nvSpPr>
        <p:spPr>
          <a:xfrm>
            <a:off x="590074" y="1199413"/>
            <a:ext cx="248602" cy="248602"/>
          </a:xfrm>
          <a:prstGeom prst="rect">
            <a:avLst/>
          </a:prstGeom>
          <a:noFill/>
          <a:ln/>
        </p:spPr>
        <p:txBody>
          <a:bodyPr wrap="none" lIns="0" tIns="0" rIns="0" bIns="0" rtlCol="0" anchor="ctr"/>
          <a:lstStyle/>
          <a:p>
            <a:pPr marL="0" indent="0" algn="ctr">
              <a:buNone/>
            </a:pPr>
            <a:r>
              <a:rPr lang="en-US" sz="1688" dirty="0">
                <a:solidFill>
                  <a:srgbClr val="8A5A14"/>
                </a:solidFill>
                <a:latin typeface="Segoe UI Symbol" pitchFamily="34" charset="0"/>
                <a:ea typeface="Segoe UI Symbol" pitchFamily="34" charset="-122"/>
                <a:cs typeface="Segoe UI Symbol" pitchFamily="34" charset="-120"/>
              </a:rPr>
              <a:t>♪</a:t>
            </a:r>
            <a:endParaRPr lang="en-US" sz="1688" dirty="0"/>
          </a:p>
        </p:txBody>
      </p:sp>
      <p:sp>
        <p:nvSpPr>
          <p:cNvPr id="12" name="Text 10"/>
          <p:cNvSpPr/>
          <p:nvPr/>
        </p:nvSpPr>
        <p:spPr>
          <a:xfrm>
            <a:off x="1850017" y="1156694"/>
            <a:ext cx="463879" cy="184023"/>
          </a:xfrm>
          <a:prstGeom prst="roundRect">
            <a:avLst>
              <a:gd name="adj" fmla="val 31056"/>
            </a:avLst>
          </a:prstGeom>
          <a:solidFill>
            <a:srgbClr val="EAF0F9"/>
          </a:solidFill>
          <a:ln/>
        </p:spPr>
        <p:txBody>
          <a:bodyPr wrap="square" rtlCol="0" anchor="ctr"/>
          <a:lstStyle/>
          <a:p>
            <a:pPr marL="0" indent="0">
              <a:buNone/>
            </a:pPr>
            <a:endParaRPr lang="en-US" dirty="0"/>
          </a:p>
        </p:txBody>
      </p:sp>
      <p:sp>
        <p:nvSpPr>
          <p:cNvPr id="13" name="Text 11"/>
          <p:cNvSpPr/>
          <p:nvPr/>
        </p:nvSpPr>
        <p:spPr>
          <a:xfrm>
            <a:off x="1861566" y="1166552"/>
            <a:ext cx="440781" cy="164306"/>
          </a:xfrm>
          <a:prstGeom prst="rect">
            <a:avLst/>
          </a:prstGeom>
          <a:noFill/>
          <a:ln/>
        </p:spPr>
        <p:txBody>
          <a:bodyPr wrap="none" lIns="0" tIns="0" rIns="0" bIns="0" rtlCol="0" anchor="ctr"/>
          <a:lstStyle/>
          <a:p>
            <a:pPr marL="0" indent="0" algn="ctr">
              <a:lnSpc>
                <a:spcPts val="844"/>
              </a:lnSpc>
              <a:buNone/>
            </a:pPr>
            <a:r>
              <a:rPr lang="en-US" sz="800" kern="0" spc="56" dirty="0">
                <a:solidFill>
                  <a:srgbClr val="16305B"/>
                </a:solidFill>
                <a:latin typeface="Liberation Sans Narrow" pitchFamily="34" charset="0"/>
                <a:ea typeface="Liberation Sans Narrow" pitchFamily="34" charset="-122"/>
                <a:cs typeface="Liberation Sans Narrow" pitchFamily="34" charset="-120"/>
              </a:rPr>
              <a:t>MENU 1</a:t>
            </a:r>
            <a:endParaRPr lang="en-US" sz="800" dirty="0"/>
          </a:p>
        </p:txBody>
      </p:sp>
      <p:sp>
        <p:nvSpPr>
          <p:cNvPr id="14" name="Text 12"/>
          <p:cNvSpPr/>
          <p:nvPr/>
        </p:nvSpPr>
        <p:spPr>
          <a:xfrm>
            <a:off x="557213" y="1573746"/>
            <a:ext cx="1739503" cy="152738"/>
          </a:xfrm>
          <a:prstGeom prst="rect">
            <a:avLst/>
          </a:prstGeom>
          <a:noFill/>
          <a:ln/>
        </p:spPr>
        <p:txBody>
          <a:bodyPr wrap="none" lIns="0" tIns="0" rIns="0" bIns="0" rtlCol="0" anchor="t"/>
          <a:lstStyle/>
          <a:p>
            <a:pPr marL="0" indent="0" algn="l">
              <a:lnSpc>
                <a:spcPts val="1114"/>
              </a:lnSpc>
              <a:buNone/>
            </a:pPr>
            <a:r>
              <a:rPr lang="en-US" sz="928" b="1" dirty="0">
                <a:solidFill>
                  <a:srgbClr val="16305B"/>
                </a:solidFill>
                <a:latin typeface="Carlito" pitchFamily="34" charset="0"/>
                <a:ea typeface="Carlito" pitchFamily="34" charset="-122"/>
                <a:cs typeface="Carlito" pitchFamily="34" charset="-120"/>
              </a:rPr>
              <a:t>View All Songs</a:t>
            </a:r>
            <a:endParaRPr lang="en-US" sz="928" dirty="0"/>
          </a:p>
        </p:txBody>
      </p:sp>
      <p:sp>
        <p:nvSpPr>
          <p:cNvPr id="15" name="Text 13"/>
          <p:cNvSpPr/>
          <p:nvPr/>
        </p:nvSpPr>
        <p:spPr>
          <a:xfrm>
            <a:off x="557213" y="1758032"/>
            <a:ext cx="1739503" cy="329184"/>
          </a:xfrm>
          <a:prstGeom prst="rect">
            <a:avLst/>
          </a:prstGeom>
          <a:noFill/>
          <a:ln/>
        </p:spPr>
        <p:txBody>
          <a:bodyPr wrap="square" lIns="0" tIns="0" rIns="0" bIns="0" rtlCol="0" anchor="t"/>
          <a:lstStyle/>
          <a:p>
            <a:pPr marL="0" indent="0" algn="l">
              <a:lnSpc>
                <a:spcPts val="1055"/>
              </a:lnSpc>
              <a:buNone/>
            </a:pPr>
            <a:r>
              <a:rPr lang="en-US" sz="800" dirty="0">
                <a:solidFill>
                  <a:srgbClr val="5B6B84"/>
                </a:solidFill>
                <a:latin typeface="Carlito" pitchFamily="34" charset="0"/>
                <a:ea typeface="Carlito" pitchFamily="34" charset="-122"/>
                <a:cs typeface="Carlito" pitchFamily="34" charset="-120"/>
              </a:rPr>
              <a:t>Neat table of No. / Title / Artist / Length / Plays.</a:t>
            </a:r>
            <a:endParaRPr lang="en-US" sz="800" dirty="0"/>
          </a:p>
        </p:txBody>
      </p:sp>
      <p:sp>
        <p:nvSpPr>
          <p:cNvPr id="16" name="Text 14"/>
          <p:cNvSpPr/>
          <p:nvPr/>
        </p:nvSpPr>
        <p:spPr>
          <a:xfrm>
            <a:off x="2528888" y="1034393"/>
            <a:ext cx="1989534" cy="1645518"/>
          </a:xfrm>
          <a:prstGeom prst="roundRect">
            <a:avLst>
              <a:gd name="adj" fmla="val 6946"/>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17" name="Text 15"/>
          <p:cNvSpPr/>
          <p:nvPr/>
        </p:nvSpPr>
        <p:spPr>
          <a:xfrm>
            <a:off x="2653903" y="1166552"/>
            <a:ext cx="314325" cy="314325"/>
          </a:xfrm>
          <a:prstGeom prst="roundRect">
            <a:avLst>
              <a:gd name="adj" fmla="val 33333"/>
            </a:avLst>
          </a:prstGeom>
          <a:solidFill>
            <a:srgbClr val="B7791F">
              <a:alpha val="12000"/>
            </a:srgbClr>
          </a:solidFill>
          <a:ln/>
        </p:spPr>
        <p:txBody>
          <a:bodyPr wrap="square" rtlCol="0" anchor="ctr"/>
          <a:lstStyle/>
          <a:p>
            <a:pPr marL="0" indent="0">
              <a:buNone/>
            </a:pPr>
            <a:endParaRPr lang="en-US" dirty="0"/>
          </a:p>
        </p:txBody>
      </p:sp>
      <p:sp>
        <p:nvSpPr>
          <p:cNvPr id="18" name="Text 16"/>
          <p:cNvSpPr/>
          <p:nvPr/>
        </p:nvSpPr>
        <p:spPr>
          <a:xfrm>
            <a:off x="2686764" y="1199413"/>
            <a:ext cx="248602" cy="248602"/>
          </a:xfrm>
          <a:prstGeom prst="rect">
            <a:avLst/>
          </a:prstGeom>
          <a:noFill/>
          <a:ln/>
        </p:spPr>
        <p:txBody>
          <a:bodyPr wrap="none" lIns="0" tIns="0" rIns="0" bIns="0" rtlCol="0" anchor="ctr"/>
          <a:lstStyle/>
          <a:p>
            <a:pPr marL="0" indent="0" algn="ctr">
              <a:buNone/>
            </a:pPr>
            <a:r>
              <a:rPr lang="en-US" sz="1688" dirty="0">
                <a:solidFill>
                  <a:srgbClr val="8A5A14"/>
                </a:solidFill>
                <a:latin typeface="Segoe UI Symbol" pitchFamily="34" charset="0"/>
                <a:ea typeface="Segoe UI Symbol" pitchFamily="34" charset="-122"/>
                <a:cs typeface="Segoe UI Symbol" pitchFamily="34" charset="-120"/>
              </a:rPr>
              <a:t>⊕</a:t>
            </a:r>
            <a:endParaRPr lang="en-US" sz="1688" dirty="0"/>
          </a:p>
        </p:txBody>
      </p:sp>
      <p:sp>
        <p:nvSpPr>
          <p:cNvPr id="19" name="Text 17"/>
          <p:cNvSpPr/>
          <p:nvPr/>
        </p:nvSpPr>
        <p:spPr>
          <a:xfrm>
            <a:off x="3946708" y="1156694"/>
            <a:ext cx="463879" cy="184023"/>
          </a:xfrm>
          <a:prstGeom prst="roundRect">
            <a:avLst>
              <a:gd name="adj" fmla="val 31056"/>
            </a:avLst>
          </a:prstGeom>
          <a:solidFill>
            <a:srgbClr val="EAF0F9"/>
          </a:solidFill>
          <a:ln/>
        </p:spPr>
        <p:txBody>
          <a:bodyPr wrap="square" rtlCol="0" anchor="ctr"/>
          <a:lstStyle/>
          <a:p>
            <a:pPr marL="0" indent="0">
              <a:buNone/>
            </a:pPr>
            <a:endParaRPr lang="en-US" dirty="0"/>
          </a:p>
        </p:txBody>
      </p:sp>
      <p:sp>
        <p:nvSpPr>
          <p:cNvPr id="20" name="Text 18"/>
          <p:cNvSpPr/>
          <p:nvPr/>
        </p:nvSpPr>
        <p:spPr>
          <a:xfrm>
            <a:off x="3958257" y="1166552"/>
            <a:ext cx="440781" cy="164306"/>
          </a:xfrm>
          <a:prstGeom prst="rect">
            <a:avLst/>
          </a:prstGeom>
          <a:noFill/>
          <a:ln/>
        </p:spPr>
        <p:txBody>
          <a:bodyPr wrap="none" lIns="0" tIns="0" rIns="0" bIns="0" rtlCol="0" anchor="ctr"/>
          <a:lstStyle/>
          <a:p>
            <a:pPr marL="0" indent="0" algn="ctr">
              <a:lnSpc>
                <a:spcPts val="844"/>
              </a:lnSpc>
              <a:buNone/>
            </a:pPr>
            <a:r>
              <a:rPr lang="en-US" sz="800" kern="0" spc="56" dirty="0">
                <a:solidFill>
                  <a:srgbClr val="16305B"/>
                </a:solidFill>
                <a:latin typeface="Liberation Sans Narrow" pitchFamily="34" charset="0"/>
                <a:ea typeface="Liberation Sans Narrow" pitchFamily="34" charset="-122"/>
                <a:cs typeface="Liberation Sans Narrow" pitchFamily="34" charset="-120"/>
              </a:rPr>
              <a:t>MENU 2</a:t>
            </a:r>
            <a:endParaRPr lang="en-US" sz="800" dirty="0"/>
          </a:p>
        </p:txBody>
      </p:sp>
      <p:sp>
        <p:nvSpPr>
          <p:cNvPr id="21" name="Text 19"/>
          <p:cNvSpPr/>
          <p:nvPr/>
        </p:nvSpPr>
        <p:spPr>
          <a:xfrm>
            <a:off x="2653903" y="1573746"/>
            <a:ext cx="1739503" cy="152738"/>
          </a:xfrm>
          <a:prstGeom prst="rect">
            <a:avLst/>
          </a:prstGeom>
          <a:noFill/>
          <a:ln/>
        </p:spPr>
        <p:txBody>
          <a:bodyPr wrap="none" lIns="0" tIns="0" rIns="0" bIns="0" rtlCol="0" anchor="t"/>
          <a:lstStyle/>
          <a:p>
            <a:pPr marL="0" indent="0" algn="l">
              <a:lnSpc>
                <a:spcPts val="1114"/>
              </a:lnSpc>
              <a:buNone/>
            </a:pPr>
            <a:r>
              <a:rPr lang="en-US" sz="928" b="1" dirty="0">
                <a:solidFill>
                  <a:srgbClr val="16305B"/>
                </a:solidFill>
                <a:latin typeface="Carlito" pitchFamily="34" charset="0"/>
                <a:ea typeface="Carlito" pitchFamily="34" charset="-122"/>
                <a:cs typeface="Carlito" pitchFamily="34" charset="-120"/>
              </a:rPr>
              <a:t>Add a New Song</a:t>
            </a:r>
            <a:endParaRPr lang="en-US" sz="928" dirty="0"/>
          </a:p>
        </p:txBody>
      </p:sp>
      <p:sp>
        <p:nvSpPr>
          <p:cNvPr id="22" name="Text 20"/>
          <p:cNvSpPr/>
          <p:nvPr/>
        </p:nvSpPr>
        <p:spPr>
          <a:xfrm>
            <a:off x="2653903" y="1758032"/>
            <a:ext cx="1739503" cy="329184"/>
          </a:xfrm>
          <a:prstGeom prst="rect">
            <a:avLst/>
          </a:prstGeom>
          <a:noFill/>
          <a:ln/>
        </p:spPr>
        <p:txBody>
          <a:bodyPr wrap="square" lIns="0" tIns="0" rIns="0" bIns="0" rtlCol="0" anchor="t"/>
          <a:lstStyle/>
          <a:p>
            <a:pPr marL="0" indent="0" algn="l">
              <a:lnSpc>
                <a:spcPts val="1055"/>
              </a:lnSpc>
              <a:buNone/>
            </a:pPr>
            <a:r>
              <a:rPr lang="en-US" sz="800" dirty="0">
                <a:solidFill>
                  <a:srgbClr val="5B6B84"/>
                </a:solidFill>
                <a:latin typeface="Carlito" pitchFamily="34" charset="0"/>
                <a:ea typeface="Carlito" pitchFamily="34" charset="-122"/>
                <a:cs typeface="Carlito" pitchFamily="34" charset="-120"/>
              </a:rPr>
              <a:t>Validated input for title, artist and length (min + sec).</a:t>
            </a:r>
            <a:endParaRPr lang="en-US" sz="800" dirty="0"/>
          </a:p>
        </p:txBody>
      </p:sp>
      <p:sp>
        <p:nvSpPr>
          <p:cNvPr id="23" name="Text 21"/>
          <p:cNvSpPr/>
          <p:nvPr/>
        </p:nvSpPr>
        <p:spPr>
          <a:xfrm>
            <a:off x="4625578" y="1034393"/>
            <a:ext cx="1989534" cy="1645518"/>
          </a:xfrm>
          <a:prstGeom prst="roundRect">
            <a:avLst>
              <a:gd name="adj" fmla="val 6946"/>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24" name="Text 22"/>
          <p:cNvSpPr/>
          <p:nvPr/>
        </p:nvSpPr>
        <p:spPr>
          <a:xfrm>
            <a:off x="4750594" y="1166552"/>
            <a:ext cx="314325" cy="314325"/>
          </a:xfrm>
          <a:prstGeom prst="roundRect">
            <a:avLst>
              <a:gd name="adj" fmla="val 33333"/>
            </a:avLst>
          </a:prstGeom>
          <a:solidFill>
            <a:srgbClr val="B7791F">
              <a:alpha val="12000"/>
            </a:srgbClr>
          </a:solidFill>
          <a:ln/>
        </p:spPr>
        <p:txBody>
          <a:bodyPr wrap="square" rtlCol="0" anchor="ctr"/>
          <a:lstStyle/>
          <a:p>
            <a:pPr marL="0" indent="0">
              <a:buNone/>
            </a:pPr>
            <a:endParaRPr lang="en-US" dirty="0"/>
          </a:p>
        </p:txBody>
      </p:sp>
      <p:sp>
        <p:nvSpPr>
          <p:cNvPr id="25" name="Text 23"/>
          <p:cNvSpPr/>
          <p:nvPr/>
        </p:nvSpPr>
        <p:spPr>
          <a:xfrm>
            <a:off x="4783455" y="1199413"/>
            <a:ext cx="248602" cy="248602"/>
          </a:xfrm>
          <a:prstGeom prst="rect">
            <a:avLst/>
          </a:prstGeom>
          <a:noFill/>
          <a:ln/>
        </p:spPr>
        <p:txBody>
          <a:bodyPr wrap="none" lIns="0" tIns="0" rIns="0" bIns="0" rtlCol="0" anchor="ctr"/>
          <a:lstStyle/>
          <a:p>
            <a:pPr marL="0" indent="0" algn="ctr">
              <a:buNone/>
            </a:pPr>
            <a:r>
              <a:rPr lang="en-US" sz="1688" dirty="0">
                <a:solidFill>
                  <a:srgbClr val="8A5A14"/>
                </a:solidFill>
                <a:latin typeface="Segoe UI Symbol" pitchFamily="34" charset="0"/>
                <a:ea typeface="Segoe UI Symbol" pitchFamily="34" charset="-122"/>
                <a:cs typeface="Segoe UI Symbol" pitchFamily="34" charset="-120"/>
              </a:rPr>
              <a:t>⊖</a:t>
            </a:r>
            <a:endParaRPr lang="en-US" sz="1688" dirty="0"/>
          </a:p>
        </p:txBody>
      </p:sp>
      <p:sp>
        <p:nvSpPr>
          <p:cNvPr id="26" name="Text 24"/>
          <p:cNvSpPr/>
          <p:nvPr/>
        </p:nvSpPr>
        <p:spPr>
          <a:xfrm>
            <a:off x="6043398" y="1156694"/>
            <a:ext cx="463879" cy="184023"/>
          </a:xfrm>
          <a:prstGeom prst="roundRect">
            <a:avLst>
              <a:gd name="adj" fmla="val 31056"/>
            </a:avLst>
          </a:prstGeom>
          <a:solidFill>
            <a:srgbClr val="EAF0F9"/>
          </a:solidFill>
          <a:ln/>
        </p:spPr>
        <p:txBody>
          <a:bodyPr wrap="square" rtlCol="0" anchor="ctr"/>
          <a:lstStyle/>
          <a:p>
            <a:pPr marL="0" indent="0">
              <a:buNone/>
            </a:pPr>
            <a:endParaRPr lang="en-US" dirty="0"/>
          </a:p>
        </p:txBody>
      </p:sp>
      <p:sp>
        <p:nvSpPr>
          <p:cNvPr id="27" name="Text 25"/>
          <p:cNvSpPr/>
          <p:nvPr/>
        </p:nvSpPr>
        <p:spPr>
          <a:xfrm>
            <a:off x="6054947" y="1166552"/>
            <a:ext cx="440781" cy="164306"/>
          </a:xfrm>
          <a:prstGeom prst="rect">
            <a:avLst/>
          </a:prstGeom>
          <a:noFill/>
          <a:ln/>
        </p:spPr>
        <p:txBody>
          <a:bodyPr wrap="none" lIns="0" tIns="0" rIns="0" bIns="0" rtlCol="0" anchor="ctr"/>
          <a:lstStyle/>
          <a:p>
            <a:pPr marL="0" indent="0" algn="ctr">
              <a:lnSpc>
                <a:spcPts val="844"/>
              </a:lnSpc>
              <a:buNone/>
            </a:pPr>
            <a:r>
              <a:rPr lang="en-US" sz="800" kern="0" spc="56" dirty="0">
                <a:solidFill>
                  <a:srgbClr val="16305B"/>
                </a:solidFill>
                <a:latin typeface="Liberation Sans Narrow" pitchFamily="34" charset="0"/>
                <a:ea typeface="Liberation Sans Narrow" pitchFamily="34" charset="-122"/>
                <a:cs typeface="Liberation Sans Narrow" pitchFamily="34" charset="-120"/>
              </a:rPr>
              <a:t>MENU 3</a:t>
            </a:r>
            <a:endParaRPr lang="en-US" sz="800" dirty="0"/>
          </a:p>
        </p:txBody>
      </p:sp>
      <p:sp>
        <p:nvSpPr>
          <p:cNvPr id="28" name="Text 26"/>
          <p:cNvSpPr/>
          <p:nvPr/>
        </p:nvSpPr>
        <p:spPr>
          <a:xfrm>
            <a:off x="4750594" y="1573746"/>
            <a:ext cx="1739503" cy="152738"/>
          </a:xfrm>
          <a:prstGeom prst="rect">
            <a:avLst/>
          </a:prstGeom>
          <a:noFill/>
          <a:ln/>
        </p:spPr>
        <p:txBody>
          <a:bodyPr wrap="none" lIns="0" tIns="0" rIns="0" bIns="0" rtlCol="0" anchor="t"/>
          <a:lstStyle/>
          <a:p>
            <a:pPr marL="0" indent="0" algn="l">
              <a:lnSpc>
                <a:spcPts val="1114"/>
              </a:lnSpc>
              <a:buNone/>
            </a:pPr>
            <a:r>
              <a:rPr lang="en-US" sz="928" b="1" dirty="0">
                <a:solidFill>
                  <a:srgbClr val="16305B"/>
                </a:solidFill>
                <a:latin typeface="Carlito" pitchFamily="34" charset="0"/>
                <a:ea typeface="Carlito" pitchFamily="34" charset="-122"/>
                <a:cs typeface="Carlito" pitchFamily="34" charset="-120"/>
              </a:rPr>
              <a:t>Remove a Song</a:t>
            </a:r>
            <a:endParaRPr lang="en-US" sz="928" dirty="0"/>
          </a:p>
        </p:txBody>
      </p:sp>
      <p:sp>
        <p:nvSpPr>
          <p:cNvPr id="29" name="Text 27"/>
          <p:cNvSpPr/>
          <p:nvPr/>
        </p:nvSpPr>
        <p:spPr>
          <a:xfrm>
            <a:off x="4750594" y="1758032"/>
            <a:ext cx="1843873" cy="164592"/>
          </a:xfrm>
          <a:prstGeom prst="rect">
            <a:avLst/>
          </a:prstGeom>
          <a:noFill/>
          <a:ln/>
        </p:spPr>
        <p:txBody>
          <a:bodyPr wrap="square" lIns="0" tIns="0" rIns="0" bIns="0" rtlCol="0" anchor="t"/>
          <a:lstStyle/>
          <a:p>
            <a:pPr marL="0" indent="0" algn="l">
              <a:lnSpc>
                <a:spcPts val="1055"/>
              </a:lnSpc>
              <a:buNone/>
            </a:pPr>
            <a:r>
              <a:rPr lang="en-US" sz="703" dirty="0">
                <a:solidFill>
                  <a:srgbClr val="5B6B84"/>
                </a:solidFill>
                <a:latin typeface="Carlito" pitchFamily="34" charset="0"/>
                <a:ea typeface="Carlito" pitchFamily="34" charset="-122"/>
                <a:cs typeface="Carlito" pitchFamily="34" charset="-120"/>
              </a:rPr>
              <a:t>Deletes by title, ignoring capital letters.</a:t>
            </a:r>
            <a:endParaRPr lang="en-US" sz="703" dirty="0"/>
          </a:p>
        </p:txBody>
      </p:sp>
      <p:sp>
        <p:nvSpPr>
          <p:cNvPr id="30" name="Text 28"/>
          <p:cNvSpPr/>
          <p:nvPr/>
        </p:nvSpPr>
        <p:spPr>
          <a:xfrm>
            <a:off x="6722269" y="1034393"/>
            <a:ext cx="1989534" cy="1645518"/>
          </a:xfrm>
          <a:prstGeom prst="roundRect">
            <a:avLst>
              <a:gd name="adj" fmla="val 6946"/>
            </a:avLst>
          </a:prstGeom>
          <a:solidFill>
            <a:srgbClr val="FDF6E7"/>
          </a:solidFill>
          <a:ln w="7144">
            <a:solidFill>
              <a:srgbClr val="B7791F"/>
            </a:solidFill>
            <a:prstDash val="solid"/>
          </a:ln>
        </p:spPr>
        <p:txBody>
          <a:bodyPr wrap="square" rtlCol="0" anchor="ctr"/>
          <a:lstStyle/>
          <a:p>
            <a:pPr marL="0" indent="0">
              <a:buNone/>
            </a:pPr>
            <a:endParaRPr lang="en-US" dirty="0"/>
          </a:p>
        </p:txBody>
      </p:sp>
      <p:sp>
        <p:nvSpPr>
          <p:cNvPr id="31" name="Text 29"/>
          <p:cNvSpPr/>
          <p:nvPr/>
        </p:nvSpPr>
        <p:spPr>
          <a:xfrm>
            <a:off x="6847284" y="1166552"/>
            <a:ext cx="314325" cy="314325"/>
          </a:xfrm>
          <a:prstGeom prst="roundRect">
            <a:avLst>
              <a:gd name="adj" fmla="val 33333"/>
            </a:avLst>
          </a:prstGeom>
          <a:solidFill>
            <a:srgbClr val="B7791F">
              <a:alpha val="12000"/>
            </a:srgbClr>
          </a:solidFill>
          <a:ln/>
        </p:spPr>
        <p:txBody>
          <a:bodyPr wrap="square" rtlCol="0" anchor="ctr"/>
          <a:lstStyle/>
          <a:p>
            <a:pPr marL="0" indent="0">
              <a:buNone/>
            </a:pPr>
            <a:endParaRPr lang="en-US" dirty="0"/>
          </a:p>
        </p:txBody>
      </p:sp>
      <p:sp>
        <p:nvSpPr>
          <p:cNvPr id="32" name="Text 30"/>
          <p:cNvSpPr/>
          <p:nvPr/>
        </p:nvSpPr>
        <p:spPr>
          <a:xfrm>
            <a:off x="6880146" y="1199413"/>
            <a:ext cx="248602" cy="248602"/>
          </a:xfrm>
          <a:prstGeom prst="rect">
            <a:avLst/>
          </a:prstGeom>
          <a:noFill/>
          <a:ln/>
        </p:spPr>
        <p:txBody>
          <a:bodyPr wrap="none" lIns="0" tIns="0" rIns="0" bIns="0" rtlCol="0" anchor="ctr"/>
          <a:lstStyle/>
          <a:p>
            <a:pPr marL="0" indent="0" algn="ctr">
              <a:buNone/>
            </a:pPr>
            <a:r>
              <a:rPr lang="en-US" sz="1688" dirty="0">
                <a:solidFill>
                  <a:srgbClr val="8A5A14"/>
                </a:solidFill>
                <a:latin typeface="Segoe UI Symbol" pitchFamily="34" charset="0"/>
                <a:ea typeface="Segoe UI Symbol" pitchFamily="34" charset="-122"/>
                <a:cs typeface="Segoe UI Symbol" pitchFamily="34" charset="-120"/>
              </a:rPr>
              <a:t>▶</a:t>
            </a:r>
            <a:endParaRPr lang="en-US" sz="1688" dirty="0"/>
          </a:p>
        </p:txBody>
      </p:sp>
      <p:sp>
        <p:nvSpPr>
          <p:cNvPr id="33" name="Text 31"/>
          <p:cNvSpPr/>
          <p:nvPr/>
        </p:nvSpPr>
        <p:spPr>
          <a:xfrm>
            <a:off x="8140089" y="1156694"/>
            <a:ext cx="463879" cy="184023"/>
          </a:xfrm>
          <a:prstGeom prst="roundRect">
            <a:avLst>
              <a:gd name="adj" fmla="val 31056"/>
            </a:avLst>
          </a:prstGeom>
          <a:solidFill>
            <a:srgbClr val="8A5A14"/>
          </a:solidFill>
          <a:ln/>
        </p:spPr>
        <p:txBody>
          <a:bodyPr wrap="square" rtlCol="0" anchor="ctr"/>
          <a:lstStyle/>
          <a:p>
            <a:pPr marL="0" indent="0">
              <a:buNone/>
            </a:pPr>
            <a:endParaRPr lang="en-US" dirty="0"/>
          </a:p>
        </p:txBody>
      </p:sp>
      <p:sp>
        <p:nvSpPr>
          <p:cNvPr id="34" name="Text 32"/>
          <p:cNvSpPr/>
          <p:nvPr/>
        </p:nvSpPr>
        <p:spPr>
          <a:xfrm>
            <a:off x="8151638" y="1166552"/>
            <a:ext cx="440781" cy="164306"/>
          </a:xfrm>
          <a:prstGeom prst="rect">
            <a:avLst/>
          </a:prstGeom>
          <a:noFill/>
          <a:ln/>
        </p:spPr>
        <p:txBody>
          <a:bodyPr wrap="none" lIns="0" tIns="0" rIns="0" bIns="0" rtlCol="0" anchor="ctr"/>
          <a:lstStyle/>
          <a:p>
            <a:pPr marL="0" indent="0" algn="ctr">
              <a:lnSpc>
                <a:spcPts val="844"/>
              </a:lnSpc>
              <a:buNone/>
            </a:pPr>
            <a:r>
              <a:rPr lang="en-US" sz="800" kern="0" spc="56" dirty="0">
                <a:solidFill>
                  <a:srgbClr val="FFFFFF"/>
                </a:solidFill>
                <a:latin typeface="Liberation Sans Narrow" pitchFamily="34" charset="0"/>
                <a:ea typeface="Liberation Sans Narrow" pitchFamily="34" charset="-122"/>
                <a:cs typeface="Liberation Sans Narrow" pitchFamily="34" charset="-120"/>
              </a:rPr>
              <a:t>MENU 4</a:t>
            </a:r>
            <a:endParaRPr lang="en-US" sz="800" dirty="0"/>
          </a:p>
        </p:txBody>
      </p:sp>
      <p:sp>
        <p:nvSpPr>
          <p:cNvPr id="35" name="Text 33"/>
          <p:cNvSpPr/>
          <p:nvPr/>
        </p:nvSpPr>
        <p:spPr>
          <a:xfrm>
            <a:off x="6847284" y="1573746"/>
            <a:ext cx="1739503" cy="152738"/>
          </a:xfrm>
          <a:prstGeom prst="rect">
            <a:avLst/>
          </a:prstGeom>
          <a:noFill/>
          <a:ln/>
        </p:spPr>
        <p:txBody>
          <a:bodyPr wrap="none" lIns="0" tIns="0" rIns="0" bIns="0" rtlCol="0" anchor="t"/>
          <a:lstStyle/>
          <a:p>
            <a:pPr marL="0" indent="0" algn="l">
              <a:lnSpc>
                <a:spcPts val="1114"/>
              </a:lnSpc>
              <a:buNone/>
            </a:pPr>
            <a:r>
              <a:rPr lang="en-US" sz="928" b="1" dirty="0">
                <a:solidFill>
                  <a:srgbClr val="16305B"/>
                </a:solidFill>
                <a:latin typeface="Carlito" pitchFamily="34" charset="0"/>
                <a:ea typeface="Carlito" pitchFamily="34" charset="-122"/>
                <a:cs typeface="Carlito" pitchFamily="34" charset="-120"/>
              </a:rPr>
              <a:t>Play a Song</a:t>
            </a:r>
            <a:endParaRPr lang="en-US" sz="928" dirty="0"/>
          </a:p>
        </p:txBody>
      </p:sp>
      <p:sp>
        <p:nvSpPr>
          <p:cNvPr id="36" name="Text 34"/>
          <p:cNvSpPr/>
          <p:nvPr/>
        </p:nvSpPr>
        <p:spPr>
          <a:xfrm>
            <a:off x="6847284" y="1758032"/>
            <a:ext cx="1739503" cy="329184"/>
          </a:xfrm>
          <a:prstGeom prst="rect">
            <a:avLst/>
          </a:prstGeom>
          <a:noFill/>
          <a:ln/>
        </p:spPr>
        <p:txBody>
          <a:bodyPr wrap="square" lIns="0" tIns="0" rIns="0" bIns="0" rtlCol="0" anchor="t"/>
          <a:lstStyle/>
          <a:p>
            <a:pPr marL="0" indent="0" algn="l">
              <a:lnSpc>
                <a:spcPts val="1055"/>
              </a:lnSpc>
              <a:buNone/>
            </a:pPr>
            <a:r>
              <a:rPr lang="en-US" sz="800" dirty="0">
                <a:solidFill>
                  <a:srgbClr val="5B6B84"/>
                </a:solidFill>
                <a:latin typeface="Carlito" pitchFamily="34" charset="0"/>
                <a:ea typeface="Carlito" pitchFamily="34" charset="-122"/>
                <a:cs typeface="Carlito" pitchFamily="34" charset="-120"/>
              </a:rPr>
              <a:t>Shows </a:t>
            </a:r>
            <a:r>
              <a:rPr lang="en-US" sz="800" b="1" dirty="0">
                <a:solidFill>
                  <a:srgbClr val="16305B"/>
                </a:solidFill>
                <a:latin typeface="Carlito" pitchFamily="34" charset="0"/>
                <a:ea typeface="Carlito" pitchFamily="34" charset="-122"/>
                <a:cs typeface="Carlito" pitchFamily="34" charset="-120"/>
              </a:rPr>
              <a:t>NOW PLAYING</a:t>
            </a:r>
            <a:r>
              <a:rPr lang="en-US" sz="800" dirty="0">
                <a:solidFill>
                  <a:srgbClr val="5B6B84"/>
                </a:solidFill>
                <a:latin typeface="Carlito" pitchFamily="34" charset="0"/>
                <a:ea typeface="Carlito" pitchFamily="34" charset="-122"/>
                <a:cs typeface="Carlito" pitchFamily="34" charset="-120"/>
              </a:rPr>
              <a:t> banner and adds +1 to its play count.</a:t>
            </a:r>
            <a:endParaRPr lang="en-US" sz="800" dirty="0"/>
          </a:p>
        </p:txBody>
      </p:sp>
      <p:sp>
        <p:nvSpPr>
          <p:cNvPr id="37" name="Text 35"/>
          <p:cNvSpPr/>
          <p:nvPr/>
        </p:nvSpPr>
        <p:spPr>
          <a:xfrm>
            <a:off x="432197" y="2787067"/>
            <a:ext cx="1989534" cy="1645630"/>
          </a:xfrm>
          <a:prstGeom prst="roundRect">
            <a:avLst>
              <a:gd name="adj" fmla="val 6946"/>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38" name="Text 36"/>
          <p:cNvSpPr/>
          <p:nvPr/>
        </p:nvSpPr>
        <p:spPr>
          <a:xfrm>
            <a:off x="557213" y="2919226"/>
            <a:ext cx="314325" cy="314325"/>
          </a:xfrm>
          <a:prstGeom prst="roundRect">
            <a:avLst>
              <a:gd name="adj" fmla="val 33333"/>
            </a:avLst>
          </a:prstGeom>
          <a:solidFill>
            <a:srgbClr val="B7791F">
              <a:alpha val="12000"/>
            </a:srgbClr>
          </a:solidFill>
          <a:ln/>
        </p:spPr>
        <p:txBody>
          <a:bodyPr wrap="square" rtlCol="0" anchor="ctr"/>
          <a:lstStyle/>
          <a:p>
            <a:pPr marL="0" indent="0">
              <a:buNone/>
            </a:pPr>
            <a:endParaRPr lang="en-US" dirty="0"/>
          </a:p>
        </p:txBody>
      </p:sp>
      <p:sp>
        <p:nvSpPr>
          <p:cNvPr id="39" name="Text 37"/>
          <p:cNvSpPr/>
          <p:nvPr/>
        </p:nvSpPr>
        <p:spPr>
          <a:xfrm>
            <a:off x="590074" y="2952088"/>
            <a:ext cx="248602" cy="248602"/>
          </a:xfrm>
          <a:prstGeom prst="rect">
            <a:avLst/>
          </a:prstGeom>
          <a:noFill/>
          <a:ln/>
        </p:spPr>
        <p:txBody>
          <a:bodyPr wrap="none" lIns="0" tIns="0" rIns="0" bIns="0" rtlCol="0" anchor="ctr"/>
          <a:lstStyle/>
          <a:p>
            <a:pPr marL="0" indent="0" algn="ctr">
              <a:buNone/>
            </a:pPr>
            <a:r>
              <a:rPr lang="en-US" sz="1688" dirty="0">
                <a:solidFill>
                  <a:srgbClr val="8A5A14"/>
                </a:solidFill>
                <a:latin typeface="Segoe UI Symbol" pitchFamily="34" charset="0"/>
                <a:ea typeface="Segoe UI Symbol" pitchFamily="34" charset="-122"/>
                <a:cs typeface="Segoe UI Symbol" pitchFamily="34" charset="-120"/>
              </a:rPr>
              <a:t>⌕</a:t>
            </a:r>
            <a:endParaRPr lang="en-US" sz="1688" dirty="0"/>
          </a:p>
        </p:txBody>
      </p:sp>
      <p:sp>
        <p:nvSpPr>
          <p:cNvPr id="40" name="Text 38"/>
          <p:cNvSpPr/>
          <p:nvPr/>
        </p:nvSpPr>
        <p:spPr>
          <a:xfrm>
            <a:off x="1850017" y="2909368"/>
            <a:ext cx="463879" cy="184023"/>
          </a:xfrm>
          <a:prstGeom prst="roundRect">
            <a:avLst>
              <a:gd name="adj" fmla="val 31056"/>
            </a:avLst>
          </a:prstGeom>
          <a:solidFill>
            <a:srgbClr val="EAF0F9"/>
          </a:solidFill>
          <a:ln/>
        </p:spPr>
        <p:txBody>
          <a:bodyPr wrap="square" rtlCol="0" anchor="ctr"/>
          <a:lstStyle/>
          <a:p>
            <a:pPr marL="0" indent="0">
              <a:buNone/>
            </a:pPr>
            <a:endParaRPr lang="en-US" dirty="0"/>
          </a:p>
        </p:txBody>
      </p:sp>
      <p:sp>
        <p:nvSpPr>
          <p:cNvPr id="41" name="Text 39"/>
          <p:cNvSpPr/>
          <p:nvPr/>
        </p:nvSpPr>
        <p:spPr>
          <a:xfrm>
            <a:off x="1861566" y="2919226"/>
            <a:ext cx="440781" cy="164306"/>
          </a:xfrm>
          <a:prstGeom prst="rect">
            <a:avLst/>
          </a:prstGeom>
          <a:noFill/>
          <a:ln/>
        </p:spPr>
        <p:txBody>
          <a:bodyPr wrap="none" lIns="0" tIns="0" rIns="0" bIns="0" rtlCol="0" anchor="ctr"/>
          <a:lstStyle/>
          <a:p>
            <a:pPr marL="0" indent="0" algn="ctr">
              <a:lnSpc>
                <a:spcPts val="844"/>
              </a:lnSpc>
              <a:buNone/>
            </a:pPr>
            <a:r>
              <a:rPr lang="en-US" sz="800" kern="0" spc="56" dirty="0">
                <a:solidFill>
                  <a:srgbClr val="16305B"/>
                </a:solidFill>
                <a:latin typeface="Liberation Sans Narrow" pitchFamily="34" charset="0"/>
                <a:ea typeface="Liberation Sans Narrow" pitchFamily="34" charset="-122"/>
                <a:cs typeface="Liberation Sans Narrow" pitchFamily="34" charset="-120"/>
              </a:rPr>
              <a:t>MENU 5</a:t>
            </a:r>
            <a:endParaRPr lang="en-US" sz="800" dirty="0"/>
          </a:p>
        </p:txBody>
      </p:sp>
      <p:sp>
        <p:nvSpPr>
          <p:cNvPr id="42" name="Text 40"/>
          <p:cNvSpPr/>
          <p:nvPr/>
        </p:nvSpPr>
        <p:spPr>
          <a:xfrm>
            <a:off x="557213" y="3326420"/>
            <a:ext cx="1739503" cy="152738"/>
          </a:xfrm>
          <a:prstGeom prst="rect">
            <a:avLst/>
          </a:prstGeom>
          <a:noFill/>
          <a:ln/>
        </p:spPr>
        <p:txBody>
          <a:bodyPr wrap="none" lIns="0" tIns="0" rIns="0" bIns="0" rtlCol="0" anchor="t"/>
          <a:lstStyle/>
          <a:p>
            <a:pPr marL="0" indent="0" algn="l">
              <a:lnSpc>
                <a:spcPts val="1114"/>
              </a:lnSpc>
              <a:buNone/>
            </a:pPr>
            <a:r>
              <a:rPr lang="en-US" sz="928" b="1" dirty="0">
                <a:solidFill>
                  <a:srgbClr val="16305B"/>
                </a:solidFill>
                <a:latin typeface="Carlito" pitchFamily="34" charset="0"/>
                <a:ea typeface="Carlito" pitchFamily="34" charset="-122"/>
                <a:cs typeface="Carlito" pitchFamily="34" charset="-120"/>
              </a:rPr>
              <a:t>Search Songs</a:t>
            </a:r>
            <a:endParaRPr lang="en-US" sz="928" dirty="0"/>
          </a:p>
        </p:txBody>
      </p:sp>
      <p:sp>
        <p:nvSpPr>
          <p:cNvPr id="43" name="Text 41"/>
          <p:cNvSpPr/>
          <p:nvPr/>
        </p:nvSpPr>
        <p:spPr>
          <a:xfrm>
            <a:off x="557213" y="3510707"/>
            <a:ext cx="1843873" cy="164592"/>
          </a:xfrm>
          <a:prstGeom prst="rect">
            <a:avLst/>
          </a:prstGeom>
          <a:noFill/>
          <a:ln/>
        </p:spPr>
        <p:txBody>
          <a:bodyPr wrap="square" lIns="0" tIns="0" rIns="0" bIns="0" rtlCol="0" anchor="t"/>
          <a:lstStyle/>
          <a:p>
            <a:pPr marL="0" indent="0" algn="l">
              <a:lnSpc>
                <a:spcPts val="1055"/>
              </a:lnSpc>
              <a:buNone/>
            </a:pPr>
            <a:r>
              <a:rPr lang="en-US" sz="703" dirty="0">
                <a:solidFill>
                  <a:srgbClr val="5B6B84"/>
                </a:solidFill>
                <a:latin typeface="Carlito" pitchFamily="34" charset="0"/>
                <a:ea typeface="Carlito" pitchFamily="34" charset="-122"/>
                <a:cs typeface="Carlito" pitchFamily="34" charset="-120"/>
              </a:rPr>
              <a:t>Case-insensitive match on title or artist.</a:t>
            </a:r>
            <a:endParaRPr lang="en-US" sz="703" dirty="0"/>
          </a:p>
        </p:txBody>
      </p:sp>
      <p:sp>
        <p:nvSpPr>
          <p:cNvPr id="44" name="Text 42"/>
          <p:cNvSpPr/>
          <p:nvPr/>
        </p:nvSpPr>
        <p:spPr>
          <a:xfrm>
            <a:off x="2528888" y="2787067"/>
            <a:ext cx="1989534" cy="1645630"/>
          </a:xfrm>
          <a:prstGeom prst="roundRect">
            <a:avLst>
              <a:gd name="adj" fmla="val 6946"/>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45" name="Text 43"/>
          <p:cNvSpPr/>
          <p:nvPr/>
        </p:nvSpPr>
        <p:spPr>
          <a:xfrm>
            <a:off x="2653903" y="2919226"/>
            <a:ext cx="314325" cy="314325"/>
          </a:xfrm>
          <a:prstGeom prst="roundRect">
            <a:avLst>
              <a:gd name="adj" fmla="val 33333"/>
            </a:avLst>
          </a:prstGeom>
          <a:solidFill>
            <a:srgbClr val="B7791F">
              <a:alpha val="12000"/>
            </a:srgbClr>
          </a:solidFill>
          <a:ln/>
        </p:spPr>
        <p:txBody>
          <a:bodyPr wrap="square" rtlCol="0" anchor="ctr"/>
          <a:lstStyle/>
          <a:p>
            <a:pPr marL="0" indent="0">
              <a:buNone/>
            </a:pPr>
            <a:endParaRPr lang="en-US" dirty="0"/>
          </a:p>
        </p:txBody>
      </p:sp>
      <p:sp>
        <p:nvSpPr>
          <p:cNvPr id="46" name="Text 44"/>
          <p:cNvSpPr/>
          <p:nvPr/>
        </p:nvSpPr>
        <p:spPr>
          <a:xfrm>
            <a:off x="2686764" y="2952088"/>
            <a:ext cx="248602" cy="248602"/>
          </a:xfrm>
          <a:prstGeom prst="rect">
            <a:avLst/>
          </a:prstGeom>
          <a:noFill/>
          <a:ln/>
        </p:spPr>
        <p:txBody>
          <a:bodyPr wrap="none" lIns="0" tIns="0" rIns="0" bIns="0" rtlCol="0" anchor="ctr"/>
          <a:lstStyle/>
          <a:p>
            <a:pPr marL="0" indent="0" algn="ctr">
              <a:buNone/>
            </a:pPr>
            <a:r>
              <a:rPr lang="en-US" sz="1688" dirty="0">
                <a:solidFill>
                  <a:srgbClr val="8A5A14"/>
                </a:solidFill>
                <a:latin typeface="Segoe UI Symbol" pitchFamily="34" charset="0"/>
                <a:ea typeface="Segoe UI Symbol" pitchFamily="34" charset="-122"/>
                <a:cs typeface="Segoe UI Symbol" pitchFamily="34" charset="-120"/>
              </a:rPr>
              <a:t>⇅</a:t>
            </a:r>
            <a:endParaRPr lang="en-US" sz="1688" dirty="0"/>
          </a:p>
        </p:txBody>
      </p:sp>
      <p:sp>
        <p:nvSpPr>
          <p:cNvPr id="47" name="Text 45"/>
          <p:cNvSpPr/>
          <p:nvPr/>
        </p:nvSpPr>
        <p:spPr>
          <a:xfrm>
            <a:off x="3946708" y="2909368"/>
            <a:ext cx="463879" cy="184023"/>
          </a:xfrm>
          <a:prstGeom prst="roundRect">
            <a:avLst>
              <a:gd name="adj" fmla="val 31056"/>
            </a:avLst>
          </a:prstGeom>
          <a:solidFill>
            <a:srgbClr val="EAF0F9"/>
          </a:solidFill>
          <a:ln/>
        </p:spPr>
        <p:txBody>
          <a:bodyPr wrap="square" rtlCol="0" anchor="ctr"/>
          <a:lstStyle/>
          <a:p>
            <a:pPr marL="0" indent="0">
              <a:buNone/>
            </a:pPr>
            <a:endParaRPr lang="en-US" dirty="0"/>
          </a:p>
        </p:txBody>
      </p:sp>
      <p:sp>
        <p:nvSpPr>
          <p:cNvPr id="48" name="Text 46"/>
          <p:cNvSpPr/>
          <p:nvPr/>
        </p:nvSpPr>
        <p:spPr>
          <a:xfrm>
            <a:off x="3958257" y="2919226"/>
            <a:ext cx="440781" cy="164306"/>
          </a:xfrm>
          <a:prstGeom prst="rect">
            <a:avLst/>
          </a:prstGeom>
          <a:noFill/>
          <a:ln/>
        </p:spPr>
        <p:txBody>
          <a:bodyPr wrap="none" lIns="0" tIns="0" rIns="0" bIns="0" rtlCol="0" anchor="ctr"/>
          <a:lstStyle/>
          <a:p>
            <a:pPr marL="0" indent="0" algn="ctr">
              <a:lnSpc>
                <a:spcPts val="844"/>
              </a:lnSpc>
              <a:buNone/>
            </a:pPr>
            <a:r>
              <a:rPr lang="en-US" sz="800" kern="0" spc="56" dirty="0">
                <a:solidFill>
                  <a:srgbClr val="16305B"/>
                </a:solidFill>
                <a:latin typeface="Liberation Sans Narrow" pitchFamily="34" charset="0"/>
                <a:ea typeface="Liberation Sans Narrow" pitchFamily="34" charset="-122"/>
                <a:cs typeface="Liberation Sans Narrow" pitchFamily="34" charset="-120"/>
              </a:rPr>
              <a:t>MENU 6</a:t>
            </a:r>
            <a:endParaRPr lang="en-US" sz="800" dirty="0"/>
          </a:p>
        </p:txBody>
      </p:sp>
      <p:sp>
        <p:nvSpPr>
          <p:cNvPr id="49" name="Text 47"/>
          <p:cNvSpPr/>
          <p:nvPr/>
        </p:nvSpPr>
        <p:spPr>
          <a:xfrm>
            <a:off x="2653903" y="3326420"/>
            <a:ext cx="1739503" cy="152738"/>
          </a:xfrm>
          <a:prstGeom prst="rect">
            <a:avLst/>
          </a:prstGeom>
          <a:noFill/>
          <a:ln/>
        </p:spPr>
        <p:txBody>
          <a:bodyPr wrap="none" lIns="0" tIns="0" rIns="0" bIns="0" rtlCol="0" anchor="t"/>
          <a:lstStyle/>
          <a:p>
            <a:pPr marL="0" indent="0" algn="l">
              <a:lnSpc>
                <a:spcPts val="1114"/>
              </a:lnSpc>
              <a:buNone/>
            </a:pPr>
            <a:r>
              <a:rPr lang="en-US" sz="928" b="1" dirty="0">
                <a:solidFill>
                  <a:srgbClr val="16305B"/>
                </a:solidFill>
                <a:latin typeface="Carlito" pitchFamily="34" charset="0"/>
                <a:ea typeface="Carlito" pitchFamily="34" charset="-122"/>
                <a:cs typeface="Carlito" pitchFamily="34" charset="-120"/>
              </a:rPr>
              <a:t>Sort Playlist</a:t>
            </a:r>
            <a:endParaRPr lang="en-US" sz="928" dirty="0"/>
          </a:p>
        </p:txBody>
      </p:sp>
      <p:sp>
        <p:nvSpPr>
          <p:cNvPr id="50" name="Text 48"/>
          <p:cNvSpPr/>
          <p:nvPr/>
        </p:nvSpPr>
        <p:spPr>
          <a:xfrm>
            <a:off x="2653903" y="3510707"/>
            <a:ext cx="1843873" cy="164592"/>
          </a:xfrm>
          <a:prstGeom prst="rect">
            <a:avLst/>
          </a:prstGeom>
          <a:noFill/>
          <a:ln/>
        </p:spPr>
        <p:txBody>
          <a:bodyPr wrap="square" lIns="0" tIns="0" rIns="0" bIns="0" rtlCol="0" anchor="t"/>
          <a:lstStyle/>
          <a:p>
            <a:pPr marL="0" indent="0" algn="l">
              <a:lnSpc>
                <a:spcPts val="1055"/>
              </a:lnSpc>
              <a:buNone/>
            </a:pPr>
            <a:r>
              <a:rPr lang="en-US" sz="703" dirty="0">
                <a:solidFill>
                  <a:srgbClr val="5B6B84"/>
                </a:solidFill>
                <a:latin typeface="Carlito" pitchFamily="34" charset="0"/>
                <a:ea typeface="Carlito" pitchFamily="34" charset="-122"/>
                <a:cs typeface="Carlito" pitchFamily="34" charset="-120"/>
              </a:rPr>
              <a:t>A–Z by title, or most-played first.</a:t>
            </a:r>
            <a:endParaRPr lang="en-US" sz="703" dirty="0"/>
          </a:p>
        </p:txBody>
      </p:sp>
      <p:sp>
        <p:nvSpPr>
          <p:cNvPr id="51" name="Text 49"/>
          <p:cNvSpPr/>
          <p:nvPr/>
        </p:nvSpPr>
        <p:spPr>
          <a:xfrm>
            <a:off x="4625578" y="2787067"/>
            <a:ext cx="1989534" cy="1645630"/>
          </a:xfrm>
          <a:prstGeom prst="roundRect">
            <a:avLst>
              <a:gd name="adj" fmla="val 6946"/>
            </a:avLst>
          </a:prstGeom>
          <a:solidFill>
            <a:srgbClr val="FDF6E7"/>
          </a:solidFill>
          <a:ln w="7144">
            <a:solidFill>
              <a:srgbClr val="B7791F"/>
            </a:solidFill>
            <a:prstDash val="solid"/>
          </a:ln>
        </p:spPr>
        <p:txBody>
          <a:bodyPr wrap="square" rtlCol="0" anchor="ctr"/>
          <a:lstStyle/>
          <a:p>
            <a:pPr marL="0" indent="0">
              <a:buNone/>
            </a:pPr>
            <a:endParaRPr lang="en-US" dirty="0"/>
          </a:p>
        </p:txBody>
      </p:sp>
      <p:sp>
        <p:nvSpPr>
          <p:cNvPr id="52" name="Text 50"/>
          <p:cNvSpPr/>
          <p:nvPr/>
        </p:nvSpPr>
        <p:spPr>
          <a:xfrm>
            <a:off x="4750594" y="2919226"/>
            <a:ext cx="314325" cy="314325"/>
          </a:xfrm>
          <a:prstGeom prst="roundRect">
            <a:avLst>
              <a:gd name="adj" fmla="val 33333"/>
            </a:avLst>
          </a:prstGeom>
          <a:solidFill>
            <a:srgbClr val="B7791F">
              <a:alpha val="12000"/>
            </a:srgbClr>
          </a:solidFill>
          <a:ln/>
        </p:spPr>
        <p:txBody>
          <a:bodyPr wrap="square" rtlCol="0" anchor="ctr"/>
          <a:lstStyle/>
          <a:p>
            <a:pPr marL="0" indent="0">
              <a:buNone/>
            </a:pPr>
            <a:endParaRPr lang="en-US" dirty="0"/>
          </a:p>
        </p:txBody>
      </p:sp>
      <p:sp>
        <p:nvSpPr>
          <p:cNvPr id="53" name="Text 51"/>
          <p:cNvSpPr/>
          <p:nvPr/>
        </p:nvSpPr>
        <p:spPr>
          <a:xfrm>
            <a:off x="4783455" y="2952088"/>
            <a:ext cx="248602" cy="248602"/>
          </a:xfrm>
          <a:prstGeom prst="rect">
            <a:avLst/>
          </a:prstGeom>
          <a:noFill/>
          <a:ln/>
        </p:spPr>
        <p:txBody>
          <a:bodyPr wrap="none" lIns="0" tIns="0" rIns="0" bIns="0" rtlCol="0" anchor="ctr"/>
          <a:lstStyle/>
          <a:p>
            <a:pPr marL="0" indent="0" algn="ctr">
              <a:buNone/>
            </a:pPr>
            <a:r>
              <a:rPr lang="en-US" sz="1688" dirty="0">
                <a:solidFill>
                  <a:srgbClr val="8A5A14"/>
                </a:solidFill>
                <a:latin typeface="Segoe UI Symbol" pitchFamily="34" charset="0"/>
                <a:ea typeface="Segoe UI Symbol" pitchFamily="34" charset="-122"/>
                <a:cs typeface="Segoe UI Symbol" pitchFamily="34" charset="-120"/>
              </a:rPr>
              <a:t>▦</a:t>
            </a:r>
            <a:endParaRPr lang="en-US" sz="1688" dirty="0"/>
          </a:p>
        </p:txBody>
      </p:sp>
      <p:sp>
        <p:nvSpPr>
          <p:cNvPr id="54" name="Text 52"/>
          <p:cNvSpPr/>
          <p:nvPr/>
        </p:nvSpPr>
        <p:spPr>
          <a:xfrm>
            <a:off x="6043398" y="2909368"/>
            <a:ext cx="463879" cy="184023"/>
          </a:xfrm>
          <a:prstGeom prst="roundRect">
            <a:avLst>
              <a:gd name="adj" fmla="val 31056"/>
            </a:avLst>
          </a:prstGeom>
          <a:solidFill>
            <a:srgbClr val="8A5A14"/>
          </a:solidFill>
          <a:ln/>
        </p:spPr>
        <p:txBody>
          <a:bodyPr wrap="square" rtlCol="0" anchor="ctr"/>
          <a:lstStyle/>
          <a:p>
            <a:pPr marL="0" indent="0">
              <a:buNone/>
            </a:pPr>
            <a:endParaRPr lang="en-US" dirty="0"/>
          </a:p>
        </p:txBody>
      </p:sp>
      <p:sp>
        <p:nvSpPr>
          <p:cNvPr id="55" name="Text 53"/>
          <p:cNvSpPr/>
          <p:nvPr/>
        </p:nvSpPr>
        <p:spPr>
          <a:xfrm>
            <a:off x="6054947" y="2919226"/>
            <a:ext cx="440781" cy="164306"/>
          </a:xfrm>
          <a:prstGeom prst="rect">
            <a:avLst/>
          </a:prstGeom>
          <a:noFill/>
          <a:ln/>
        </p:spPr>
        <p:txBody>
          <a:bodyPr wrap="none" lIns="0" tIns="0" rIns="0" bIns="0" rtlCol="0" anchor="ctr"/>
          <a:lstStyle/>
          <a:p>
            <a:pPr marL="0" indent="0" algn="ctr">
              <a:lnSpc>
                <a:spcPts val="844"/>
              </a:lnSpc>
              <a:buNone/>
            </a:pPr>
            <a:r>
              <a:rPr lang="en-US" sz="800" kern="0" spc="56" dirty="0">
                <a:solidFill>
                  <a:srgbClr val="FFFFFF"/>
                </a:solidFill>
                <a:latin typeface="Liberation Sans Narrow" pitchFamily="34" charset="0"/>
                <a:ea typeface="Liberation Sans Narrow" pitchFamily="34" charset="-122"/>
                <a:cs typeface="Liberation Sans Narrow" pitchFamily="34" charset="-120"/>
              </a:rPr>
              <a:t>MENU 7</a:t>
            </a:r>
            <a:endParaRPr lang="en-US" sz="800" dirty="0"/>
          </a:p>
        </p:txBody>
      </p:sp>
      <p:sp>
        <p:nvSpPr>
          <p:cNvPr id="56" name="Text 54"/>
          <p:cNvSpPr/>
          <p:nvPr/>
        </p:nvSpPr>
        <p:spPr>
          <a:xfrm>
            <a:off x="4750594" y="3326420"/>
            <a:ext cx="1739503" cy="152738"/>
          </a:xfrm>
          <a:prstGeom prst="rect">
            <a:avLst/>
          </a:prstGeom>
          <a:noFill/>
          <a:ln/>
        </p:spPr>
        <p:txBody>
          <a:bodyPr wrap="none" lIns="0" tIns="0" rIns="0" bIns="0" rtlCol="0" anchor="t"/>
          <a:lstStyle/>
          <a:p>
            <a:pPr marL="0" indent="0" algn="l">
              <a:lnSpc>
                <a:spcPts val="1114"/>
              </a:lnSpc>
              <a:buNone/>
            </a:pPr>
            <a:r>
              <a:rPr lang="en-US" sz="928" b="1" dirty="0">
                <a:solidFill>
                  <a:srgbClr val="16305B"/>
                </a:solidFill>
                <a:latin typeface="Carlito" pitchFamily="34" charset="0"/>
                <a:ea typeface="Carlito" pitchFamily="34" charset="-122"/>
                <a:cs typeface="Carlito" pitchFamily="34" charset="-120"/>
              </a:rPr>
              <a:t>Listening Stats</a:t>
            </a:r>
            <a:endParaRPr lang="en-US" sz="928" dirty="0"/>
          </a:p>
        </p:txBody>
      </p:sp>
      <p:sp>
        <p:nvSpPr>
          <p:cNvPr id="57" name="Text 55"/>
          <p:cNvSpPr/>
          <p:nvPr/>
        </p:nvSpPr>
        <p:spPr>
          <a:xfrm>
            <a:off x="4750594" y="3510707"/>
            <a:ext cx="1843873" cy="164592"/>
          </a:xfrm>
          <a:prstGeom prst="rect">
            <a:avLst/>
          </a:prstGeom>
          <a:noFill/>
          <a:ln/>
        </p:spPr>
        <p:txBody>
          <a:bodyPr wrap="square" lIns="0" tIns="0" rIns="0" bIns="0" rtlCol="0" anchor="t"/>
          <a:lstStyle/>
          <a:p>
            <a:pPr marL="0" indent="0" algn="l">
              <a:lnSpc>
                <a:spcPts val="1055"/>
              </a:lnSpc>
              <a:buNone/>
            </a:pPr>
            <a:r>
              <a:rPr lang="en-US" sz="703" dirty="0">
                <a:solidFill>
                  <a:srgbClr val="5B6B84"/>
                </a:solidFill>
                <a:latin typeface="Carlito" pitchFamily="34" charset="0"/>
                <a:ea typeface="Carlito" pitchFamily="34" charset="-122"/>
                <a:cs typeface="Carlito" pitchFamily="34" charset="-120"/>
              </a:rPr>
              <a:t>Totals, favourite artist and </a:t>
            </a:r>
            <a:r>
              <a:rPr lang="en-US" sz="703" b="1" dirty="0">
                <a:solidFill>
                  <a:srgbClr val="16305B"/>
                </a:solidFill>
                <a:latin typeface="Liberation Sans Narrow" pitchFamily="34" charset="0"/>
                <a:ea typeface="Liberation Sans Narrow" pitchFamily="34" charset="-122"/>
                <a:cs typeface="Liberation Sans Narrow" pitchFamily="34" charset="-120"/>
              </a:rPr>
              <a:t>Top-5</a:t>
            </a:r>
            <a:r>
              <a:rPr lang="en-US" sz="703" dirty="0">
                <a:solidFill>
                  <a:srgbClr val="5B6B84"/>
                </a:solidFill>
                <a:latin typeface="Carlito" pitchFamily="34" charset="0"/>
                <a:ea typeface="Carlito" pitchFamily="34" charset="-122"/>
                <a:cs typeface="Carlito" pitchFamily="34" charset="-120"/>
              </a:rPr>
              <a:t> ranking.</a:t>
            </a:r>
            <a:endParaRPr lang="en-US" sz="703" dirty="0"/>
          </a:p>
        </p:txBody>
      </p:sp>
      <p:sp>
        <p:nvSpPr>
          <p:cNvPr id="58" name="Text 56"/>
          <p:cNvSpPr/>
          <p:nvPr/>
        </p:nvSpPr>
        <p:spPr>
          <a:xfrm>
            <a:off x="6722269" y="2787067"/>
            <a:ext cx="1989534" cy="1645630"/>
          </a:xfrm>
          <a:prstGeom prst="roundRect">
            <a:avLst>
              <a:gd name="adj" fmla="val 6946"/>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59" name="Text 57"/>
          <p:cNvSpPr/>
          <p:nvPr/>
        </p:nvSpPr>
        <p:spPr>
          <a:xfrm>
            <a:off x="6847284" y="2919226"/>
            <a:ext cx="314325" cy="314325"/>
          </a:xfrm>
          <a:prstGeom prst="roundRect">
            <a:avLst>
              <a:gd name="adj" fmla="val 33333"/>
            </a:avLst>
          </a:prstGeom>
          <a:solidFill>
            <a:srgbClr val="B7791F">
              <a:alpha val="12000"/>
            </a:srgbClr>
          </a:solidFill>
          <a:ln/>
        </p:spPr>
        <p:txBody>
          <a:bodyPr wrap="square" rtlCol="0" anchor="ctr"/>
          <a:lstStyle/>
          <a:p>
            <a:pPr marL="0" indent="0">
              <a:buNone/>
            </a:pPr>
            <a:endParaRPr lang="en-US" dirty="0"/>
          </a:p>
        </p:txBody>
      </p:sp>
      <p:sp>
        <p:nvSpPr>
          <p:cNvPr id="60" name="Text 58"/>
          <p:cNvSpPr/>
          <p:nvPr/>
        </p:nvSpPr>
        <p:spPr>
          <a:xfrm>
            <a:off x="6880146" y="2952088"/>
            <a:ext cx="248602" cy="248602"/>
          </a:xfrm>
          <a:prstGeom prst="rect">
            <a:avLst/>
          </a:prstGeom>
          <a:noFill/>
          <a:ln/>
        </p:spPr>
        <p:txBody>
          <a:bodyPr wrap="none" lIns="0" tIns="0" rIns="0" bIns="0" rtlCol="0" anchor="ctr"/>
          <a:lstStyle/>
          <a:p>
            <a:pPr marL="0" indent="0" algn="ctr">
              <a:buNone/>
            </a:pPr>
            <a:r>
              <a:rPr lang="en-US" sz="1688" dirty="0">
                <a:solidFill>
                  <a:srgbClr val="8A5A14"/>
                </a:solidFill>
                <a:latin typeface="Segoe UI Symbol" pitchFamily="34" charset="0"/>
                <a:ea typeface="Segoe UI Symbol" pitchFamily="34" charset="-122"/>
                <a:cs typeface="Segoe UI Symbol" pitchFamily="34" charset="-120"/>
              </a:rPr>
              <a:t>⤓</a:t>
            </a:r>
            <a:endParaRPr lang="en-US" sz="1688" dirty="0"/>
          </a:p>
        </p:txBody>
      </p:sp>
      <p:sp>
        <p:nvSpPr>
          <p:cNvPr id="61" name="Text 59"/>
          <p:cNvSpPr/>
          <p:nvPr/>
        </p:nvSpPr>
        <p:spPr>
          <a:xfrm>
            <a:off x="8244334" y="2909368"/>
            <a:ext cx="355625" cy="184023"/>
          </a:xfrm>
          <a:prstGeom prst="roundRect">
            <a:avLst>
              <a:gd name="adj" fmla="val 31056"/>
            </a:avLst>
          </a:prstGeom>
          <a:solidFill>
            <a:srgbClr val="EAF0F9"/>
          </a:solidFill>
          <a:ln/>
        </p:spPr>
        <p:txBody>
          <a:bodyPr wrap="square" rtlCol="0" anchor="ctr"/>
          <a:lstStyle/>
          <a:p>
            <a:pPr marL="0" indent="0">
              <a:buNone/>
            </a:pPr>
            <a:endParaRPr lang="en-US" dirty="0"/>
          </a:p>
        </p:txBody>
      </p:sp>
      <p:sp>
        <p:nvSpPr>
          <p:cNvPr id="62" name="Text 60"/>
          <p:cNvSpPr/>
          <p:nvPr/>
        </p:nvSpPr>
        <p:spPr>
          <a:xfrm>
            <a:off x="8255705" y="2919226"/>
            <a:ext cx="332882" cy="164306"/>
          </a:xfrm>
          <a:prstGeom prst="rect">
            <a:avLst/>
          </a:prstGeom>
          <a:noFill/>
          <a:ln/>
        </p:spPr>
        <p:txBody>
          <a:bodyPr wrap="none" lIns="0" tIns="0" rIns="0" bIns="0" rtlCol="0" anchor="ctr"/>
          <a:lstStyle/>
          <a:p>
            <a:pPr marL="0" indent="0" algn="ctr">
              <a:lnSpc>
                <a:spcPts val="844"/>
              </a:lnSpc>
              <a:buNone/>
            </a:pPr>
            <a:r>
              <a:rPr lang="en-US" sz="800" kern="0" spc="56" dirty="0">
                <a:solidFill>
                  <a:srgbClr val="16305B"/>
                </a:solidFill>
                <a:latin typeface="Courier New" pitchFamily="34" charset="0"/>
                <a:ea typeface="Courier New" pitchFamily="34" charset="-122"/>
                <a:cs typeface="Courier New" pitchFamily="34" charset="-120"/>
              </a:rPr>
              <a:t>AUTO</a:t>
            </a:r>
            <a:endParaRPr lang="en-US" sz="800" dirty="0"/>
          </a:p>
        </p:txBody>
      </p:sp>
      <p:sp>
        <p:nvSpPr>
          <p:cNvPr id="63" name="Text 61"/>
          <p:cNvSpPr/>
          <p:nvPr/>
        </p:nvSpPr>
        <p:spPr>
          <a:xfrm>
            <a:off x="6847284" y="3326420"/>
            <a:ext cx="1739503" cy="152738"/>
          </a:xfrm>
          <a:prstGeom prst="rect">
            <a:avLst/>
          </a:prstGeom>
          <a:noFill/>
          <a:ln/>
        </p:spPr>
        <p:txBody>
          <a:bodyPr wrap="none" lIns="0" tIns="0" rIns="0" bIns="0" rtlCol="0" anchor="t"/>
          <a:lstStyle/>
          <a:p>
            <a:pPr marL="0" indent="0" algn="l">
              <a:lnSpc>
                <a:spcPts val="1114"/>
              </a:lnSpc>
              <a:buNone/>
            </a:pPr>
            <a:r>
              <a:rPr lang="en-US" sz="928" b="1" dirty="0">
                <a:solidFill>
                  <a:srgbClr val="16305B"/>
                </a:solidFill>
                <a:latin typeface="Carlito" pitchFamily="34" charset="0"/>
                <a:ea typeface="Carlito" pitchFamily="34" charset="-122"/>
                <a:cs typeface="Carlito" pitchFamily="34" charset="-120"/>
              </a:rPr>
              <a:t>Auto-Save</a:t>
            </a:r>
            <a:endParaRPr lang="en-US" sz="928" dirty="0"/>
          </a:p>
        </p:txBody>
      </p:sp>
      <p:sp>
        <p:nvSpPr>
          <p:cNvPr id="64" name="Text 62"/>
          <p:cNvSpPr/>
          <p:nvPr/>
        </p:nvSpPr>
        <p:spPr>
          <a:xfrm>
            <a:off x="6847284" y="3510707"/>
            <a:ext cx="1739503" cy="329184"/>
          </a:xfrm>
          <a:prstGeom prst="rect">
            <a:avLst/>
          </a:prstGeom>
          <a:noFill/>
          <a:ln/>
        </p:spPr>
        <p:txBody>
          <a:bodyPr wrap="square" lIns="0" tIns="0" rIns="0" bIns="0" rtlCol="0" anchor="t"/>
          <a:lstStyle/>
          <a:p>
            <a:pPr marL="0" indent="0" algn="l">
              <a:lnSpc>
                <a:spcPts val="1055"/>
              </a:lnSpc>
              <a:buNone/>
            </a:pPr>
            <a:r>
              <a:rPr lang="en-US" sz="800" dirty="0">
                <a:solidFill>
                  <a:srgbClr val="5B6B84"/>
                </a:solidFill>
                <a:latin typeface="Carlito" pitchFamily="34" charset="0"/>
                <a:ea typeface="Carlito" pitchFamily="34" charset="-122"/>
                <a:cs typeface="Carlito" pitchFamily="34" charset="-120"/>
              </a:rPr>
              <a:t>FileWriter persists the playlist after every change.</a:t>
            </a:r>
            <a:endParaRPr lang="en-US" sz="800" dirty="0"/>
          </a:p>
        </p:txBody>
      </p:sp>
      <p:sp>
        <p:nvSpPr>
          <p:cNvPr id="65" name="Text 63"/>
          <p:cNvSpPr/>
          <p:nvPr/>
        </p:nvSpPr>
        <p:spPr>
          <a:xfrm>
            <a:off x="428625" y="4536281"/>
            <a:ext cx="8286750" cy="307181"/>
          </a:xfrm>
          <a:prstGeom prst="roundRect">
            <a:avLst>
              <a:gd name="adj" fmla="val 31008"/>
            </a:avLst>
          </a:prstGeom>
          <a:solidFill>
            <a:srgbClr val="FFFFFF"/>
          </a:solidFill>
          <a:ln/>
        </p:spPr>
        <p:txBody>
          <a:bodyPr wrap="square" rtlCol="0" anchor="ctr"/>
          <a:lstStyle/>
          <a:p>
            <a:pPr marL="0" indent="0">
              <a:buNone/>
            </a:pPr>
            <a:endParaRPr lang="en-US" dirty="0"/>
          </a:p>
        </p:txBody>
      </p:sp>
      <p:sp>
        <p:nvSpPr>
          <p:cNvPr id="66" name="Shape 64"/>
          <p:cNvSpPr/>
          <p:nvPr/>
        </p:nvSpPr>
        <p:spPr>
          <a:xfrm>
            <a:off x="428625" y="4539853"/>
            <a:ext cx="8286750" cy="0"/>
          </a:xfrm>
          <a:prstGeom prst="line">
            <a:avLst/>
          </a:prstGeom>
          <a:noFill/>
          <a:ln w="7144">
            <a:solidFill>
              <a:srgbClr val="D9E2EF"/>
            </a:solidFill>
            <a:prstDash val="solid"/>
          </a:ln>
        </p:spPr>
        <p:txBody>
          <a:bodyPr/>
          <a:lstStyle/>
          <a:p>
            <a:endParaRPr lang="en-IN"/>
          </a:p>
        </p:txBody>
      </p:sp>
      <p:sp>
        <p:nvSpPr>
          <p:cNvPr id="67" name="Shape 65"/>
          <p:cNvSpPr/>
          <p:nvPr/>
        </p:nvSpPr>
        <p:spPr>
          <a:xfrm>
            <a:off x="8711803" y="4536281"/>
            <a:ext cx="0" cy="307181"/>
          </a:xfrm>
          <a:prstGeom prst="line">
            <a:avLst/>
          </a:prstGeom>
          <a:noFill/>
          <a:ln w="7144">
            <a:solidFill>
              <a:srgbClr val="D9E2EF"/>
            </a:solidFill>
            <a:prstDash val="solid"/>
          </a:ln>
        </p:spPr>
        <p:txBody>
          <a:bodyPr/>
          <a:lstStyle/>
          <a:p>
            <a:endParaRPr lang="en-IN"/>
          </a:p>
        </p:txBody>
      </p:sp>
      <p:sp>
        <p:nvSpPr>
          <p:cNvPr id="68" name="Shape 66"/>
          <p:cNvSpPr/>
          <p:nvPr/>
        </p:nvSpPr>
        <p:spPr>
          <a:xfrm>
            <a:off x="428625" y="4839891"/>
            <a:ext cx="8286750" cy="0"/>
          </a:xfrm>
          <a:prstGeom prst="line">
            <a:avLst/>
          </a:prstGeom>
          <a:noFill/>
          <a:ln w="7144">
            <a:solidFill>
              <a:srgbClr val="D9E2EF"/>
            </a:solidFill>
            <a:prstDash val="solid"/>
          </a:ln>
        </p:spPr>
        <p:txBody>
          <a:bodyPr/>
          <a:lstStyle/>
          <a:p>
            <a:endParaRPr lang="en-IN"/>
          </a:p>
        </p:txBody>
      </p:sp>
      <p:sp>
        <p:nvSpPr>
          <p:cNvPr id="69" name="Shape 67"/>
          <p:cNvSpPr/>
          <p:nvPr/>
        </p:nvSpPr>
        <p:spPr>
          <a:xfrm>
            <a:off x="442913" y="4536281"/>
            <a:ext cx="0" cy="307181"/>
          </a:xfrm>
          <a:prstGeom prst="line">
            <a:avLst/>
          </a:prstGeom>
          <a:noFill/>
          <a:ln w="28575">
            <a:solidFill>
              <a:srgbClr val="B7791F"/>
            </a:solidFill>
            <a:prstDash val="solid"/>
          </a:ln>
        </p:spPr>
        <p:txBody>
          <a:bodyPr/>
          <a:lstStyle/>
          <a:p>
            <a:endParaRPr lang="en-IN"/>
          </a:p>
        </p:txBody>
      </p:sp>
      <p:sp>
        <p:nvSpPr>
          <p:cNvPr id="70" name="Text 68"/>
          <p:cNvSpPr/>
          <p:nvPr/>
        </p:nvSpPr>
        <p:spPr>
          <a:xfrm>
            <a:off x="571500" y="4614863"/>
            <a:ext cx="150019" cy="150019"/>
          </a:xfrm>
          <a:prstGeom prst="rect">
            <a:avLst/>
          </a:prstGeom>
          <a:noFill/>
          <a:ln/>
        </p:spPr>
        <p:txBody>
          <a:bodyPr wrap="none" lIns="0" tIns="0" rIns="0" bIns="0" rtlCol="0" anchor="ctr"/>
          <a:lstStyle/>
          <a:p>
            <a:pPr marL="0" indent="0" algn="ctr">
              <a:buNone/>
            </a:pPr>
            <a:r>
              <a:rPr lang="en-US" sz="1477" dirty="0">
                <a:solidFill>
                  <a:srgbClr val="8A5A14"/>
                </a:solidFill>
                <a:latin typeface="Segoe UI Symbol" pitchFamily="34" charset="0"/>
                <a:ea typeface="Segoe UI Symbol" pitchFamily="34" charset="-122"/>
                <a:cs typeface="Segoe UI Symbol" pitchFamily="34" charset="-120"/>
              </a:rPr>
              <a:t>▶</a:t>
            </a:r>
            <a:endParaRPr lang="en-US" sz="1477" dirty="0"/>
          </a:p>
        </p:txBody>
      </p:sp>
      <p:sp>
        <p:nvSpPr>
          <p:cNvPr id="71" name="Text 69"/>
          <p:cNvSpPr/>
          <p:nvPr/>
        </p:nvSpPr>
        <p:spPr>
          <a:xfrm>
            <a:off x="807244" y="4624908"/>
            <a:ext cx="7786688" cy="139973"/>
          </a:xfrm>
          <a:prstGeom prst="rect">
            <a:avLst/>
          </a:prstGeom>
          <a:noFill/>
          <a:ln/>
        </p:spPr>
        <p:txBody>
          <a:bodyPr wrap="square" lIns="0" tIns="0" rIns="0" bIns="0" rtlCol="0" anchor="t"/>
          <a:lstStyle/>
          <a:p>
            <a:pPr marL="0" indent="0" algn="l">
              <a:lnSpc>
                <a:spcPts val="1024"/>
              </a:lnSpc>
              <a:buNone/>
            </a:pPr>
            <a:r>
              <a:rPr lang="en-US" sz="800" b="1" dirty="0">
                <a:solidFill>
                  <a:srgbClr val="16305B"/>
                </a:solidFill>
                <a:latin typeface="Carlito" pitchFamily="34" charset="0"/>
                <a:ea typeface="Carlito" pitchFamily="34" charset="-122"/>
                <a:cs typeface="Carlito" pitchFamily="34" charset="-120"/>
              </a:rPr>
              <a:t>Demo tip</a:t>
            </a:r>
            <a:r>
              <a:rPr lang="en-US" sz="800" dirty="0">
                <a:solidFill>
                  <a:srgbClr val="5B6B84"/>
                </a:solidFill>
                <a:latin typeface="Carlito" pitchFamily="34" charset="0"/>
                <a:ea typeface="Carlito" pitchFamily="34" charset="-122"/>
                <a:cs typeface="Carlito" pitchFamily="34" charset="-120"/>
              </a:rPr>
              <a:t> — suggested order: View All Songs (1) </a:t>
            </a:r>
            <a:r>
              <a:rPr lang="en-US" sz="800" b="1" dirty="0">
                <a:solidFill>
                  <a:srgbClr val="8A5A14"/>
                </a:solidFill>
                <a:latin typeface="Carlito" pitchFamily="34" charset="0"/>
                <a:ea typeface="Carlito" pitchFamily="34" charset="-122"/>
                <a:cs typeface="Carlito" pitchFamily="34" charset="-120"/>
              </a:rPr>
              <a:t>→</a:t>
            </a:r>
            <a:r>
              <a:rPr lang="en-US" sz="800" dirty="0">
                <a:solidFill>
                  <a:srgbClr val="5B6B84"/>
                </a:solidFill>
                <a:latin typeface="Liberation Sans Narrow" pitchFamily="34" charset="0"/>
                <a:ea typeface="Liberation Sans Narrow" pitchFamily="34" charset="-122"/>
                <a:cs typeface="Liberation Sans Narrow" pitchFamily="34" charset="-120"/>
              </a:rPr>
              <a:t> Play "Believer" (4) </a:t>
            </a:r>
            <a:r>
              <a:rPr lang="en-US" sz="800" b="1" dirty="0">
                <a:solidFill>
                  <a:srgbClr val="8A5A14"/>
                </a:solidFill>
                <a:latin typeface="Carlito" pitchFamily="34" charset="0"/>
                <a:ea typeface="Carlito" pitchFamily="34" charset="-122"/>
                <a:cs typeface="Carlito" pitchFamily="34" charset="-120"/>
              </a:rPr>
              <a:t>→</a:t>
            </a:r>
            <a:r>
              <a:rPr lang="en-US" sz="800" dirty="0">
                <a:solidFill>
                  <a:srgbClr val="5B6B84"/>
                </a:solidFill>
                <a:latin typeface="Liberation Sans Narrow" pitchFamily="34" charset="0"/>
                <a:ea typeface="Liberation Sans Narrow" pitchFamily="34" charset="-122"/>
                <a:cs typeface="Liberation Sans Narrow" pitchFamily="34" charset="-120"/>
              </a:rPr>
              <a:t> Listening Stats (7).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285750"/>
            <a:ext cx="257175" cy="257175"/>
          </a:xfrm>
          <a:prstGeom prst="roundRect">
            <a:avLst>
              <a:gd name="adj" fmla="val 33333"/>
            </a:avLst>
          </a:prstGeom>
          <a:solidFill>
            <a:srgbClr val="B7791F"/>
          </a:solidFill>
          <a:ln/>
        </p:spPr>
        <p:txBody>
          <a:bodyPr wrap="square" rtlCol="0" anchor="ctr"/>
          <a:lstStyle/>
          <a:p>
            <a:pPr marL="0" indent="0">
              <a:buNone/>
            </a:pPr>
            <a:endParaRPr lang="en-US" dirty="0"/>
          </a:p>
        </p:txBody>
      </p:sp>
      <p:sp>
        <p:nvSpPr>
          <p:cNvPr id="3" name="Text 1"/>
          <p:cNvSpPr/>
          <p:nvPr/>
        </p:nvSpPr>
        <p:spPr>
          <a:xfrm>
            <a:off x="494147" y="328613"/>
            <a:ext cx="163078" cy="185166"/>
          </a:xfrm>
          <a:prstGeom prst="rect">
            <a:avLst/>
          </a:prstGeom>
          <a:noFill/>
          <a:ln/>
        </p:spPr>
        <p:txBody>
          <a:bodyPr wrap="none" lIns="0" tIns="0" rIns="0" bIns="0" rtlCol="0" anchor="t"/>
          <a:lstStyle/>
          <a:p>
            <a:pPr marL="0" indent="0" algn="l">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8</a:t>
            </a:r>
            <a:endParaRPr lang="en-US" sz="900" dirty="0"/>
          </a:p>
        </p:txBody>
      </p:sp>
      <p:sp>
        <p:nvSpPr>
          <p:cNvPr id="4" name="Text 2"/>
          <p:cNvSpPr/>
          <p:nvPr/>
        </p:nvSpPr>
        <p:spPr>
          <a:xfrm>
            <a:off x="757238" y="316111"/>
            <a:ext cx="3489704" cy="212169"/>
          </a:xfrm>
          <a:prstGeom prst="rect">
            <a:avLst/>
          </a:prstGeom>
          <a:noFill/>
          <a:ln/>
        </p:spPr>
        <p:txBody>
          <a:bodyPr wrap="none" lIns="0" tIns="0" rIns="0" bIns="0" rtlCol="0" anchor="t"/>
          <a:lstStyle/>
          <a:p>
            <a:pPr marL="0" indent="0" algn="l">
              <a:lnSpc>
                <a:spcPts val="1547"/>
              </a:lnSpc>
              <a:buNone/>
            </a:pPr>
            <a:r>
              <a:rPr lang="en-US" sz="1406" b="1" dirty="0">
                <a:solidFill>
                  <a:srgbClr val="16305B"/>
                </a:solidFill>
                <a:latin typeface="Tinos" pitchFamily="34" charset="0"/>
                <a:ea typeface="Tinos" pitchFamily="34" charset="-122"/>
                <a:cs typeface="Tinos" pitchFamily="34" charset="-120"/>
              </a:rPr>
              <a:t>Implementation — Java Code Screenshots</a:t>
            </a:r>
            <a:endParaRPr lang="en-US" sz="1406" dirty="0"/>
          </a:p>
        </p:txBody>
      </p:sp>
      <p:sp>
        <p:nvSpPr>
          <p:cNvPr id="5" name="Text 3"/>
          <p:cNvSpPr/>
          <p:nvPr/>
        </p:nvSpPr>
        <p:spPr>
          <a:xfrm>
            <a:off x="4088457" y="410766"/>
            <a:ext cx="2964991" cy="7144"/>
          </a:xfrm>
          <a:prstGeom prst="rect">
            <a:avLst/>
          </a:prstGeom>
          <a:solidFill>
            <a:srgbClr val="D9E2EF"/>
          </a:solidFill>
          <a:ln/>
        </p:spPr>
        <p:txBody>
          <a:bodyPr wrap="square" rtlCol="0" anchor="ctr"/>
          <a:lstStyle/>
          <a:p>
            <a:pPr marL="0" indent="0">
              <a:buNone/>
            </a:pPr>
            <a:endParaRPr lang="en-US" dirty="0"/>
          </a:p>
        </p:txBody>
      </p:sp>
      <p:sp>
        <p:nvSpPr>
          <p:cNvPr id="6" name="Text 4"/>
          <p:cNvSpPr/>
          <p:nvPr/>
        </p:nvSpPr>
        <p:spPr>
          <a:xfrm>
            <a:off x="7157033" y="308967"/>
            <a:ext cx="1583345" cy="210741"/>
          </a:xfrm>
          <a:prstGeom prst="roundRect">
            <a:avLst>
              <a:gd name="adj" fmla="val 36158"/>
            </a:avLst>
          </a:prstGeom>
          <a:solidFill>
            <a:srgbClr val="FDF6E7"/>
          </a:solidFill>
          <a:ln w="7144">
            <a:solidFill>
              <a:srgbClr val="E8D5AC"/>
            </a:solidFill>
            <a:prstDash val="solid"/>
          </a:ln>
        </p:spPr>
        <p:txBody>
          <a:bodyPr wrap="square" rtlCol="0" anchor="ctr"/>
          <a:lstStyle/>
          <a:p>
            <a:pPr marL="0" indent="0">
              <a:buNone/>
            </a:pPr>
            <a:endParaRPr lang="en-US" dirty="0"/>
          </a:p>
        </p:txBody>
      </p:sp>
      <p:sp>
        <p:nvSpPr>
          <p:cNvPr id="7" name="Text 5"/>
          <p:cNvSpPr/>
          <p:nvPr/>
        </p:nvSpPr>
        <p:spPr>
          <a:xfrm>
            <a:off x="7153461" y="305395"/>
            <a:ext cx="1590489" cy="304246"/>
          </a:xfrm>
          <a:prstGeom prst="rect">
            <a:avLst/>
          </a:prstGeom>
          <a:noFill/>
          <a:ln/>
        </p:spPr>
        <p:txBody>
          <a:bodyPr wrap="none" lIns="85725" tIns="42863" rIns="85725" bIns="42863" rtlCol="0" anchor="t"/>
          <a:lstStyle/>
          <a:p>
            <a:pPr marL="0" indent="0" algn="l">
              <a:lnSpc>
                <a:spcPts val="928"/>
              </a:lnSpc>
              <a:buNone/>
            </a:pPr>
            <a:r>
              <a:rPr lang="en-US" sz="800" kern="0" spc="37" dirty="0">
                <a:solidFill>
                  <a:srgbClr val="8A5A14"/>
                </a:solidFill>
                <a:latin typeface="Liberation Sans Narrow" pitchFamily="34" charset="0"/>
                <a:ea typeface="Liberation Sans Narrow" pitchFamily="34" charset="-122"/>
                <a:cs typeface="Liberation Sans Narrow" pitchFamily="34" charset="-120"/>
              </a:rPr>
              <a:t>(1 of 5) · Project overview</a:t>
            </a:r>
            <a:endParaRPr lang="en-US" sz="800" dirty="0"/>
          </a:p>
        </p:txBody>
      </p:sp>
      <p:sp>
        <p:nvSpPr>
          <p:cNvPr id="8" name="Text 6"/>
          <p:cNvSpPr/>
          <p:nvPr/>
        </p:nvSpPr>
        <p:spPr>
          <a:xfrm>
            <a:off x="400050" y="642938"/>
            <a:ext cx="8343900" cy="162141"/>
          </a:xfrm>
          <a:prstGeom prst="rect">
            <a:avLst/>
          </a:prstGeom>
          <a:noFill/>
          <a:ln/>
        </p:spPr>
        <p:txBody>
          <a:bodyPr wrap="square" lIns="0" tIns="0" rIns="0" bIns="0" rtlCol="0" anchor="t"/>
          <a:lstStyle/>
          <a:p>
            <a:pPr marL="0" indent="0" algn="l">
              <a:lnSpc>
                <a:spcPts val="1183"/>
              </a:lnSpc>
              <a:buNone/>
            </a:pPr>
            <a:r>
              <a:rPr lang="en-US" sz="816" dirty="0">
                <a:solidFill>
                  <a:srgbClr val="23304A"/>
                </a:solidFill>
                <a:latin typeface="Carlito" pitchFamily="34" charset="0"/>
                <a:ea typeface="Carlito" pitchFamily="34" charset="-122"/>
                <a:cs typeface="Carlito" pitchFamily="34" charset="-120"/>
              </a:rPr>
              <a:t>The complete project is </a:t>
            </a:r>
            <a:r>
              <a:rPr lang="en-US" sz="816" b="1" dirty="0">
                <a:solidFill>
                  <a:srgbClr val="16305B"/>
                </a:solidFill>
                <a:latin typeface="Carlito" pitchFamily="34" charset="0"/>
                <a:ea typeface="Carlito" pitchFamily="34" charset="-122"/>
                <a:cs typeface="Carlito" pitchFamily="34" charset="-120"/>
              </a:rPr>
              <a:t>4 well-organised Java classes — 628 lines of fully commented, beginner-readable code</a:t>
            </a:r>
            <a:r>
              <a:rPr lang="en-US" sz="816" dirty="0">
                <a:solidFill>
                  <a:srgbClr val="23304A"/>
                </a:solidFill>
                <a:latin typeface="Carlito" pitchFamily="34" charset="0"/>
                <a:ea typeface="Carlito" pitchFamily="34" charset="-122"/>
                <a:cs typeface="Carlito" pitchFamily="34" charset="-120"/>
              </a:rPr>
              <a:t>. The next four slides show each class exactly as submitted.</a:t>
            </a:r>
            <a:endParaRPr lang="en-US" sz="816" dirty="0"/>
          </a:p>
        </p:txBody>
      </p:sp>
      <p:sp>
        <p:nvSpPr>
          <p:cNvPr id="9" name="Text 7"/>
          <p:cNvSpPr/>
          <p:nvPr/>
        </p:nvSpPr>
        <p:spPr>
          <a:xfrm>
            <a:off x="403622" y="896652"/>
            <a:ext cx="4983435" cy="2212777"/>
          </a:xfrm>
          <a:prstGeom prst="roundRect">
            <a:avLst>
              <a:gd name="adj" fmla="val 4305"/>
            </a:avLst>
          </a:prstGeom>
          <a:solidFill>
            <a:srgbClr val="FFFFFF"/>
          </a:solidFill>
          <a:ln w="7144">
            <a:solidFill>
              <a:srgbClr val="D9E2EF"/>
            </a:solidFill>
            <a:prstDash val="solid"/>
          </a:ln>
        </p:spPr>
        <p:txBody>
          <a:bodyPr wrap="square" rtlCol="0" anchor="ctr"/>
          <a:lstStyle/>
          <a:p>
            <a:pPr marL="0" indent="0">
              <a:buNone/>
            </a:pPr>
            <a:endParaRPr lang="en-US"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07194" y="900224"/>
          <a:ext cx="4976291" cy="2384583"/>
        </p:xfrm>
        <a:graphic>
          <a:graphicData uri="http://schemas.openxmlformats.org/drawingml/2006/table">
            <a:tbl>
              <a:tblPr/>
              <a:tblGrid>
                <a:gridCol w="1179165">
                  <a:extLst>
                    <a:ext uri="{9D8B030D-6E8A-4147-A177-3AD203B41FA5}">
                      <a16:colId xmlns:a16="http://schemas.microsoft.com/office/drawing/2014/main" val="20000"/>
                    </a:ext>
                  </a:extLst>
                </a:gridCol>
                <a:gridCol w="1531776">
                  <a:extLst>
                    <a:ext uri="{9D8B030D-6E8A-4147-A177-3AD203B41FA5}">
                      <a16:colId xmlns:a16="http://schemas.microsoft.com/office/drawing/2014/main" val="20001"/>
                    </a:ext>
                  </a:extLst>
                </a:gridCol>
                <a:gridCol w="1761827">
                  <a:extLst>
                    <a:ext uri="{9D8B030D-6E8A-4147-A177-3AD203B41FA5}">
                      <a16:colId xmlns:a16="http://schemas.microsoft.com/office/drawing/2014/main" val="20002"/>
                    </a:ext>
                  </a:extLst>
                </a:gridCol>
                <a:gridCol w="503523">
                  <a:extLst>
                    <a:ext uri="{9D8B030D-6E8A-4147-A177-3AD203B41FA5}">
                      <a16:colId xmlns:a16="http://schemas.microsoft.com/office/drawing/2014/main" val="20003"/>
                    </a:ext>
                  </a:extLst>
                </a:gridCol>
              </a:tblGrid>
              <a:tr h="0">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CLASS</a:t>
                      </a:r>
                      <a:endParaRPr lang="en-US" sz="800" dirty="0">
                        <a:latin typeface="Carlito" charset="0"/>
                        <a:ea typeface="Carlito" charset="0"/>
                        <a:cs typeface="Carlito" charset="0"/>
                      </a:endParaRPr>
                    </a:p>
                  </a:txBody>
                  <a:tcPr marL="71438" marR="114300" marT="114300" marB="71438"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solidFill>
                      <a:srgbClr val="16305B"/>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ROLE</a:t>
                      </a:r>
                      <a:endParaRPr lang="en-US" sz="800" dirty="0">
                        <a:latin typeface="Carlito" charset="0"/>
                        <a:ea typeface="Carlito" charset="0"/>
                        <a:cs typeface="Carlito" charset="0"/>
                      </a:endParaRPr>
                    </a:p>
                  </a:txBody>
                  <a:tcPr marL="71438" marR="114300" marT="114300" marB="71438"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solidFill>
                      <a:srgbClr val="16305B"/>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KEY MEMBERS</a:t>
                      </a:r>
                      <a:endParaRPr lang="en-US" sz="800" dirty="0">
                        <a:latin typeface="Carlito" charset="0"/>
                        <a:ea typeface="Carlito" charset="0"/>
                        <a:cs typeface="Carlito" charset="0"/>
                      </a:endParaRPr>
                    </a:p>
                  </a:txBody>
                  <a:tcPr marL="71438" marR="114300" marT="114300" marB="71438"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solidFill>
                      <a:srgbClr val="16305B"/>
                    </a:solidFill>
                  </a:tcPr>
                </a:tc>
                <a:tc>
                  <a:txBody>
                    <a:bodyPr/>
                    <a:lstStyle/>
                    <a:p>
                      <a:pPr marL="0" indent="0" algn="r">
                        <a:buNone/>
                      </a:pPr>
                      <a:r>
                        <a:rPr lang="en-US" sz="800" b="1" dirty="0">
                          <a:solidFill>
                            <a:srgbClr val="FFFFFF"/>
                          </a:solidFill>
                          <a:latin typeface="Carlito" pitchFamily="34" charset="0"/>
                          <a:ea typeface="Carlito" pitchFamily="34" charset="-122"/>
                          <a:cs typeface="Carlito" pitchFamily="34" charset="-120"/>
                        </a:rPr>
                        <a:t>LINES</a:t>
                      </a:r>
                      <a:endParaRPr lang="en-US" sz="800" dirty="0">
                        <a:latin typeface="Carlito" charset="0"/>
                        <a:ea typeface="Carlito" charset="0"/>
                        <a:cs typeface="Carlito" charset="0"/>
                      </a:endParaRPr>
                    </a:p>
                  </a:txBody>
                  <a:tcPr marL="71438" marR="114300" marT="114300" marB="71438"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solidFill>
                      <a:srgbClr val="16305B"/>
                    </a:solidFill>
                  </a:tcPr>
                </a:tc>
                <a:extLst>
                  <a:ext uri="{0D108BD9-81ED-4DB2-BD59-A6C34878D82A}">
                    <a16:rowId xmlns:a16="http://schemas.microsoft.com/office/drawing/2014/main" val="10000"/>
                  </a:ext>
                </a:extLst>
              </a:tr>
              <a:tr h="0">
                <a:tc>
                  <a:txBody>
                    <a:bodyPr/>
                    <a:lstStyle/>
                    <a:p>
                      <a:pPr marL="0" indent="0" algn="l">
                        <a:buNone/>
                      </a:pPr>
                      <a:r>
                        <a:rPr lang="en-US" sz="800" b="1" dirty="0">
                          <a:solidFill>
                            <a:srgbClr val="16305B"/>
                          </a:solidFill>
                          <a:latin typeface="Courier New" pitchFamily="34" charset="0"/>
                          <a:ea typeface="Courier New" pitchFamily="34" charset="-122"/>
                          <a:cs typeface="Courier New" pitchFamily="34" charset="-120"/>
                        </a:rPr>
                        <a:t>Song.java</a:t>
                      </a:r>
                      <a:endParaRPr lang="en-US" sz="800" dirty="0">
                        <a:latin typeface="Courier New" charset="0"/>
                        <a:ea typeface="Courier New" charset="0"/>
                        <a:cs typeface="Courier New"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l">
                        <a:buNone/>
                      </a:pPr>
                      <a:r>
                        <a:rPr lang="en-US" sz="800" dirty="0">
                          <a:solidFill>
                            <a:srgbClr val="23304A"/>
                          </a:solidFill>
                          <a:latin typeface="Carlito" pitchFamily="34" charset="0"/>
                          <a:ea typeface="Carlito" pitchFamily="34" charset="-122"/>
                          <a:cs typeface="Carlito" pitchFamily="34" charset="-120"/>
                        </a:rPr>
                        <a:t>Model — represents one song</a:t>
                      </a:r>
                      <a:endParaRPr lang="en-US" sz="800" dirty="0">
                        <a:latin typeface="Carlito" charset="0"/>
                        <a:ea typeface="Carlito" charset="0"/>
                        <a:cs typeface="Carlito"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l">
                        <a:buNone/>
                      </a:pPr>
                      <a:r>
                        <a:rPr lang="en-US" sz="800" dirty="0">
                          <a:solidFill>
                            <a:srgbClr val="5B6B84"/>
                          </a:solidFill>
                          <a:latin typeface="Carlito" pitchFamily="34" charset="0"/>
                          <a:ea typeface="Carlito" pitchFamily="34" charset="-122"/>
                          <a:cs typeface="Carlito" pitchFamily="34" charset="-120"/>
                        </a:rPr>
                        <a:t>fields, constructor, play counter, file helpers</a:t>
                      </a:r>
                      <a:endParaRPr lang="en-US" sz="800" dirty="0">
                        <a:latin typeface="Carlito" charset="0"/>
                        <a:ea typeface="Carlito" charset="0"/>
                        <a:cs typeface="Carlito"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r">
                        <a:buNone/>
                      </a:pPr>
                      <a:r>
                        <a:rPr lang="en-US" sz="800" b="1" dirty="0">
                          <a:solidFill>
                            <a:srgbClr val="8A5A14"/>
                          </a:solidFill>
                          <a:latin typeface="Courier New" pitchFamily="34" charset="0"/>
                          <a:ea typeface="Courier New" pitchFamily="34" charset="-122"/>
                          <a:cs typeface="Courier New" pitchFamily="34" charset="-120"/>
                        </a:rPr>
                        <a:t>101</a:t>
                      </a:r>
                      <a:endParaRPr lang="en-US" sz="800" dirty="0">
                        <a:latin typeface="Courier New" charset="0"/>
                        <a:ea typeface="Courier New" charset="0"/>
                        <a:cs typeface="Courier New"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b="1" dirty="0">
                          <a:solidFill>
                            <a:srgbClr val="16305B"/>
                          </a:solidFill>
                          <a:latin typeface="Courier New" pitchFamily="34" charset="0"/>
                          <a:ea typeface="Courier New" pitchFamily="34" charset="-122"/>
                          <a:cs typeface="Courier New" pitchFamily="34" charset="-120"/>
                        </a:rPr>
                        <a:t>Playlist.java</a:t>
                      </a:r>
                      <a:endParaRPr lang="en-US" sz="800" dirty="0">
                        <a:latin typeface="Courier New" charset="0"/>
                        <a:ea typeface="Courier New" charset="0"/>
                        <a:cs typeface="Courier New"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l">
                        <a:buNone/>
                      </a:pPr>
                      <a:r>
                        <a:rPr lang="en-US" sz="800" dirty="0">
                          <a:solidFill>
                            <a:srgbClr val="23304A"/>
                          </a:solidFill>
                          <a:latin typeface="Carlito" pitchFamily="34" charset="0"/>
                          <a:ea typeface="Carlito" pitchFamily="34" charset="-122"/>
                          <a:cs typeface="Carlito" pitchFamily="34" charset="-120"/>
                        </a:rPr>
                        <a:t>Data manager — the song collection</a:t>
                      </a:r>
                      <a:endParaRPr lang="en-US" sz="800" dirty="0">
                        <a:latin typeface="Carlito" charset="0"/>
                        <a:ea typeface="Carlito" charset="0"/>
                        <a:cs typeface="Carlito"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l">
                        <a:buNone/>
                      </a:pPr>
                      <a:r>
                        <a:rPr lang="en-US" sz="800" dirty="0">
                          <a:solidFill>
                            <a:srgbClr val="5B6B84"/>
                          </a:solidFill>
                          <a:latin typeface="Carlito" pitchFamily="34" charset="0"/>
                          <a:ea typeface="Carlito" pitchFamily="34" charset="-122"/>
                          <a:cs typeface="Carlito" pitchFamily="34" charset="-120"/>
                        </a:rPr>
                        <a:t>add, remove, view, search, sort</a:t>
                      </a:r>
                      <a:endParaRPr lang="en-US" sz="800" dirty="0">
                        <a:latin typeface="Carlito" charset="0"/>
                        <a:ea typeface="Carlito" charset="0"/>
                        <a:cs typeface="Carlito"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r">
                        <a:buNone/>
                      </a:pPr>
                      <a:r>
                        <a:rPr lang="en-US" sz="800" b="1" dirty="0">
                          <a:solidFill>
                            <a:srgbClr val="8A5A14"/>
                          </a:solidFill>
                          <a:latin typeface="Courier New" pitchFamily="34" charset="0"/>
                          <a:ea typeface="Courier New" pitchFamily="34" charset="-122"/>
                          <a:cs typeface="Courier New" pitchFamily="34" charset="-120"/>
                        </a:rPr>
                        <a:t>128</a:t>
                      </a:r>
                      <a:endParaRPr lang="en-US" sz="800" dirty="0">
                        <a:latin typeface="Courier New" charset="0"/>
                        <a:ea typeface="Courier New" charset="0"/>
                        <a:cs typeface="Courier New"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800" b="1" dirty="0">
                          <a:solidFill>
                            <a:srgbClr val="16305B"/>
                          </a:solidFill>
                          <a:latin typeface="Courier New" pitchFamily="34" charset="0"/>
                          <a:ea typeface="Courier New" pitchFamily="34" charset="-122"/>
                          <a:cs typeface="Courier New" pitchFamily="34" charset="-120"/>
                        </a:rPr>
                        <a:t>StatsManager.java</a:t>
                      </a:r>
                      <a:endParaRPr lang="en-US" sz="800" dirty="0">
                        <a:latin typeface="Courier New" charset="0"/>
                        <a:ea typeface="Courier New" charset="0"/>
                        <a:cs typeface="Courier New"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l">
                        <a:buNone/>
                      </a:pPr>
                      <a:r>
                        <a:rPr lang="en-US" sz="800" dirty="0">
                          <a:solidFill>
                            <a:srgbClr val="23304A"/>
                          </a:solidFill>
                          <a:latin typeface="Carlito" pitchFamily="34" charset="0"/>
                          <a:ea typeface="Carlito" pitchFamily="34" charset="-122"/>
                          <a:cs typeface="Carlito" pitchFamily="34" charset="-120"/>
                        </a:rPr>
                        <a:t>Statistics engine</a:t>
                      </a:r>
                      <a:endParaRPr lang="en-US" sz="800" dirty="0">
                        <a:latin typeface="Carlito" charset="0"/>
                        <a:ea typeface="Carlito" charset="0"/>
                        <a:cs typeface="Carlito"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l">
                        <a:buNone/>
                      </a:pPr>
                      <a:r>
                        <a:rPr lang="en-US" sz="800" dirty="0">
                          <a:solidFill>
                            <a:srgbClr val="5B6B84"/>
                          </a:solidFill>
                          <a:latin typeface="Carlito" pitchFamily="34" charset="0"/>
                          <a:ea typeface="Carlito" pitchFamily="34" charset="-122"/>
                          <a:cs typeface="Carlito" pitchFamily="34" charset="-120"/>
                        </a:rPr>
                        <a:t>totals, favourite artist, Top-5</a:t>
                      </a:r>
                      <a:endParaRPr lang="en-US" sz="800" dirty="0">
                        <a:latin typeface="Carlito" charset="0"/>
                        <a:ea typeface="Carlito" charset="0"/>
                        <a:cs typeface="Carlito"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r">
                        <a:buNone/>
                      </a:pPr>
                      <a:r>
                        <a:rPr lang="en-US" sz="800" b="1" dirty="0">
                          <a:solidFill>
                            <a:srgbClr val="8A5A14"/>
                          </a:solidFill>
                          <a:latin typeface="Courier New" pitchFamily="34" charset="0"/>
                          <a:ea typeface="Courier New" pitchFamily="34" charset="-122"/>
                          <a:cs typeface="Courier New" pitchFamily="34" charset="-120"/>
                        </a:rPr>
                        <a:t>129</a:t>
                      </a:r>
                      <a:endParaRPr lang="en-US" sz="800" dirty="0">
                        <a:latin typeface="Courier New" charset="0"/>
                        <a:ea typeface="Courier New" charset="0"/>
                        <a:cs typeface="Courier New"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800" b="1" dirty="0">
                          <a:solidFill>
                            <a:srgbClr val="16305B"/>
                          </a:solidFill>
                          <a:latin typeface="Courier New" pitchFamily="34" charset="0"/>
                          <a:ea typeface="Courier New" pitchFamily="34" charset="-122"/>
                          <a:cs typeface="Courier New" pitchFamily="34" charset="-120"/>
                        </a:rPr>
                        <a:t>Main.java</a:t>
                      </a:r>
                      <a:endParaRPr lang="en-US" sz="800" dirty="0">
                        <a:latin typeface="Courier New" charset="0"/>
                        <a:ea typeface="Courier New" charset="0"/>
                        <a:cs typeface="Courier New"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l">
                        <a:buNone/>
                      </a:pPr>
                      <a:r>
                        <a:rPr lang="en-US" sz="800" dirty="0">
                          <a:solidFill>
                            <a:srgbClr val="23304A"/>
                          </a:solidFill>
                          <a:latin typeface="Carlito" pitchFamily="34" charset="0"/>
                          <a:ea typeface="Carlito" pitchFamily="34" charset="-122"/>
                          <a:cs typeface="Carlito" pitchFamily="34" charset="-120"/>
                        </a:rPr>
                        <a:t>Controller — menu and files</a:t>
                      </a:r>
                      <a:endParaRPr lang="en-US" sz="800" dirty="0">
                        <a:latin typeface="Carlito" charset="0"/>
                        <a:ea typeface="Carlito" charset="0"/>
                        <a:cs typeface="Carlito"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l">
                        <a:buNone/>
                      </a:pPr>
                      <a:r>
                        <a:rPr lang="en-US" sz="800" dirty="0">
                          <a:solidFill>
                            <a:srgbClr val="5B6B84"/>
                          </a:solidFill>
                          <a:latin typeface="Carlito" pitchFamily="34" charset="0"/>
                          <a:ea typeface="Carlito" pitchFamily="34" charset="-122"/>
                          <a:cs typeface="Carlito" pitchFamily="34" charset="-120"/>
                        </a:rPr>
                        <a:t>menu loop, input validation, save/load</a:t>
                      </a:r>
                      <a:endParaRPr lang="en-US" sz="800" dirty="0">
                        <a:latin typeface="Carlito" charset="0"/>
                        <a:ea typeface="Carlito" charset="0"/>
                        <a:cs typeface="Carlito"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r">
                        <a:buNone/>
                      </a:pPr>
                      <a:r>
                        <a:rPr lang="en-US" sz="800" b="1" dirty="0">
                          <a:solidFill>
                            <a:srgbClr val="8A5A14"/>
                          </a:solidFill>
                          <a:latin typeface="Courier New" pitchFamily="34" charset="0"/>
                          <a:ea typeface="Courier New" pitchFamily="34" charset="-122"/>
                          <a:cs typeface="Courier New" pitchFamily="34" charset="-120"/>
                        </a:rPr>
                        <a:t>270</a:t>
                      </a:r>
                      <a:endParaRPr lang="en-US" sz="800" dirty="0">
                        <a:latin typeface="Courier New" charset="0"/>
                        <a:ea typeface="Courier New" charset="0"/>
                        <a:cs typeface="Courier New"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a:buNone/>
                      </a:pPr>
                      <a:r>
                        <a:rPr lang="en-US" sz="800" b="1" dirty="0">
                          <a:solidFill>
                            <a:srgbClr val="8A5A14"/>
                          </a:solidFill>
                          <a:latin typeface="Carlito" pitchFamily="34" charset="0"/>
                          <a:ea typeface="Carlito" pitchFamily="34" charset="-122"/>
                          <a:cs typeface="Carlito" pitchFamily="34" charset="-120"/>
                        </a:rPr>
                        <a:t>Total</a:t>
                      </a:r>
                      <a:endParaRPr lang="en-US" sz="800" dirty="0">
                        <a:latin typeface="Carlito" charset="0"/>
                        <a:ea typeface="Carlito" charset="0"/>
                        <a:cs typeface="Carlito"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l">
                        <a:buNone/>
                      </a:pPr>
                      <a:endParaRPr lang="en-US" sz="900" dirty="0">
                        <a:latin typeface="Carlito" charset="0"/>
                        <a:ea typeface="Carlito" charset="0"/>
                        <a:cs typeface="Carlito"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l">
                        <a:buNone/>
                      </a:pPr>
                      <a:r>
                        <a:rPr lang="en-US" sz="800" b="1" dirty="0">
                          <a:solidFill>
                            <a:srgbClr val="16305B"/>
                          </a:solidFill>
                          <a:latin typeface="Carlito" pitchFamily="34" charset="0"/>
                          <a:ea typeface="Carlito" pitchFamily="34" charset="-122"/>
                          <a:cs typeface="Carlito" pitchFamily="34" charset="-120"/>
                        </a:rPr>
                        <a:t>628 lines of Java</a:t>
                      </a:r>
                      <a:endParaRPr lang="en-US" sz="800" dirty="0">
                        <a:latin typeface="Carlito" charset="0"/>
                        <a:ea typeface="Carlito" charset="0"/>
                        <a:cs typeface="Carlito"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tc>
                  <a:txBody>
                    <a:bodyPr/>
                    <a:lstStyle/>
                    <a:p>
                      <a:pPr marL="0" indent="0" algn="r">
                        <a:buNone/>
                      </a:pPr>
                      <a:r>
                        <a:rPr lang="en-US" sz="800" b="1" dirty="0">
                          <a:solidFill>
                            <a:srgbClr val="8A5A14"/>
                          </a:solidFill>
                          <a:latin typeface="Courier New" pitchFamily="34" charset="0"/>
                          <a:ea typeface="Courier New" pitchFamily="34" charset="-122"/>
                          <a:cs typeface="Courier New" pitchFamily="34" charset="-120"/>
                        </a:rPr>
                        <a:t>628</a:t>
                      </a:r>
                      <a:endParaRPr lang="en-US" sz="800" dirty="0">
                        <a:latin typeface="Courier New" charset="0"/>
                        <a:ea typeface="Courier New" charset="0"/>
                        <a:cs typeface="Courier New" charset="0"/>
                      </a:endParaRPr>
                    </a:p>
                  </a:txBody>
                  <a:tcPr marL="78581" marR="114300" marT="114300" marB="78581" anchor="ctr">
                    <a:lnL w="6350" cap="flat" cmpd="sng" algn="ctr">
                      <a:solidFill>
                        <a:srgbClr val="D9E2EF"/>
                      </a:solidFill>
                      <a:prstDash val="solid"/>
                      <a:round/>
                      <a:headEnd type="none" w="med" len="med"/>
                      <a:tailEnd type="none" w="med" len="med"/>
                    </a:lnL>
                    <a:lnR w="6350" cap="flat" cmpd="sng" algn="ctr">
                      <a:solidFill>
                        <a:srgbClr val="D9E2EF"/>
                      </a:solidFill>
                      <a:prstDash val="solid"/>
                      <a:round/>
                      <a:headEnd type="none" w="med" len="med"/>
                      <a:tailEnd type="none" w="med" len="med"/>
                    </a:lnR>
                    <a:lnT w="6350" cap="flat" cmpd="sng" algn="ctr">
                      <a:solidFill>
                        <a:srgbClr val="D9E2EF"/>
                      </a:solidFill>
                      <a:prstDash val="solid"/>
                      <a:round/>
                      <a:headEnd type="none" w="med" len="med"/>
                      <a:tailEnd type="none" w="med" len="med"/>
                    </a:lnT>
                    <a:lnB w="6350" cap="flat" cmpd="sng" algn="ctr">
                      <a:solidFill>
                        <a:srgbClr val="D9E2E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11" name="Image 0" descr="/tmp/h2p-fit-1792001661526-vxte7g.png"/>
          <p:cNvPicPr>
            <a:picLocks noChangeAspect="1"/>
          </p:cNvPicPr>
          <p:nvPr/>
        </p:nvPicPr>
        <p:blipFill>
          <a:blip r:embed="rId3"/>
          <a:stretch>
            <a:fillRect/>
          </a:stretch>
        </p:blipFill>
        <p:spPr>
          <a:xfrm>
            <a:off x="5533504" y="964518"/>
            <a:ext cx="3210446" cy="2478770"/>
          </a:xfrm>
          <a:prstGeom prst="rect">
            <a:avLst/>
          </a:prstGeom>
        </p:spPr>
      </p:pic>
      <p:sp>
        <p:nvSpPr>
          <p:cNvPr id="12" name="Text 8"/>
          <p:cNvSpPr/>
          <p:nvPr/>
        </p:nvSpPr>
        <p:spPr>
          <a:xfrm>
            <a:off x="5537076" y="3546872"/>
            <a:ext cx="1562360" cy="519708"/>
          </a:xfrm>
          <a:prstGeom prst="roundRect">
            <a:avLst>
              <a:gd name="adj" fmla="val 18328"/>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13" name="Text 9"/>
          <p:cNvSpPr/>
          <p:nvPr/>
        </p:nvSpPr>
        <p:spPr>
          <a:xfrm>
            <a:off x="5626373" y="3719715"/>
            <a:ext cx="385316" cy="174022"/>
          </a:xfrm>
          <a:prstGeom prst="roundRect">
            <a:avLst>
              <a:gd name="adj" fmla="val 32841"/>
            </a:avLst>
          </a:prstGeom>
          <a:solidFill>
            <a:srgbClr val="B7791F"/>
          </a:solidFill>
          <a:ln/>
        </p:spPr>
        <p:txBody>
          <a:bodyPr wrap="square" rtlCol="0" anchor="ctr"/>
          <a:lstStyle/>
          <a:p>
            <a:pPr marL="0" indent="0">
              <a:buNone/>
            </a:pPr>
            <a:endParaRPr lang="en-US" dirty="0"/>
          </a:p>
        </p:txBody>
      </p:sp>
      <p:sp>
        <p:nvSpPr>
          <p:cNvPr id="14" name="Text 10"/>
          <p:cNvSpPr/>
          <p:nvPr/>
        </p:nvSpPr>
        <p:spPr>
          <a:xfrm>
            <a:off x="5626373" y="3729038"/>
            <a:ext cx="385316" cy="155377"/>
          </a:xfrm>
          <a:prstGeom prst="rect">
            <a:avLst/>
          </a:prstGeom>
          <a:noFill/>
          <a:ln/>
        </p:spPr>
        <p:txBody>
          <a:bodyPr wrap="none" lIns="0" tIns="0" rIns="0" bIns="0" rtlCol="0" anchor="ctr"/>
          <a:lstStyle/>
          <a:p>
            <a:pPr marL="0" indent="0" algn="ctr">
              <a:lnSpc>
                <a:spcPts val="886"/>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 of 5</a:t>
            </a:r>
            <a:endParaRPr lang="en-US" sz="800" dirty="0"/>
          </a:p>
        </p:txBody>
      </p:sp>
      <p:sp>
        <p:nvSpPr>
          <p:cNvPr id="15" name="Text 11"/>
          <p:cNvSpPr/>
          <p:nvPr/>
        </p:nvSpPr>
        <p:spPr>
          <a:xfrm>
            <a:off x="6083126" y="3621881"/>
            <a:ext cx="927013" cy="106513"/>
          </a:xfrm>
          <a:prstGeom prst="rect">
            <a:avLst/>
          </a:prstGeom>
          <a:noFill/>
          <a:ln/>
        </p:spPr>
        <p:txBody>
          <a:bodyPr wrap="none" lIns="0" tIns="0" rIns="0" bIns="0" rtlCol="0" anchor="t">
            <a:normAutofit/>
          </a:bodyPr>
          <a:lstStyle/>
          <a:p>
            <a:pPr marL="0" indent="0" algn="l">
              <a:lnSpc>
                <a:spcPts val="1055"/>
              </a:lnSpc>
              <a:buNone/>
            </a:pPr>
            <a:r>
              <a:rPr lang="en-US" sz="800" b="1" dirty="0">
                <a:solidFill>
                  <a:srgbClr val="16305B"/>
                </a:solidFill>
                <a:latin typeface="Courier New" pitchFamily="34" charset="0"/>
                <a:ea typeface="Courier New" pitchFamily="34" charset="-122"/>
                <a:cs typeface="Courier New" pitchFamily="34" charset="-120"/>
              </a:rPr>
              <a:t>Song.java</a:t>
            </a:r>
            <a:endParaRPr lang="en-US" sz="800" dirty="0"/>
          </a:p>
        </p:txBody>
      </p:sp>
      <p:sp>
        <p:nvSpPr>
          <p:cNvPr id="16" name="Text 12"/>
          <p:cNvSpPr/>
          <p:nvPr/>
        </p:nvSpPr>
        <p:spPr>
          <a:xfrm>
            <a:off x="6083126" y="3755827"/>
            <a:ext cx="927013" cy="235744"/>
          </a:xfrm>
          <a:prstGeom prst="rect">
            <a:avLst/>
          </a:prstGeom>
          <a:noFill/>
          <a:ln/>
        </p:spPr>
        <p:txBody>
          <a:bodyPr wrap="square" lIns="0" tIns="0" rIns="0" bIns="0" rtlCol="0" anchor="t"/>
          <a:lstStyle/>
          <a:p>
            <a:pPr marL="0" indent="0" algn="l">
              <a:lnSpc>
                <a:spcPts val="928"/>
              </a:lnSpc>
              <a:buNone/>
            </a:pPr>
            <a:r>
              <a:rPr lang="en-US" sz="800" dirty="0">
                <a:solidFill>
                  <a:srgbClr val="5B6B84"/>
                </a:solidFill>
                <a:latin typeface="Carlito" pitchFamily="34" charset="0"/>
                <a:ea typeface="Carlito" pitchFamily="34" charset="-122"/>
                <a:cs typeface="Carlito" pitchFamily="34" charset="-120"/>
              </a:rPr>
              <a:t>encapsulation &amp; the file format</a:t>
            </a:r>
            <a:endParaRPr lang="en-US" sz="800" dirty="0"/>
          </a:p>
        </p:txBody>
      </p:sp>
      <p:sp>
        <p:nvSpPr>
          <p:cNvPr id="17" name="Text 13"/>
          <p:cNvSpPr/>
          <p:nvPr/>
        </p:nvSpPr>
        <p:spPr>
          <a:xfrm>
            <a:off x="7178018" y="3546872"/>
            <a:ext cx="1562360" cy="519708"/>
          </a:xfrm>
          <a:prstGeom prst="roundRect">
            <a:avLst>
              <a:gd name="adj" fmla="val 18328"/>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18" name="Text 14"/>
          <p:cNvSpPr/>
          <p:nvPr/>
        </p:nvSpPr>
        <p:spPr>
          <a:xfrm>
            <a:off x="7267315" y="3719715"/>
            <a:ext cx="385316" cy="174022"/>
          </a:xfrm>
          <a:prstGeom prst="roundRect">
            <a:avLst>
              <a:gd name="adj" fmla="val 32841"/>
            </a:avLst>
          </a:prstGeom>
          <a:solidFill>
            <a:srgbClr val="B7791F"/>
          </a:solidFill>
          <a:ln/>
        </p:spPr>
        <p:txBody>
          <a:bodyPr wrap="square" rtlCol="0" anchor="ctr"/>
          <a:lstStyle/>
          <a:p>
            <a:pPr marL="0" indent="0">
              <a:buNone/>
            </a:pPr>
            <a:endParaRPr lang="en-US" dirty="0"/>
          </a:p>
        </p:txBody>
      </p:sp>
      <p:sp>
        <p:nvSpPr>
          <p:cNvPr id="19" name="Text 15"/>
          <p:cNvSpPr/>
          <p:nvPr/>
        </p:nvSpPr>
        <p:spPr>
          <a:xfrm>
            <a:off x="7267315" y="3729038"/>
            <a:ext cx="385316" cy="155377"/>
          </a:xfrm>
          <a:prstGeom prst="rect">
            <a:avLst/>
          </a:prstGeom>
          <a:noFill/>
          <a:ln/>
        </p:spPr>
        <p:txBody>
          <a:bodyPr wrap="none" lIns="0" tIns="0" rIns="0" bIns="0" rtlCol="0" anchor="ctr"/>
          <a:lstStyle/>
          <a:p>
            <a:pPr marL="0" indent="0" algn="ctr">
              <a:lnSpc>
                <a:spcPts val="886"/>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 of 5</a:t>
            </a:r>
            <a:endParaRPr lang="en-US" sz="800" dirty="0"/>
          </a:p>
        </p:txBody>
      </p:sp>
      <p:sp>
        <p:nvSpPr>
          <p:cNvPr id="20" name="Text 16"/>
          <p:cNvSpPr/>
          <p:nvPr/>
        </p:nvSpPr>
        <p:spPr>
          <a:xfrm>
            <a:off x="7724068" y="3680817"/>
            <a:ext cx="927013" cy="106513"/>
          </a:xfrm>
          <a:prstGeom prst="rect">
            <a:avLst/>
          </a:prstGeom>
          <a:noFill/>
          <a:ln/>
        </p:spPr>
        <p:txBody>
          <a:bodyPr wrap="none" lIns="0" tIns="0" rIns="0" bIns="0" rtlCol="0" anchor="t">
            <a:normAutofit/>
          </a:bodyPr>
          <a:lstStyle/>
          <a:p>
            <a:pPr marL="0" indent="0" algn="l">
              <a:lnSpc>
                <a:spcPts val="1055"/>
              </a:lnSpc>
              <a:buNone/>
            </a:pPr>
            <a:r>
              <a:rPr lang="en-US" sz="800" b="1" dirty="0">
                <a:solidFill>
                  <a:srgbClr val="16305B"/>
                </a:solidFill>
                <a:latin typeface="Courier New" pitchFamily="34" charset="0"/>
                <a:ea typeface="Courier New" pitchFamily="34" charset="-122"/>
                <a:cs typeface="Courier New" pitchFamily="34" charset="-120"/>
              </a:rPr>
              <a:t>Playlist.java</a:t>
            </a:r>
            <a:endParaRPr lang="en-US" sz="800" dirty="0"/>
          </a:p>
        </p:txBody>
      </p:sp>
      <p:sp>
        <p:nvSpPr>
          <p:cNvPr id="21" name="Text 17"/>
          <p:cNvSpPr/>
          <p:nvPr/>
        </p:nvSpPr>
        <p:spPr>
          <a:xfrm>
            <a:off x="7724068" y="3814763"/>
            <a:ext cx="976461" cy="164592"/>
          </a:xfrm>
          <a:prstGeom prst="rect">
            <a:avLst/>
          </a:prstGeom>
          <a:noFill/>
          <a:ln/>
        </p:spPr>
        <p:txBody>
          <a:bodyPr wrap="square" lIns="0" tIns="0" rIns="0" bIns="0" rtlCol="0" anchor="t"/>
          <a:lstStyle/>
          <a:p>
            <a:pPr marL="0" indent="0" algn="l">
              <a:lnSpc>
                <a:spcPts val="928"/>
              </a:lnSpc>
              <a:buNone/>
            </a:pPr>
            <a:r>
              <a:rPr lang="en-US" sz="619" dirty="0">
                <a:solidFill>
                  <a:srgbClr val="5B6B84"/>
                </a:solidFill>
                <a:latin typeface="Carlito" pitchFamily="34" charset="0"/>
                <a:ea typeface="Carlito" pitchFamily="34" charset="-122"/>
                <a:cs typeface="Carlito" pitchFamily="34" charset="-120"/>
              </a:rPr>
              <a:t>ArrayList &amp; the printf table</a:t>
            </a:r>
            <a:endParaRPr lang="en-US" sz="619" dirty="0"/>
          </a:p>
        </p:txBody>
      </p:sp>
      <p:sp>
        <p:nvSpPr>
          <p:cNvPr id="22" name="Text 18"/>
          <p:cNvSpPr/>
          <p:nvPr/>
        </p:nvSpPr>
        <p:spPr>
          <a:xfrm>
            <a:off x="5537076" y="4145161"/>
            <a:ext cx="1562360" cy="401836"/>
          </a:xfrm>
          <a:prstGeom prst="roundRect">
            <a:avLst>
              <a:gd name="adj" fmla="val 23704"/>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23" name="Text 19"/>
          <p:cNvSpPr/>
          <p:nvPr/>
        </p:nvSpPr>
        <p:spPr>
          <a:xfrm>
            <a:off x="5626373" y="4259068"/>
            <a:ext cx="385316" cy="174022"/>
          </a:xfrm>
          <a:prstGeom prst="roundRect">
            <a:avLst>
              <a:gd name="adj" fmla="val 32841"/>
            </a:avLst>
          </a:prstGeom>
          <a:solidFill>
            <a:srgbClr val="B7791F"/>
          </a:solidFill>
          <a:ln/>
        </p:spPr>
        <p:txBody>
          <a:bodyPr wrap="square" rtlCol="0" anchor="ctr"/>
          <a:lstStyle/>
          <a:p>
            <a:pPr marL="0" indent="0">
              <a:buNone/>
            </a:pPr>
            <a:endParaRPr lang="en-US" dirty="0"/>
          </a:p>
        </p:txBody>
      </p:sp>
      <p:sp>
        <p:nvSpPr>
          <p:cNvPr id="24" name="Text 20"/>
          <p:cNvSpPr/>
          <p:nvPr/>
        </p:nvSpPr>
        <p:spPr>
          <a:xfrm>
            <a:off x="5626373" y="4268391"/>
            <a:ext cx="385316" cy="155377"/>
          </a:xfrm>
          <a:prstGeom prst="rect">
            <a:avLst/>
          </a:prstGeom>
          <a:noFill/>
          <a:ln/>
        </p:spPr>
        <p:txBody>
          <a:bodyPr wrap="none" lIns="0" tIns="0" rIns="0" bIns="0" rtlCol="0" anchor="ctr"/>
          <a:lstStyle/>
          <a:p>
            <a:pPr marL="0" indent="0" algn="ctr">
              <a:lnSpc>
                <a:spcPts val="886"/>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 of 5</a:t>
            </a:r>
            <a:endParaRPr lang="en-US" sz="800" dirty="0"/>
          </a:p>
        </p:txBody>
      </p:sp>
      <p:sp>
        <p:nvSpPr>
          <p:cNvPr id="25" name="Text 21"/>
          <p:cNvSpPr/>
          <p:nvPr/>
        </p:nvSpPr>
        <p:spPr>
          <a:xfrm>
            <a:off x="6083126" y="4220170"/>
            <a:ext cx="927013" cy="106513"/>
          </a:xfrm>
          <a:prstGeom prst="rect">
            <a:avLst/>
          </a:prstGeom>
          <a:noFill/>
          <a:ln/>
        </p:spPr>
        <p:txBody>
          <a:bodyPr wrap="none" lIns="0" tIns="0" rIns="0" bIns="0" rtlCol="0" anchor="t">
            <a:normAutofit/>
          </a:bodyPr>
          <a:lstStyle/>
          <a:p>
            <a:pPr marL="0" indent="0" algn="l">
              <a:lnSpc>
                <a:spcPts val="1055"/>
              </a:lnSpc>
              <a:buNone/>
            </a:pPr>
            <a:r>
              <a:rPr lang="en-US" sz="703" b="1" dirty="0">
                <a:solidFill>
                  <a:srgbClr val="16305B"/>
                </a:solidFill>
                <a:latin typeface="Courier New" pitchFamily="34" charset="0"/>
                <a:ea typeface="Courier New" pitchFamily="34" charset="-122"/>
                <a:cs typeface="Courier New" pitchFamily="34" charset="-120"/>
              </a:rPr>
              <a:t>StatsManager.java</a:t>
            </a:r>
            <a:endParaRPr lang="en-US" sz="703" dirty="0"/>
          </a:p>
        </p:txBody>
      </p:sp>
      <p:sp>
        <p:nvSpPr>
          <p:cNvPr id="26" name="Text 22"/>
          <p:cNvSpPr/>
          <p:nvPr/>
        </p:nvSpPr>
        <p:spPr>
          <a:xfrm>
            <a:off x="6083126" y="4354116"/>
            <a:ext cx="927013" cy="117872"/>
          </a:xfrm>
          <a:prstGeom prst="rect">
            <a:avLst/>
          </a:prstGeom>
          <a:noFill/>
          <a:ln/>
        </p:spPr>
        <p:txBody>
          <a:bodyPr wrap="none" lIns="0" tIns="0" rIns="0" bIns="0" rtlCol="0" anchor="t"/>
          <a:lstStyle/>
          <a:p>
            <a:pPr marL="0" indent="0" algn="l">
              <a:lnSpc>
                <a:spcPts val="928"/>
              </a:lnSpc>
              <a:buNone/>
            </a:pPr>
            <a:r>
              <a:rPr lang="en-US" sz="619" dirty="0">
                <a:solidFill>
                  <a:srgbClr val="5B6B84"/>
                </a:solidFill>
                <a:latin typeface="Carlito" pitchFamily="34" charset="0"/>
                <a:ea typeface="Carlito" pitchFamily="34" charset="-122"/>
                <a:cs typeface="Carlito" pitchFamily="34" charset="-120"/>
              </a:rPr>
              <a:t>the HashMap maths</a:t>
            </a:r>
            <a:endParaRPr lang="en-US" sz="619" dirty="0"/>
          </a:p>
        </p:txBody>
      </p:sp>
      <p:sp>
        <p:nvSpPr>
          <p:cNvPr id="27" name="Text 23"/>
          <p:cNvSpPr/>
          <p:nvPr/>
        </p:nvSpPr>
        <p:spPr>
          <a:xfrm>
            <a:off x="7178018" y="4145161"/>
            <a:ext cx="1562360" cy="401836"/>
          </a:xfrm>
          <a:prstGeom prst="roundRect">
            <a:avLst>
              <a:gd name="adj" fmla="val 23704"/>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28" name="Text 24"/>
          <p:cNvSpPr/>
          <p:nvPr/>
        </p:nvSpPr>
        <p:spPr>
          <a:xfrm>
            <a:off x="7267315" y="4259068"/>
            <a:ext cx="385316" cy="174022"/>
          </a:xfrm>
          <a:prstGeom prst="roundRect">
            <a:avLst>
              <a:gd name="adj" fmla="val 32841"/>
            </a:avLst>
          </a:prstGeom>
          <a:solidFill>
            <a:srgbClr val="B7791F"/>
          </a:solidFill>
          <a:ln/>
        </p:spPr>
        <p:txBody>
          <a:bodyPr wrap="square" rtlCol="0" anchor="ctr"/>
          <a:lstStyle/>
          <a:p>
            <a:pPr marL="0" indent="0">
              <a:buNone/>
            </a:pPr>
            <a:endParaRPr lang="en-US" dirty="0"/>
          </a:p>
        </p:txBody>
      </p:sp>
      <p:sp>
        <p:nvSpPr>
          <p:cNvPr id="29" name="Text 25"/>
          <p:cNvSpPr/>
          <p:nvPr/>
        </p:nvSpPr>
        <p:spPr>
          <a:xfrm>
            <a:off x="7267315" y="4268391"/>
            <a:ext cx="385316" cy="155377"/>
          </a:xfrm>
          <a:prstGeom prst="rect">
            <a:avLst/>
          </a:prstGeom>
          <a:noFill/>
          <a:ln/>
        </p:spPr>
        <p:txBody>
          <a:bodyPr wrap="none" lIns="0" tIns="0" rIns="0" bIns="0" rtlCol="0" anchor="ctr"/>
          <a:lstStyle/>
          <a:p>
            <a:pPr marL="0" indent="0" algn="ctr">
              <a:lnSpc>
                <a:spcPts val="886"/>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5 of 5</a:t>
            </a:r>
            <a:endParaRPr lang="en-US" sz="800" dirty="0"/>
          </a:p>
        </p:txBody>
      </p:sp>
      <p:sp>
        <p:nvSpPr>
          <p:cNvPr id="30" name="Text 26"/>
          <p:cNvSpPr/>
          <p:nvPr/>
        </p:nvSpPr>
        <p:spPr>
          <a:xfrm>
            <a:off x="7724068" y="4220170"/>
            <a:ext cx="927013" cy="106513"/>
          </a:xfrm>
          <a:prstGeom prst="rect">
            <a:avLst/>
          </a:prstGeom>
          <a:noFill/>
          <a:ln/>
        </p:spPr>
        <p:txBody>
          <a:bodyPr wrap="none" lIns="0" tIns="0" rIns="0" bIns="0" rtlCol="0" anchor="t">
            <a:normAutofit/>
          </a:bodyPr>
          <a:lstStyle/>
          <a:p>
            <a:pPr marL="0" indent="0" algn="l">
              <a:lnSpc>
                <a:spcPts val="1055"/>
              </a:lnSpc>
              <a:buNone/>
            </a:pPr>
            <a:r>
              <a:rPr lang="en-US" sz="800" b="1" dirty="0">
                <a:solidFill>
                  <a:srgbClr val="16305B"/>
                </a:solidFill>
                <a:latin typeface="Courier New" pitchFamily="34" charset="0"/>
                <a:ea typeface="Courier New" pitchFamily="34" charset="-122"/>
                <a:cs typeface="Courier New" pitchFamily="34" charset="-120"/>
              </a:rPr>
              <a:t>Main.java</a:t>
            </a:r>
            <a:endParaRPr lang="en-US" sz="800" dirty="0"/>
          </a:p>
        </p:txBody>
      </p:sp>
      <p:sp>
        <p:nvSpPr>
          <p:cNvPr id="31" name="Text 27"/>
          <p:cNvSpPr/>
          <p:nvPr/>
        </p:nvSpPr>
        <p:spPr>
          <a:xfrm>
            <a:off x="7724068" y="4354116"/>
            <a:ext cx="927013" cy="117872"/>
          </a:xfrm>
          <a:prstGeom prst="rect">
            <a:avLst/>
          </a:prstGeom>
          <a:noFill/>
          <a:ln/>
        </p:spPr>
        <p:txBody>
          <a:bodyPr wrap="none" lIns="0" tIns="0" rIns="0" bIns="0" rtlCol="0" anchor="t"/>
          <a:lstStyle/>
          <a:p>
            <a:pPr marL="0" indent="0" algn="l">
              <a:lnSpc>
                <a:spcPts val="928"/>
              </a:lnSpc>
              <a:buNone/>
            </a:pPr>
            <a:r>
              <a:rPr lang="en-US" sz="619" dirty="0">
                <a:solidFill>
                  <a:srgbClr val="5B6B84"/>
                </a:solidFill>
                <a:latin typeface="Carlito" pitchFamily="34" charset="0"/>
                <a:ea typeface="Carlito" pitchFamily="34" charset="-122"/>
                <a:cs typeface="Carlito" pitchFamily="34" charset="-120"/>
              </a:rPr>
              <a:t>menu loop &amp; auto-save</a:t>
            </a:r>
            <a:endParaRPr lang="en-US" sz="619" dirty="0"/>
          </a:p>
        </p:txBody>
      </p:sp>
      <p:sp>
        <p:nvSpPr>
          <p:cNvPr id="32" name="Text 28"/>
          <p:cNvSpPr/>
          <p:nvPr/>
        </p:nvSpPr>
        <p:spPr>
          <a:xfrm>
            <a:off x="400050" y="4650581"/>
            <a:ext cx="8343900" cy="278606"/>
          </a:xfrm>
          <a:prstGeom prst="roundRect">
            <a:avLst>
              <a:gd name="adj" fmla="val 34188"/>
            </a:avLst>
          </a:prstGeom>
          <a:solidFill>
            <a:srgbClr val="FFFFFF"/>
          </a:solidFill>
          <a:ln/>
        </p:spPr>
        <p:txBody>
          <a:bodyPr wrap="square" rtlCol="0" anchor="ctr"/>
          <a:lstStyle/>
          <a:p>
            <a:pPr marL="0" indent="0">
              <a:buNone/>
            </a:pPr>
            <a:endParaRPr lang="en-US" dirty="0"/>
          </a:p>
        </p:txBody>
      </p:sp>
      <p:sp>
        <p:nvSpPr>
          <p:cNvPr id="33" name="Shape 29"/>
          <p:cNvSpPr/>
          <p:nvPr/>
        </p:nvSpPr>
        <p:spPr>
          <a:xfrm>
            <a:off x="400050" y="4654153"/>
            <a:ext cx="8343900" cy="0"/>
          </a:xfrm>
          <a:prstGeom prst="line">
            <a:avLst/>
          </a:prstGeom>
          <a:noFill/>
          <a:ln w="7144">
            <a:solidFill>
              <a:srgbClr val="D9E2EF"/>
            </a:solidFill>
            <a:prstDash val="solid"/>
          </a:ln>
        </p:spPr>
        <p:txBody>
          <a:bodyPr/>
          <a:lstStyle/>
          <a:p>
            <a:endParaRPr lang="en-IN"/>
          </a:p>
        </p:txBody>
      </p:sp>
      <p:sp>
        <p:nvSpPr>
          <p:cNvPr id="34" name="Shape 30"/>
          <p:cNvSpPr/>
          <p:nvPr/>
        </p:nvSpPr>
        <p:spPr>
          <a:xfrm>
            <a:off x="8740378" y="4650581"/>
            <a:ext cx="0" cy="278606"/>
          </a:xfrm>
          <a:prstGeom prst="line">
            <a:avLst/>
          </a:prstGeom>
          <a:noFill/>
          <a:ln w="7144">
            <a:solidFill>
              <a:srgbClr val="D9E2EF"/>
            </a:solidFill>
            <a:prstDash val="solid"/>
          </a:ln>
        </p:spPr>
        <p:txBody>
          <a:bodyPr/>
          <a:lstStyle/>
          <a:p>
            <a:endParaRPr lang="en-IN"/>
          </a:p>
        </p:txBody>
      </p:sp>
      <p:sp>
        <p:nvSpPr>
          <p:cNvPr id="35" name="Shape 31"/>
          <p:cNvSpPr/>
          <p:nvPr/>
        </p:nvSpPr>
        <p:spPr>
          <a:xfrm>
            <a:off x="400050" y="4925616"/>
            <a:ext cx="8343900" cy="0"/>
          </a:xfrm>
          <a:prstGeom prst="line">
            <a:avLst/>
          </a:prstGeom>
          <a:noFill/>
          <a:ln w="7144">
            <a:solidFill>
              <a:srgbClr val="D9E2EF"/>
            </a:solidFill>
            <a:prstDash val="solid"/>
          </a:ln>
        </p:spPr>
        <p:txBody>
          <a:bodyPr/>
          <a:lstStyle/>
          <a:p>
            <a:endParaRPr lang="en-IN"/>
          </a:p>
        </p:txBody>
      </p:sp>
      <p:sp>
        <p:nvSpPr>
          <p:cNvPr id="36" name="Shape 32"/>
          <p:cNvSpPr/>
          <p:nvPr/>
        </p:nvSpPr>
        <p:spPr>
          <a:xfrm>
            <a:off x="414338" y="4650581"/>
            <a:ext cx="0" cy="278606"/>
          </a:xfrm>
          <a:prstGeom prst="line">
            <a:avLst/>
          </a:prstGeom>
          <a:noFill/>
          <a:ln w="28575">
            <a:solidFill>
              <a:srgbClr val="B7791F"/>
            </a:solidFill>
            <a:prstDash val="solid"/>
          </a:ln>
        </p:spPr>
        <p:txBody>
          <a:bodyPr/>
          <a:lstStyle/>
          <a:p>
            <a:endParaRPr lang="en-IN"/>
          </a:p>
        </p:txBody>
      </p:sp>
      <p:sp>
        <p:nvSpPr>
          <p:cNvPr id="37" name="Text 33"/>
          <p:cNvSpPr/>
          <p:nvPr/>
        </p:nvSpPr>
        <p:spPr>
          <a:xfrm>
            <a:off x="542925" y="4722019"/>
            <a:ext cx="135731" cy="135731"/>
          </a:xfrm>
          <a:prstGeom prst="rect">
            <a:avLst/>
          </a:prstGeom>
          <a:noFill/>
          <a:ln/>
        </p:spPr>
        <p:txBody>
          <a:bodyPr wrap="none" lIns="0" tIns="0" rIns="0" bIns="0" rtlCol="0" anchor="ctr"/>
          <a:lstStyle/>
          <a:p>
            <a:pPr marL="0" indent="0" algn="ctr">
              <a:buNone/>
            </a:pPr>
            <a:r>
              <a:rPr lang="en-US" sz="1336" dirty="0">
                <a:solidFill>
                  <a:srgbClr val="8A5A14"/>
                </a:solidFill>
                <a:latin typeface="Segoe UI Symbol" pitchFamily="34" charset="0"/>
                <a:ea typeface="Segoe UI Symbol" pitchFamily="34" charset="-122"/>
                <a:cs typeface="Segoe UI Symbol" pitchFamily="34" charset="-120"/>
              </a:rPr>
              <a:t>ⓘ</a:t>
            </a:r>
            <a:endParaRPr lang="en-US" sz="1336" dirty="0"/>
          </a:p>
        </p:txBody>
      </p:sp>
      <p:sp>
        <p:nvSpPr>
          <p:cNvPr id="38" name="Text 34"/>
          <p:cNvSpPr/>
          <p:nvPr/>
        </p:nvSpPr>
        <p:spPr>
          <a:xfrm>
            <a:off x="764381" y="4722912"/>
            <a:ext cx="7858125" cy="134838"/>
          </a:xfrm>
          <a:prstGeom prst="rect">
            <a:avLst/>
          </a:prstGeom>
          <a:noFill/>
          <a:ln/>
        </p:spPr>
        <p:txBody>
          <a:bodyPr wrap="square" lIns="0" tIns="0" rIns="0" bIns="0" rtlCol="0" anchor="t"/>
          <a:lstStyle/>
          <a:p>
            <a:pPr marL="0" indent="0" algn="l">
              <a:lnSpc>
                <a:spcPts val="1055"/>
              </a:lnSpc>
              <a:buNone/>
            </a:pPr>
            <a:r>
              <a:rPr lang="en-US" sz="800" dirty="0">
                <a:solidFill>
                  <a:srgbClr val="5B6B84"/>
                </a:solidFill>
                <a:latin typeface="Carlito" pitchFamily="34" charset="0"/>
                <a:ea typeface="Carlito" pitchFamily="34" charset="-122"/>
                <a:cs typeface="Carlito" pitchFamily="34" charset="-120"/>
              </a:rPr>
              <a:t>Code shown exactly as submitted — full source files are part of the project upload.</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257175"/>
            <a:ext cx="257175" cy="257175"/>
          </a:xfrm>
          <a:prstGeom prst="roundRect">
            <a:avLst>
              <a:gd name="adj" fmla="val 33333"/>
            </a:avLst>
          </a:prstGeom>
          <a:solidFill>
            <a:srgbClr val="B7791F"/>
          </a:solidFill>
          <a:ln/>
        </p:spPr>
        <p:txBody>
          <a:bodyPr wrap="square" rtlCol="0" anchor="ctr"/>
          <a:lstStyle/>
          <a:p>
            <a:pPr marL="0" indent="0">
              <a:buNone/>
            </a:pPr>
            <a:endParaRPr lang="en-US" dirty="0"/>
          </a:p>
        </p:txBody>
      </p:sp>
      <p:sp>
        <p:nvSpPr>
          <p:cNvPr id="3" name="Text 1"/>
          <p:cNvSpPr/>
          <p:nvPr/>
        </p:nvSpPr>
        <p:spPr>
          <a:xfrm>
            <a:off x="494147" y="300038"/>
            <a:ext cx="163078" cy="185166"/>
          </a:xfrm>
          <a:prstGeom prst="rect">
            <a:avLst/>
          </a:prstGeom>
          <a:noFill/>
          <a:ln/>
        </p:spPr>
        <p:txBody>
          <a:bodyPr wrap="none" lIns="0" tIns="0" rIns="0" bIns="0" rtlCol="0" anchor="t"/>
          <a:lstStyle/>
          <a:p>
            <a:pPr marL="0" indent="0" algn="l">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8</a:t>
            </a:r>
            <a:endParaRPr lang="en-US" sz="900" dirty="0"/>
          </a:p>
        </p:txBody>
      </p:sp>
      <p:sp>
        <p:nvSpPr>
          <p:cNvPr id="4" name="Text 2"/>
          <p:cNvSpPr/>
          <p:nvPr/>
        </p:nvSpPr>
        <p:spPr>
          <a:xfrm>
            <a:off x="757238" y="287536"/>
            <a:ext cx="3489704" cy="212169"/>
          </a:xfrm>
          <a:prstGeom prst="rect">
            <a:avLst/>
          </a:prstGeom>
          <a:noFill/>
          <a:ln/>
        </p:spPr>
        <p:txBody>
          <a:bodyPr wrap="none" lIns="0" tIns="0" rIns="0" bIns="0" rtlCol="0" anchor="t"/>
          <a:lstStyle/>
          <a:p>
            <a:pPr marL="0" indent="0" algn="l">
              <a:lnSpc>
                <a:spcPts val="1547"/>
              </a:lnSpc>
              <a:buNone/>
            </a:pPr>
            <a:r>
              <a:rPr lang="en-US" sz="1406" b="1" dirty="0">
                <a:solidFill>
                  <a:srgbClr val="16305B"/>
                </a:solidFill>
                <a:latin typeface="Tinos" pitchFamily="34" charset="0"/>
                <a:ea typeface="Tinos" pitchFamily="34" charset="-122"/>
                <a:cs typeface="Tinos" pitchFamily="34" charset="-120"/>
              </a:rPr>
              <a:t>Implementation — Java Code Screenshots</a:t>
            </a:r>
            <a:endParaRPr lang="en-US" sz="1406" dirty="0"/>
          </a:p>
        </p:txBody>
      </p:sp>
      <p:sp>
        <p:nvSpPr>
          <p:cNvPr id="5" name="Text 3"/>
          <p:cNvSpPr/>
          <p:nvPr/>
        </p:nvSpPr>
        <p:spPr>
          <a:xfrm>
            <a:off x="4088457" y="382191"/>
            <a:ext cx="2912976" cy="7144"/>
          </a:xfrm>
          <a:prstGeom prst="rect">
            <a:avLst/>
          </a:prstGeom>
          <a:solidFill>
            <a:srgbClr val="D9E2EF"/>
          </a:solidFill>
          <a:ln/>
        </p:spPr>
        <p:txBody>
          <a:bodyPr wrap="square" rtlCol="0" anchor="ctr"/>
          <a:lstStyle/>
          <a:p>
            <a:pPr marL="0" indent="0">
              <a:buNone/>
            </a:pPr>
            <a:endParaRPr lang="en-US" dirty="0"/>
          </a:p>
        </p:txBody>
      </p:sp>
      <p:sp>
        <p:nvSpPr>
          <p:cNvPr id="6" name="Text 4"/>
          <p:cNvSpPr/>
          <p:nvPr/>
        </p:nvSpPr>
        <p:spPr>
          <a:xfrm>
            <a:off x="7105017" y="280392"/>
            <a:ext cx="1635361" cy="210741"/>
          </a:xfrm>
          <a:prstGeom prst="roundRect">
            <a:avLst>
              <a:gd name="adj" fmla="val 36158"/>
            </a:avLst>
          </a:prstGeom>
          <a:solidFill>
            <a:srgbClr val="FDF6E7"/>
          </a:solidFill>
          <a:ln w="7144">
            <a:solidFill>
              <a:srgbClr val="E8D5AC"/>
            </a:solidFill>
            <a:prstDash val="solid"/>
          </a:ln>
        </p:spPr>
        <p:txBody>
          <a:bodyPr wrap="square" rtlCol="0" anchor="ctr"/>
          <a:lstStyle/>
          <a:p>
            <a:pPr marL="0" indent="0">
              <a:buNone/>
            </a:pPr>
            <a:endParaRPr lang="en-US" dirty="0"/>
          </a:p>
        </p:txBody>
      </p:sp>
      <p:sp>
        <p:nvSpPr>
          <p:cNvPr id="7" name="Text 5"/>
          <p:cNvSpPr/>
          <p:nvPr/>
        </p:nvSpPr>
        <p:spPr>
          <a:xfrm>
            <a:off x="7101446" y="276820"/>
            <a:ext cx="1642504" cy="304246"/>
          </a:xfrm>
          <a:prstGeom prst="rect">
            <a:avLst/>
          </a:prstGeom>
          <a:noFill/>
          <a:ln/>
        </p:spPr>
        <p:txBody>
          <a:bodyPr wrap="none" lIns="85725" tIns="42863" rIns="85725" bIns="42863" rtlCol="0" anchor="t"/>
          <a:lstStyle/>
          <a:p>
            <a:pPr marL="0" indent="0" algn="l">
              <a:lnSpc>
                <a:spcPts val="928"/>
              </a:lnSpc>
              <a:buNone/>
            </a:pPr>
            <a:r>
              <a:rPr lang="en-US" sz="800" kern="0" spc="37" dirty="0">
                <a:solidFill>
                  <a:srgbClr val="8A5A14"/>
                </a:solidFill>
                <a:latin typeface="Liberation Sans Narrow" pitchFamily="34" charset="0"/>
                <a:ea typeface="Liberation Sans Narrow" pitchFamily="34" charset="-122"/>
                <a:cs typeface="Liberation Sans Narrow" pitchFamily="34" charset="-120"/>
              </a:rPr>
              <a:t>(2 of 5) · Song.java — Model</a:t>
            </a:r>
            <a:endParaRPr lang="en-US" sz="800" dirty="0"/>
          </a:p>
        </p:txBody>
      </p:sp>
      <p:pic>
        <p:nvPicPr>
          <p:cNvPr id="8" name="Image 0" descr="/tmp/h2p-fit-1792001660371-b7y7e4.png"/>
          <p:cNvPicPr>
            <a:picLocks noChangeAspect="1"/>
          </p:cNvPicPr>
          <p:nvPr/>
        </p:nvPicPr>
        <p:blipFill>
          <a:blip r:embed="rId3"/>
          <a:stretch>
            <a:fillRect/>
          </a:stretch>
        </p:blipFill>
        <p:spPr>
          <a:xfrm>
            <a:off x="413596" y="585788"/>
            <a:ext cx="8343900" cy="43862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257175"/>
            <a:ext cx="257175" cy="257175"/>
          </a:xfrm>
          <a:prstGeom prst="roundRect">
            <a:avLst>
              <a:gd name="adj" fmla="val 33333"/>
            </a:avLst>
          </a:prstGeom>
          <a:solidFill>
            <a:srgbClr val="B7791F"/>
          </a:solidFill>
          <a:ln/>
        </p:spPr>
        <p:txBody>
          <a:bodyPr wrap="square" rtlCol="0" anchor="ctr"/>
          <a:lstStyle/>
          <a:p>
            <a:pPr marL="0" indent="0">
              <a:buNone/>
            </a:pPr>
            <a:endParaRPr lang="en-US" dirty="0"/>
          </a:p>
        </p:txBody>
      </p:sp>
      <p:sp>
        <p:nvSpPr>
          <p:cNvPr id="3" name="Text 1"/>
          <p:cNvSpPr/>
          <p:nvPr/>
        </p:nvSpPr>
        <p:spPr>
          <a:xfrm>
            <a:off x="494147" y="300038"/>
            <a:ext cx="163078" cy="185166"/>
          </a:xfrm>
          <a:prstGeom prst="rect">
            <a:avLst/>
          </a:prstGeom>
          <a:noFill/>
          <a:ln/>
        </p:spPr>
        <p:txBody>
          <a:bodyPr wrap="none" lIns="0" tIns="0" rIns="0" bIns="0" rtlCol="0" anchor="t"/>
          <a:lstStyle/>
          <a:p>
            <a:pPr marL="0" indent="0" algn="l">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8</a:t>
            </a:r>
            <a:endParaRPr lang="en-US" sz="900" dirty="0"/>
          </a:p>
        </p:txBody>
      </p:sp>
      <p:sp>
        <p:nvSpPr>
          <p:cNvPr id="4" name="Text 2"/>
          <p:cNvSpPr/>
          <p:nvPr/>
        </p:nvSpPr>
        <p:spPr>
          <a:xfrm>
            <a:off x="757238" y="287536"/>
            <a:ext cx="3489704" cy="212169"/>
          </a:xfrm>
          <a:prstGeom prst="rect">
            <a:avLst/>
          </a:prstGeom>
          <a:noFill/>
          <a:ln/>
        </p:spPr>
        <p:txBody>
          <a:bodyPr wrap="none" lIns="0" tIns="0" rIns="0" bIns="0" rtlCol="0" anchor="t"/>
          <a:lstStyle/>
          <a:p>
            <a:pPr marL="0" indent="0" algn="l">
              <a:lnSpc>
                <a:spcPts val="1547"/>
              </a:lnSpc>
              <a:buNone/>
            </a:pPr>
            <a:r>
              <a:rPr lang="en-US" sz="1406" b="1" dirty="0">
                <a:solidFill>
                  <a:srgbClr val="16305B"/>
                </a:solidFill>
                <a:latin typeface="Tinos" pitchFamily="34" charset="0"/>
                <a:ea typeface="Tinos" pitchFamily="34" charset="-122"/>
                <a:cs typeface="Tinos" pitchFamily="34" charset="-120"/>
              </a:rPr>
              <a:t>Implementation — Java Code Screenshots</a:t>
            </a:r>
            <a:endParaRPr lang="en-US" sz="1406" dirty="0"/>
          </a:p>
        </p:txBody>
      </p:sp>
      <p:sp>
        <p:nvSpPr>
          <p:cNvPr id="5" name="Text 3"/>
          <p:cNvSpPr/>
          <p:nvPr/>
        </p:nvSpPr>
        <p:spPr>
          <a:xfrm>
            <a:off x="4088457" y="382191"/>
            <a:ext cx="2340694" cy="7144"/>
          </a:xfrm>
          <a:prstGeom prst="rect">
            <a:avLst/>
          </a:prstGeom>
          <a:solidFill>
            <a:srgbClr val="D9E2EF"/>
          </a:solidFill>
          <a:ln/>
        </p:spPr>
        <p:txBody>
          <a:bodyPr wrap="square" rtlCol="0" anchor="ctr"/>
          <a:lstStyle/>
          <a:p>
            <a:pPr marL="0" indent="0">
              <a:buNone/>
            </a:pPr>
            <a:endParaRPr lang="en-US" dirty="0"/>
          </a:p>
        </p:txBody>
      </p:sp>
      <p:sp>
        <p:nvSpPr>
          <p:cNvPr id="6" name="Text 4"/>
          <p:cNvSpPr/>
          <p:nvPr/>
        </p:nvSpPr>
        <p:spPr>
          <a:xfrm>
            <a:off x="6532736" y="280392"/>
            <a:ext cx="2207642" cy="210741"/>
          </a:xfrm>
          <a:prstGeom prst="roundRect">
            <a:avLst>
              <a:gd name="adj" fmla="val 36158"/>
            </a:avLst>
          </a:prstGeom>
          <a:solidFill>
            <a:srgbClr val="FDF6E7"/>
          </a:solidFill>
          <a:ln w="7144">
            <a:solidFill>
              <a:srgbClr val="E8D5AC"/>
            </a:solidFill>
            <a:prstDash val="solid"/>
          </a:ln>
        </p:spPr>
        <p:txBody>
          <a:bodyPr wrap="square" rtlCol="0" anchor="ctr"/>
          <a:lstStyle/>
          <a:p>
            <a:pPr marL="0" indent="0">
              <a:buNone/>
            </a:pPr>
            <a:endParaRPr lang="en-US" dirty="0"/>
          </a:p>
        </p:txBody>
      </p:sp>
      <p:sp>
        <p:nvSpPr>
          <p:cNvPr id="7" name="Text 5"/>
          <p:cNvSpPr/>
          <p:nvPr/>
        </p:nvSpPr>
        <p:spPr>
          <a:xfrm>
            <a:off x="6529164" y="276820"/>
            <a:ext cx="2214786" cy="304246"/>
          </a:xfrm>
          <a:prstGeom prst="rect">
            <a:avLst/>
          </a:prstGeom>
          <a:noFill/>
          <a:ln/>
        </p:spPr>
        <p:txBody>
          <a:bodyPr wrap="square" lIns="85725" tIns="42863" rIns="85725" bIns="42863" rtlCol="0" anchor="t"/>
          <a:lstStyle/>
          <a:p>
            <a:pPr marL="0" indent="0" algn="l">
              <a:lnSpc>
                <a:spcPts val="928"/>
              </a:lnSpc>
              <a:buNone/>
            </a:pPr>
            <a:r>
              <a:rPr lang="en-US" sz="800" kern="0" spc="37" dirty="0">
                <a:solidFill>
                  <a:srgbClr val="8A5A14"/>
                </a:solidFill>
                <a:latin typeface="Courier New" pitchFamily="34" charset="0"/>
                <a:ea typeface="Courier New" pitchFamily="34" charset="-122"/>
                <a:cs typeface="Courier New" pitchFamily="34" charset="-120"/>
              </a:rPr>
              <a:t>(3 of 5) · Playlist.java — Data Manager</a:t>
            </a:r>
            <a:endParaRPr lang="en-US" sz="800" dirty="0"/>
          </a:p>
        </p:txBody>
      </p:sp>
      <p:pic>
        <p:nvPicPr>
          <p:cNvPr id="8" name="Image 0" descr="/tmp/h2p-fit-1792001661837-pqpk0p.png"/>
          <p:cNvPicPr>
            <a:picLocks noChangeAspect="1"/>
          </p:cNvPicPr>
          <p:nvPr/>
        </p:nvPicPr>
        <p:blipFill>
          <a:blip r:embed="rId3"/>
          <a:stretch>
            <a:fillRect/>
          </a:stretch>
        </p:blipFill>
        <p:spPr>
          <a:xfrm>
            <a:off x="400050" y="585788"/>
            <a:ext cx="8343900" cy="43862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257175"/>
            <a:ext cx="257175" cy="257175"/>
          </a:xfrm>
          <a:prstGeom prst="roundRect">
            <a:avLst>
              <a:gd name="adj" fmla="val 33333"/>
            </a:avLst>
          </a:prstGeom>
          <a:solidFill>
            <a:srgbClr val="B7791F"/>
          </a:solidFill>
          <a:ln/>
        </p:spPr>
        <p:txBody>
          <a:bodyPr wrap="square" rtlCol="0" anchor="ctr"/>
          <a:lstStyle/>
          <a:p>
            <a:pPr marL="0" indent="0">
              <a:buNone/>
            </a:pPr>
            <a:endParaRPr lang="en-US" dirty="0"/>
          </a:p>
        </p:txBody>
      </p:sp>
      <p:sp>
        <p:nvSpPr>
          <p:cNvPr id="3" name="Text 1"/>
          <p:cNvSpPr/>
          <p:nvPr/>
        </p:nvSpPr>
        <p:spPr>
          <a:xfrm>
            <a:off x="494147" y="300038"/>
            <a:ext cx="163078" cy="185166"/>
          </a:xfrm>
          <a:prstGeom prst="rect">
            <a:avLst/>
          </a:prstGeom>
          <a:noFill/>
          <a:ln/>
        </p:spPr>
        <p:txBody>
          <a:bodyPr wrap="none" lIns="0" tIns="0" rIns="0" bIns="0" rtlCol="0" anchor="t"/>
          <a:lstStyle/>
          <a:p>
            <a:pPr marL="0" indent="0" algn="l">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8</a:t>
            </a:r>
            <a:endParaRPr lang="en-US" sz="900" dirty="0"/>
          </a:p>
        </p:txBody>
      </p:sp>
      <p:sp>
        <p:nvSpPr>
          <p:cNvPr id="4" name="Text 2"/>
          <p:cNvSpPr/>
          <p:nvPr/>
        </p:nvSpPr>
        <p:spPr>
          <a:xfrm>
            <a:off x="757238" y="287536"/>
            <a:ext cx="3489704" cy="212169"/>
          </a:xfrm>
          <a:prstGeom prst="rect">
            <a:avLst/>
          </a:prstGeom>
          <a:noFill/>
          <a:ln/>
        </p:spPr>
        <p:txBody>
          <a:bodyPr wrap="none" lIns="0" tIns="0" rIns="0" bIns="0" rtlCol="0" anchor="t"/>
          <a:lstStyle/>
          <a:p>
            <a:pPr marL="0" indent="0" algn="l">
              <a:lnSpc>
                <a:spcPts val="1547"/>
              </a:lnSpc>
              <a:buNone/>
            </a:pPr>
            <a:r>
              <a:rPr lang="en-US" sz="1406" b="1" dirty="0">
                <a:solidFill>
                  <a:srgbClr val="16305B"/>
                </a:solidFill>
                <a:latin typeface="Tinos" pitchFamily="34" charset="0"/>
                <a:ea typeface="Tinos" pitchFamily="34" charset="-122"/>
                <a:cs typeface="Tinos" pitchFamily="34" charset="-120"/>
              </a:rPr>
              <a:t>Implementation — Java Code Screenshots</a:t>
            </a:r>
            <a:endParaRPr lang="en-US" sz="1406" dirty="0"/>
          </a:p>
        </p:txBody>
      </p:sp>
      <p:sp>
        <p:nvSpPr>
          <p:cNvPr id="5" name="Text 3"/>
          <p:cNvSpPr/>
          <p:nvPr/>
        </p:nvSpPr>
        <p:spPr>
          <a:xfrm>
            <a:off x="4088457" y="382191"/>
            <a:ext cx="1872555" cy="7144"/>
          </a:xfrm>
          <a:prstGeom prst="rect">
            <a:avLst/>
          </a:prstGeom>
          <a:solidFill>
            <a:srgbClr val="D9E2EF"/>
          </a:solidFill>
          <a:ln/>
        </p:spPr>
        <p:txBody>
          <a:bodyPr wrap="square" rtlCol="0" anchor="ctr"/>
          <a:lstStyle/>
          <a:p>
            <a:pPr marL="0" indent="0">
              <a:buNone/>
            </a:pPr>
            <a:endParaRPr lang="en-US" dirty="0"/>
          </a:p>
        </p:txBody>
      </p:sp>
      <p:sp>
        <p:nvSpPr>
          <p:cNvPr id="6" name="Text 4"/>
          <p:cNvSpPr/>
          <p:nvPr/>
        </p:nvSpPr>
        <p:spPr>
          <a:xfrm>
            <a:off x="6064597" y="280392"/>
            <a:ext cx="2675781" cy="210741"/>
          </a:xfrm>
          <a:prstGeom prst="roundRect">
            <a:avLst>
              <a:gd name="adj" fmla="val 36158"/>
            </a:avLst>
          </a:prstGeom>
          <a:solidFill>
            <a:srgbClr val="FDF6E7"/>
          </a:solidFill>
          <a:ln w="7144">
            <a:solidFill>
              <a:srgbClr val="E8D5AC"/>
            </a:solidFill>
            <a:prstDash val="solid"/>
          </a:ln>
        </p:spPr>
        <p:txBody>
          <a:bodyPr wrap="square" rtlCol="0" anchor="ctr"/>
          <a:lstStyle/>
          <a:p>
            <a:pPr marL="0" indent="0">
              <a:buNone/>
            </a:pPr>
            <a:endParaRPr lang="en-US" dirty="0"/>
          </a:p>
        </p:txBody>
      </p:sp>
      <p:sp>
        <p:nvSpPr>
          <p:cNvPr id="7" name="Text 5"/>
          <p:cNvSpPr/>
          <p:nvPr/>
        </p:nvSpPr>
        <p:spPr>
          <a:xfrm>
            <a:off x="6061025" y="276820"/>
            <a:ext cx="2682925" cy="304246"/>
          </a:xfrm>
          <a:prstGeom prst="rect">
            <a:avLst/>
          </a:prstGeom>
          <a:noFill/>
          <a:ln/>
        </p:spPr>
        <p:txBody>
          <a:bodyPr wrap="square" lIns="85725" tIns="42863" rIns="85725" bIns="42863" rtlCol="0" anchor="t"/>
          <a:lstStyle/>
          <a:p>
            <a:pPr marL="0" indent="0" algn="l">
              <a:lnSpc>
                <a:spcPts val="928"/>
              </a:lnSpc>
              <a:buNone/>
            </a:pPr>
            <a:r>
              <a:rPr lang="en-US" sz="800" kern="0" spc="37" dirty="0">
                <a:solidFill>
                  <a:srgbClr val="8A5A14"/>
                </a:solidFill>
                <a:latin typeface="Courier New" pitchFamily="34" charset="0"/>
                <a:ea typeface="Courier New" pitchFamily="34" charset="-122"/>
                <a:cs typeface="Courier New" pitchFamily="34" charset="-120"/>
              </a:rPr>
              <a:t>(4 of 5) · StatsManager.java — Statistics Engine</a:t>
            </a:r>
            <a:endParaRPr lang="en-US" sz="800" dirty="0"/>
          </a:p>
        </p:txBody>
      </p:sp>
      <p:pic>
        <p:nvPicPr>
          <p:cNvPr id="8" name="Image 0" descr="/tmp/h2p-fit-1792001662248-lg7tgh.png"/>
          <p:cNvPicPr>
            <a:picLocks noChangeAspect="1"/>
          </p:cNvPicPr>
          <p:nvPr/>
        </p:nvPicPr>
        <p:blipFill>
          <a:blip r:embed="rId3"/>
          <a:stretch>
            <a:fillRect/>
          </a:stretch>
        </p:blipFill>
        <p:spPr>
          <a:xfrm>
            <a:off x="400050" y="585788"/>
            <a:ext cx="8343900" cy="438626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257175"/>
            <a:ext cx="257175" cy="257175"/>
          </a:xfrm>
          <a:prstGeom prst="roundRect">
            <a:avLst>
              <a:gd name="adj" fmla="val 33333"/>
            </a:avLst>
          </a:prstGeom>
          <a:solidFill>
            <a:srgbClr val="B7791F"/>
          </a:solidFill>
          <a:ln/>
        </p:spPr>
        <p:txBody>
          <a:bodyPr wrap="square" rtlCol="0" anchor="ctr"/>
          <a:lstStyle/>
          <a:p>
            <a:pPr marL="0" indent="0">
              <a:buNone/>
            </a:pPr>
            <a:endParaRPr lang="en-US" dirty="0"/>
          </a:p>
        </p:txBody>
      </p:sp>
      <p:sp>
        <p:nvSpPr>
          <p:cNvPr id="3" name="Text 1"/>
          <p:cNvSpPr/>
          <p:nvPr/>
        </p:nvSpPr>
        <p:spPr>
          <a:xfrm>
            <a:off x="494147" y="300038"/>
            <a:ext cx="163078" cy="185166"/>
          </a:xfrm>
          <a:prstGeom prst="rect">
            <a:avLst/>
          </a:prstGeom>
          <a:noFill/>
          <a:ln/>
        </p:spPr>
        <p:txBody>
          <a:bodyPr wrap="none" lIns="0" tIns="0" rIns="0" bIns="0" rtlCol="0" anchor="t"/>
          <a:lstStyle/>
          <a:p>
            <a:pPr marL="0" indent="0" algn="l">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8</a:t>
            </a:r>
            <a:endParaRPr lang="en-US" sz="900" dirty="0"/>
          </a:p>
        </p:txBody>
      </p:sp>
      <p:sp>
        <p:nvSpPr>
          <p:cNvPr id="4" name="Text 2"/>
          <p:cNvSpPr/>
          <p:nvPr/>
        </p:nvSpPr>
        <p:spPr>
          <a:xfrm>
            <a:off x="757238" y="287536"/>
            <a:ext cx="3489704" cy="212169"/>
          </a:xfrm>
          <a:prstGeom prst="rect">
            <a:avLst/>
          </a:prstGeom>
          <a:noFill/>
          <a:ln/>
        </p:spPr>
        <p:txBody>
          <a:bodyPr wrap="none" lIns="0" tIns="0" rIns="0" bIns="0" rtlCol="0" anchor="t"/>
          <a:lstStyle/>
          <a:p>
            <a:pPr marL="0" indent="0" algn="l">
              <a:lnSpc>
                <a:spcPts val="1547"/>
              </a:lnSpc>
              <a:buNone/>
            </a:pPr>
            <a:r>
              <a:rPr lang="en-US" sz="1406" b="1" dirty="0">
                <a:solidFill>
                  <a:srgbClr val="16305B"/>
                </a:solidFill>
                <a:latin typeface="Tinos" pitchFamily="34" charset="0"/>
                <a:ea typeface="Tinos" pitchFamily="34" charset="-122"/>
                <a:cs typeface="Tinos" pitchFamily="34" charset="-120"/>
              </a:rPr>
              <a:t>Implementation — Java Code Screenshots</a:t>
            </a:r>
            <a:endParaRPr lang="en-US" sz="1406" dirty="0"/>
          </a:p>
        </p:txBody>
      </p:sp>
      <p:sp>
        <p:nvSpPr>
          <p:cNvPr id="5" name="Text 3"/>
          <p:cNvSpPr/>
          <p:nvPr/>
        </p:nvSpPr>
        <p:spPr>
          <a:xfrm>
            <a:off x="4088457" y="382191"/>
            <a:ext cx="2652899" cy="7144"/>
          </a:xfrm>
          <a:prstGeom prst="rect">
            <a:avLst/>
          </a:prstGeom>
          <a:solidFill>
            <a:srgbClr val="D9E2EF"/>
          </a:solidFill>
          <a:ln/>
        </p:spPr>
        <p:txBody>
          <a:bodyPr wrap="square" rtlCol="0" anchor="ctr"/>
          <a:lstStyle/>
          <a:p>
            <a:pPr marL="0" indent="0">
              <a:buNone/>
            </a:pPr>
            <a:endParaRPr lang="en-US" dirty="0"/>
          </a:p>
        </p:txBody>
      </p:sp>
      <p:sp>
        <p:nvSpPr>
          <p:cNvPr id="6" name="Text 4"/>
          <p:cNvSpPr/>
          <p:nvPr/>
        </p:nvSpPr>
        <p:spPr>
          <a:xfrm>
            <a:off x="6844940" y="280392"/>
            <a:ext cx="1895438" cy="210741"/>
          </a:xfrm>
          <a:prstGeom prst="roundRect">
            <a:avLst>
              <a:gd name="adj" fmla="val 36158"/>
            </a:avLst>
          </a:prstGeom>
          <a:solidFill>
            <a:srgbClr val="FDF6E7"/>
          </a:solidFill>
          <a:ln w="7144">
            <a:solidFill>
              <a:srgbClr val="E8D5AC"/>
            </a:solidFill>
            <a:prstDash val="solid"/>
          </a:ln>
        </p:spPr>
        <p:txBody>
          <a:bodyPr wrap="square" rtlCol="0" anchor="ctr"/>
          <a:lstStyle/>
          <a:p>
            <a:pPr marL="0" indent="0">
              <a:buNone/>
            </a:pPr>
            <a:endParaRPr lang="en-US" dirty="0"/>
          </a:p>
        </p:txBody>
      </p:sp>
      <p:sp>
        <p:nvSpPr>
          <p:cNvPr id="7" name="Text 5"/>
          <p:cNvSpPr/>
          <p:nvPr/>
        </p:nvSpPr>
        <p:spPr>
          <a:xfrm>
            <a:off x="6841368" y="276820"/>
            <a:ext cx="1902582" cy="304246"/>
          </a:xfrm>
          <a:prstGeom prst="rect">
            <a:avLst/>
          </a:prstGeom>
          <a:noFill/>
          <a:ln/>
        </p:spPr>
        <p:txBody>
          <a:bodyPr wrap="square" lIns="85725" tIns="42863" rIns="85725" bIns="42863" rtlCol="0" anchor="t"/>
          <a:lstStyle/>
          <a:p>
            <a:pPr marL="0" indent="0" algn="l">
              <a:lnSpc>
                <a:spcPts val="928"/>
              </a:lnSpc>
              <a:buNone/>
            </a:pPr>
            <a:r>
              <a:rPr lang="en-US" sz="800" kern="0" spc="37" dirty="0">
                <a:solidFill>
                  <a:srgbClr val="8A5A14"/>
                </a:solidFill>
                <a:latin typeface="Liberation Sans Narrow" pitchFamily="34" charset="0"/>
                <a:ea typeface="Liberation Sans Narrow" pitchFamily="34" charset="-122"/>
                <a:cs typeface="Liberation Sans Narrow" pitchFamily="34" charset="-120"/>
              </a:rPr>
              <a:t>(5 of 5) · Main.java — Controller</a:t>
            </a:r>
            <a:endParaRPr lang="en-US" sz="800" dirty="0"/>
          </a:p>
        </p:txBody>
      </p:sp>
      <p:pic>
        <p:nvPicPr>
          <p:cNvPr id="8" name="Image 0" descr="/tmp/h2p-fit-1792001662235-96anf3.png"/>
          <p:cNvPicPr>
            <a:picLocks noChangeAspect="1"/>
          </p:cNvPicPr>
          <p:nvPr/>
        </p:nvPicPr>
        <p:blipFill>
          <a:blip r:embed="rId3"/>
          <a:stretch>
            <a:fillRect/>
          </a:stretch>
        </p:blipFill>
        <p:spPr>
          <a:xfrm>
            <a:off x="400050" y="585788"/>
            <a:ext cx="8343900" cy="438626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28625" y="371475"/>
            <a:ext cx="328613" cy="328613"/>
          </a:xfrm>
          <a:prstGeom prst="roundRect">
            <a:avLst>
              <a:gd name="adj" fmla="val 28985"/>
            </a:avLst>
          </a:prstGeom>
          <a:solidFill>
            <a:srgbClr val="B7791F"/>
          </a:solidFill>
          <a:ln/>
        </p:spPr>
        <p:txBody>
          <a:bodyPr wrap="square" rtlCol="0" anchor="ctr"/>
          <a:lstStyle/>
          <a:p>
            <a:pPr marL="0" indent="0">
              <a:buNone/>
            </a:pPr>
            <a:endParaRPr lang="en-US" dirty="0"/>
          </a:p>
        </p:txBody>
      </p:sp>
      <p:sp>
        <p:nvSpPr>
          <p:cNvPr id="3" name="Text 1"/>
          <p:cNvSpPr/>
          <p:nvPr/>
        </p:nvSpPr>
        <p:spPr>
          <a:xfrm>
            <a:off x="547725" y="423267"/>
            <a:ext cx="209513" cy="243030"/>
          </a:xfrm>
          <a:prstGeom prst="rect">
            <a:avLst/>
          </a:prstGeom>
          <a:noFill/>
          <a:ln/>
        </p:spPr>
        <p:txBody>
          <a:bodyPr wrap="none" lIns="0" tIns="0" rIns="0" bIns="0" rtlCol="0" anchor="t"/>
          <a:lstStyle/>
          <a:p>
            <a:pPr marL="0" indent="0" algn="l">
              <a:lnSpc>
                <a:spcPts val="1772"/>
              </a:lnSpc>
              <a:buNone/>
            </a:pPr>
            <a:r>
              <a:rPr lang="en-US" sz="1181" b="1" dirty="0">
                <a:solidFill>
                  <a:srgbClr val="FFFFFF"/>
                </a:solidFill>
                <a:latin typeface="Liberation Sans Narrow" pitchFamily="34" charset="0"/>
                <a:ea typeface="Liberation Sans Narrow" pitchFamily="34" charset="-122"/>
                <a:cs typeface="Liberation Sans Narrow" pitchFamily="34" charset="-120"/>
              </a:rPr>
              <a:t>9</a:t>
            </a:r>
            <a:endParaRPr lang="en-US" sz="1181" dirty="0"/>
          </a:p>
        </p:txBody>
      </p:sp>
      <p:sp>
        <p:nvSpPr>
          <p:cNvPr id="4" name="Text 2"/>
          <p:cNvSpPr/>
          <p:nvPr/>
        </p:nvSpPr>
        <p:spPr>
          <a:xfrm>
            <a:off x="885825" y="402171"/>
            <a:ext cx="2550263" cy="288478"/>
          </a:xfrm>
          <a:prstGeom prst="rect">
            <a:avLst/>
          </a:prstGeom>
          <a:noFill/>
          <a:ln/>
        </p:spPr>
        <p:txBody>
          <a:bodyPr wrap="none" lIns="0" tIns="0" rIns="0" bIns="0" rtlCol="0" anchor="t"/>
          <a:lstStyle/>
          <a:p>
            <a:pPr marL="0" indent="0" algn="l">
              <a:lnSpc>
                <a:spcPts val="2104"/>
              </a:lnSpc>
              <a:buNone/>
            </a:pPr>
            <a:r>
              <a:rPr lang="en-US" sz="1913" b="1" dirty="0">
                <a:solidFill>
                  <a:srgbClr val="16305B"/>
                </a:solidFill>
                <a:latin typeface="Tinos" pitchFamily="34" charset="0"/>
                <a:ea typeface="Tinos" pitchFamily="34" charset="-122"/>
                <a:cs typeface="Tinos" pitchFamily="34" charset="-120"/>
              </a:rPr>
              <a:t>Output Screenshots</a:t>
            </a:r>
            <a:endParaRPr lang="en-US" sz="1913" dirty="0"/>
          </a:p>
        </p:txBody>
      </p:sp>
      <p:sp>
        <p:nvSpPr>
          <p:cNvPr id="5" name="Text 3"/>
          <p:cNvSpPr/>
          <p:nvPr/>
        </p:nvSpPr>
        <p:spPr>
          <a:xfrm>
            <a:off x="3054623" y="532209"/>
            <a:ext cx="5660752" cy="7144"/>
          </a:xfrm>
          <a:prstGeom prst="rect">
            <a:avLst/>
          </a:prstGeom>
          <a:solidFill>
            <a:srgbClr val="D9E2EF"/>
          </a:solidFill>
          <a:ln/>
        </p:spPr>
        <p:txBody>
          <a:bodyPr wrap="square" rtlCol="0" anchor="ctr"/>
          <a:lstStyle/>
          <a:p>
            <a:pPr marL="0" indent="0">
              <a:buNone/>
            </a:pPr>
            <a:endParaRPr lang="en-US" dirty="0"/>
          </a:p>
        </p:txBody>
      </p:sp>
      <p:pic>
        <p:nvPicPr>
          <p:cNvPr id="6" name="Image 0" descr="/tmp/h2p-fit-1792001657423-6y079a.png"/>
          <p:cNvPicPr>
            <a:picLocks noChangeAspect="1"/>
          </p:cNvPicPr>
          <p:nvPr/>
        </p:nvPicPr>
        <p:blipFill>
          <a:blip r:embed="rId3"/>
          <a:stretch>
            <a:fillRect/>
          </a:stretch>
        </p:blipFill>
        <p:spPr>
          <a:xfrm>
            <a:off x="428625" y="800100"/>
            <a:ext cx="4086225" cy="3536156"/>
          </a:xfrm>
          <a:prstGeom prst="rect">
            <a:avLst/>
          </a:prstGeom>
        </p:spPr>
      </p:pic>
      <p:pic>
        <p:nvPicPr>
          <p:cNvPr id="7" name="Image 1" descr="/tmp/h2p-fit-1792001657435-uy7tlv.png"/>
          <p:cNvPicPr>
            <a:picLocks noChangeAspect="1"/>
          </p:cNvPicPr>
          <p:nvPr/>
        </p:nvPicPr>
        <p:blipFill>
          <a:blip r:embed="rId4"/>
          <a:stretch>
            <a:fillRect/>
          </a:stretch>
        </p:blipFill>
        <p:spPr>
          <a:xfrm>
            <a:off x="4629150" y="800100"/>
            <a:ext cx="4086225" cy="3536156"/>
          </a:xfrm>
          <a:prstGeom prst="rect">
            <a:avLst/>
          </a:prstGeom>
        </p:spPr>
      </p:pic>
      <p:sp>
        <p:nvSpPr>
          <p:cNvPr id="8" name="Text 4"/>
          <p:cNvSpPr/>
          <p:nvPr/>
        </p:nvSpPr>
        <p:spPr>
          <a:xfrm>
            <a:off x="428625" y="4414838"/>
            <a:ext cx="114300" cy="114300"/>
          </a:xfrm>
          <a:prstGeom prst="rect">
            <a:avLst/>
          </a:prstGeom>
          <a:noFill/>
          <a:ln/>
        </p:spPr>
        <p:txBody>
          <a:bodyPr wrap="none" lIns="0" tIns="0" rIns="0" bIns="0" rtlCol="0" anchor="ctr"/>
          <a:lstStyle/>
          <a:p>
            <a:pPr marL="0" indent="0" algn="ctr">
              <a:buNone/>
            </a:pPr>
            <a:r>
              <a:rPr lang="en-US" sz="1125" dirty="0">
                <a:solidFill>
                  <a:srgbClr val="8A5A14"/>
                </a:solidFill>
                <a:latin typeface="Segoe UI Symbol" pitchFamily="34" charset="0"/>
                <a:ea typeface="Segoe UI Symbol" pitchFamily="34" charset="-122"/>
                <a:cs typeface="Segoe UI Symbol" pitchFamily="34" charset="-120"/>
              </a:rPr>
              <a:t>▦</a:t>
            </a:r>
            <a:endParaRPr lang="en-US" sz="1125" dirty="0"/>
          </a:p>
        </p:txBody>
      </p:sp>
      <p:sp>
        <p:nvSpPr>
          <p:cNvPr id="9" name="Text 5"/>
          <p:cNvSpPr/>
          <p:nvPr/>
        </p:nvSpPr>
        <p:spPr>
          <a:xfrm>
            <a:off x="592931" y="4407694"/>
            <a:ext cx="3921919" cy="148133"/>
          </a:xfrm>
          <a:prstGeom prst="rect">
            <a:avLst/>
          </a:prstGeom>
          <a:noFill/>
          <a:ln/>
        </p:spPr>
        <p:txBody>
          <a:bodyPr wrap="square" lIns="0" tIns="0" rIns="0" bIns="0" rtlCol="0" anchor="t"/>
          <a:lstStyle/>
          <a:p>
            <a:pPr marL="0" indent="0" algn="l">
              <a:lnSpc>
                <a:spcPts val="949"/>
              </a:lnSpc>
              <a:buNone/>
            </a:pPr>
            <a:r>
              <a:rPr lang="en-US" sz="800" dirty="0">
                <a:solidFill>
                  <a:srgbClr val="5B6B84"/>
                </a:solidFill>
                <a:latin typeface="Carlito" pitchFamily="34" charset="0"/>
                <a:ea typeface="Carlito" pitchFamily="34" charset="-122"/>
                <a:cs typeface="Carlito" pitchFamily="34" charset="-120"/>
              </a:rPr>
              <a:t>Real table rendered with </a:t>
            </a:r>
            <a:r>
              <a:rPr lang="en-US" sz="800" b="1" dirty="0">
                <a:solidFill>
                  <a:srgbClr val="16305B"/>
                </a:solidFill>
                <a:latin typeface="Carlito" pitchFamily="34" charset="0"/>
                <a:ea typeface="Carlito" pitchFamily="34" charset="-122"/>
                <a:cs typeface="Carlito" pitchFamily="34" charset="-120"/>
              </a:rPr>
              <a:t>printf</a:t>
            </a:r>
            <a:r>
              <a:rPr lang="en-US" sz="800" dirty="0">
                <a:solidFill>
                  <a:srgbClr val="5B6B84"/>
                </a:solidFill>
                <a:latin typeface="Carlito" pitchFamily="34" charset="0"/>
                <a:ea typeface="Carlito" pitchFamily="34" charset="-122"/>
                <a:cs typeface="Carlito" pitchFamily="34" charset="-120"/>
              </a:rPr>
              <a:t> — columns stay aligned.</a:t>
            </a:r>
            <a:endParaRPr lang="en-US" sz="800" dirty="0"/>
          </a:p>
        </p:txBody>
      </p:sp>
      <p:sp>
        <p:nvSpPr>
          <p:cNvPr id="10" name="Text 6"/>
          <p:cNvSpPr/>
          <p:nvPr/>
        </p:nvSpPr>
        <p:spPr>
          <a:xfrm>
            <a:off x="4629150" y="4414838"/>
            <a:ext cx="114300" cy="114300"/>
          </a:xfrm>
          <a:prstGeom prst="rect">
            <a:avLst/>
          </a:prstGeom>
          <a:noFill/>
          <a:ln/>
        </p:spPr>
        <p:txBody>
          <a:bodyPr wrap="none" lIns="0" tIns="0" rIns="0" bIns="0" rtlCol="0" anchor="ctr"/>
          <a:lstStyle/>
          <a:p>
            <a:pPr marL="0" indent="0" algn="ctr">
              <a:buNone/>
            </a:pPr>
            <a:r>
              <a:rPr lang="en-US" sz="1125" dirty="0">
                <a:solidFill>
                  <a:srgbClr val="8A5A14"/>
                </a:solidFill>
                <a:latin typeface="Segoe UI Symbol" pitchFamily="34" charset="0"/>
                <a:ea typeface="Segoe UI Symbol" pitchFamily="34" charset="-122"/>
                <a:cs typeface="Segoe UI Symbol" pitchFamily="34" charset="-120"/>
              </a:rPr>
              <a:t>↗</a:t>
            </a:r>
            <a:endParaRPr lang="en-US" sz="1125" dirty="0"/>
          </a:p>
        </p:txBody>
      </p:sp>
      <p:sp>
        <p:nvSpPr>
          <p:cNvPr id="11" name="Text 7"/>
          <p:cNvSpPr/>
          <p:nvPr/>
        </p:nvSpPr>
        <p:spPr>
          <a:xfrm>
            <a:off x="4793456" y="4407694"/>
            <a:ext cx="3921919" cy="148133"/>
          </a:xfrm>
          <a:prstGeom prst="rect">
            <a:avLst/>
          </a:prstGeom>
          <a:noFill/>
          <a:ln/>
        </p:spPr>
        <p:txBody>
          <a:bodyPr wrap="square" lIns="0" tIns="0" rIns="0" bIns="0" rtlCol="0" anchor="t"/>
          <a:lstStyle/>
          <a:p>
            <a:pPr marL="0" indent="0" algn="l">
              <a:lnSpc>
                <a:spcPts val="949"/>
              </a:lnSpc>
              <a:buNone/>
            </a:pPr>
            <a:r>
              <a:rPr lang="en-US" sz="800" dirty="0">
                <a:solidFill>
                  <a:srgbClr val="5B6B84"/>
                </a:solidFill>
                <a:latin typeface="Carlito" pitchFamily="34" charset="0"/>
                <a:ea typeface="Carlito" pitchFamily="34" charset="-122"/>
                <a:cs typeface="Carlito" pitchFamily="34" charset="-120"/>
              </a:rPr>
              <a:t>Believer moved </a:t>
            </a:r>
            <a:r>
              <a:rPr lang="en-US" sz="800" b="1" dirty="0">
                <a:solidFill>
                  <a:srgbClr val="16305B"/>
                </a:solidFill>
                <a:latin typeface="Liberation Sans Narrow" pitchFamily="34" charset="0"/>
                <a:ea typeface="Liberation Sans Narrow" pitchFamily="34" charset="-122"/>
                <a:cs typeface="Liberation Sans Narrow" pitchFamily="34" charset="-120"/>
              </a:rPr>
              <a:t>51 → 52</a:t>
            </a:r>
            <a:r>
              <a:rPr lang="en-US" sz="800" dirty="0">
                <a:solidFill>
                  <a:srgbClr val="5B6B84"/>
                </a:solidFill>
                <a:latin typeface="Carlito" pitchFamily="34" charset="0"/>
                <a:ea typeface="Carlito" pitchFamily="34" charset="-122"/>
                <a:cs typeface="Carlito" pitchFamily="34" charset="-120"/>
              </a:rPr>
              <a:t> plays; totals recomputed live.</a:t>
            </a:r>
            <a:endParaRPr lang="en-US" sz="800" dirty="0"/>
          </a:p>
        </p:txBody>
      </p:sp>
      <p:sp>
        <p:nvSpPr>
          <p:cNvPr id="12" name="Text 8"/>
          <p:cNvSpPr/>
          <p:nvPr/>
        </p:nvSpPr>
        <p:spPr>
          <a:xfrm>
            <a:off x="432197" y="4604147"/>
            <a:ext cx="8279606" cy="278606"/>
          </a:xfrm>
          <a:prstGeom prst="roundRect">
            <a:avLst>
              <a:gd name="adj" fmla="val 34188"/>
            </a:avLst>
          </a:prstGeom>
          <a:solidFill>
            <a:srgbClr val="FBF3E2"/>
          </a:solidFill>
          <a:ln w="7144">
            <a:solidFill>
              <a:srgbClr val="E8D5A9"/>
            </a:solidFill>
            <a:prstDash val="solid"/>
          </a:ln>
        </p:spPr>
        <p:txBody>
          <a:bodyPr wrap="square" rtlCol="0" anchor="ctr"/>
          <a:lstStyle/>
          <a:p>
            <a:pPr marL="0" indent="0">
              <a:buNone/>
            </a:pPr>
            <a:endParaRPr lang="en-US" dirty="0"/>
          </a:p>
        </p:txBody>
      </p:sp>
      <p:sp>
        <p:nvSpPr>
          <p:cNvPr id="13" name="Text 9"/>
          <p:cNvSpPr/>
          <p:nvPr/>
        </p:nvSpPr>
        <p:spPr>
          <a:xfrm>
            <a:off x="550069" y="4672013"/>
            <a:ext cx="142875" cy="142875"/>
          </a:xfrm>
          <a:prstGeom prst="rect">
            <a:avLst/>
          </a:prstGeom>
          <a:noFill/>
          <a:ln/>
        </p:spPr>
        <p:txBody>
          <a:bodyPr wrap="none" lIns="0" tIns="0" rIns="0" bIns="0" rtlCol="0" anchor="ctr"/>
          <a:lstStyle/>
          <a:p>
            <a:pPr marL="0" indent="0" algn="ctr">
              <a:buNone/>
            </a:pPr>
            <a:r>
              <a:rPr lang="en-US" sz="1406" dirty="0">
                <a:solidFill>
                  <a:srgbClr val="8A5A14"/>
                </a:solidFill>
                <a:latin typeface="Segoe UI Symbol" pitchFamily="34" charset="0"/>
                <a:ea typeface="Segoe UI Symbol" pitchFamily="34" charset="-122"/>
                <a:cs typeface="Segoe UI Symbol" pitchFamily="34" charset="-120"/>
              </a:rPr>
              <a:t>◉</a:t>
            </a:r>
            <a:endParaRPr lang="en-US" sz="1406" dirty="0"/>
          </a:p>
        </p:txBody>
      </p:sp>
      <p:sp>
        <p:nvSpPr>
          <p:cNvPr id="14" name="Text 10"/>
          <p:cNvSpPr/>
          <p:nvPr/>
        </p:nvSpPr>
        <p:spPr>
          <a:xfrm>
            <a:off x="771525" y="4680942"/>
            <a:ext cx="7822406" cy="133945"/>
          </a:xfrm>
          <a:prstGeom prst="rect">
            <a:avLst/>
          </a:prstGeom>
          <a:noFill/>
          <a:ln/>
        </p:spPr>
        <p:txBody>
          <a:bodyPr wrap="square" lIns="0" tIns="0" rIns="0" bIns="0" rtlCol="0" anchor="t"/>
          <a:lstStyle/>
          <a:p>
            <a:pPr marL="0" indent="0" algn="l">
              <a:lnSpc>
                <a:spcPts val="984"/>
              </a:lnSpc>
              <a:buNone/>
            </a:pPr>
            <a:r>
              <a:rPr lang="en-US" sz="800" dirty="0">
                <a:solidFill>
                  <a:srgbClr val="23304A"/>
                </a:solidFill>
                <a:latin typeface="Carlito" pitchFamily="34" charset="0"/>
                <a:ea typeface="Carlito" pitchFamily="34" charset="-122"/>
                <a:cs typeface="Carlito" pitchFamily="34" charset="-120"/>
              </a:rPr>
              <a:t>Live output of </a:t>
            </a:r>
            <a:r>
              <a:rPr lang="en-US" sz="800" dirty="0">
                <a:solidFill>
                  <a:srgbClr val="23304A"/>
                </a:solidFill>
                <a:latin typeface="Courier New" pitchFamily="34" charset="0"/>
                <a:ea typeface="Courier New" pitchFamily="34" charset="-122"/>
                <a:cs typeface="Courier New" pitchFamily="34" charset="-120"/>
              </a:rPr>
              <a:t>java Main</a:t>
            </a:r>
            <a:r>
              <a:rPr lang="en-US" sz="800" dirty="0">
                <a:solidFill>
                  <a:srgbClr val="23304A"/>
                </a:solidFill>
                <a:latin typeface="Carlito" pitchFamily="34" charset="0"/>
                <a:ea typeface="Carlito" pitchFamily="34" charset="-122"/>
                <a:cs typeface="Carlito" pitchFamily="34" charset="-120"/>
              </a:rPr>
              <a:t> (OpenJDK 21) — replace with your own machine’s screenshots after running the program.</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5763"/>
            <a:ext cx="328613" cy="328613"/>
          </a:xfrm>
          <a:prstGeom prst="roundRect">
            <a:avLst>
              <a:gd name="adj" fmla="val 28985"/>
            </a:avLst>
          </a:prstGeom>
          <a:solidFill>
            <a:srgbClr val="B7791F"/>
          </a:solidFill>
          <a:ln/>
          <a:effectLst>
            <a:outerShdw blurRad="57150" dist="19050" dir="5400000" algn="bl" rotWithShape="0">
              <a:srgbClr val="B7791F">
                <a:alpha val="22000"/>
              </a:srgbClr>
            </a:outerShdw>
          </a:effectLst>
        </p:spPr>
        <p:txBody>
          <a:bodyPr wrap="square" rtlCol="0" anchor="ctr"/>
          <a:lstStyle/>
          <a:p>
            <a:pPr marL="0" indent="0">
              <a:buNone/>
            </a:pPr>
            <a:endParaRPr lang="en-US" dirty="0"/>
          </a:p>
        </p:txBody>
      </p:sp>
      <p:sp>
        <p:nvSpPr>
          <p:cNvPr id="3" name="Text 1"/>
          <p:cNvSpPr/>
          <p:nvPr/>
        </p:nvSpPr>
        <p:spPr>
          <a:xfrm>
            <a:off x="457200" y="385763"/>
            <a:ext cx="385763" cy="328613"/>
          </a:xfrm>
          <a:prstGeom prst="rect">
            <a:avLst/>
          </a:prstGeom>
          <a:noFill/>
          <a:ln/>
        </p:spPr>
        <p:txBody>
          <a:bodyPr wrap="none" lIns="0" tIns="0" rIns="0" bIns="0" rtlCol="0" anchor="ctr"/>
          <a:lstStyle/>
          <a:p>
            <a:pPr marL="0" indent="0" algn="ctr">
              <a:lnSpc>
                <a:spcPts val="1772"/>
              </a:lnSpc>
              <a:buNone/>
            </a:pPr>
            <a:r>
              <a:rPr lang="en-US" sz="1181" b="1" dirty="0">
                <a:solidFill>
                  <a:srgbClr val="FFFFFF"/>
                </a:solidFill>
                <a:latin typeface="Liberation Sans Narrow" pitchFamily="34" charset="0"/>
                <a:ea typeface="Liberation Sans Narrow" pitchFamily="34" charset="-122"/>
                <a:cs typeface="Liberation Sans Narrow" pitchFamily="34" charset="-120"/>
              </a:rPr>
              <a:t>10</a:t>
            </a:r>
            <a:endParaRPr lang="en-US" sz="1181" dirty="0"/>
          </a:p>
        </p:txBody>
      </p:sp>
      <p:sp>
        <p:nvSpPr>
          <p:cNvPr id="4" name="Text 2"/>
          <p:cNvSpPr/>
          <p:nvPr/>
        </p:nvSpPr>
        <p:spPr>
          <a:xfrm>
            <a:off x="900113" y="416458"/>
            <a:ext cx="7786688" cy="288478"/>
          </a:xfrm>
          <a:prstGeom prst="rect">
            <a:avLst/>
          </a:prstGeom>
          <a:noFill/>
          <a:ln/>
        </p:spPr>
        <p:txBody>
          <a:bodyPr wrap="none" lIns="0" tIns="0" rIns="0" bIns="0" rtlCol="0" anchor="t"/>
          <a:lstStyle/>
          <a:p>
            <a:pPr marL="0" indent="0" algn="l">
              <a:lnSpc>
                <a:spcPts val="2104"/>
              </a:lnSpc>
              <a:buNone/>
            </a:pPr>
            <a:r>
              <a:rPr lang="en-US" sz="1913" b="1" dirty="0">
                <a:solidFill>
                  <a:srgbClr val="16305B"/>
                </a:solidFill>
                <a:latin typeface="Tinos" pitchFamily="34" charset="0"/>
                <a:ea typeface="Tinos" pitchFamily="34" charset="-122"/>
                <a:cs typeface="Tinos" pitchFamily="34" charset="-120"/>
              </a:rPr>
              <a:t>Future Scope</a:t>
            </a:r>
            <a:endParaRPr lang="en-US" sz="1913" dirty="0"/>
          </a:p>
        </p:txBody>
      </p:sp>
      <p:sp>
        <p:nvSpPr>
          <p:cNvPr id="5" name="Text 3"/>
          <p:cNvSpPr/>
          <p:nvPr/>
        </p:nvSpPr>
        <p:spPr>
          <a:xfrm>
            <a:off x="457200" y="828675"/>
            <a:ext cx="8229600" cy="14288"/>
          </a:xfrm>
          <a:prstGeom prst="rect">
            <a:avLst/>
          </a:prstGeom>
          <a:solidFill>
            <a:srgbClr val="D9E2EF"/>
          </a:solidFill>
          <a:ln/>
        </p:spPr>
        <p:txBody>
          <a:bodyPr wrap="square" rtlCol="0" anchor="ctr"/>
          <a:lstStyle/>
          <a:p>
            <a:pPr marL="0" indent="0">
              <a:buNone/>
            </a:pPr>
            <a:endParaRPr lang="en-US" dirty="0"/>
          </a:p>
        </p:txBody>
      </p:sp>
      <p:sp>
        <p:nvSpPr>
          <p:cNvPr id="6" name="Text 4"/>
          <p:cNvSpPr/>
          <p:nvPr/>
        </p:nvSpPr>
        <p:spPr>
          <a:xfrm>
            <a:off x="457200" y="821531"/>
            <a:ext cx="457200" cy="28575"/>
          </a:xfrm>
          <a:prstGeom prst="roundRect">
            <a:avLst>
              <a:gd name="adj" fmla="val 66667"/>
            </a:avLst>
          </a:prstGeom>
          <a:solidFill>
            <a:srgbClr val="B7791F"/>
          </a:solidFill>
          <a:ln/>
        </p:spPr>
        <p:txBody>
          <a:bodyPr wrap="square" rtlCol="0" anchor="ctr"/>
          <a:lstStyle/>
          <a:p>
            <a:pPr marL="0" indent="0">
              <a:buNone/>
            </a:pPr>
            <a:endParaRPr lang="en-US" dirty="0"/>
          </a:p>
        </p:txBody>
      </p:sp>
      <p:sp>
        <p:nvSpPr>
          <p:cNvPr id="7" name="Text 5"/>
          <p:cNvSpPr/>
          <p:nvPr/>
        </p:nvSpPr>
        <p:spPr>
          <a:xfrm>
            <a:off x="457200" y="971550"/>
            <a:ext cx="8229600" cy="196739"/>
          </a:xfrm>
          <a:prstGeom prst="rect">
            <a:avLst/>
          </a:prstGeom>
          <a:noFill/>
          <a:ln/>
        </p:spPr>
        <p:txBody>
          <a:bodyPr wrap="square" lIns="0" tIns="0" rIns="0" bIns="0" rtlCol="0" anchor="t"/>
          <a:lstStyle/>
          <a:p>
            <a:pPr marL="0" indent="0" algn="l">
              <a:lnSpc>
                <a:spcPts val="1434"/>
              </a:lnSpc>
              <a:buNone/>
            </a:pPr>
            <a:r>
              <a:rPr lang="en-US" sz="956" dirty="0">
                <a:solidFill>
                  <a:srgbClr val="5B6B84"/>
                </a:solidFill>
                <a:latin typeface="Carlito" pitchFamily="34" charset="0"/>
                <a:ea typeface="Carlito" pitchFamily="34" charset="-122"/>
                <a:cs typeface="Carlito" pitchFamily="34" charset="-120"/>
              </a:rPr>
              <a:t>The modular design leaves clean extension points for the next versions.</a:t>
            </a:r>
            <a:endParaRPr lang="en-US" sz="956" dirty="0"/>
          </a:p>
        </p:txBody>
      </p:sp>
      <p:sp>
        <p:nvSpPr>
          <p:cNvPr id="8" name="Text 6"/>
          <p:cNvSpPr/>
          <p:nvPr/>
        </p:nvSpPr>
        <p:spPr>
          <a:xfrm>
            <a:off x="460772" y="1314450"/>
            <a:ext cx="2640732" cy="1659136"/>
          </a:xfrm>
          <a:prstGeom prst="roundRect">
            <a:avLst>
              <a:gd name="adj" fmla="val 5741"/>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9" name="Text 7"/>
          <p:cNvSpPr/>
          <p:nvPr/>
        </p:nvSpPr>
        <p:spPr>
          <a:xfrm>
            <a:off x="650081" y="1778347"/>
            <a:ext cx="328613" cy="328613"/>
          </a:xfrm>
          <a:prstGeom prst="roundRect">
            <a:avLst>
              <a:gd name="adj" fmla="val 31884"/>
            </a:avLst>
          </a:prstGeom>
          <a:solidFill>
            <a:srgbClr val="B7791F">
              <a:alpha val="12000"/>
            </a:srgbClr>
          </a:solidFill>
          <a:ln/>
        </p:spPr>
        <p:txBody>
          <a:bodyPr wrap="square" rtlCol="0" anchor="ctr"/>
          <a:lstStyle/>
          <a:p>
            <a:pPr marL="0" indent="0">
              <a:buNone/>
            </a:pPr>
            <a:endParaRPr lang="en-US" dirty="0"/>
          </a:p>
        </p:txBody>
      </p:sp>
      <p:sp>
        <p:nvSpPr>
          <p:cNvPr id="10" name="Text 8"/>
          <p:cNvSpPr/>
          <p:nvPr/>
        </p:nvSpPr>
        <p:spPr>
          <a:xfrm>
            <a:off x="684907" y="1813173"/>
            <a:ext cx="258961" cy="258961"/>
          </a:xfrm>
          <a:prstGeom prst="rect">
            <a:avLst/>
          </a:prstGeom>
          <a:noFill/>
          <a:ln/>
        </p:spPr>
        <p:txBody>
          <a:bodyPr wrap="none" lIns="0" tIns="0" rIns="0" bIns="0" rtlCol="0" anchor="ctr"/>
          <a:lstStyle/>
          <a:p>
            <a:pPr marL="0" indent="0" algn="ctr">
              <a:buNone/>
            </a:pPr>
            <a:r>
              <a:rPr lang="en-US" sz="1758" dirty="0">
                <a:solidFill>
                  <a:srgbClr val="8A5A14"/>
                </a:solidFill>
                <a:latin typeface="Segoe UI Symbol" pitchFamily="34" charset="0"/>
                <a:ea typeface="Segoe UI Symbol" pitchFamily="34" charset="-122"/>
                <a:cs typeface="Segoe UI Symbol" pitchFamily="34" charset="-120"/>
              </a:rPr>
              <a:t>▢</a:t>
            </a:r>
            <a:endParaRPr lang="en-US" sz="1758" dirty="0"/>
          </a:p>
        </p:txBody>
      </p:sp>
      <p:sp>
        <p:nvSpPr>
          <p:cNvPr id="11" name="Text 9"/>
          <p:cNvSpPr/>
          <p:nvPr/>
        </p:nvSpPr>
        <p:spPr>
          <a:xfrm>
            <a:off x="1078706" y="1843534"/>
            <a:ext cx="1833488" cy="214098"/>
          </a:xfrm>
          <a:prstGeom prst="rect">
            <a:avLst/>
          </a:prstGeom>
          <a:noFill/>
          <a:ln/>
        </p:spPr>
        <p:txBody>
          <a:bodyPr wrap="none" lIns="0" tIns="0" rIns="0" bIns="0" rtlCol="0" anchor="t"/>
          <a:lstStyle/>
          <a:p>
            <a:pPr marL="0" indent="0" algn="l">
              <a:lnSpc>
                <a:spcPts val="1561"/>
              </a:lnSpc>
              <a:buNone/>
            </a:pPr>
            <a:r>
              <a:rPr lang="en-US" sz="1041" dirty="0">
                <a:solidFill>
                  <a:srgbClr val="16305B"/>
                </a:solidFill>
                <a:latin typeface="Tinos" pitchFamily="34" charset="0"/>
                <a:ea typeface="Tinos" pitchFamily="34" charset="-122"/>
                <a:cs typeface="Tinos" pitchFamily="34" charset="-120"/>
              </a:rPr>
              <a:t>GUI version</a:t>
            </a:r>
            <a:endParaRPr lang="en-US" sz="1041" dirty="0"/>
          </a:p>
        </p:txBody>
      </p:sp>
      <p:sp>
        <p:nvSpPr>
          <p:cNvPr id="12" name="Text 10"/>
          <p:cNvSpPr/>
          <p:nvPr/>
        </p:nvSpPr>
        <p:spPr>
          <a:xfrm>
            <a:off x="650081" y="2199829"/>
            <a:ext cx="2262113" cy="339961"/>
          </a:xfrm>
          <a:prstGeom prst="rect">
            <a:avLst/>
          </a:prstGeom>
          <a:noFill/>
          <a:ln/>
        </p:spPr>
        <p:txBody>
          <a:bodyPr wrap="square" lIns="0" tIns="0" rIns="0" bIns="0" rtlCol="0" anchor="t"/>
          <a:lstStyle/>
          <a:p>
            <a:pPr marL="0" indent="0" algn="l">
              <a:lnSpc>
                <a:spcPts val="1221"/>
              </a:lnSpc>
              <a:buNone/>
            </a:pPr>
            <a:r>
              <a:rPr lang="en-US" sz="800" dirty="0">
                <a:solidFill>
                  <a:srgbClr val="23304A"/>
                </a:solidFill>
                <a:latin typeface="Carlito" pitchFamily="34" charset="0"/>
                <a:ea typeface="Carlito" pitchFamily="34" charset="-122"/>
                <a:cs typeface="Carlito" pitchFamily="34" charset="-120"/>
              </a:rPr>
              <a:t>A Swing / JavaFX front-end with buttons and lists instead of typed menu numbers.</a:t>
            </a:r>
            <a:endParaRPr lang="en-US" sz="800" dirty="0"/>
          </a:p>
        </p:txBody>
      </p:sp>
      <p:sp>
        <p:nvSpPr>
          <p:cNvPr id="13" name="Text 11"/>
          <p:cNvSpPr/>
          <p:nvPr/>
        </p:nvSpPr>
        <p:spPr>
          <a:xfrm>
            <a:off x="3251522" y="1314450"/>
            <a:ext cx="2640843" cy="1659136"/>
          </a:xfrm>
          <a:prstGeom prst="roundRect">
            <a:avLst>
              <a:gd name="adj" fmla="val 5741"/>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14" name="Text 12"/>
          <p:cNvSpPr/>
          <p:nvPr/>
        </p:nvSpPr>
        <p:spPr>
          <a:xfrm>
            <a:off x="3440832" y="1778347"/>
            <a:ext cx="328613" cy="328613"/>
          </a:xfrm>
          <a:prstGeom prst="roundRect">
            <a:avLst>
              <a:gd name="adj" fmla="val 31884"/>
            </a:avLst>
          </a:prstGeom>
          <a:solidFill>
            <a:srgbClr val="B7791F">
              <a:alpha val="12000"/>
            </a:srgbClr>
          </a:solidFill>
          <a:ln/>
        </p:spPr>
        <p:txBody>
          <a:bodyPr wrap="square" rtlCol="0" anchor="ctr"/>
          <a:lstStyle/>
          <a:p>
            <a:pPr marL="0" indent="0">
              <a:buNone/>
            </a:pPr>
            <a:endParaRPr lang="en-US" dirty="0"/>
          </a:p>
        </p:txBody>
      </p:sp>
      <p:sp>
        <p:nvSpPr>
          <p:cNvPr id="15" name="Text 13"/>
          <p:cNvSpPr/>
          <p:nvPr/>
        </p:nvSpPr>
        <p:spPr>
          <a:xfrm>
            <a:off x="3475658" y="1813173"/>
            <a:ext cx="258961" cy="258961"/>
          </a:xfrm>
          <a:prstGeom prst="rect">
            <a:avLst/>
          </a:prstGeom>
          <a:noFill/>
          <a:ln/>
        </p:spPr>
        <p:txBody>
          <a:bodyPr wrap="none" lIns="0" tIns="0" rIns="0" bIns="0" rtlCol="0" anchor="ctr"/>
          <a:lstStyle/>
          <a:p>
            <a:pPr marL="0" indent="0" algn="ctr">
              <a:buNone/>
            </a:pPr>
            <a:r>
              <a:rPr lang="en-US" sz="1758" dirty="0">
                <a:solidFill>
                  <a:srgbClr val="8A5A14"/>
                </a:solidFill>
                <a:latin typeface="Segoe UI Symbol" pitchFamily="34" charset="0"/>
                <a:ea typeface="Segoe UI Symbol" pitchFamily="34" charset="-122"/>
                <a:cs typeface="Segoe UI Symbol" pitchFamily="34" charset="-120"/>
              </a:rPr>
              <a:t>▦</a:t>
            </a:r>
            <a:endParaRPr lang="en-US" sz="1758" dirty="0"/>
          </a:p>
        </p:txBody>
      </p:sp>
      <p:sp>
        <p:nvSpPr>
          <p:cNvPr id="16" name="Text 14"/>
          <p:cNvSpPr/>
          <p:nvPr/>
        </p:nvSpPr>
        <p:spPr>
          <a:xfrm>
            <a:off x="3869457" y="1843534"/>
            <a:ext cx="1833600" cy="214098"/>
          </a:xfrm>
          <a:prstGeom prst="rect">
            <a:avLst/>
          </a:prstGeom>
          <a:noFill/>
          <a:ln/>
        </p:spPr>
        <p:txBody>
          <a:bodyPr wrap="none" lIns="0" tIns="0" rIns="0" bIns="0" rtlCol="0" anchor="t"/>
          <a:lstStyle/>
          <a:p>
            <a:pPr marL="0" indent="0" algn="l">
              <a:lnSpc>
                <a:spcPts val="1561"/>
              </a:lnSpc>
              <a:buNone/>
            </a:pPr>
            <a:r>
              <a:rPr lang="en-US" sz="1041" dirty="0">
                <a:solidFill>
                  <a:srgbClr val="16305B"/>
                </a:solidFill>
                <a:latin typeface="Tinos" pitchFamily="34" charset="0"/>
                <a:ea typeface="Tinos" pitchFamily="34" charset="-122"/>
                <a:cs typeface="Tinos" pitchFamily="34" charset="-120"/>
              </a:rPr>
              <a:t>Database storage</a:t>
            </a:r>
            <a:endParaRPr lang="en-US" sz="1041" dirty="0"/>
          </a:p>
        </p:txBody>
      </p:sp>
      <p:sp>
        <p:nvSpPr>
          <p:cNvPr id="17" name="Text 15"/>
          <p:cNvSpPr/>
          <p:nvPr/>
        </p:nvSpPr>
        <p:spPr>
          <a:xfrm>
            <a:off x="3440832" y="2199829"/>
            <a:ext cx="2262225" cy="339961"/>
          </a:xfrm>
          <a:prstGeom prst="rect">
            <a:avLst/>
          </a:prstGeom>
          <a:noFill/>
          <a:ln/>
        </p:spPr>
        <p:txBody>
          <a:bodyPr wrap="square" lIns="0" tIns="0" rIns="0" bIns="0" rtlCol="0" anchor="t"/>
          <a:lstStyle/>
          <a:p>
            <a:pPr marL="0" indent="0" algn="l">
              <a:lnSpc>
                <a:spcPts val="1221"/>
              </a:lnSpc>
              <a:buNone/>
            </a:pPr>
            <a:r>
              <a:rPr lang="en-US" sz="800" dirty="0">
                <a:solidFill>
                  <a:srgbClr val="23304A"/>
                </a:solidFill>
                <a:latin typeface="Carlito" pitchFamily="34" charset="0"/>
                <a:ea typeface="Carlito" pitchFamily="34" charset="-122"/>
                <a:cs typeface="Carlito" pitchFamily="34" charset="-120"/>
              </a:rPr>
              <a:t>Move from text file to MySQL via JDBC to support many users and large libraries.</a:t>
            </a:r>
            <a:endParaRPr lang="en-US" sz="800" dirty="0"/>
          </a:p>
        </p:txBody>
      </p:sp>
      <p:sp>
        <p:nvSpPr>
          <p:cNvPr id="18" name="Text 16"/>
          <p:cNvSpPr/>
          <p:nvPr/>
        </p:nvSpPr>
        <p:spPr>
          <a:xfrm>
            <a:off x="6042385" y="1314450"/>
            <a:ext cx="2640732" cy="1659136"/>
          </a:xfrm>
          <a:prstGeom prst="roundRect">
            <a:avLst>
              <a:gd name="adj" fmla="val 5741"/>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19" name="Text 17"/>
          <p:cNvSpPr/>
          <p:nvPr/>
        </p:nvSpPr>
        <p:spPr>
          <a:xfrm>
            <a:off x="6231694" y="1778347"/>
            <a:ext cx="328613" cy="328613"/>
          </a:xfrm>
          <a:prstGeom prst="roundRect">
            <a:avLst>
              <a:gd name="adj" fmla="val 31884"/>
            </a:avLst>
          </a:prstGeom>
          <a:solidFill>
            <a:srgbClr val="B7791F">
              <a:alpha val="12000"/>
            </a:srgbClr>
          </a:solidFill>
          <a:ln/>
        </p:spPr>
        <p:txBody>
          <a:bodyPr wrap="square" rtlCol="0" anchor="ctr"/>
          <a:lstStyle/>
          <a:p>
            <a:pPr marL="0" indent="0">
              <a:buNone/>
            </a:pPr>
            <a:endParaRPr lang="en-US" dirty="0"/>
          </a:p>
        </p:txBody>
      </p:sp>
      <p:sp>
        <p:nvSpPr>
          <p:cNvPr id="20" name="Text 18"/>
          <p:cNvSpPr/>
          <p:nvPr/>
        </p:nvSpPr>
        <p:spPr>
          <a:xfrm>
            <a:off x="6266520" y="1813173"/>
            <a:ext cx="258961" cy="258961"/>
          </a:xfrm>
          <a:prstGeom prst="rect">
            <a:avLst/>
          </a:prstGeom>
          <a:noFill/>
          <a:ln/>
        </p:spPr>
        <p:txBody>
          <a:bodyPr wrap="none" lIns="0" tIns="0" rIns="0" bIns="0" rtlCol="0" anchor="ctr"/>
          <a:lstStyle/>
          <a:p>
            <a:pPr marL="0" indent="0" algn="ctr">
              <a:buNone/>
            </a:pPr>
            <a:r>
              <a:rPr lang="en-US" sz="1758" dirty="0">
                <a:solidFill>
                  <a:srgbClr val="8A5A14"/>
                </a:solidFill>
                <a:latin typeface="Segoe UI Symbol" pitchFamily="34" charset="0"/>
                <a:ea typeface="Segoe UI Symbol" pitchFamily="34" charset="-122"/>
                <a:cs typeface="Segoe UI Symbol" pitchFamily="34" charset="-120"/>
              </a:rPr>
              <a:t>✦</a:t>
            </a:r>
            <a:endParaRPr lang="en-US" sz="1758" dirty="0"/>
          </a:p>
        </p:txBody>
      </p:sp>
      <p:sp>
        <p:nvSpPr>
          <p:cNvPr id="21" name="Text 19"/>
          <p:cNvSpPr/>
          <p:nvPr/>
        </p:nvSpPr>
        <p:spPr>
          <a:xfrm>
            <a:off x="6660319" y="1843534"/>
            <a:ext cx="1833488" cy="214098"/>
          </a:xfrm>
          <a:prstGeom prst="rect">
            <a:avLst/>
          </a:prstGeom>
          <a:noFill/>
          <a:ln/>
        </p:spPr>
        <p:txBody>
          <a:bodyPr wrap="none" lIns="0" tIns="0" rIns="0" bIns="0" rtlCol="0" anchor="t"/>
          <a:lstStyle/>
          <a:p>
            <a:pPr marL="0" indent="0" algn="l">
              <a:lnSpc>
                <a:spcPts val="1561"/>
              </a:lnSpc>
              <a:buNone/>
            </a:pPr>
            <a:r>
              <a:rPr lang="en-US" sz="1041" dirty="0">
                <a:solidFill>
                  <a:srgbClr val="16305B"/>
                </a:solidFill>
                <a:latin typeface="Tinos" pitchFamily="34" charset="0"/>
                <a:ea typeface="Tinos" pitchFamily="34" charset="-122"/>
                <a:cs typeface="Tinos" pitchFamily="34" charset="-120"/>
              </a:rPr>
              <a:t>Shuffle and queue</a:t>
            </a:r>
            <a:endParaRPr lang="en-US" sz="1041" dirty="0"/>
          </a:p>
        </p:txBody>
      </p:sp>
      <p:sp>
        <p:nvSpPr>
          <p:cNvPr id="22" name="Text 20"/>
          <p:cNvSpPr/>
          <p:nvPr/>
        </p:nvSpPr>
        <p:spPr>
          <a:xfrm>
            <a:off x="6231694" y="2199829"/>
            <a:ext cx="2262113" cy="339961"/>
          </a:xfrm>
          <a:prstGeom prst="rect">
            <a:avLst/>
          </a:prstGeom>
          <a:noFill/>
          <a:ln/>
        </p:spPr>
        <p:txBody>
          <a:bodyPr wrap="square" lIns="0" tIns="0" rIns="0" bIns="0" rtlCol="0" anchor="t"/>
          <a:lstStyle/>
          <a:p>
            <a:pPr marL="0" indent="0" algn="l">
              <a:lnSpc>
                <a:spcPts val="1221"/>
              </a:lnSpc>
              <a:buNone/>
            </a:pPr>
            <a:r>
              <a:rPr lang="en-US" sz="800" dirty="0">
                <a:solidFill>
                  <a:srgbClr val="23304A"/>
                </a:solidFill>
                <a:latin typeface="Carlito" pitchFamily="34" charset="0"/>
                <a:ea typeface="Carlito" pitchFamily="34" charset="-122"/>
                <a:cs typeface="Carlito" pitchFamily="34" charset="-120"/>
              </a:rPr>
              <a:t>Random play order and a play-next queue like real music players.</a:t>
            </a:r>
            <a:endParaRPr lang="en-US" sz="800" dirty="0"/>
          </a:p>
        </p:txBody>
      </p:sp>
      <p:sp>
        <p:nvSpPr>
          <p:cNvPr id="23" name="Text 21"/>
          <p:cNvSpPr/>
          <p:nvPr/>
        </p:nvSpPr>
        <p:spPr>
          <a:xfrm>
            <a:off x="460772" y="3123605"/>
            <a:ext cx="2640732" cy="1659136"/>
          </a:xfrm>
          <a:prstGeom prst="roundRect">
            <a:avLst>
              <a:gd name="adj" fmla="val 5741"/>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24" name="Text 22"/>
          <p:cNvSpPr/>
          <p:nvPr/>
        </p:nvSpPr>
        <p:spPr>
          <a:xfrm>
            <a:off x="650081" y="3587502"/>
            <a:ext cx="328613" cy="328613"/>
          </a:xfrm>
          <a:prstGeom prst="roundRect">
            <a:avLst>
              <a:gd name="adj" fmla="val 31884"/>
            </a:avLst>
          </a:prstGeom>
          <a:solidFill>
            <a:srgbClr val="B7791F">
              <a:alpha val="12000"/>
            </a:srgbClr>
          </a:solidFill>
          <a:ln/>
        </p:spPr>
        <p:txBody>
          <a:bodyPr wrap="square" rtlCol="0" anchor="ctr"/>
          <a:lstStyle/>
          <a:p>
            <a:pPr marL="0" indent="0">
              <a:buNone/>
            </a:pPr>
            <a:endParaRPr lang="en-US" dirty="0"/>
          </a:p>
        </p:txBody>
      </p:sp>
      <p:sp>
        <p:nvSpPr>
          <p:cNvPr id="25" name="Text 23"/>
          <p:cNvSpPr/>
          <p:nvPr/>
        </p:nvSpPr>
        <p:spPr>
          <a:xfrm>
            <a:off x="684907" y="3622328"/>
            <a:ext cx="258961" cy="258961"/>
          </a:xfrm>
          <a:prstGeom prst="rect">
            <a:avLst/>
          </a:prstGeom>
          <a:noFill/>
          <a:ln/>
        </p:spPr>
        <p:txBody>
          <a:bodyPr wrap="none" lIns="0" tIns="0" rIns="0" bIns="0" rtlCol="0" anchor="ctr"/>
          <a:lstStyle/>
          <a:p>
            <a:pPr marL="0" indent="0" algn="ctr">
              <a:buNone/>
            </a:pPr>
            <a:r>
              <a:rPr lang="en-US" sz="1758" dirty="0">
                <a:solidFill>
                  <a:srgbClr val="8A5A14"/>
                </a:solidFill>
                <a:latin typeface="Segoe UI Symbol" pitchFamily="34" charset="0"/>
                <a:ea typeface="Segoe UI Symbol" pitchFamily="34" charset="-122"/>
                <a:cs typeface="Segoe UI Symbol" pitchFamily="34" charset="-120"/>
              </a:rPr>
              <a:t>👍</a:t>
            </a:r>
            <a:endParaRPr lang="en-US" sz="1758" dirty="0"/>
          </a:p>
        </p:txBody>
      </p:sp>
      <p:sp>
        <p:nvSpPr>
          <p:cNvPr id="26" name="Text 24"/>
          <p:cNvSpPr/>
          <p:nvPr/>
        </p:nvSpPr>
        <p:spPr>
          <a:xfrm>
            <a:off x="1078706" y="3652689"/>
            <a:ext cx="1833488" cy="214098"/>
          </a:xfrm>
          <a:prstGeom prst="rect">
            <a:avLst/>
          </a:prstGeom>
          <a:noFill/>
          <a:ln/>
        </p:spPr>
        <p:txBody>
          <a:bodyPr wrap="none" lIns="0" tIns="0" rIns="0" bIns="0" rtlCol="0" anchor="t"/>
          <a:lstStyle/>
          <a:p>
            <a:pPr marL="0" indent="0" algn="l">
              <a:lnSpc>
                <a:spcPts val="1561"/>
              </a:lnSpc>
              <a:buNone/>
            </a:pPr>
            <a:r>
              <a:rPr lang="en-US" sz="1041" dirty="0">
                <a:solidFill>
                  <a:srgbClr val="16305B"/>
                </a:solidFill>
                <a:latin typeface="Tinos" pitchFamily="34" charset="0"/>
                <a:ea typeface="Tinos" pitchFamily="34" charset="-122"/>
                <a:cs typeface="Tinos" pitchFamily="34" charset="-120"/>
              </a:rPr>
              <a:t>Smart recommendations</a:t>
            </a:r>
            <a:endParaRPr lang="en-US" sz="1041" dirty="0"/>
          </a:p>
        </p:txBody>
      </p:sp>
      <p:sp>
        <p:nvSpPr>
          <p:cNvPr id="27" name="Text 25"/>
          <p:cNvSpPr/>
          <p:nvPr/>
        </p:nvSpPr>
        <p:spPr>
          <a:xfrm>
            <a:off x="650081" y="4008983"/>
            <a:ext cx="2262113" cy="339961"/>
          </a:xfrm>
          <a:prstGeom prst="rect">
            <a:avLst/>
          </a:prstGeom>
          <a:noFill/>
          <a:ln/>
        </p:spPr>
        <p:txBody>
          <a:bodyPr wrap="square" lIns="0" tIns="0" rIns="0" bIns="0" rtlCol="0" anchor="t"/>
          <a:lstStyle/>
          <a:p>
            <a:pPr marL="0" indent="0" algn="l">
              <a:lnSpc>
                <a:spcPts val="1221"/>
              </a:lnSpc>
              <a:buNone/>
            </a:pPr>
            <a:r>
              <a:rPr lang="en-US" sz="800" dirty="0">
                <a:solidFill>
                  <a:srgbClr val="23304A"/>
                </a:solidFill>
                <a:latin typeface="Carlito" pitchFamily="34" charset="0"/>
                <a:ea typeface="Carlito" pitchFamily="34" charset="-122"/>
                <a:cs typeface="Carlito" pitchFamily="34" charset="-120"/>
              </a:rPr>
              <a:t>Suggest songs from the favourite artist and unplayed titles.</a:t>
            </a:r>
            <a:endParaRPr lang="en-US" sz="800" dirty="0"/>
          </a:p>
        </p:txBody>
      </p:sp>
      <p:sp>
        <p:nvSpPr>
          <p:cNvPr id="28" name="Text 26"/>
          <p:cNvSpPr/>
          <p:nvPr/>
        </p:nvSpPr>
        <p:spPr>
          <a:xfrm>
            <a:off x="3251522" y="3123605"/>
            <a:ext cx="2640843" cy="1659136"/>
          </a:xfrm>
          <a:prstGeom prst="roundRect">
            <a:avLst>
              <a:gd name="adj" fmla="val 5741"/>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29" name="Text 27"/>
          <p:cNvSpPr/>
          <p:nvPr/>
        </p:nvSpPr>
        <p:spPr>
          <a:xfrm>
            <a:off x="3440832" y="3664967"/>
            <a:ext cx="328613" cy="328613"/>
          </a:xfrm>
          <a:prstGeom prst="roundRect">
            <a:avLst>
              <a:gd name="adj" fmla="val 31884"/>
            </a:avLst>
          </a:prstGeom>
          <a:solidFill>
            <a:srgbClr val="B7791F">
              <a:alpha val="12000"/>
            </a:srgbClr>
          </a:solidFill>
          <a:ln/>
        </p:spPr>
        <p:txBody>
          <a:bodyPr wrap="square" rtlCol="0" anchor="ctr"/>
          <a:lstStyle/>
          <a:p>
            <a:pPr marL="0" indent="0">
              <a:buNone/>
            </a:pPr>
            <a:endParaRPr lang="en-US" dirty="0"/>
          </a:p>
        </p:txBody>
      </p:sp>
      <p:sp>
        <p:nvSpPr>
          <p:cNvPr id="30" name="Text 28"/>
          <p:cNvSpPr/>
          <p:nvPr/>
        </p:nvSpPr>
        <p:spPr>
          <a:xfrm>
            <a:off x="3475658" y="3699793"/>
            <a:ext cx="258961" cy="258961"/>
          </a:xfrm>
          <a:prstGeom prst="rect">
            <a:avLst/>
          </a:prstGeom>
          <a:noFill/>
          <a:ln/>
        </p:spPr>
        <p:txBody>
          <a:bodyPr wrap="none" lIns="0" tIns="0" rIns="0" bIns="0" rtlCol="0" anchor="ctr"/>
          <a:lstStyle/>
          <a:p>
            <a:pPr marL="0" indent="0" algn="ctr">
              <a:buNone/>
            </a:pPr>
            <a:r>
              <a:rPr lang="en-US" sz="1758" dirty="0">
                <a:solidFill>
                  <a:srgbClr val="8A5A14"/>
                </a:solidFill>
                <a:latin typeface="Segoe UI Symbol" pitchFamily="34" charset="0"/>
                <a:ea typeface="Segoe UI Symbol" pitchFamily="34" charset="-122"/>
                <a:cs typeface="Segoe UI Symbol" pitchFamily="34" charset="-120"/>
              </a:rPr>
              <a:t>▣</a:t>
            </a:r>
            <a:endParaRPr lang="en-US" sz="1758" dirty="0"/>
          </a:p>
        </p:txBody>
      </p:sp>
      <p:sp>
        <p:nvSpPr>
          <p:cNvPr id="31" name="Text 29"/>
          <p:cNvSpPr/>
          <p:nvPr/>
        </p:nvSpPr>
        <p:spPr>
          <a:xfrm>
            <a:off x="3869457" y="3730154"/>
            <a:ext cx="1833600" cy="214098"/>
          </a:xfrm>
          <a:prstGeom prst="rect">
            <a:avLst/>
          </a:prstGeom>
          <a:noFill/>
          <a:ln/>
        </p:spPr>
        <p:txBody>
          <a:bodyPr wrap="none" lIns="0" tIns="0" rIns="0" bIns="0" rtlCol="0" anchor="t"/>
          <a:lstStyle/>
          <a:p>
            <a:pPr marL="0" indent="0" algn="l">
              <a:lnSpc>
                <a:spcPts val="1561"/>
              </a:lnSpc>
              <a:buNone/>
            </a:pPr>
            <a:r>
              <a:rPr lang="en-US" sz="1041" dirty="0">
                <a:solidFill>
                  <a:srgbClr val="16305B"/>
                </a:solidFill>
                <a:latin typeface="Tinos" pitchFamily="34" charset="0"/>
                <a:ea typeface="Tinos" pitchFamily="34" charset="-122"/>
                <a:cs typeface="Tinos" pitchFamily="34" charset="-120"/>
              </a:rPr>
              <a:t>Report export</a:t>
            </a:r>
            <a:endParaRPr lang="en-US" sz="1041" dirty="0"/>
          </a:p>
        </p:txBody>
      </p:sp>
      <p:sp>
        <p:nvSpPr>
          <p:cNvPr id="32" name="Text 30"/>
          <p:cNvSpPr/>
          <p:nvPr/>
        </p:nvSpPr>
        <p:spPr>
          <a:xfrm>
            <a:off x="3440832" y="4086448"/>
            <a:ext cx="2371953" cy="169980"/>
          </a:xfrm>
          <a:prstGeom prst="rect">
            <a:avLst/>
          </a:prstGeom>
          <a:noFill/>
          <a:ln/>
        </p:spPr>
        <p:txBody>
          <a:bodyPr wrap="square" lIns="0" tIns="0" rIns="0" bIns="0" rtlCol="0" anchor="t"/>
          <a:lstStyle/>
          <a:p>
            <a:pPr marL="0" indent="0" algn="l">
              <a:lnSpc>
                <a:spcPts val="1221"/>
              </a:lnSpc>
              <a:buNone/>
            </a:pPr>
            <a:r>
              <a:rPr lang="en-US" sz="788" dirty="0">
                <a:solidFill>
                  <a:srgbClr val="23304A"/>
                </a:solidFill>
                <a:latin typeface="Carlito" pitchFamily="34" charset="0"/>
                <a:ea typeface="Carlito" pitchFamily="34" charset="-122"/>
                <a:cs typeface="Carlito" pitchFamily="34" charset="-120"/>
              </a:rPr>
              <a:t>Generate a weekly listening report as PDF or CSV.</a:t>
            </a:r>
            <a:endParaRPr lang="en-US" sz="788" dirty="0"/>
          </a:p>
        </p:txBody>
      </p:sp>
      <p:sp>
        <p:nvSpPr>
          <p:cNvPr id="33" name="Text 31"/>
          <p:cNvSpPr/>
          <p:nvPr/>
        </p:nvSpPr>
        <p:spPr>
          <a:xfrm>
            <a:off x="6042385" y="3123605"/>
            <a:ext cx="2640732" cy="1659136"/>
          </a:xfrm>
          <a:prstGeom prst="roundRect">
            <a:avLst>
              <a:gd name="adj" fmla="val 5741"/>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34" name="Text 32"/>
          <p:cNvSpPr/>
          <p:nvPr/>
        </p:nvSpPr>
        <p:spPr>
          <a:xfrm>
            <a:off x="6231694" y="3587502"/>
            <a:ext cx="328613" cy="328613"/>
          </a:xfrm>
          <a:prstGeom prst="roundRect">
            <a:avLst>
              <a:gd name="adj" fmla="val 31884"/>
            </a:avLst>
          </a:prstGeom>
          <a:solidFill>
            <a:srgbClr val="B7791F">
              <a:alpha val="12000"/>
            </a:srgbClr>
          </a:solidFill>
          <a:ln/>
        </p:spPr>
        <p:txBody>
          <a:bodyPr wrap="square" rtlCol="0" anchor="ctr"/>
          <a:lstStyle/>
          <a:p>
            <a:pPr marL="0" indent="0">
              <a:buNone/>
            </a:pPr>
            <a:endParaRPr lang="en-US" dirty="0"/>
          </a:p>
        </p:txBody>
      </p:sp>
      <p:sp>
        <p:nvSpPr>
          <p:cNvPr id="35" name="Text 33"/>
          <p:cNvSpPr/>
          <p:nvPr/>
        </p:nvSpPr>
        <p:spPr>
          <a:xfrm>
            <a:off x="6266520" y="3622328"/>
            <a:ext cx="258961" cy="258961"/>
          </a:xfrm>
          <a:prstGeom prst="rect">
            <a:avLst/>
          </a:prstGeom>
          <a:noFill/>
          <a:ln/>
        </p:spPr>
        <p:txBody>
          <a:bodyPr wrap="none" lIns="0" tIns="0" rIns="0" bIns="0" rtlCol="0" anchor="ctr"/>
          <a:lstStyle/>
          <a:p>
            <a:pPr marL="0" indent="0" algn="ctr">
              <a:buNone/>
            </a:pPr>
            <a:r>
              <a:rPr lang="en-US" sz="1758" dirty="0">
                <a:solidFill>
                  <a:srgbClr val="8A5A14"/>
                </a:solidFill>
                <a:latin typeface="Segoe UI Symbol" pitchFamily="34" charset="0"/>
                <a:ea typeface="Segoe UI Symbol" pitchFamily="34" charset="-122"/>
                <a:cs typeface="Segoe UI Symbol" pitchFamily="34" charset="-120"/>
              </a:rPr>
              <a:t>▦</a:t>
            </a:r>
            <a:endParaRPr lang="en-US" sz="1758" dirty="0"/>
          </a:p>
        </p:txBody>
      </p:sp>
      <p:sp>
        <p:nvSpPr>
          <p:cNvPr id="36" name="Text 34"/>
          <p:cNvSpPr/>
          <p:nvPr/>
        </p:nvSpPr>
        <p:spPr>
          <a:xfrm>
            <a:off x="6660319" y="3652689"/>
            <a:ext cx="1833488" cy="214098"/>
          </a:xfrm>
          <a:prstGeom prst="rect">
            <a:avLst/>
          </a:prstGeom>
          <a:noFill/>
          <a:ln/>
        </p:spPr>
        <p:txBody>
          <a:bodyPr wrap="none" lIns="0" tIns="0" rIns="0" bIns="0" rtlCol="0" anchor="t"/>
          <a:lstStyle/>
          <a:p>
            <a:pPr marL="0" indent="0" algn="l">
              <a:lnSpc>
                <a:spcPts val="1561"/>
              </a:lnSpc>
              <a:buNone/>
            </a:pPr>
            <a:r>
              <a:rPr lang="en-US" sz="1041" dirty="0">
                <a:solidFill>
                  <a:srgbClr val="16305B"/>
                </a:solidFill>
                <a:latin typeface="Tinos" pitchFamily="34" charset="0"/>
                <a:ea typeface="Tinos" pitchFamily="34" charset="-122"/>
                <a:cs typeface="Tinos" pitchFamily="34" charset="-120"/>
              </a:rPr>
              <a:t>Real audio playback</a:t>
            </a:r>
            <a:endParaRPr lang="en-US" sz="1041" dirty="0"/>
          </a:p>
        </p:txBody>
      </p:sp>
      <p:sp>
        <p:nvSpPr>
          <p:cNvPr id="37" name="Text 35"/>
          <p:cNvSpPr/>
          <p:nvPr/>
        </p:nvSpPr>
        <p:spPr>
          <a:xfrm>
            <a:off x="6231694" y="4008983"/>
            <a:ext cx="2262113" cy="339961"/>
          </a:xfrm>
          <a:prstGeom prst="rect">
            <a:avLst/>
          </a:prstGeom>
          <a:noFill/>
          <a:ln/>
        </p:spPr>
        <p:txBody>
          <a:bodyPr wrap="square" lIns="0" tIns="0" rIns="0" bIns="0" rtlCol="0" anchor="t"/>
          <a:lstStyle/>
          <a:p>
            <a:pPr marL="0" indent="0" algn="l">
              <a:lnSpc>
                <a:spcPts val="1221"/>
              </a:lnSpc>
              <a:buNone/>
            </a:pPr>
            <a:r>
              <a:rPr lang="en-US" sz="800" dirty="0">
                <a:solidFill>
                  <a:srgbClr val="23304A"/>
                </a:solidFill>
                <a:latin typeface="Carlito" pitchFamily="34" charset="0"/>
                <a:ea typeface="Carlito" pitchFamily="34" charset="-122"/>
                <a:cs typeface="Carlito" pitchFamily="34" charset="-120"/>
              </a:rPr>
              <a:t>Integrate an audio library so playing a song actually produces sound.</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2900"/>
            <a:ext cx="328613" cy="328613"/>
          </a:xfrm>
          <a:prstGeom prst="roundRect">
            <a:avLst>
              <a:gd name="adj" fmla="val 28985"/>
            </a:avLst>
          </a:prstGeom>
          <a:solidFill>
            <a:srgbClr val="B7791F"/>
          </a:solidFill>
          <a:ln/>
          <a:effectLst>
            <a:outerShdw blurRad="57150" dist="19050" dir="5400000" algn="bl" rotWithShape="0">
              <a:srgbClr val="B7791F">
                <a:alpha val="22000"/>
              </a:srgbClr>
            </a:outerShdw>
          </a:effectLst>
        </p:spPr>
        <p:txBody>
          <a:bodyPr wrap="square" rtlCol="0" anchor="ctr"/>
          <a:lstStyle/>
          <a:p>
            <a:pPr marL="0" indent="0">
              <a:buNone/>
            </a:pPr>
            <a:endParaRPr lang="en-US" dirty="0"/>
          </a:p>
        </p:txBody>
      </p:sp>
      <p:sp>
        <p:nvSpPr>
          <p:cNvPr id="3" name="Text 1"/>
          <p:cNvSpPr/>
          <p:nvPr/>
        </p:nvSpPr>
        <p:spPr>
          <a:xfrm>
            <a:off x="457200" y="342900"/>
            <a:ext cx="385763" cy="328613"/>
          </a:xfrm>
          <a:prstGeom prst="rect">
            <a:avLst/>
          </a:prstGeom>
          <a:noFill/>
          <a:ln/>
        </p:spPr>
        <p:txBody>
          <a:bodyPr wrap="none" lIns="0" tIns="0" rIns="0" bIns="0" rtlCol="0" anchor="ctr"/>
          <a:lstStyle/>
          <a:p>
            <a:pPr marL="0" indent="0" algn="ctr">
              <a:lnSpc>
                <a:spcPts val="1772"/>
              </a:lnSpc>
              <a:buNone/>
            </a:pPr>
            <a:r>
              <a:rPr lang="en-US" sz="1181" b="1" dirty="0">
                <a:solidFill>
                  <a:srgbClr val="FFFFFF"/>
                </a:solidFill>
                <a:latin typeface="Liberation Sans Narrow" pitchFamily="34" charset="0"/>
                <a:ea typeface="Liberation Sans Narrow" pitchFamily="34" charset="-122"/>
                <a:cs typeface="Liberation Sans Narrow" pitchFamily="34" charset="-120"/>
              </a:rPr>
              <a:t>11</a:t>
            </a:r>
            <a:endParaRPr lang="en-US" sz="1181" dirty="0"/>
          </a:p>
        </p:txBody>
      </p:sp>
      <p:sp>
        <p:nvSpPr>
          <p:cNvPr id="4" name="Text 2"/>
          <p:cNvSpPr/>
          <p:nvPr/>
        </p:nvSpPr>
        <p:spPr>
          <a:xfrm>
            <a:off x="900113" y="373596"/>
            <a:ext cx="7786688" cy="288478"/>
          </a:xfrm>
          <a:prstGeom prst="rect">
            <a:avLst/>
          </a:prstGeom>
          <a:noFill/>
          <a:ln/>
        </p:spPr>
        <p:txBody>
          <a:bodyPr wrap="none" lIns="0" tIns="0" rIns="0" bIns="0" rtlCol="0" anchor="t"/>
          <a:lstStyle/>
          <a:p>
            <a:pPr marL="0" indent="0" algn="l">
              <a:lnSpc>
                <a:spcPts val="2104"/>
              </a:lnSpc>
              <a:buNone/>
            </a:pPr>
            <a:r>
              <a:rPr lang="en-US" sz="1913" b="1" dirty="0">
                <a:solidFill>
                  <a:srgbClr val="16305B"/>
                </a:solidFill>
                <a:latin typeface="Tinos" pitchFamily="34" charset="0"/>
                <a:ea typeface="Tinos" pitchFamily="34" charset="-122"/>
                <a:cs typeface="Tinos" pitchFamily="34" charset="-120"/>
              </a:rPr>
              <a:t>Conclusion</a:t>
            </a:r>
            <a:endParaRPr lang="en-US" sz="1913" dirty="0"/>
          </a:p>
        </p:txBody>
      </p:sp>
      <p:sp>
        <p:nvSpPr>
          <p:cNvPr id="5" name="Text 3"/>
          <p:cNvSpPr/>
          <p:nvPr/>
        </p:nvSpPr>
        <p:spPr>
          <a:xfrm>
            <a:off x="457200" y="785813"/>
            <a:ext cx="8229600" cy="14288"/>
          </a:xfrm>
          <a:prstGeom prst="rect">
            <a:avLst/>
          </a:prstGeom>
          <a:solidFill>
            <a:srgbClr val="D9E2EF"/>
          </a:solidFill>
          <a:ln/>
        </p:spPr>
        <p:txBody>
          <a:bodyPr wrap="square" rtlCol="0" anchor="ctr"/>
          <a:lstStyle/>
          <a:p>
            <a:pPr marL="0" indent="0">
              <a:buNone/>
            </a:pPr>
            <a:endParaRPr lang="en-US" dirty="0"/>
          </a:p>
        </p:txBody>
      </p:sp>
      <p:sp>
        <p:nvSpPr>
          <p:cNvPr id="6" name="Text 4"/>
          <p:cNvSpPr/>
          <p:nvPr/>
        </p:nvSpPr>
        <p:spPr>
          <a:xfrm>
            <a:off x="457200" y="778669"/>
            <a:ext cx="457200" cy="28575"/>
          </a:xfrm>
          <a:prstGeom prst="roundRect">
            <a:avLst>
              <a:gd name="adj" fmla="val 66667"/>
            </a:avLst>
          </a:prstGeom>
          <a:solidFill>
            <a:srgbClr val="B7791F"/>
          </a:solidFill>
          <a:ln/>
        </p:spPr>
        <p:txBody>
          <a:bodyPr wrap="square" rtlCol="0" anchor="ctr"/>
          <a:lstStyle/>
          <a:p>
            <a:pPr marL="0" indent="0">
              <a:buNone/>
            </a:pPr>
            <a:endParaRPr lang="en-US" dirty="0"/>
          </a:p>
        </p:txBody>
      </p:sp>
      <p:sp>
        <p:nvSpPr>
          <p:cNvPr id="7" name="Text 5"/>
          <p:cNvSpPr/>
          <p:nvPr/>
        </p:nvSpPr>
        <p:spPr>
          <a:xfrm>
            <a:off x="460772" y="946547"/>
            <a:ext cx="1115876" cy="654211"/>
          </a:xfrm>
          <a:prstGeom prst="roundRect">
            <a:avLst>
              <a:gd name="adj" fmla="val 14560"/>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8" name="Text 6"/>
          <p:cNvSpPr/>
          <p:nvPr/>
        </p:nvSpPr>
        <p:spPr>
          <a:xfrm>
            <a:off x="901642" y="1064419"/>
            <a:ext cx="234136" cy="275396"/>
          </a:xfrm>
          <a:prstGeom prst="rect">
            <a:avLst/>
          </a:prstGeom>
          <a:noFill/>
          <a:ln/>
        </p:spPr>
        <p:txBody>
          <a:bodyPr wrap="none" lIns="0" tIns="0" rIns="0" bIns="0" rtlCol="0" anchor="t">
            <a:normAutofit/>
          </a:bodyPr>
          <a:lstStyle/>
          <a:p>
            <a:pPr marL="0" indent="0" algn="ctr">
              <a:lnSpc>
                <a:spcPts val="2104"/>
              </a:lnSpc>
              <a:buNone/>
            </a:pPr>
            <a:r>
              <a:rPr lang="en-US" sz="1913" b="1" dirty="0">
                <a:solidFill>
                  <a:srgbClr val="16305B"/>
                </a:solidFill>
                <a:latin typeface="Liberation Sans Narrow" pitchFamily="34" charset="0"/>
                <a:ea typeface="Liberation Sans Narrow" pitchFamily="34" charset="-122"/>
                <a:cs typeface="Liberation Sans Narrow" pitchFamily="34" charset="-120"/>
              </a:rPr>
              <a:t>4</a:t>
            </a:r>
            <a:endParaRPr lang="en-US" sz="1913" dirty="0"/>
          </a:p>
        </p:txBody>
      </p:sp>
      <p:sp>
        <p:nvSpPr>
          <p:cNvPr id="9" name="Text 7"/>
          <p:cNvSpPr/>
          <p:nvPr/>
        </p:nvSpPr>
        <p:spPr>
          <a:xfrm>
            <a:off x="695184" y="1367247"/>
            <a:ext cx="647052" cy="115639"/>
          </a:xfrm>
          <a:prstGeom prst="rect">
            <a:avLst/>
          </a:prstGeom>
          <a:noFill/>
          <a:ln/>
        </p:spPr>
        <p:txBody>
          <a:bodyPr wrap="none" lIns="0" tIns="0" rIns="0" bIns="0" rtlCol="0" anchor="t"/>
          <a:lstStyle/>
          <a:p>
            <a:pPr marL="0" indent="0" algn="ctr">
              <a:lnSpc>
                <a:spcPts val="911"/>
              </a:lnSpc>
              <a:buNone/>
            </a:pPr>
            <a:r>
              <a:rPr lang="en-US" sz="675" kern="0" spc="14" dirty="0">
                <a:solidFill>
                  <a:srgbClr val="5B6B84"/>
                </a:solidFill>
                <a:latin typeface="Carlito" pitchFamily="34" charset="0"/>
                <a:ea typeface="Carlito" pitchFamily="34" charset="-122"/>
                <a:cs typeface="Carlito" pitchFamily="34" charset="-120"/>
              </a:rPr>
              <a:t>Java classes</a:t>
            </a:r>
            <a:endParaRPr lang="en-US" sz="675" dirty="0"/>
          </a:p>
        </p:txBody>
      </p:sp>
      <p:sp>
        <p:nvSpPr>
          <p:cNvPr id="10" name="Text 8"/>
          <p:cNvSpPr/>
          <p:nvPr/>
        </p:nvSpPr>
        <p:spPr>
          <a:xfrm>
            <a:off x="1683804" y="946547"/>
            <a:ext cx="1115988" cy="654211"/>
          </a:xfrm>
          <a:prstGeom prst="roundRect">
            <a:avLst>
              <a:gd name="adj" fmla="val 14560"/>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11" name="Text 9"/>
          <p:cNvSpPr/>
          <p:nvPr/>
        </p:nvSpPr>
        <p:spPr>
          <a:xfrm>
            <a:off x="2124674" y="1064419"/>
            <a:ext cx="234136" cy="275396"/>
          </a:xfrm>
          <a:prstGeom prst="rect">
            <a:avLst/>
          </a:prstGeom>
          <a:noFill/>
          <a:ln/>
        </p:spPr>
        <p:txBody>
          <a:bodyPr wrap="none" lIns="0" tIns="0" rIns="0" bIns="0" rtlCol="0" anchor="t">
            <a:normAutofit/>
          </a:bodyPr>
          <a:lstStyle/>
          <a:p>
            <a:pPr marL="0" indent="0" algn="ctr">
              <a:lnSpc>
                <a:spcPts val="2104"/>
              </a:lnSpc>
              <a:buNone/>
            </a:pPr>
            <a:r>
              <a:rPr lang="en-US" sz="1913" b="1" dirty="0">
                <a:solidFill>
                  <a:srgbClr val="16305B"/>
                </a:solidFill>
                <a:latin typeface="Liberation Sans Narrow" pitchFamily="34" charset="0"/>
                <a:ea typeface="Liberation Sans Narrow" pitchFamily="34" charset="-122"/>
                <a:cs typeface="Liberation Sans Narrow" pitchFamily="34" charset="-120"/>
              </a:rPr>
              <a:t>8</a:t>
            </a:r>
            <a:endParaRPr lang="en-US" sz="1913" dirty="0"/>
          </a:p>
        </p:txBody>
      </p:sp>
      <p:sp>
        <p:nvSpPr>
          <p:cNvPr id="12" name="Text 10"/>
          <p:cNvSpPr/>
          <p:nvPr/>
        </p:nvSpPr>
        <p:spPr>
          <a:xfrm>
            <a:off x="1897029" y="1367247"/>
            <a:ext cx="689538" cy="115639"/>
          </a:xfrm>
          <a:prstGeom prst="rect">
            <a:avLst/>
          </a:prstGeom>
          <a:noFill/>
          <a:ln/>
        </p:spPr>
        <p:txBody>
          <a:bodyPr wrap="none" lIns="0" tIns="0" rIns="0" bIns="0" rtlCol="0" anchor="t"/>
          <a:lstStyle/>
          <a:p>
            <a:pPr marL="0" indent="0" algn="ctr">
              <a:lnSpc>
                <a:spcPts val="911"/>
              </a:lnSpc>
              <a:buNone/>
            </a:pPr>
            <a:r>
              <a:rPr lang="en-US" sz="675" kern="0" spc="14" dirty="0">
                <a:solidFill>
                  <a:srgbClr val="5B6B84"/>
                </a:solidFill>
                <a:latin typeface="Carlito" pitchFamily="34" charset="0"/>
                <a:ea typeface="Carlito" pitchFamily="34" charset="-122"/>
                <a:cs typeface="Carlito" pitchFamily="34" charset="-120"/>
              </a:rPr>
              <a:t>menu features</a:t>
            </a:r>
            <a:endParaRPr lang="en-US" sz="675" dirty="0"/>
          </a:p>
        </p:txBody>
      </p:sp>
      <p:sp>
        <p:nvSpPr>
          <p:cNvPr id="13" name="Text 11"/>
          <p:cNvSpPr/>
          <p:nvPr/>
        </p:nvSpPr>
        <p:spPr>
          <a:xfrm>
            <a:off x="2906948" y="946547"/>
            <a:ext cx="1115876" cy="654211"/>
          </a:xfrm>
          <a:prstGeom prst="roundRect">
            <a:avLst>
              <a:gd name="adj" fmla="val 14560"/>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14" name="Text 12"/>
          <p:cNvSpPr/>
          <p:nvPr/>
        </p:nvSpPr>
        <p:spPr>
          <a:xfrm>
            <a:off x="2996881" y="1064419"/>
            <a:ext cx="936010" cy="275396"/>
          </a:xfrm>
          <a:prstGeom prst="rect">
            <a:avLst/>
          </a:prstGeom>
          <a:noFill/>
          <a:ln/>
        </p:spPr>
        <p:txBody>
          <a:bodyPr wrap="none" lIns="0" tIns="0" rIns="0" bIns="0" rtlCol="0" anchor="t">
            <a:normAutofit/>
          </a:bodyPr>
          <a:lstStyle/>
          <a:p>
            <a:pPr marL="0" indent="0" algn="ctr">
              <a:lnSpc>
                <a:spcPts val="2104"/>
              </a:lnSpc>
              <a:buNone/>
            </a:pPr>
            <a:r>
              <a:rPr lang="en-US" sz="1913" b="1" dirty="0">
                <a:solidFill>
                  <a:srgbClr val="16305B"/>
                </a:solidFill>
                <a:latin typeface="Liberation Sans Narrow" pitchFamily="34" charset="0"/>
                <a:ea typeface="Liberation Sans Narrow" pitchFamily="34" charset="-122"/>
                <a:cs typeface="Liberation Sans Narrow" pitchFamily="34" charset="-120"/>
              </a:rPr>
              <a:t>100%</a:t>
            </a:r>
            <a:endParaRPr lang="en-US" sz="1913" dirty="0"/>
          </a:p>
        </p:txBody>
      </p:sp>
      <p:sp>
        <p:nvSpPr>
          <p:cNvPr id="15" name="Text 13"/>
          <p:cNvSpPr/>
          <p:nvPr/>
        </p:nvSpPr>
        <p:spPr>
          <a:xfrm>
            <a:off x="3109496" y="1367247"/>
            <a:ext cx="710780" cy="115639"/>
          </a:xfrm>
          <a:prstGeom prst="rect">
            <a:avLst/>
          </a:prstGeom>
          <a:noFill/>
          <a:ln/>
        </p:spPr>
        <p:txBody>
          <a:bodyPr wrap="none" lIns="0" tIns="0" rIns="0" bIns="0" rtlCol="0" anchor="t"/>
          <a:lstStyle/>
          <a:p>
            <a:pPr marL="0" indent="0" algn="ctr">
              <a:lnSpc>
                <a:spcPts val="911"/>
              </a:lnSpc>
              <a:buNone/>
            </a:pPr>
            <a:r>
              <a:rPr lang="en-US" sz="675" kern="0" spc="14" dirty="0">
                <a:solidFill>
                  <a:srgbClr val="5B6B84"/>
                </a:solidFill>
                <a:latin typeface="Carlito" pitchFamily="34" charset="0"/>
                <a:ea typeface="Carlito" pitchFamily="34" charset="-122"/>
                <a:cs typeface="Carlito" pitchFamily="34" charset="-120"/>
              </a:rPr>
              <a:t>offline &amp; free</a:t>
            </a:r>
            <a:endParaRPr lang="en-US" sz="675" dirty="0"/>
          </a:p>
        </p:txBody>
      </p:sp>
      <p:sp>
        <p:nvSpPr>
          <p:cNvPr id="16" name="Text 14"/>
          <p:cNvSpPr/>
          <p:nvPr/>
        </p:nvSpPr>
        <p:spPr>
          <a:xfrm>
            <a:off x="4129980" y="946547"/>
            <a:ext cx="1115988" cy="654211"/>
          </a:xfrm>
          <a:prstGeom prst="roundRect">
            <a:avLst>
              <a:gd name="adj" fmla="val 14560"/>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17" name="Text 15"/>
          <p:cNvSpPr/>
          <p:nvPr/>
        </p:nvSpPr>
        <p:spPr>
          <a:xfrm>
            <a:off x="4570850" y="1064419"/>
            <a:ext cx="234136" cy="275396"/>
          </a:xfrm>
          <a:prstGeom prst="rect">
            <a:avLst/>
          </a:prstGeom>
          <a:noFill/>
          <a:ln/>
        </p:spPr>
        <p:txBody>
          <a:bodyPr wrap="none" lIns="0" tIns="0" rIns="0" bIns="0" rtlCol="0" anchor="t">
            <a:normAutofit/>
          </a:bodyPr>
          <a:lstStyle/>
          <a:p>
            <a:pPr marL="0" indent="0" algn="ctr">
              <a:lnSpc>
                <a:spcPts val="2104"/>
              </a:lnSpc>
              <a:buNone/>
            </a:pPr>
            <a:r>
              <a:rPr lang="en-US" sz="1913" b="1" dirty="0">
                <a:solidFill>
                  <a:srgbClr val="16305B"/>
                </a:solidFill>
                <a:latin typeface="Liberation Sans Narrow" pitchFamily="34" charset="0"/>
                <a:ea typeface="Liberation Sans Narrow" pitchFamily="34" charset="-122"/>
                <a:cs typeface="Liberation Sans Narrow" pitchFamily="34" charset="-120"/>
              </a:rPr>
              <a:t>0</a:t>
            </a:r>
            <a:endParaRPr lang="en-US" sz="1913" dirty="0"/>
          </a:p>
        </p:txBody>
      </p:sp>
      <p:sp>
        <p:nvSpPr>
          <p:cNvPr id="18" name="Text 16"/>
          <p:cNvSpPr/>
          <p:nvPr/>
        </p:nvSpPr>
        <p:spPr>
          <a:xfrm>
            <a:off x="4204990" y="1367247"/>
            <a:ext cx="965969" cy="115639"/>
          </a:xfrm>
          <a:prstGeom prst="rect">
            <a:avLst/>
          </a:prstGeom>
          <a:noFill/>
          <a:ln/>
        </p:spPr>
        <p:txBody>
          <a:bodyPr wrap="none" lIns="0" tIns="0" rIns="0" bIns="0" rtlCol="0" anchor="t"/>
          <a:lstStyle/>
          <a:p>
            <a:pPr marL="0" indent="0" algn="ctr">
              <a:lnSpc>
                <a:spcPts val="911"/>
              </a:lnSpc>
              <a:buNone/>
            </a:pPr>
            <a:r>
              <a:rPr lang="en-US" sz="675" kern="0" spc="14" dirty="0">
                <a:solidFill>
                  <a:srgbClr val="5B6B84"/>
                </a:solidFill>
                <a:latin typeface="Carlito" pitchFamily="34" charset="0"/>
                <a:ea typeface="Carlito" pitchFamily="34" charset="-122"/>
                <a:cs typeface="Carlito" pitchFamily="34" charset="-120"/>
              </a:rPr>
              <a:t>manual entries per play</a:t>
            </a:r>
            <a:endParaRPr lang="en-US" sz="675" dirty="0"/>
          </a:p>
        </p:txBody>
      </p:sp>
      <p:sp>
        <p:nvSpPr>
          <p:cNvPr id="19" name="Text 17"/>
          <p:cNvSpPr/>
          <p:nvPr/>
        </p:nvSpPr>
        <p:spPr>
          <a:xfrm>
            <a:off x="457200" y="1732917"/>
            <a:ext cx="5031957" cy="219885"/>
          </a:xfrm>
          <a:prstGeom prst="rect">
            <a:avLst/>
          </a:prstGeom>
          <a:noFill/>
          <a:ln/>
        </p:spPr>
        <p:txBody>
          <a:bodyPr wrap="none" lIns="0" tIns="0" rIns="0" bIns="0" rtlCol="0" anchor="t"/>
          <a:lstStyle/>
          <a:p>
            <a:pPr marL="0" indent="0" algn="l">
              <a:lnSpc>
                <a:spcPts val="1603"/>
              </a:lnSpc>
              <a:buNone/>
            </a:pPr>
            <a:r>
              <a:rPr lang="en-US" sz="1069" dirty="0">
                <a:solidFill>
                  <a:srgbClr val="16305B"/>
                </a:solidFill>
                <a:latin typeface="Tinos" pitchFamily="34" charset="0"/>
                <a:ea typeface="Tinos" pitchFamily="34" charset="-122"/>
                <a:cs typeface="Tinos" pitchFamily="34" charset="-120"/>
              </a:rPr>
              <a:t>What we achieved</a:t>
            </a:r>
            <a:endParaRPr lang="en-US" sz="1069" dirty="0"/>
          </a:p>
        </p:txBody>
      </p:sp>
      <p:sp>
        <p:nvSpPr>
          <p:cNvPr id="20" name="Text 18"/>
          <p:cNvSpPr/>
          <p:nvPr/>
        </p:nvSpPr>
        <p:spPr>
          <a:xfrm>
            <a:off x="460772" y="2011524"/>
            <a:ext cx="4785196" cy="2342592"/>
          </a:xfrm>
          <a:prstGeom prst="roundRect">
            <a:avLst>
              <a:gd name="adj" fmla="val 4066"/>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21" name="Text 19"/>
          <p:cNvSpPr/>
          <p:nvPr/>
        </p:nvSpPr>
        <p:spPr>
          <a:xfrm>
            <a:off x="621506" y="2265015"/>
            <a:ext cx="142875" cy="142875"/>
          </a:xfrm>
          <a:prstGeom prst="rect">
            <a:avLst/>
          </a:prstGeom>
          <a:noFill/>
          <a:ln/>
        </p:spPr>
        <p:txBody>
          <a:bodyPr wrap="none" lIns="0" tIns="0" rIns="0" bIns="0" rtlCol="0" anchor="ctr"/>
          <a:lstStyle/>
          <a:p>
            <a:pPr marL="0" indent="0" algn="ctr">
              <a:buNone/>
            </a:pPr>
            <a:r>
              <a:rPr lang="en-US" sz="1406" dirty="0">
                <a:solidFill>
                  <a:srgbClr val="B7791F"/>
                </a:solidFill>
                <a:latin typeface="Segoe UI Symbol" pitchFamily="34" charset="0"/>
                <a:ea typeface="Segoe UI Symbol" pitchFamily="34" charset="-122"/>
                <a:cs typeface="Segoe UI Symbol" pitchFamily="34" charset="-120"/>
              </a:rPr>
              <a:t>✓</a:t>
            </a:r>
            <a:endParaRPr lang="en-US" sz="1406" dirty="0"/>
          </a:p>
        </p:txBody>
      </p:sp>
      <p:sp>
        <p:nvSpPr>
          <p:cNvPr id="22" name="Text 20"/>
          <p:cNvSpPr/>
          <p:nvPr/>
        </p:nvSpPr>
        <p:spPr>
          <a:xfrm>
            <a:off x="850106" y="2181076"/>
            <a:ext cx="4235128" cy="335613"/>
          </a:xfrm>
          <a:prstGeom prst="rect">
            <a:avLst/>
          </a:prstGeom>
          <a:noFill/>
          <a:ln/>
        </p:spPr>
        <p:txBody>
          <a:bodyPr wrap="square" lIns="0" tIns="0" rIns="0" bIns="0" rtlCol="0" anchor="t"/>
          <a:lstStyle/>
          <a:p>
            <a:pPr marL="0" indent="0" algn="l">
              <a:lnSpc>
                <a:spcPts val="1223"/>
              </a:lnSpc>
              <a:buNone/>
            </a:pPr>
            <a:r>
              <a:rPr lang="en-US" sz="816" dirty="0">
                <a:solidFill>
                  <a:srgbClr val="23304A"/>
                </a:solidFill>
                <a:latin typeface="Carlito" pitchFamily="34" charset="0"/>
                <a:ea typeface="Carlito" pitchFamily="34" charset="-122"/>
                <a:cs typeface="Carlito" pitchFamily="34" charset="-120"/>
              </a:rPr>
              <a:t>A complete playlist manager built in Core Java — Song, Playlist, StatsManager and Main classes</a:t>
            </a:r>
            <a:endParaRPr lang="en-US" sz="816" dirty="0"/>
          </a:p>
        </p:txBody>
      </p:sp>
      <p:sp>
        <p:nvSpPr>
          <p:cNvPr id="23" name="Shape 21"/>
          <p:cNvSpPr/>
          <p:nvPr/>
        </p:nvSpPr>
        <p:spPr>
          <a:xfrm>
            <a:off x="621506" y="2618631"/>
            <a:ext cx="4463728" cy="0"/>
          </a:xfrm>
          <a:prstGeom prst="line">
            <a:avLst/>
          </a:prstGeom>
          <a:noFill/>
          <a:ln w="7144">
            <a:solidFill>
              <a:srgbClr val="D9E2EF"/>
            </a:solidFill>
            <a:prstDash val="solid"/>
          </a:ln>
        </p:spPr>
        <p:txBody>
          <a:bodyPr/>
          <a:lstStyle/>
          <a:p>
            <a:endParaRPr lang="en-IN"/>
          </a:p>
        </p:txBody>
      </p:sp>
      <p:sp>
        <p:nvSpPr>
          <p:cNvPr id="24" name="Text 22"/>
          <p:cNvSpPr/>
          <p:nvPr/>
        </p:nvSpPr>
        <p:spPr>
          <a:xfrm>
            <a:off x="621506" y="2829260"/>
            <a:ext cx="142875" cy="142875"/>
          </a:xfrm>
          <a:prstGeom prst="rect">
            <a:avLst/>
          </a:prstGeom>
          <a:noFill/>
          <a:ln/>
        </p:spPr>
        <p:txBody>
          <a:bodyPr wrap="none" lIns="0" tIns="0" rIns="0" bIns="0" rtlCol="0" anchor="ctr"/>
          <a:lstStyle/>
          <a:p>
            <a:pPr marL="0" indent="0" algn="ctr">
              <a:buNone/>
            </a:pPr>
            <a:r>
              <a:rPr lang="en-US" sz="1406" dirty="0">
                <a:solidFill>
                  <a:srgbClr val="B7791F"/>
                </a:solidFill>
                <a:latin typeface="Segoe UI Symbol" pitchFamily="34" charset="0"/>
                <a:ea typeface="Segoe UI Symbol" pitchFamily="34" charset="-122"/>
                <a:cs typeface="Segoe UI Symbol" pitchFamily="34" charset="-120"/>
              </a:rPr>
              <a:t>✓</a:t>
            </a:r>
            <a:endParaRPr lang="en-US" sz="1406" dirty="0"/>
          </a:p>
        </p:txBody>
      </p:sp>
      <p:sp>
        <p:nvSpPr>
          <p:cNvPr id="25" name="Text 23"/>
          <p:cNvSpPr/>
          <p:nvPr/>
        </p:nvSpPr>
        <p:spPr>
          <a:xfrm>
            <a:off x="850106" y="2823009"/>
            <a:ext cx="4235128" cy="167807"/>
          </a:xfrm>
          <a:prstGeom prst="rect">
            <a:avLst/>
          </a:prstGeom>
          <a:noFill/>
          <a:ln/>
        </p:spPr>
        <p:txBody>
          <a:bodyPr wrap="square" lIns="0" tIns="0" rIns="0" bIns="0" rtlCol="0" anchor="t"/>
          <a:lstStyle/>
          <a:p>
            <a:pPr marL="0" indent="0" algn="l">
              <a:lnSpc>
                <a:spcPts val="1223"/>
              </a:lnSpc>
              <a:buNone/>
            </a:pPr>
            <a:r>
              <a:rPr lang="en-US" sz="816" dirty="0">
                <a:solidFill>
                  <a:srgbClr val="23304A"/>
                </a:solidFill>
                <a:latin typeface="Carlito" pitchFamily="34" charset="0"/>
                <a:ea typeface="Carlito" pitchFamily="34" charset="-122"/>
                <a:cs typeface="Carlito" pitchFamily="34" charset="-120"/>
              </a:rPr>
              <a:t>Automatic play counting with a live statistics engine (totals, favourite artist, Top-5)</a:t>
            </a:r>
            <a:endParaRPr lang="en-US" sz="816" dirty="0"/>
          </a:p>
        </p:txBody>
      </p:sp>
      <p:sp>
        <p:nvSpPr>
          <p:cNvPr id="26" name="Shape 24"/>
          <p:cNvSpPr/>
          <p:nvPr/>
        </p:nvSpPr>
        <p:spPr>
          <a:xfrm>
            <a:off x="621506" y="3182875"/>
            <a:ext cx="4463728" cy="0"/>
          </a:xfrm>
          <a:prstGeom prst="line">
            <a:avLst/>
          </a:prstGeom>
          <a:noFill/>
          <a:ln w="7144">
            <a:solidFill>
              <a:srgbClr val="D9E2EF"/>
            </a:solidFill>
            <a:prstDash val="solid"/>
          </a:ln>
        </p:spPr>
        <p:txBody>
          <a:bodyPr/>
          <a:lstStyle/>
          <a:p>
            <a:endParaRPr lang="en-IN"/>
          </a:p>
        </p:txBody>
      </p:sp>
      <p:sp>
        <p:nvSpPr>
          <p:cNvPr id="27" name="Text 25"/>
          <p:cNvSpPr/>
          <p:nvPr/>
        </p:nvSpPr>
        <p:spPr>
          <a:xfrm>
            <a:off x="621506" y="3393504"/>
            <a:ext cx="142875" cy="142875"/>
          </a:xfrm>
          <a:prstGeom prst="rect">
            <a:avLst/>
          </a:prstGeom>
          <a:noFill/>
          <a:ln/>
        </p:spPr>
        <p:txBody>
          <a:bodyPr wrap="none" lIns="0" tIns="0" rIns="0" bIns="0" rtlCol="0" anchor="ctr"/>
          <a:lstStyle/>
          <a:p>
            <a:pPr marL="0" indent="0" algn="ctr">
              <a:buNone/>
            </a:pPr>
            <a:r>
              <a:rPr lang="en-US" sz="1406" dirty="0">
                <a:solidFill>
                  <a:srgbClr val="B7791F"/>
                </a:solidFill>
                <a:latin typeface="Segoe UI Symbol" pitchFamily="34" charset="0"/>
                <a:ea typeface="Segoe UI Symbol" pitchFamily="34" charset="-122"/>
                <a:cs typeface="Segoe UI Symbol" pitchFamily="34" charset="-120"/>
              </a:rPr>
              <a:t>✓</a:t>
            </a:r>
            <a:endParaRPr lang="en-US" sz="1406" dirty="0"/>
          </a:p>
        </p:txBody>
      </p:sp>
      <p:sp>
        <p:nvSpPr>
          <p:cNvPr id="28" name="Text 26"/>
          <p:cNvSpPr/>
          <p:nvPr/>
        </p:nvSpPr>
        <p:spPr>
          <a:xfrm>
            <a:off x="850106" y="3387254"/>
            <a:ext cx="4235128" cy="167807"/>
          </a:xfrm>
          <a:prstGeom prst="rect">
            <a:avLst/>
          </a:prstGeom>
          <a:noFill/>
          <a:ln/>
        </p:spPr>
        <p:txBody>
          <a:bodyPr wrap="square" lIns="0" tIns="0" rIns="0" bIns="0" rtlCol="0" anchor="t"/>
          <a:lstStyle/>
          <a:p>
            <a:pPr marL="0" indent="0" algn="l">
              <a:lnSpc>
                <a:spcPts val="1223"/>
              </a:lnSpc>
              <a:buNone/>
            </a:pPr>
            <a:r>
              <a:rPr lang="en-US" sz="816" dirty="0">
                <a:solidFill>
                  <a:srgbClr val="23304A"/>
                </a:solidFill>
                <a:latin typeface="Carlito" pitchFamily="34" charset="0"/>
                <a:ea typeface="Carlito" pitchFamily="34" charset="-122"/>
                <a:cs typeface="Carlito" pitchFamily="34" charset="-120"/>
              </a:rPr>
              <a:t>Search, sort and persistent text-file storage proven across restarts</a:t>
            </a:r>
            <a:endParaRPr lang="en-US" sz="816" dirty="0"/>
          </a:p>
        </p:txBody>
      </p:sp>
      <p:sp>
        <p:nvSpPr>
          <p:cNvPr id="29" name="Shape 27"/>
          <p:cNvSpPr/>
          <p:nvPr/>
        </p:nvSpPr>
        <p:spPr>
          <a:xfrm>
            <a:off x="621506" y="3747120"/>
            <a:ext cx="4463728" cy="0"/>
          </a:xfrm>
          <a:prstGeom prst="line">
            <a:avLst/>
          </a:prstGeom>
          <a:noFill/>
          <a:ln w="7144">
            <a:solidFill>
              <a:srgbClr val="D9E2EF"/>
            </a:solidFill>
            <a:prstDash val="solid"/>
          </a:ln>
        </p:spPr>
        <p:txBody>
          <a:bodyPr/>
          <a:lstStyle/>
          <a:p>
            <a:endParaRPr lang="en-IN"/>
          </a:p>
        </p:txBody>
      </p:sp>
      <p:sp>
        <p:nvSpPr>
          <p:cNvPr id="30" name="Text 28"/>
          <p:cNvSpPr/>
          <p:nvPr/>
        </p:nvSpPr>
        <p:spPr>
          <a:xfrm>
            <a:off x="621506" y="3957749"/>
            <a:ext cx="142875" cy="142875"/>
          </a:xfrm>
          <a:prstGeom prst="rect">
            <a:avLst/>
          </a:prstGeom>
          <a:noFill/>
          <a:ln/>
        </p:spPr>
        <p:txBody>
          <a:bodyPr wrap="none" lIns="0" tIns="0" rIns="0" bIns="0" rtlCol="0" anchor="ctr"/>
          <a:lstStyle/>
          <a:p>
            <a:pPr marL="0" indent="0" algn="ctr">
              <a:buNone/>
            </a:pPr>
            <a:r>
              <a:rPr lang="en-US" sz="1406" dirty="0">
                <a:solidFill>
                  <a:srgbClr val="B7791F"/>
                </a:solidFill>
                <a:latin typeface="Segoe UI Symbol" pitchFamily="34" charset="0"/>
                <a:ea typeface="Segoe UI Symbol" pitchFamily="34" charset="-122"/>
                <a:cs typeface="Segoe UI Symbol" pitchFamily="34" charset="-120"/>
              </a:rPr>
              <a:t>✓</a:t>
            </a:r>
            <a:endParaRPr lang="en-US" sz="1406" dirty="0"/>
          </a:p>
        </p:txBody>
      </p:sp>
      <p:sp>
        <p:nvSpPr>
          <p:cNvPr id="31" name="Text 29"/>
          <p:cNvSpPr/>
          <p:nvPr/>
        </p:nvSpPr>
        <p:spPr>
          <a:xfrm>
            <a:off x="850106" y="3951498"/>
            <a:ext cx="4235128" cy="167807"/>
          </a:xfrm>
          <a:prstGeom prst="rect">
            <a:avLst/>
          </a:prstGeom>
          <a:noFill/>
          <a:ln/>
        </p:spPr>
        <p:txBody>
          <a:bodyPr wrap="square" lIns="0" tIns="0" rIns="0" bIns="0" rtlCol="0" anchor="t"/>
          <a:lstStyle/>
          <a:p>
            <a:pPr marL="0" indent="0" algn="l">
              <a:lnSpc>
                <a:spcPts val="1223"/>
              </a:lnSpc>
              <a:buNone/>
            </a:pPr>
            <a:r>
              <a:rPr lang="en-US" sz="816" dirty="0">
                <a:solidFill>
                  <a:srgbClr val="23304A"/>
                </a:solidFill>
                <a:latin typeface="Carlito" pitchFamily="34" charset="0"/>
                <a:ea typeface="Carlito" pitchFamily="34" charset="-122"/>
                <a:cs typeface="Carlito" pitchFamily="34" charset="-120"/>
              </a:rPr>
              <a:t>All five objectives from Slide 3 verified in the working demo</a:t>
            </a:r>
            <a:endParaRPr lang="en-US" sz="816" dirty="0"/>
          </a:p>
        </p:txBody>
      </p:sp>
      <p:sp>
        <p:nvSpPr>
          <p:cNvPr id="32" name="Text 30"/>
          <p:cNvSpPr/>
          <p:nvPr/>
        </p:nvSpPr>
        <p:spPr>
          <a:xfrm>
            <a:off x="5424562" y="946547"/>
            <a:ext cx="3258666" cy="3407569"/>
          </a:xfrm>
          <a:prstGeom prst="roundRect">
            <a:avLst>
              <a:gd name="adj" fmla="val 2923"/>
            </a:avLst>
          </a:prstGeom>
          <a:solidFill>
            <a:srgbClr val="F4F7FB"/>
          </a:solidFill>
          <a:ln w="7144">
            <a:solidFill>
              <a:srgbClr val="D9E2EF"/>
            </a:solidFill>
            <a:prstDash val="solid"/>
          </a:ln>
        </p:spPr>
        <p:txBody>
          <a:bodyPr wrap="square" rtlCol="0" anchor="ctr"/>
          <a:lstStyle/>
          <a:p>
            <a:pPr marL="0" indent="0">
              <a:buNone/>
            </a:pPr>
            <a:endParaRPr lang="en-US" dirty="0"/>
          </a:p>
        </p:txBody>
      </p:sp>
      <p:sp>
        <p:nvSpPr>
          <p:cNvPr id="33" name="Text 31"/>
          <p:cNvSpPr/>
          <p:nvPr/>
        </p:nvSpPr>
        <p:spPr>
          <a:xfrm>
            <a:off x="5585296" y="1092994"/>
            <a:ext cx="2937197" cy="204740"/>
          </a:xfrm>
          <a:prstGeom prst="rect">
            <a:avLst/>
          </a:prstGeom>
          <a:noFill/>
          <a:ln/>
        </p:spPr>
        <p:txBody>
          <a:bodyPr wrap="none" lIns="0" tIns="0" rIns="0" bIns="0" rtlCol="0" anchor="t">
            <a:normAutofit/>
          </a:bodyPr>
          <a:lstStyle/>
          <a:p>
            <a:pPr marL="0" indent="0" algn="l">
              <a:lnSpc>
                <a:spcPts val="1603"/>
              </a:lnSpc>
              <a:buNone/>
            </a:pPr>
            <a:r>
              <a:rPr lang="en-US" sz="1069" dirty="0">
                <a:solidFill>
                  <a:srgbClr val="16305B"/>
                </a:solidFill>
                <a:latin typeface="Tinos" pitchFamily="34" charset="0"/>
                <a:ea typeface="Tinos" pitchFamily="34" charset="-122"/>
                <a:cs typeface="Tinos" pitchFamily="34" charset="-120"/>
              </a:rPr>
              <a:t>Learning outcomes</a:t>
            </a:r>
            <a:endParaRPr lang="en-US" sz="1069" dirty="0"/>
          </a:p>
        </p:txBody>
      </p:sp>
      <p:sp>
        <p:nvSpPr>
          <p:cNvPr id="34" name="Text 32"/>
          <p:cNvSpPr/>
          <p:nvPr/>
        </p:nvSpPr>
        <p:spPr>
          <a:xfrm>
            <a:off x="5585296" y="1542715"/>
            <a:ext cx="135731" cy="135731"/>
          </a:xfrm>
          <a:prstGeom prst="rect">
            <a:avLst/>
          </a:prstGeom>
          <a:noFill/>
          <a:ln/>
        </p:spPr>
        <p:txBody>
          <a:bodyPr wrap="none" lIns="0" tIns="0" rIns="0" bIns="0" rtlCol="0" anchor="ctr"/>
          <a:lstStyle/>
          <a:p>
            <a:pPr marL="0" indent="0" algn="ctr">
              <a:buNone/>
            </a:pPr>
            <a:r>
              <a:rPr lang="en-US" sz="1336" dirty="0">
                <a:solidFill>
                  <a:srgbClr val="8A5A14"/>
                </a:solidFill>
                <a:latin typeface="Segoe UI Symbol" pitchFamily="34" charset="0"/>
                <a:ea typeface="Segoe UI Symbol" pitchFamily="34" charset="-122"/>
                <a:cs typeface="Segoe UI Symbol" pitchFamily="34" charset="-120"/>
              </a:rPr>
              <a:t>▿</a:t>
            </a:r>
            <a:endParaRPr lang="en-US" sz="1336" dirty="0"/>
          </a:p>
        </p:txBody>
      </p:sp>
      <p:sp>
        <p:nvSpPr>
          <p:cNvPr id="35" name="Text 33"/>
          <p:cNvSpPr/>
          <p:nvPr/>
        </p:nvSpPr>
        <p:spPr>
          <a:xfrm>
            <a:off x="5806753" y="1538027"/>
            <a:ext cx="2715741" cy="159081"/>
          </a:xfrm>
          <a:prstGeom prst="rect">
            <a:avLst/>
          </a:prstGeom>
          <a:noFill/>
          <a:ln/>
        </p:spPr>
        <p:txBody>
          <a:bodyPr wrap="square" lIns="0" tIns="0" rIns="0" bIns="0" rtlCol="0" anchor="t"/>
          <a:lstStyle/>
          <a:p>
            <a:pPr marL="0" indent="0" algn="l">
              <a:lnSpc>
                <a:spcPts val="1142"/>
              </a:lnSpc>
              <a:buNone/>
            </a:pPr>
            <a:r>
              <a:rPr lang="en-US" sz="788" b="1" dirty="0">
                <a:solidFill>
                  <a:srgbClr val="16305B"/>
                </a:solidFill>
                <a:latin typeface="Carlito" pitchFamily="34" charset="0"/>
                <a:ea typeface="Carlito" pitchFamily="34" charset="-122"/>
                <a:cs typeface="Carlito" pitchFamily="34" charset="-120"/>
              </a:rPr>
              <a:t>OOP encapsulation</a:t>
            </a:r>
            <a:r>
              <a:rPr lang="en-US" sz="788" dirty="0">
                <a:solidFill>
                  <a:srgbClr val="23304A"/>
                </a:solidFill>
                <a:latin typeface="Carlito" pitchFamily="34" charset="0"/>
                <a:ea typeface="Carlito" pitchFamily="34" charset="-122"/>
                <a:cs typeface="Carlito" pitchFamily="34" charset="-120"/>
              </a:rPr>
              <a:t> — private data behind public methods</a:t>
            </a:r>
            <a:endParaRPr lang="en-US" sz="788" dirty="0"/>
          </a:p>
        </p:txBody>
      </p:sp>
      <p:sp>
        <p:nvSpPr>
          <p:cNvPr id="36" name="Shape 34"/>
          <p:cNvSpPr/>
          <p:nvPr/>
        </p:nvSpPr>
        <p:spPr>
          <a:xfrm>
            <a:off x="5585296" y="1899568"/>
            <a:ext cx="2937197" cy="0"/>
          </a:xfrm>
          <a:prstGeom prst="line">
            <a:avLst/>
          </a:prstGeom>
          <a:noFill/>
          <a:ln w="7144">
            <a:solidFill>
              <a:srgbClr val="D9E2EF"/>
            </a:solidFill>
            <a:prstDash val="solid"/>
          </a:ln>
        </p:spPr>
        <p:txBody>
          <a:bodyPr/>
          <a:lstStyle/>
          <a:p>
            <a:endParaRPr lang="en-IN"/>
          </a:p>
        </p:txBody>
      </p:sp>
      <p:sp>
        <p:nvSpPr>
          <p:cNvPr id="37" name="Text 35"/>
          <p:cNvSpPr/>
          <p:nvPr/>
        </p:nvSpPr>
        <p:spPr>
          <a:xfrm>
            <a:off x="5585296" y="2120689"/>
            <a:ext cx="135731" cy="135731"/>
          </a:xfrm>
          <a:prstGeom prst="rect">
            <a:avLst/>
          </a:prstGeom>
          <a:noFill/>
          <a:ln/>
        </p:spPr>
        <p:txBody>
          <a:bodyPr wrap="none" lIns="0" tIns="0" rIns="0" bIns="0" rtlCol="0" anchor="ctr"/>
          <a:lstStyle/>
          <a:p>
            <a:pPr marL="0" indent="0" algn="ctr">
              <a:buNone/>
            </a:pPr>
            <a:r>
              <a:rPr lang="en-US" sz="1336" dirty="0">
                <a:solidFill>
                  <a:srgbClr val="8A5A14"/>
                </a:solidFill>
                <a:latin typeface="Segoe UI Symbol" pitchFamily="34" charset="0"/>
                <a:ea typeface="Segoe UI Symbol" pitchFamily="34" charset="-122"/>
                <a:cs typeface="Segoe UI Symbol" pitchFamily="34" charset="-120"/>
              </a:rPr>
              <a:t>▿</a:t>
            </a:r>
            <a:endParaRPr lang="en-US" sz="1336" dirty="0"/>
          </a:p>
        </p:txBody>
      </p:sp>
      <p:sp>
        <p:nvSpPr>
          <p:cNvPr id="38" name="Text 36"/>
          <p:cNvSpPr/>
          <p:nvPr/>
        </p:nvSpPr>
        <p:spPr>
          <a:xfrm>
            <a:off x="5806753" y="2043559"/>
            <a:ext cx="2715741" cy="318162"/>
          </a:xfrm>
          <a:prstGeom prst="rect">
            <a:avLst/>
          </a:prstGeom>
          <a:noFill/>
          <a:ln/>
        </p:spPr>
        <p:txBody>
          <a:bodyPr wrap="square" lIns="0" tIns="0" rIns="0" bIns="0" rtlCol="0" anchor="t"/>
          <a:lstStyle/>
          <a:p>
            <a:pPr marL="0" indent="0" algn="l">
              <a:lnSpc>
                <a:spcPts val="1142"/>
              </a:lnSpc>
              <a:buNone/>
            </a:pPr>
            <a:r>
              <a:rPr lang="en-US" sz="800" b="1" dirty="0">
                <a:solidFill>
                  <a:srgbClr val="16305B"/>
                </a:solidFill>
                <a:latin typeface="Carlito" pitchFamily="34" charset="0"/>
                <a:ea typeface="Carlito" pitchFamily="34" charset="-122"/>
                <a:cs typeface="Carlito" pitchFamily="34" charset="-120"/>
              </a:rPr>
              <a:t>Collections</a:t>
            </a:r>
            <a:r>
              <a:rPr lang="en-US" sz="800" dirty="0">
                <a:solidFill>
                  <a:srgbClr val="23304A"/>
                </a:solidFill>
                <a:latin typeface="Carlito" pitchFamily="34" charset="0"/>
                <a:ea typeface="Carlito" pitchFamily="34" charset="-122"/>
                <a:cs typeface="Carlito" pitchFamily="34" charset="-120"/>
              </a:rPr>
              <a:t> — ArrayList for storage, HashMap for artist totals</a:t>
            </a:r>
            <a:endParaRPr lang="en-US" sz="800" dirty="0"/>
          </a:p>
        </p:txBody>
      </p:sp>
      <p:sp>
        <p:nvSpPr>
          <p:cNvPr id="39" name="Shape 37"/>
          <p:cNvSpPr/>
          <p:nvPr/>
        </p:nvSpPr>
        <p:spPr>
          <a:xfrm>
            <a:off x="5585296" y="2477542"/>
            <a:ext cx="2937197" cy="0"/>
          </a:xfrm>
          <a:prstGeom prst="line">
            <a:avLst/>
          </a:prstGeom>
          <a:noFill/>
          <a:ln w="7144">
            <a:solidFill>
              <a:srgbClr val="D9E2EF"/>
            </a:solidFill>
            <a:prstDash val="solid"/>
          </a:ln>
        </p:spPr>
        <p:txBody>
          <a:bodyPr/>
          <a:lstStyle/>
          <a:p>
            <a:endParaRPr lang="en-IN"/>
          </a:p>
        </p:txBody>
      </p:sp>
      <p:sp>
        <p:nvSpPr>
          <p:cNvPr id="40" name="Text 38"/>
          <p:cNvSpPr/>
          <p:nvPr/>
        </p:nvSpPr>
        <p:spPr>
          <a:xfrm>
            <a:off x="5585296" y="2698663"/>
            <a:ext cx="135731" cy="135731"/>
          </a:xfrm>
          <a:prstGeom prst="rect">
            <a:avLst/>
          </a:prstGeom>
          <a:noFill/>
          <a:ln/>
        </p:spPr>
        <p:txBody>
          <a:bodyPr wrap="none" lIns="0" tIns="0" rIns="0" bIns="0" rtlCol="0" anchor="ctr"/>
          <a:lstStyle/>
          <a:p>
            <a:pPr marL="0" indent="0" algn="ctr">
              <a:buNone/>
            </a:pPr>
            <a:r>
              <a:rPr lang="en-US" sz="1336" dirty="0">
                <a:solidFill>
                  <a:srgbClr val="8A5A14"/>
                </a:solidFill>
                <a:latin typeface="Segoe UI Symbol" pitchFamily="34" charset="0"/>
                <a:ea typeface="Segoe UI Symbol" pitchFamily="34" charset="-122"/>
                <a:cs typeface="Segoe UI Symbol" pitchFamily="34" charset="-120"/>
              </a:rPr>
              <a:t>▿</a:t>
            </a:r>
            <a:endParaRPr lang="en-US" sz="1336" dirty="0"/>
          </a:p>
        </p:txBody>
      </p:sp>
      <p:sp>
        <p:nvSpPr>
          <p:cNvPr id="41" name="Text 39"/>
          <p:cNvSpPr/>
          <p:nvPr/>
        </p:nvSpPr>
        <p:spPr>
          <a:xfrm>
            <a:off x="5806753" y="2693975"/>
            <a:ext cx="2715741" cy="159081"/>
          </a:xfrm>
          <a:prstGeom prst="rect">
            <a:avLst/>
          </a:prstGeom>
          <a:noFill/>
          <a:ln/>
        </p:spPr>
        <p:txBody>
          <a:bodyPr wrap="square" lIns="0" tIns="0" rIns="0" bIns="0" rtlCol="0" anchor="t"/>
          <a:lstStyle/>
          <a:p>
            <a:pPr marL="0" indent="0" algn="l">
              <a:lnSpc>
                <a:spcPts val="1142"/>
              </a:lnSpc>
              <a:buNone/>
            </a:pPr>
            <a:r>
              <a:rPr lang="en-US" sz="788" b="1" dirty="0">
                <a:solidFill>
                  <a:srgbClr val="16305B"/>
                </a:solidFill>
                <a:latin typeface="Carlito" pitchFamily="34" charset="0"/>
                <a:ea typeface="Carlito" pitchFamily="34" charset="-122"/>
                <a:cs typeface="Carlito" pitchFamily="34" charset="-120"/>
              </a:rPr>
              <a:t>File I/O</a:t>
            </a:r>
            <a:r>
              <a:rPr lang="en-US" sz="788" dirty="0">
                <a:solidFill>
                  <a:srgbClr val="23304A"/>
                </a:solidFill>
                <a:latin typeface="Carlito" pitchFamily="34" charset="0"/>
                <a:ea typeface="Carlito" pitchFamily="34" charset="-122"/>
                <a:cs typeface="Carlito" pitchFamily="34" charset="-120"/>
              </a:rPr>
              <a:t> — FileWriter saves, Scanner loads, try-catch safety</a:t>
            </a:r>
            <a:endParaRPr lang="en-US" sz="788" dirty="0"/>
          </a:p>
        </p:txBody>
      </p:sp>
      <p:sp>
        <p:nvSpPr>
          <p:cNvPr id="42" name="Shape 40"/>
          <p:cNvSpPr/>
          <p:nvPr/>
        </p:nvSpPr>
        <p:spPr>
          <a:xfrm>
            <a:off x="5585296" y="3055516"/>
            <a:ext cx="2937197" cy="0"/>
          </a:xfrm>
          <a:prstGeom prst="line">
            <a:avLst/>
          </a:prstGeom>
          <a:noFill/>
          <a:ln w="7144">
            <a:solidFill>
              <a:srgbClr val="D9E2EF"/>
            </a:solidFill>
            <a:prstDash val="solid"/>
          </a:ln>
        </p:spPr>
        <p:txBody>
          <a:bodyPr/>
          <a:lstStyle/>
          <a:p>
            <a:endParaRPr lang="en-IN"/>
          </a:p>
        </p:txBody>
      </p:sp>
      <p:sp>
        <p:nvSpPr>
          <p:cNvPr id="43" name="Text 41"/>
          <p:cNvSpPr/>
          <p:nvPr/>
        </p:nvSpPr>
        <p:spPr>
          <a:xfrm>
            <a:off x="5585296" y="3276637"/>
            <a:ext cx="135731" cy="135731"/>
          </a:xfrm>
          <a:prstGeom prst="rect">
            <a:avLst/>
          </a:prstGeom>
          <a:noFill/>
          <a:ln/>
        </p:spPr>
        <p:txBody>
          <a:bodyPr wrap="none" lIns="0" tIns="0" rIns="0" bIns="0" rtlCol="0" anchor="ctr"/>
          <a:lstStyle/>
          <a:p>
            <a:pPr marL="0" indent="0" algn="ctr">
              <a:buNone/>
            </a:pPr>
            <a:r>
              <a:rPr lang="en-US" sz="1336" dirty="0">
                <a:solidFill>
                  <a:srgbClr val="8A5A14"/>
                </a:solidFill>
                <a:latin typeface="Segoe UI Symbol" pitchFamily="34" charset="0"/>
                <a:ea typeface="Segoe UI Symbol" pitchFamily="34" charset="-122"/>
                <a:cs typeface="Segoe UI Symbol" pitchFamily="34" charset="-120"/>
              </a:rPr>
              <a:t>▿</a:t>
            </a:r>
            <a:endParaRPr lang="en-US" sz="1336" dirty="0"/>
          </a:p>
        </p:txBody>
      </p:sp>
      <p:sp>
        <p:nvSpPr>
          <p:cNvPr id="44" name="Text 42"/>
          <p:cNvSpPr/>
          <p:nvPr/>
        </p:nvSpPr>
        <p:spPr>
          <a:xfrm>
            <a:off x="5806753" y="3271949"/>
            <a:ext cx="2715741" cy="159081"/>
          </a:xfrm>
          <a:prstGeom prst="rect">
            <a:avLst/>
          </a:prstGeom>
          <a:noFill/>
          <a:ln/>
        </p:spPr>
        <p:txBody>
          <a:bodyPr wrap="square" lIns="0" tIns="0" rIns="0" bIns="0" rtlCol="0" anchor="t"/>
          <a:lstStyle/>
          <a:p>
            <a:pPr marL="0" indent="0" algn="l">
              <a:lnSpc>
                <a:spcPts val="1142"/>
              </a:lnSpc>
              <a:buNone/>
            </a:pPr>
            <a:r>
              <a:rPr lang="en-US" sz="788" b="1" dirty="0">
                <a:solidFill>
                  <a:srgbClr val="16305B"/>
                </a:solidFill>
                <a:latin typeface="Carlito" pitchFamily="34" charset="0"/>
                <a:ea typeface="Carlito" pitchFamily="34" charset="-122"/>
                <a:cs typeface="Carlito" pitchFamily="34" charset="-120"/>
              </a:rPr>
              <a:t>Input validation</a:t>
            </a:r>
            <a:r>
              <a:rPr lang="en-US" sz="788" dirty="0">
                <a:solidFill>
                  <a:srgbClr val="23304A"/>
                </a:solidFill>
                <a:latin typeface="Carlito" pitchFamily="34" charset="0"/>
                <a:ea typeface="Carlito" pitchFamily="34" charset="-122"/>
                <a:cs typeface="Carlito" pitchFamily="34" charset="-120"/>
              </a:rPr>
              <a:t> — readInt / readText loops that never crash</a:t>
            </a:r>
            <a:endParaRPr lang="en-US" sz="788" dirty="0"/>
          </a:p>
        </p:txBody>
      </p:sp>
      <p:sp>
        <p:nvSpPr>
          <p:cNvPr id="45" name="Shape 43"/>
          <p:cNvSpPr/>
          <p:nvPr/>
        </p:nvSpPr>
        <p:spPr>
          <a:xfrm>
            <a:off x="5585296" y="3633490"/>
            <a:ext cx="2937197" cy="0"/>
          </a:xfrm>
          <a:prstGeom prst="line">
            <a:avLst/>
          </a:prstGeom>
          <a:noFill/>
          <a:ln w="7144">
            <a:solidFill>
              <a:srgbClr val="D9E2EF"/>
            </a:solidFill>
            <a:prstDash val="solid"/>
          </a:ln>
        </p:spPr>
        <p:txBody>
          <a:bodyPr/>
          <a:lstStyle/>
          <a:p>
            <a:endParaRPr lang="en-IN"/>
          </a:p>
        </p:txBody>
      </p:sp>
      <p:sp>
        <p:nvSpPr>
          <p:cNvPr id="46" name="Text 44"/>
          <p:cNvSpPr/>
          <p:nvPr/>
        </p:nvSpPr>
        <p:spPr>
          <a:xfrm>
            <a:off x="5585296" y="3854611"/>
            <a:ext cx="135731" cy="135731"/>
          </a:xfrm>
          <a:prstGeom prst="rect">
            <a:avLst/>
          </a:prstGeom>
          <a:noFill/>
          <a:ln/>
        </p:spPr>
        <p:txBody>
          <a:bodyPr wrap="none" lIns="0" tIns="0" rIns="0" bIns="0" rtlCol="0" anchor="ctr"/>
          <a:lstStyle/>
          <a:p>
            <a:pPr marL="0" indent="0" algn="ctr">
              <a:buNone/>
            </a:pPr>
            <a:r>
              <a:rPr lang="en-US" sz="1336" dirty="0">
                <a:solidFill>
                  <a:srgbClr val="8A5A14"/>
                </a:solidFill>
                <a:latin typeface="Segoe UI Symbol" pitchFamily="34" charset="0"/>
                <a:ea typeface="Segoe UI Symbol" pitchFamily="34" charset="-122"/>
                <a:cs typeface="Segoe UI Symbol" pitchFamily="34" charset="-120"/>
              </a:rPr>
              <a:t>▿</a:t>
            </a:r>
            <a:endParaRPr lang="en-US" sz="1336" dirty="0"/>
          </a:p>
        </p:txBody>
      </p:sp>
      <p:sp>
        <p:nvSpPr>
          <p:cNvPr id="47" name="Text 45"/>
          <p:cNvSpPr/>
          <p:nvPr/>
        </p:nvSpPr>
        <p:spPr>
          <a:xfrm>
            <a:off x="5806753" y="3849923"/>
            <a:ext cx="2715741" cy="159081"/>
          </a:xfrm>
          <a:prstGeom prst="rect">
            <a:avLst/>
          </a:prstGeom>
          <a:noFill/>
          <a:ln/>
        </p:spPr>
        <p:txBody>
          <a:bodyPr wrap="square" lIns="0" tIns="0" rIns="0" bIns="0" rtlCol="0" anchor="t"/>
          <a:lstStyle/>
          <a:p>
            <a:pPr marL="0" indent="0" algn="l">
              <a:lnSpc>
                <a:spcPts val="1142"/>
              </a:lnSpc>
              <a:buNone/>
            </a:pPr>
            <a:r>
              <a:rPr lang="en-US" sz="788" b="1" dirty="0">
                <a:solidFill>
                  <a:srgbClr val="16305B"/>
                </a:solidFill>
                <a:latin typeface="Carlito" pitchFamily="34" charset="0"/>
                <a:ea typeface="Carlito" pitchFamily="34" charset="-122"/>
                <a:cs typeface="Carlito" pitchFamily="34" charset="-120"/>
              </a:rPr>
              <a:t>Modular design</a:t>
            </a:r>
            <a:r>
              <a:rPr lang="en-US" sz="788" dirty="0">
                <a:solidFill>
                  <a:srgbClr val="23304A"/>
                </a:solidFill>
                <a:latin typeface="Carlito" pitchFamily="34" charset="0"/>
                <a:ea typeface="Carlito" pitchFamily="34" charset="-122"/>
                <a:cs typeface="Carlito" pitchFamily="34" charset="-120"/>
              </a:rPr>
              <a:t> — each class has one clear responsibility</a:t>
            </a:r>
            <a:endParaRPr lang="en-US" sz="788" dirty="0"/>
          </a:p>
        </p:txBody>
      </p:sp>
      <p:sp>
        <p:nvSpPr>
          <p:cNvPr id="48" name="Text 46"/>
          <p:cNvSpPr/>
          <p:nvPr/>
        </p:nvSpPr>
        <p:spPr>
          <a:xfrm>
            <a:off x="457200" y="4471988"/>
            <a:ext cx="8229600" cy="357188"/>
          </a:xfrm>
          <a:prstGeom prst="roundRect">
            <a:avLst>
              <a:gd name="adj" fmla="val 26667"/>
            </a:avLst>
          </a:prstGeom>
          <a:solidFill>
            <a:srgbClr val="16305B"/>
          </a:solidFill>
          <a:ln/>
        </p:spPr>
        <p:txBody>
          <a:bodyPr wrap="square" rtlCol="0" anchor="ctr"/>
          <a:lstStyle/>
          <a:p>
            <a:pPr marL="0" indent="0">
              <a:buNone/>
            </a:pPr>
            <a:endParaRPr lang="en-US" dirty="0"/>
          </a:p>
        </p:txBody>
      </p:sp>
      <p:sp>
        <p:nvSpPr>
          <p:cNvPr id="49" name="Text 47"/>
          <p:cNvSpPr/>
          <p:nvPr/>
        </p:nvSpPr>
        <p:spPr>
          <a:xfrm>
            <a:off x="614363" y="4572000"/>
            <a:ext cx="157163" cy="157163"/>
          </a:xfrm>
          <a:prstGeom prst="rect">
            <a:avLst/>
          </a:prstGeom>
          <a:noFill/>
          <a:ln/>
        </p:spPr>
        <p:txBody>
          <a:bodyPr wrap="none" lIns="0" tIns="0" rIns="0" bIns="0" rtlCol="0" anchor="ctr"/>
          <a:lstStyle/>
          <a:p>
            <a:pPr marL="0" indent="0" algn="ctr">
              <a:buNone/>
            </a:pPr>
            <a:r>
              <a:rPr lang="en-US" sz="1547" dirty="0">
                <a:solidFill>
                  <a:srgbClr val="F2C879"/>
                </a:solidFill>
                <a:latin typeface="Segoe UI Symbol" pitchFamily="34" charset="0"/>
                <a:ea typeface="Segoe UI Symbol" pitchFamily="34" charset="-122"/>
                <a:cs typeface="Segoe UI Symbol" pitchFamily="34" charset="-120"/>
              </a:rPr>
              <a:t>✓</a:t>
            </a:r>
            <a:endParaRPr lang="en-US" sz="1547" dirty="0"/>
          </a:p>
        </p:txBody>
      </p:sp>
      <p:sp>
        <p:nvSpPr>
          <p:cNvPr id="50" name="Text 48"/>
          <p:cNvSpPr/>
          <p:nvPr/>
        </p:nvSpPr>
        <p:spPr>
          <a:xfrm>
            <a:off x="857250" y="4572893"/>
            <a:ext cx="7672388" cy="156270"/>
          </a:xfrm>
          <a:prstGeom prst="rect">
            <a:avLst/>
          </a:prstGeom>
          <a:noFill/>
          <a:ln/>
        </p:spPr>
        <p:txBody>
          <a:bodyPr wrap="square" lIns="0" tIns="0" rIns="0" bIns="0" rtlCol="0" anchor="t"/>
          <a:lstStyle/>
          <a:p>
            <a:pPr marL="0" indent="0" algn="l">
              <a:lnSpc>
                <a:spcPts val="1223"/>
              </a:lnSpc>
              <a:buNone/>
            </a:pPr>
            <a:r>
              <a:rPr lang="en-US" sz="844" dirty="0">
                <a:solidFill>
                  <a:srgbClr val="EAF0F9"/>
                </a:solidFill>
                <a:latin typeface="Carlito" pitchFamily="34" charset="0"/>
                <a:ea typeface="Carlito" pitchFamily="34" charset="-122"/>
                <a:cs typeface="Carlito" pitchFamily="34" charset="-120"/>
              </a:rPr>
              <a:t>The project meets every planned objective and provides a solid base for the GUI and database upgrades listed in Future Scope.</a:t>
            </a:r>
            <a:endParaRPr lang="en-US" sz="844"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9309" y="189309"/>
            <a:ext cx="8765381" cy="4764881"/>
          </a:xfrm>
          <a:prstGeom prst="roundRect">
            <a:avLst>
              <a:gd name="adj" fmla="val 2799"/>
            </a:avLst>
          </a:prstGeom>
          <a:noFill/>
          <a:ln w="7144">
            <a:solidFill>
              <a:srgbClr val="D9E2EF"/>
            </a:solidFill>
            <a:prstDash val="solid"/>
          </a:ln>
        </p:spPr>
        <p:txBody>
          <a:bodyPr wrap="square" rtlCol="0" anchor="ctr"/>
          <a:lstStyle/>
          <a:p>
            <a:pPr marL="0" indent="0">
              <a:buNone/>
            </a:pPr>
            <a:endParaRPr lang="en-US" dirty="0"/>
          </a:p>
        </p:txBody>
      </p:sp>
      <p:sp>
        <p:nvSpPr>
          <p:cNvPr id="3" name="Text 1"/>
          <p:cNvSpPr/>
          <p:nvPr/>
        </p:nvSpPr>
        <p:spPr>
          <a:xfrm>
            <a:off x="4343400" y="1335546"/>
            <a:ext cx="457200" cy="28575"/>
          </a:xfrm>
          <a:prstGeom prst="roundRect">
            <a:avLst>
              <a:gd name="adj" fmla="val 66667"/>
            </a:avLst>
          </a:prstGeom>
          <a:solidFill>
            <a:srgbClr val="B7791F"/>
          </a:solidFill>
          <a:ln/>
        </p:spPr>
        <p:txBody>
          <a:bodyPr wrap="square" rtlCol="0" anchor="ctr"/>
          <a:lstStyle/>
          <a:p>
            <a:pPr marL="0" indent="0">
              <a:buNone/>
            </a:pPr>
            <a:endParaRPr lang="en-US" dirty="0"/>
          </a:p>
        </p:txBody>
      </p:sp>
      <p:sp>
        <p:nvSpPr>
          <p:cNvPr id="4" name="Text 2"/>
          <p:cNvSpPr/>
          <p:nvPr/>
        </p:nvSpPr>
        <p:spPr>
          <a:xfrm>
            <a:off x="274320" y="1549859"/>
            <a:ext cx="8595248" cy="664235"/>
          </a:xfrm>
          <a:prstGeom prst="rect">
            <a:avLst/>
          </a:prstGeom>
          <a:noFill/>
          <a:ln/>
        </p:spPr>
        <p:txBody>
          <a:bodyPr wrap="none" lIns="0" tIns="0" rIns="0" bIns="0" rtlCol="0" anchor="t"/>
          <a:lstStyle/>
          <a:p>
            <a:pPr marL="0" indent="0" algn="ctr">
              <a:lnSpc>
                <a:spcPts val="4843"/>
              </a:lnSpc>
              <a:buNone/>
            </a:pPr>
            <a:r>
              <a:rPr lang="en-US" sz="4613" b="1" dirty="0">
                <a:solidFill>
                  <a:srgbClr val="16305B"/>
                </a:solidFill>
                <a:latin typeface="Tinos" pitchFamily="34" charset="0"/>
                <a:ea typeface="Tinos" pitchFamily="34" charset="-122"/>
                <a:cs typeface="Tinos" pitchFamily="34" charset="-120"/>
              </a:rPr>
              <a:t>Thank You</a:t>
            </a:r>
            <a:r>
              <a:rPr lang="en-US" sz="4613" b="1" dirty="0">
                <a:solidFill>
                  <a:srgbClr val="B7791F"/>
                </a:solidFill>
                <a:latin typeface="Tinos" pitchFamily="34" charset="0"/>
                <a:ea typeface="Tinos" pitchFamily="34" charset="-122"/>
                <a:cs typeface="Tinos" pitchFamily="34" charset="-120"/>
              </a:rPr>
              <a:t>!</a:t>
            </a:r>
            <a:endParaRPr lang="en-US" sz="4613" dirty="0"/>
          </a:p>
        </p:txBody>
      </p:sp>
      <p:sp>
        <p:nvSpPr>
          <p:cNvPr id="5" name="Text 3"/>
          <p:cNvSpPr/>
          <p:nvPr/>
        </p:nvSpPr>
        <p:spPr>
          <a:xfrm>
            <a:off x="3132266" y="2264904"/>
            <a:ext cx="2879355" cy="208312"/>
          </a:xfrm>
          <a:prstGeom prst="rect">
            <a:avLst/>
          </a:prstGeom>
          <a:noFill/>
          <a:ln/>
        </p:spPr>
        <p:txBody>
          <a:bodyPr wrap="square" lIns="0" tIns="0" rIns="0" bIns="0" rtlCol="0" anchor="t"/>
          <a:lstStyle/>
          <a:p>
            <a:pPr marL="0" indent="0" algn="ctr">
              <a:lnSpc>
                <a:spcPts val="1519"/>
              </a:lnSpc>
              <a:buNone/>
            </a:pPr>
            <a:r>
              <a:rPr lang="en-US" sz="1013" dirty="0">
                <a:solidFill>
                  <a:srgbClr val="5B6B84"/>
                </a:solidFill>
                <a:latin typeface="Carlito" pitchFamily="34" charset="0"/>
                <a:ea typeface="Carlito" pitchFamily="34" charset="-122"/>
                <a:cs typeface="Carlito" pitchFamily="34" charset="-120"/>
              </a:rPr>
              <a:t>Questions and suggestions are most welcome.</a:t>
            </a:r>
            <a:endParaRPr lang="en-US" sz="1013" dirty="0"/>
          </a:p>
        </p:txBody>
      </p:sp>
      <p:sp>
        <p:nvSpPr>
          <p:cNvPr id="6" name="Text 4"/>
          <p:cNvSpPr/>
          <p:nvPr/>
        </p:nvSpPr>
        <p:spPr>
          <a:xfrm>
            <a:off x="2447739" y="2675669"/>
            <a:ext cx="4248410" cy="350044"/>
          </a:xfrm>
          <a:prstGeom prst="roundRect">
            <a:avLst>
              <a:gd name="adj" fmla="val 2718365"/>
            </a:avLst>
          </a:prstGeom>
          <a:solidFill>
            <a:srgbClr val="FFFFFF"/>
          </a:solidFill>
          <a:ln w="7144">
            <a:solidFill>
              <a:srgbClr val="D9E2EF"/>
            </a:solidFill>
            <a:prstDash val="solid"/>
          </a:ln>
        </p:spPr>
        <p:txBody>
          <a:bodyPr wrap="square" rtlCol="0" anchor="ctr"/>
          <a:lstStyle/>
          <a:p>
            <a:pPr marL="0" indent="0">
              <a:buNone/>
            </a:pPr>
            <a:endParaRPr lang="en-US" dirty="0"/>
          </a:p>
        </p:txBody>
      </p:sp>
      <p:sp>
        <p:nvSpPr>
          <p:cNvPr id="7" name="Text 5"/>
          <p:cNvSpPr/>
          <p:nvPr/>
        </p:nvSpPr>
        <p:spPr>
          <a:xfrm>
            <a:off x="2651336" y="2779254"/>
            <a:ext cx="142875" cy="142875"/>
          </a:xfrm>
          <a:prstGeom prst="rect">
            <a:avLst/>
          </a:prstGeom>
          <a:noFill/>
          <a:ln/>
        </p:spPr>
        <p:txBody>
          <a:bodyPr wrap="none" lIns="0" tIns="0" rIns="0" bIns="0" rtlCol="0" anchor="ctr"/>
          <a:lstStyle/>
          <a:p>
            <a:pPr marL="0" indent="0" algn="ctr">
              <a:buNone/>
            </a:pPr>
            <a:r>
              <a:rPr lang="en-US" sz="1406" dirty="0">
                <a:solidFill>
                  <a:srgbClr val="8A5A14"/>
                </a:solidFill>
                <a:latin typeface="Segoe UI Symbol" pitchFamily="34" charset="0"/>
                <a:ea typeface="Segoe UI Symbol" pitchFamily="34" charset="-122"/>
                <a:cs typeface="Segoe UI Symbol" pitchFamily="34" charset="-120"/>
              </a:rPr>
              <a:t>♪</a:t>
            </a:r>
            <a:endParaRPr lang="en-US" sz="1406" dirty="0"/>
          </a:p>
        </p:txBody>
      </p:sp>
      <p:sp>
        <p:nvSpPr>
          <p:cNvPr id="8" name="Text 6"/>
          <p:cNvSpPr/>
          <p:nvPr/>
        </p:nvSpPr>
        <p:spPr>
          <a:xfrm>
            <a:off x="2865648" y="2764966"/>
            <a:ext cx="3626904" cy="171450"/>
          </a:xfrm>
          <a:prstGeom prst="rect">
            <a:avLst/>
          </a:prstGeom>
          <a:noFill/>
          <a:ln/>
        </p:spPr>
        <p:txBody>
          <a:bodyPr wrap="square" lIns="0" tIns="0" rIns="0" bIns="0" rtlCol="0" anchor="t"/>
          <a:lstStyle/>
          <a:p>
            <a:pPr marL="0" indent="0" algn="ctr">
              <a:lnSpc>
                <a:spcPts val="1350"/>
              </a:lnSpc>
              <a:buNone/>
            </a:pPr>
            <a:r>
              <a:rPr lang="en-US" sz="900" dirty="0">
                <a:solidFill>
                  <a:srgbClr val="16305B"/>
                </a:solidFill>
                <a:latin typeface="Carlito" pitchFamily="34" charset="0"/>
                <a:ea typeface="Carlito" pitchFamily="34" charset="-122"/>
                <a:cs typeface="Carlito" pitchFamily="34" charset="-120"/>
              </a:rPr>
              <a:t>Music Playlist &amp; Listening Stats Manager — Core Java Mini Project</a:t>
            </a:r>
            <a:endParaRPr lang="en-US" sz="900" dirty="0"/>
          </a:p>
        </p:txBody>
      </p:sp>
      <p:sp>
        <p:nvSpPr>
          <p:cNvPr id="17" name="Text 15"/>
          <p:cNvSpPr/>
          <p:nvPr/>
        </p:nvSpPr>
        <p:spPr>
          <a:xfrm>
            <a:off x="1485900" y="4680942"/>
            <a:ext cx="6172200" cy="164592"/>
          </a:xfrm>
          <a:prstGeom prst="rect">
            <a:avLst/>
          </a:prstGeom>
          <a:noFill/>
          <a:ln/>
        </p:spPr>
        <p:txBody>
          <a:bodyPr wrap="square" lIns="0" tIns="0" rIns="0" bIns="0" rtlCol="0" anchor="t"/>
          <a:lstStyle/>
          <a:p>
            <a:pPr marL="0" indent="0" algn="ctr">
              <a:lnSpc>
                <a:spcPts val="1055"/>
              </a:lnSpc>
              <a:buNone/>
            </a:pP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2740</Words>
  <Application>Microsoft Office PowerPoint</Application>
  <PresentationFormat>On-screen Show (16:9)</PresentationFormat>
  <Paragraphs>368</Paragraphs>
  <Slides>17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Carlito</vt:lpstr>
      <vt:lpstr>Courier New</vt:lpstr>
      <vt:lpstr>Liberation Sans Narrow</vt:lpstr>
      <vt:lpstr>Segoe UI Symbol</vt:lpstr>
      <vt:lpstr>Tinos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Boga Shashank</cp:lastModifiedBy>
  <cp:revision>1</cp:revision>
  <dcterms:created xsi:type="dcterms:W3CDTF">2026-10-14T18:14:22Z</dcterms:created>
  <dcterms:modified xsi:type="dcterms:W3CDTF">2026-10-14T18:26:40Z</dcterms:modified>
</cp:coreProperties>
</file>