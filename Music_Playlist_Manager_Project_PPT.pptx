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143191-D716-4AC1-A600-9A33CE9720B6}" v="1" dt="2026-10-16T07:33:12.7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39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ga Shashank" userId="d9288b1565e02af5" providerId="LiveId" clId="{91ED3C43-599C-45D9-B8BE-500491248CD8}"/>
    <pc:docChg chg="undo custSel modSld">
      <pc:chgData name="Boga Shashank" userId="d9288b1565e02af5" providerId="LiveId" clId="{91ED3C43-599C-45D9-B8BE-500491248CD8}" dt="2026-10-16T07:33:24.881" v="443" actId="1076"/>
      <pc:docMkLst>
        <pc:docMk/>
      </pc:docMkLst>
      <pc:sldChg chg="modSp mod">
        <pc:chgData name="Boga Shashank" userId="d9288b1565e02af5" providerId="LiveId" clId="{91ED3C43-599C-45D9-B8BE-500491248CD8}" dt="2026-10-15T14:42:02.794" v="429" actId="20577"/>
        <pc:sldMkLst>
          <pc:docMk/>
          <pc:sldMk cId="0" sldId="256"/>
        </pc:sldMkLst>
        <pc:spChg chg="mod">
          <ac:chgData name="Boga Shashank" userId="d9288b1565e02af5" providerId="LiveId" clId="{91ED3C43-599C-45D9-B8BE-500491248CD8}" dt="2026-10-15T14:42:02.794" v="429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56.058" v="73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33.892" v="25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09.278" v="113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44.158" v="46" actId="2057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20.738" v="140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25.080" v="146" actId="20577"/>
          <ac:spMkLst>
            <pc:docMk/>
            <pc:sldMk cId="0" sldId="256"/>
            <ac:spMk id="16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4:36.152" v="262" actId="20577"/>
          <ac:spMkLst>
            <pc:docMk/>
            <pc:sldMk cId="0" sldId="256"/>
            <ac:spMk id="18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2:07.731" v="399" actId="20577"/>
          <ac:spMkLst>
            <pc:docMk/>
            <pc:sldMk cId="0" sldId="256"/>
            <ac:spMk id="22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5T14:33:00.154" v="411" actId="1076"/>
        <pc:sldMkLst>
          <pc:docMk/>
          <pc:sldMk cId="0" sldId="257"/>
        </pc:sldMkLst>
        <pc:spChg chg="mod">
          <ac:chgData name="Boga Shashank" userId="d9288b1565e02af5" providerId="LiveId" clId="{91ED3C43-599C-45D9-B8BE-500491248CD8}" dt="2026-10-15T14:32:54.824" v="410" actId="20577"/>
          <ac:spMkLst>
            <pc:docMk/>
            <pc:sldMk cId="0" sldId="257"/>
            <ac:spMk id="6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00.154" v="411" actId="1076"/>
          <ac:spMkLst>
            <pc:docMk/>
            <pc:sldMk cId="0" sldId="257"/>
            <ac:spMk id="16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5T14:33:22.714" v="414" actId="14100"/>
        <pc:sldMkLst>
          <pc:docMk/>
          <pc:sldMk cId="0" sldId="259"/>
        </pc:sldMkLst>
        <pc:spChg chg="mod">
          <ac:chgData name="Boga Shashank" userId="d9288b1565e02af5" providerId="LiveId" clId="{91ED3C43-599C-45D9-B8BE-500491248CD8}" dt="2026-10-15T14:33:13.738" v="412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19.530" v="413" actId="1410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22.714" v="414" actId="14100"/>
          <ac:spMkLst>
            <pc:docMk/>
            <pc:sldMk cId="0" sldId="259"/>
            <ac:spMk id="23" creationId="{00000000-0000-0000-0000-000000000000}"/>
          </ac:spMkLst>
        </pc:spChg>
      </pc:sldChg>
      <pc:sldChg chg="addSp delSp modSp mod">
        <pc:chgData name="Boga Shashank" userId="d9288b1565e02af5" providerId="LiveId" clId="{91ED3C43-599C-45D9-B8BE-500491248CD8}" dt="2026-10-16T07:33:24.881" v="443" actId="1076"/>
        <pc:sldMkLst>
          <pc:docMk/>
          <pc:sldMk cId="0" sldId="262"/>
        </pc:sldMkLst>
        <pc:spChg chg="del mod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4:06.456" v="418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4:10.361" v="419" actId="1076"/>
          <ac:spMkLst>
            <pc:docMk/>
            <pc:sldMk cId="0" sldId="262"/>
            <ac:spMk id="8" creationId="{00000000-0000-0000-0000-000000000000}"/>
          </ac:spMkLst>
        </pc:spChg>
        <pc:spChg chg="del mod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9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54.056" v="416" actId="27636"/>
          <ac:spMkLst>
            <pc:docMk/>
            <pc:sldMk cId="0" sldId="262"/>
            <ac:spMk id="10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2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3" creationId="{00000000-0000-0000-0000-000000000000}"/>
          </ac:spMkLst>
        </pc:spChg>
        <pc:spChg chg="del mod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9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26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59" v="432" actId="27636"/>
          <ac:spMkLst>
            <pc:docMk/>
            <pc:sldMk cId="0" sldId="262"/>
            <ac:spMk id="37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39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40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45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48" v="431" actId="27636"/>
          <ac:spMkLst>
            <pc:docMk/>
            <pc:sldMk cId="0" sldId="262"/>
            <ac:spMk id="49" creationId="{00000000-0000-0000-0000-000000000000}"/>
          </ac:spMkLst>
        </pc:spChg>
        <pc:spChg chg="add del mod">
          <ac:chgData name="Boga Shashank" userId="d9288b1565e02af5" providerId="LiveId" clId="{91ED3C43-599C-45D9-B8BE-500491248CD8}" dt="2026-10-16T07:33:13.439" v="438"/>
          <ac:spMkLst>
            <pc:docMk/>
            <pc:sldMk cId="0" sldId="262"/>
            <ac:spMk id="51" creationId="{8C602204-9128-B2FB-AB32-DCE9CF1E1374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3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7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9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0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1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4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5" creationId="{00000000-0000-0000-0000-000000000000}"/>
          </ac:spMkLst>
        </pc:spChg>
        <pc:spChg chg="del mod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8" creationId="{00000000-0000-0000-0000-000000000000}"/>
          </ac:spMkLst>
        </pc:spChg>
        <pc:picChg chg="add mod">
          <ac:chgData name="Boga Shashank" userId="d9288b1565e02af5" providerId="LiveId" clId="{91ED3C43-599C-45D9-B8BE-500491248CD8}" dt="2026-10-16T07:33:24.881" v="443" actId="1076"/>
          <ac:picMkLst>
            <pc:docMk/>
            <pc:sldMk cId="0" sldId="262"/>
            <ac:picMk id="53" creationId="{21A29BD9-4F44-BF9B-028D-7BE08356451D}"/>
          </ac:picMkLst>
        </pc:picChg>
      </pc:sldChg>
      <pc:sldChg chg="delSp modSp mod">
        <pc:chgData name="Boga Shashank" userId="d9288b1565e02af5" providerId="LiveId" clId="{91ED3C43-599C-45D9-B8BE-500491248CD8}" dt="2026-10-16T07:33:12.902" v="436" actId="27636"/>
        <pc:sldMkLst>
          <pc:docMk/>
          <pc:sldMk cId="0" sldId="264"/>
        </pc:sldMkLst>
        <pc:spChg chg="mod">
          <ac:chgData name="Boga Shashank" userId="d9288b1565e02af5" providerId="LiveId" clId="{91ED3C43-599C-45D9-B8BE-500491248CD8}" dt="2026-10-16T07:33:12.902" v="436" actId="27636"/>
          <ac:spMkLst>
            <pc:docMk/>
            <pc:sldMk cId="0" sldId="264"/>
            <ac:spMk id="15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84" v="434" actId="27636"/>
          <ac:spMkLst>
            <pc:docMk/>
            <pc:sldMk cId="0" sldId="264"/>
            <ac:spMk id="20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902" v="435" actId="27636"/>
          <ac:spMkLst>
            <pc:docMk/>
            <pc:sldMk cId="0" sldId="264"/>
            <ac:spMk id="25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84" v="433" actId="27636"/>
          <ac:spMkLst>
            <pc:docMk/>
            <pc:sldMk cId="0" sldId="264"/>
            <ac:spMk id="30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2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3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4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5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7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8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4T18:26:18.914" v="366" actId="1038"/>
        <pc:sldMkLst>
          <pc:docMk/>
          <pc:sldMk cId="0" sldId="265"/>
        </pc:sldMkLst>
        <pc:picChg chg="mod">
          <ac:chgData name="Boga Shashank" userId="d9288b1565e02af5" providerId="LiveId" clId="{91ED3C43-599C-45D9-B8BE-500491248CD8}" dt="2026-10-14T18:26:18.914" v="366" actId="1038"/>
          <ac:picMkLst>
            <pc:docMk/>
            <pc:sldMk cId="0" sldId="265"/>
            <ac:picMk id="8" creationId="{00000000-0000-0000-0000-000000000000}"/>
          </ac:picMkLst>
        </pc:picChg>
      </pc:sldChg>
      <pc:sldChg chg="delSp modSp mod">
        <pc:chgData name="Boga Shashank" userId="d9288b1565e02af5" providerId="LiveId" clId="{91ED3C43-599C-45D9-B8BE-500491248CD8}" dt="2026-10-14T18:26:39.080" v="398" actId="20577"/>
        <pc:sldMkLst>
          <pc:docMk/>
          <pc:sldMk cId="0" sldId="272"/>
        </pc:sldMkLst>
        <pc:spChg chg="mod">
          <ac:chgData name="Boga Shashank" userId="d9288b1565e02af5" providerId="LiveId" clId="{91ED3C43-599C-45D9-B8BE-500491248CD8}" dt="2026-10-14T18:26:39.080" v="398" actId="20577"/>
          <ac:spMkLst>
            <pc:docMk/>
            <pc:sldMk cId="0" sldId="272"/>
            <ac:spMk id="1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482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Greet the panel and introduce the team.
- Read both student names and roll numbers exactly as shown.
- One-line pitch: a console Java app that organises a personal playlist and auto-tracks listening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Set the context: in the streaming era playlists define how we listen — but nothing lightweight and offline records it.
- State what the app does: a menu-driven console app that manages a playlist and auto-tracks every play.
- Name the tech stack: Core Java, classes and objects, ArrayList, HashMap, File I/O.
- Say why the topic was chosen: it fills the gap for a simple offline listening tracker.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Read the core statement in the navy card aloud.
- Walk the four pain points: manual logging, spreadsheet upkeep, online-only streaming stats, no instant summary.
- End on the goal line: lightweight, offline, auto-counting playlist and statistics manager in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out that the five objectives map one-to-one to the menu features.
- Touch each briefly: playlist manager, automatic tracking, statistics, search/sort, file persistence.
- Say every objective will be verified live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comparison table top to bottom.
- Note each method's drawback: manual counting, online-only stats, heavy database setup.
- Finish on the gap this project fills — automatic counting, fully offline, full statistics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Stress the two pillars: automation (plays counted with zero manual entry) and persistence (auto-save to music_data.txt).
- Walk the five advantages briefly — offline JDK-only setup, 4-class modular OOP design, code commented for the viva.
- Use the table column by column; finish on "Open, simple Java classes".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Narrate the exact flow: user presses 4 → Main calls playSong() → Playlist fetches the Song → playCount +1 → auto-save writes music_data.txt.
- Emphasise separation of controller / manager / model layers: Main, Playlist + StatsManager, Song.
- Point at the ▼ save / ▲ load pair — storage is written after every change and reloaded at every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Each card maps to one typed menu number — walk them briefly in order 1 to 8.
- Suggested demo order: View All Songs (1), play "Believer" (4), then Listening Stats (7).
- Point out the gold-bordered cards 4 and 7 — the project's signature features.
- Auto-save runs after every change; it needs no menu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line on separation of responsibilities: model / data manager / statistics / controller.
- Each of the four classes gets its own slide with the full code next.
- Mention 628 total lines, all commented — written to be read, not just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out private fields + public getter methods — that is encapsulation.
- Show the save-file format example: Believer|Imagine Dragons|204|51.
- fromFileString is the reverse operation used when the program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removeSong loops once and stops at the first title match (ignore case).
- printf keeps the table columns aligned — mention the %-26s width flags.
- Both sorts are one-line lambda comparators: A-Z by title, highest plays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HashMap artist tally once slowly: key = artist, value = total plays.
- Listening time = sum of length x plays, converted to hours + minutes.
- Top-5 sorts a COPY of the list, so the user's playlist order stays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Narrate the menu loop once: print menu, read choice, switch-case dispatch.
- playSong core: get song, +1 count, auto-save — three meaningful lines.
- addSong, removeSong, search and sort handlers follow the same simple pattern (full source in upload).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at Believer moving 51 → 52 plays — and the totals and Top-5 recomputed live in the right window.
- Highlight the aligned printf table columns in the left window.
- Offer a live demo: run java Main (OpenJDK 21) in front of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Frame the section: modular OOP design gives clean extension points for future versions.
- Highlight the top two natural next steps — GUI front-end (Swing/JavaFX) and MySQL storage via JDBC.
- Walk the remaining four briefly: shuffle/queue, smart recommendations, PDF/CSV report export, real audio playback.
- Close: the current console version is a complete, extensible Core Java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at the stat strip: 4 Java classes, 8 menu features, 100% offline and free, 0 manual entries per play.
- Read the four achievements aloud; stress that all five Slide-3 objectives were verified in the working demo.
- Learning outcomes: each member gives one personal line — OOP, collections, File I/O, input validation, modular design.
- End on the navy strip: every objective met, and a solid base ready for the GUI and database upgrades.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Thank the panel for their time and attention.
- Invite questions and suggestions on the design, the code or the statistics engine.
- Offer the live demo: run "java Main", play a song and show the stats update live.
- Close by thanking the faculty guide once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492" y="195102"/>
            <a:ext cx="3505428" cy="234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kern="0" spc="146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Solving Using Programming </a:t>
            </a:r>
            <a:r>
              <a:rPr lang="en-US" sz="800" kern="0" spc="146" dirty="0" err="1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JavaQ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700088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17641" cy="932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2981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Music Playlist </a:t>
            </a:r>
            <a:r>
              <a:rPr lang="en-US" sz="2981" b="1" dirty="0">
                <a:solidFill>
                  <a:srgbClr val="8A5A14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&amp;</a:t>
            </a:r>
            <a:r>
              <a:rPr lang="en-US" sz="2981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 Listening Stats Manager</a:t>
            </a:r>
            <a:endParaRPr lang="en-US" sz="2981" dirty="0"/>
          </a:p>
        </p:txBody>
      </p:sp>
      <p:sp>
        <p:nvSpPr>
          <p:cNvPr id="5" name="Text 3"/>
          <p:cNvSpPr/>
          <p:nvPr/>
        </p:nvSpPr>
        <p:spPr>
          <a:xfrm>
            <a:off x="457200" y="1906042"/>
            <a:ext cx="4143375" cy="419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30"/>
              </a:lnSpc>
              <a:buNone/>
            </a:pPr>
            <a:r>
              <a:rPr lang="en-US" sz="956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console-based Java application to organise a personal music playlist and automatically track listening statistics.</a:t>
            </a:r>
            <a:endParaRPr lang="en-US" sz="956" dirty="0"/>
          </a:p>
        </p:txBody>
      </p:sp>
      <p:sp>
        <p:nvSpPr>
          <p:cNvPr id="6" name="Text 4"/>
          <p:cNvSpPr/>
          <p:nvPr/>
        </p:nvSpPr>
        <p:spPr>
          <a:xfrm>
            <a:off x="457200" y="3442395"/>
            <a:ext cx="613326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149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Presented by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7916" y="3660279"/>
            <a:ext cx="0" cy="38710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78644" y="3695998"/>
            <a:ext cx="2008733" cy="1542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Boga Shashank</a:t>
            </a:r>
            <a:endParaRPr lang="en-US" sz="928" dirty="0"/>
          </a:p>
        </p:txBody>
      </p:sp>
      <p:sp>
        <p:nvSpPr>
          <p:cNvPr id="9" name="Text 7"/>
          <p:cNvSpPr/>
          <p:nvPr/>
        </p:nvSpPr>
        <p:spPr>
          <a:xfrm>
            <a:off x="578644" y="3877717"/>
            <a:ext cx="2008733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 No: 2620040175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855268" y="3660279"/>
            <a:ext cx="0" cy="38710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965996" y="3695998"/>
            <a:ext cx="2008845" cy="1542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Yarlagadda </a:t>
            </a:r>
            <a:r>
              <a:rPr lang="en-US" sz="928" b="1" dirty="0" err="1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Druveen</a:t>
            </a:r>
            <a:endParaRPr lang="en-US" sz="928" dirty="0"/>
          </a:p>
        </p:txBody>
      </p:sp>
      <p:sp>
        <p:nvSpPr>
          <p:cNvPr id="12" name="Text 10"/>
          <p:cNvSpPr/>
          <p:nvPr/>
        </p:nvSpPr>
        <p:spPr>
          <a:xfrm>
            <a:off x="2965996" y="3877717"/>
            <a:ext cx="2008845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 No: 262003528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7916" y="4161681"/>
            <a:ext cx="0" cy="22458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78644" y="4197400"/>
            <a:ext cx="2118461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Faculty Guide: V GopiKrishna</a:t>
            </a:r>
            <a:endParaRPr lang="en-US" sz="928" dirty="0"/>
          </a:p>
        </p:txBody>
      </p:sp>
      <p:sp>
        <p:nvSpPr>
          <p:cNvPr id="15" name="Shape 13"/>
          <p:cNvSpPr/>
          <p:nvPr/>
        </p:nvSpPr>
        <p:spPr>
          <a:xfrm>
            <a:off x="2855268" y="4161681"/>
            <a:ext cx="0" cy="22458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965996" y="4197400"/>
            <a:ext cx="2118573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endParaRPr lang="en-US" sz="928" dirty="0"/>
          </a:p>
        </p:txBody>
      </p:sp>
      <p:sp>
        <p:nvSpPr>
          <p:cNvPr id="17" name="Shape 15"/>
          <p:cNvSpPr/>
          <p:nvPr/>
        </p:nvSpPr>
        <p:spPr>
          <a:xfrm>
            <a:off x="457200" y="4561284"/>
            <a:ext cx="4517641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4557713"/>
            <a:ext cx="4517641" cy="282158"/>
          </a:xfrm>
          <a:prstGeom prst="rect">
            <a:avLst/>
          </a:prstGeom>
          <a:noFill/>
          <a:ln/>
        </p:spPr>
        <p:txBody>
          <a:bodyPr wrap="square" lIns="0" tIns="100013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endParaRPr lang="en-US" sz="800" dirty="0"/>
          </a:p>
        </p:txBody>
      </p:sp>
      <p:pic>
        <p:nvPicPr>
          <p:cNvPr id="19" name="Image 0" descr="/tmp/h2p-fit-1792001653473-g595d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453" y="0"/>
            <a:ext cx="3840435" cy="5143500"/>
          </a:xfrm>
          <a:prstGeom prst="rect">
            <a:avLst/>
          </a:prstGeom>
        </p:spPr>
      </p:pic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453" y="0"/>
            <a:ext cx="3840435" cy="51435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574916" y="4597003"/>
            <a:ext cx="40005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5574916" y="4725591"/>
            <a:ext cx="329751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endParaRPr lang="en-US" sz="84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37555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758678" y="416458"/>
            <a:ext cx="1902101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Introduction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332658" y="546497"/>
            <a:ext cx="6382717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928688"/>
            <a:ext cx="4987230" cy="59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8"/>
              </a:lnSpc>
              <a:buNone/>
            </a:pPr>
            <a:r>
              <a:rPr lang="en-US" sz="9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the era of Spotify and Apple Music, playlists define how we listen to music. Yet there is no , offline tool that records every song you play and summarises your listening habits in one place.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8625" y="1641053"/>
            <a:ext cx="4987230" cy="819299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28625" y="1644625"/>
            <a:ext cx="498723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412284" y="1641053"/>
            <a:ext cx="0" cy="819299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28625" y="2456780"/>
            <a:ext cx="498723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42913" y="1641053"/>
            <a:ext cx="0" cy="819299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14363" y="1776785"/>
            <a:ext cx="4637187" cy="547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9"/>
              </a:lnSpc>
              <a:buNone/>
            </a:pPr>
            <a:r>
              <a:rPr lang="en-US" sz="928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project is a menu-driven console application built in Core Java that lets a user manage a personal music playlist and automatically tracks how many times each song is played.</a:t>
            </a:r>
            <a:endParaRPr lang="en-US" sz="928" dirty="0"/>
          </a:p>
        </p:txBody>
      </p:sp>
      <p:sp>
        <p:nvSpPr>
          <p:cNvPr id="13" name="Text 11"/>
          <p:cNvSpPr/>
          <p:nvPr/>
        </p:nvSpPr>
        <p:spPr>
          <a:xfrm>
            <a:off x="428625" y="264609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4" name="Text 12"/>
          <p:cNvSpPr/>
          <p:nvPr/>
        </p:nvSpPr>
        <p:spPr>
          <a:xfrm>
            <a:off x="642938" y="2631802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with Core Java — classes &amp; objects, ArrayList, HashMap, File I/O</a:t>
            </a:r>
            <a:endParaRPr lang="en-US" sz="844" dirty="0"/>
          </a:p>
        </p:txBody>
      </p:sp>
      <p:sp>
        <p:nvSpPr>
          <p:cNvPr id="15" name="Text 13"/>
          <p:cNvSpPr/>
          <p:nvPr/>
        </p:nvSpPr>
        <p:spPr>
          <a:xfrm>
            <a:off x="428625" y="289969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6" name="Text 14"/>
          <p:cNvSpPr/>
          <p:nvPr/>
        </p:nvSpPr>
        <p:spPr>
          <a:xfrm>
            <a:off x="690352" y="2948627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Playlist data persists in a plain text file between runs</a:t>
            </a:r>
            <a:endParaRPr lang="en-US" sz="844" dirty="0"/>
          </a:p>
        </p:txBody>
      </p:sp>
      <p:sp>
        <p:nvSpPr>
          <p:cNvPr id="17" name="Text 15"/>
          <p:cNvSpPr/>
          <p:nvPr/>
        </p:nvSpPr>
        <p:spPr>
          <a:xfrm>
            <a:off x="428625" y="3153296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8" name="Text 16"/>
          <p:cNvSpPr/>
          <p:nvPr/>
        </p:nvSpPr>
        <p:spPr>
          <a:xfrm>
            <a:off x="642938" y="3139008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play updates counters automatically — no manual logging</a:t>
            </a:r>
            <a:endParaRPr lang="en-US" sz="844" dirty="0"/>
          </a:p>
        </p:txBody>
      </p:sp>
      <p:sp>
        <p:nvSpPr>
          <p:cNvPr id="19" name="Text 17"/>
          <p:cNvSpPr/>
          <p:nvPr/>
        </p:nvSpPr>
        <p:spPr>
          <a:xfrm>
            <a:off x="428625" y="3406899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20" name="Text 18"/>
          <p:cNvSpPr/>
          <p:nvPr/>
        </p:nvSpPr>
        <p:spPr>
          <a:xfrm>
            <a:off x="642938" y="3392612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Statistics engine reports totals, favourite artist and Top-5 songs</a:t>
            </a:r>
            <a:endParaRPr lang="en-US" sz="844" dirty="0"/>
          </a:p>
        </p:txBody>
      </p:sp>
      <p:sp>
        <p:nvSpPr>
          <p:cNvPr id="21" name="Text 19"/>
          <p:cNvSpPr/>
          <p:nvPr/>
        </p:nvSpPr>
        <p:spPr>
          <a:xfrm>
            <a:off x="5662315" y="932259"/>
            <a:ext cx="3049488" cy="3850481"/>
          </a:xfrm>
          <a:prstGeom prst="roundRect">
            <a:avLst>
              <a:gd name="adj" fmla="val 3123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0" descr="/tmp/h2p-fit-1792001653378-byzfz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887" y="935831"/>
            <a:ext cx="3042345" cy="3346847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665887" y="4286250"/>
            <a:ext cx="304234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5794474" y="4389834"/>
            <a:ext cx="278517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i="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Playlists generate the data — this project records and analyses it.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49863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Problem Statement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013323" y="532209"/>
            <a:ext cx="570205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85825"/>
            <a:ext cx="8286750" cy="796528"/>
          </a:xfrm>
          <a:prstGeom prst="roundRect">
            <a:avLst>
              <a:gd name="adj" fmla="val 11958"/>
            </a:avLst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8650" y="1042988"/>
            <a:ext cx="334863" cy="381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84"/>
              </a:lnSpc>
              <a:buNone/>
            </a:pPr>
            <a:r>
              <a:rPr lang="en-US" sz="3713" dirty="0">
                <a:solidFill>
                  <a:srgbClr val="B7791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“</a:t>
            </a:r>
            <a:endParaRPr lang="en-US" sz="3713" dirty="0"/>
          </a:p>
        </p:txBody>
      </p:sp>
      <p:sp>
        <p:nvSpPr>
          <p:cNvPr id="8" name="Text 6"/>
          <p:cNvSpPr/>
          <p:nvPr/>
        </p:nvSpPr>
        <p:spPr>
          <a:xfrm>
            <a:off x="980815" y="1042988"/>
            <a:ext cx="7505960" cy="467916"/>
          </a:xfrm>
          <a:prstGeom prst="rect">
            <a:avLst/>
          </a:prstGeom>
          <a:noFill/>
          <a:ln/>
        </p:spPr>
        <p:txBody>
          <a:bodyPr wrap="square" lIns="0" tIns="28575" rIns="0" bIns="0" rtlCol="0" anchor="t"/>
          <a:lstStyle/>
          <a:p>
            <a:pPr marL="0" indent="0" algn="l">
              <a:lnSpc>
                <a:spcPts val="1730"/>
              </a:lnSpc>
              <a:buNone/>
            </a:pPr>
            <a:r>
              <a:rPr lang="en-US" sz="1153" dirty="0">
                <a:solidFill>
                  <a:srgbClr val="EAF0F9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Music listeners have no simple, offline way to record which songs they play and to see their listening habits summarised in one place.</a:t>
            </a:r>
            <a:endParaRPr lang="en-US" sz="1153" dirty="0"/>
          </a:p>
        </p:txBody>
      </p:sp>
      <p:sp>
        <p:nvSpPr>
          <p:cNvPr id="9" name="Text 7"/>
          <p:cNvSpPr/>
          <p:nvPr/>
        </p:nvSpPr>
        <p:spPr>
          <a:xfrm>
            <a:off x="432197" y="1828800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82216" y="1964531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540" y="199185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✎</a:t>
            </a:r>
            <a:endParaRPr lang="en-US" sz="1617" dirty="0"/>
          </a:p>
        </p:txBody>
      </p:sp>
      <p:sp>
        <p:nvSpPr>
          <p:cNvPr id="12" name="Text 10"/>
          <p:cNvSpPr/>
          <p:nvPr/>
        </p:nvSpPr>
        <p:spPr>
          <a:xfrm>
            <a:off x="992981" y="1960959"/>
            <a:ext cx="33718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logging is tedious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92981" y="2146697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Writing down each played song by hand is slow, and entries are easily forgotten or duplicated.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32722" y="1828800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82741" y="1964531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10065" y="199185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617" dirty="0"/>
          </a:p>
        </p:txBody>
      </p:sp>
      <p:sp>
        <p:nvSpPr>
          <p:cNvPr id="17" name="Text 15"/>
          <p:cNvSpPr/>
          <p:nvPr/>
        </p:nvSpPr>
        <p:spPr>
          <a:xfrm>
            <a:off x="5193506" y="1960959"/>
            <a:ext cx="33718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Spreadsheets need upkeep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193506" y="2146697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Excel trackers must be updated manually, so play counts end up guessed instead of measured.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2197" y="3116461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82216" y="3252192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9540" y="3279517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617" dirty="0"/>
          </a:p>
        </p:txBody>
      </p:sp>
      <p:sp>
        <p:nvSpPr>
          <p:cNvPr id="22" name="Text 20"/>
          <p:cNvSpPr/>
          <p:nvPr/>
        </p:nvSpPr>
        <p:spPr>
          <a:xfrm>
            <a:off x="992981" y="3248620"/>
            <a:ext cx="3481578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Streaming apps are online-only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2981" y="3434358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Their statistics need an internet connection and an account, and cannot be customised or exported.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2722" y="3116461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82741" y="3252192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10065" y="3279517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?</a:t>
            </a:r>
            <a:endParaRPr lang="en-US" sz="1617" dirty="0"/>
          </a:p>
        </p:txBody>
      </p:sp>
      <p:sp>
        <p:nvSpPr>
          <p:cNvPr id="27" name="Text 25"/>
          <p:cNvSpPr/>
          <p:nvPr/>
        </p:nvSpPr>
        <p:spPr>
          <a:xfrm>
            <a:off x="5193506" y="3248620"/>
            <a:ext cx="332666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 instant summary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93506" y="3434358"/>
            <a:ext cx="31682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Finding your most-played song or favourite artist means counting by hand.</a:t>
            </a:r>
            <a:endParaRPr lang="en-US" sz="759" dirty="0"/>
          </a:p>
        </p:txBody>
      </p:sp>
      <p:sp>
        <p:nvSpPr>
          <p:cNvPr id="29" name="Text 27"/>
          <p:cNvSpPr/>
          <p:nvPr/>
        </p:nvSpPr>
        <p:spPr>
          <a:xfrm>
            <a:off x="428625" y="4429125"/>
            <a:ext cx="8286750" cy="371475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28625" y="4432697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8711803" y="4429125"/>
            <a:ext cx="0" cy="371475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28625" y="4797028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442913" y="4429125"/>
            <a:ext cx="0" cy="371475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00075" y="453628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547" dirty="0"/>
          </a:p>
        </p:txBody>
      </p:sp>
      <p:sp>
        <p:nvSpPr>
          <p:cNvPr id="35" name="Text 33"/>
          <p:cNvSpPr/>
          <p:nvPr/>
        </p:nvSpPr>
        <p:spPr>
          <a:xfrm>
            <a:off x="842963" y="4537174"/>
            <a:ext cx="7722394" cy="15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4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Project goal</a:t>
            </a: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 lightweight, offline, auto-counting playlist and statistics manager built in Java.</a:t>
            </a:r>
            <a:endParaRPr lang="en-US" sz="84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6300" y="437555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795297" y="416458"/>
            <a:ext cx="1604029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Objectives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135646" y="546497"/>
            <a:ext cx="6551154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828675"/>
            <a:ext cx="8229600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872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clear objectives guided the design of the application.</a:t>
            </a:r>
            <a:endParaRPr lang="en-US" sz="872" dirty="0"/>
          </a:p>
        </p:txBody>
      </p:sp>
      <p:sp>
        <p:nvSpPr>
          <p:cNvPr id="7" name="Text 5"/>
          <p:cNvSpPr/>
          <p:nvPr/>
        </p:nvSpPr>
        <p:spPr>
          <a:xfrm>
            <a:off x="460772" y="1198364"/>
            <a:ext cx="4036219" cy="712031"/>
          </a:xfrm>
          <a:prstGeom prst="roundRect">
            <a:avLst>
              <a:gd name="adj" fmla="val 1337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0081" y="1373386"/>
            <a:ext cx="55060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137084" y="1373386"/>
            <a:ext cx="2932632" cy="17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8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a playlist manager</a:t>
            </a:r>
            <a:endParaRPr lang="en-US" sz="984" dirty="0"/>
          </a:p>
        </p:txBody>
      </p:sp>
      <p:sp>
        <p:nvSpPr>
          <p:cNvPr id="10" name="Text 8"/>
          <p:cNvSpPr/>
          <p:nvPr/>
        </p:nvSpPr>
        <p:spPr>
          <a:xfrm>
            <a:off x="1137084" y="1585913"/>
            <a:ext cx="2792983" cy="149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7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Add, view and remove songs using clean object-oriented classes.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647009" y="1198364"/>
            <a:ext cx="4036219" cy="712031"/>
          </a:xfrm>
          <a:prstGeom prst="roundRect">
            <a:avLst>
              <a:gd name="adj" fmla="val 1337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36319" y="1373386"/>
            <a:ext cx="55060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323322" y="1373386"/>
            <a:ext cx="3170597" cy="17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8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Automate play tracking</a:t>
            </a:r>
            <a:endParaRPr lang="en-US" sz="984" dirty="0"/>
          </a:p>
        </p:txBody>
      </p:sp>
      <p:sp>
        <p:nvSpPr>
          <p:cNvPr id="14" name="Text 12"/>
          <p:cNvSpPr/>
          <p:nvPr/>
        </p:nvSpPr>
        <p:spPr>
          <a:xfrm>
            <a:off x="5323322" y="1585913"/>
            <a:ext cx="3166132" cy="149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7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play of a song increments its counter instantly — zero manual entry.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460772" y="2060414"/>
            <a:ext cx="2640732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0081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8214" y="2235436"/>
            <a:ext cx="1953708" cy="160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Generate listening statistics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8214" y="2434010"/>
            <a:ext cx="1843980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Compute total plays, total listening time, favourite artist and the Top-5 songs.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51522" y="2060414"/>
            <a:ext cx="2640843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40832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58964" y="2235436"/>
            <a:ext cx="1844092" cy="16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Provide search and sort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58964" y="2434010"/>
            <a:ext cx="1844092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Find any song by title or artist and rank the playlist alphabetically or by plays.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42385" y="2060414"/>
            <a:ext cx="2640732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31694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49827" y="2235436"/>
            <a:ext cx="1843980" cy="16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 data with File I/O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49827" y="2434010"/>
            <a:ext cx="1843980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Save the playlist to a text file and reload it automatically on every run.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066525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Existing System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667633" y="532209"/>
            <a:ext cx="604774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85825"/>
            <a:ext cx="4029075" cy="370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1"/>
              </a:lnSpc>
              <a:buNone/>
            </a:pP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Today, listeners track their music in three common ways — each with clear drawbacks:</a:t>
            </a:r>
            <a:endParaRPr lang="en-US" sz="872" dirty="0"/>
          </a:p>
        </p:txBody>
      </p:sp>
      <p:sp>
        <p:nvSpPr>
          <p:cNvPr id="7" name="Text 5"/>
          <p:cNvSpPr/>
          <p:nvPr/>
        </p:nvSpPr>
        <p:spPr>
          <a:xfrm>
            <a:off x="432197" y="1361108"/>
            <a:ext cx="4021931" cy="672517"/>
          </a:xfrm>
          <a:prstGeom prst="roundRect">
            <a:avLst>
              <a:gd name="adj" fmla="val 141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64356" y="1486123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77" dirty="0"/>
          </a:p>
        </p:txBody>
      </p:sp>
      <p:sp>
        <p:nvSpPr>
          <p:cNvPr id="9" name="Text 7"/>
          <p:cNvSpPr/>
          <p:nvPr/>
        </p:nvSpPr>
        <p:spPr>
          <a:xfrm>
            <a:off x="814388" y="1471836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Handwritten lists / spreadsheets</a:t>
            </a:r>
            <a:endParaRPr lang="en-US" sz="872" dirty="0"/>
          </a:p>
        </p:txBody>
      </p:sp>
      <p:sp>
        <p:nvSpPr>
          <p:cNvPr id="10" name="Text 8"/>
          <p:cNvSpPr/>
          <p:nvPr/>
        </p:nvSpPr>
        <p:spPr>
          <a:xfrm>
            <a:off x="814388" y="1644290"/>
            <a:ext cx="35075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counts are noted or guessed by hand; the sheet drifts out of date and errors accumulate.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2197" y="2140781"/>
            <a:ext cx="4021931" cy="672517"/>
          </a:xfrm>
          <a:prstGeom prst="roundRect">
            <a:avLst>
              <a:gd name="adj" fmla="val 141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4356" y="2265797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477" dirty="0"/>
          </a:p>
        </p:txBody>
      </p:sp>
      <p:sp>
        <p:nvSpPr>
          <p:cNvPr id="13" name="Text 11"/>
          <p:cNvSpPr/>
          <p:nvPr/>
        </p:nvSpPr>
        <p:spPr>
          <a:xfrm>
            <a:off x="814388" y="2251509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Streaming apps (Spotify, Apple Music)</a:t>
            </a:r>
            <a:endParaRPr lang="en-US" sz="872" dirty="0"/>
          </a:p>
        </p:txBody>
      </p:sp>
      <p:sp>
        <p:nvSpPr>
          <p:cNvPr id="14" name="Text 12"/>
          <p:cNvSpPr/>
          <p:nvPr/>
        </p:nvSpPr>
        <p:spPr>
          <a:xfrm>
            <a:off x="814388" y="2423964"/>
            <a:ext cx="35075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Rich, but online-only: they need an account and internet, and show only the statistics the app decides to expose.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2197" y="2920454"/>
            <a:ext cx="4021931" cy="533214"/>
          </a:xfrm>
          <a:prstGeom prst="roundRect">
            <a:avLst>
              <a:gd name="adj" fmla="val 178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64356" y="3045470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477" dirty="0"/>
          </a:p>
        </p:txBody>
      </p:sp>
      <p:sp>
        <p:nvSpPr>
          <p:cNvPr id="17" name="Text 15"/>
          <p:cNvSpPr/>
          <p:nvPr/>
        </p:nvSpPr>
        <p:spPr>
          <a:xfrm>
            <a:off x="814388" y="3031182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Database-based trackers (MySQL projects)</a:t>
            </a:r>
            <a:endParaRPr lang="en-US" sz="872" dirty="0"/>
          </a:p>
        </p:txBody>
      </p:sp>
      <p:sp>
        <p:nvSpPr>
          <p:cNvPr id="18" name="Text 16"/>
          <p:cNvSpPr/>
          <p:nvPr/>
        </p:nvSpPr>
        <p:spPr>
          <a:xfrm>
            <a:off x="814388" y="3203637"/>
            <a:ext cx="3460477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Powerful but heavy — installation and setup are overkill for a single listener’s needs.</a:t>
            </a:r>
            <a:endParaRPr lang="en-US" sz="731" dirty="0"/>
          </a:p>
        </p:txBody>
      </p:sp>
      <p:sp>
        <p:nvSpPr>
          <p:cNvPr id="19" name="Text 17"/>
          <p:cNvSpPr/>
          <p:nvPr/>
        </p:nvSpPr>
        <p:spPr>
          <a:xfrm>
            <a:off x="4689872" y="889397"/>
            <a:ext cx="4021931" cy="3907631"/>
          </a:xfrm>
          <a:prstGeom prst="roundRect">
            <a:avLst>
              <a:gd name="adj" fmla="val 2438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836319" y="1007269"/>
            <a:ext cx="387191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Quick comparison</a:t>
            </a:r>
            <a:endParaRPr lang="en-US" sz="1013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93444" y="1293019"/>
          <a:ext cx="4014787" cy="1502570"/>
        </p:xfrm>
        <a:graphic>
          <a:graphicData uri="http://schemas.openxmlformats.org/drawingml/2006/table">
            <a:tbl>
              <a:tblPr/>
              <a:tblGrid>
                <a:gridCol w="121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2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Method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Auto count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Offline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Full stats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Handwritten list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Spreadsheet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manual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Streaming app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limited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This project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full report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212470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Proposed System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784388" y="532209"/>
            <a:ext cx="5930987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14388"/>
            <a:ext cx="8286750" cy="517922"/>
          </a:xfrm>
          <a:prstGeom prst="roundRect">
            <a:avLst>
              <a:gd name="adj" fmla="val 18391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28625" y="817959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711803" y="814388"/>
            <a:ext cx="0" cy="517922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28625" y="1328738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42913" y="814388"/>
            <a:ext cx="0" cy="517922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85788" y="907256"/>
            <a:ext cx="7993856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lightweight Java console application where </a:t>
            </a: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playing a song updates its counter automatically</a:t>
            </a: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and a built-in </a:t>
            </a: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stats engine</a:t>
            </a: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summarises listening habits instantly — all data stored in a plain text file.</a:t>
            </a:r>
            <a:endParaRPr lang="en-US" sz="872" dirty="0"/>
          </a:p>
        </p:txBody>
      </p:sp>
      <p:sp>
        <p:nvSpPr>
          <p:cNvPr id="12" name="Text 10"/>
          <p:cNvSpPr/>
          <p:nvPr/>
        </p:nvSpPr>
        <p:spPr>
          <a:xfrm>
            <a:off x="428625" y="1446609"/>
            <a:ext cx="4282099" cy="1279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800" kern="0" spc="83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ADVANTAGES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8625" y="1734592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4701" y="177066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547" dirty="0"/>
          </a:p>
        </p:txBody>
      </p:sp>
      <p:sp>
        <p:nvSpPr>
          <p:cNvPr id="15" name="Text 13"/>
          <p:cNvSpPr/>
          <p:nvPr/>
        </p:nvSpPr>
        <p:spPr>
          <a:xfrm>
            <a:off x="828675" y="1809490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Automatic play counting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statistics are always current</a:t>
            </a:r>
            <a:endParaRPr lang="en-US" sz="759" dirty="0"/>
          </a:p>
        </p:txBody>
      </p:sp>
      <p:sp>
        <p:nvSpPr>
          <p:cNvPr id="16" name="Text 14"/>
          <p:cNvSpPr/>
          <p:nvPr/>
        </p:nvSpPr>
        <p:spPr>
          <a:xfrm>
            <a:off x="428625" y="2299953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4701" y="2336029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◌</a:t>
            </a:r>
            <a:endParaRPr lang="en-US" sz="1547" dirty="0"/>
          </a:p>
        </p:txBody>
      </p:sp>
      <p:sp>
        <p:nvSpPr>
          <p:cNvPr id="18" name="Text 16"/>
          <p:cNvSpPr/>
          <p:nvPr/>
        </p:nvSpPr>
        <p:spPr>
          <a:xfrm>
            <a:off x="828675" y="2374850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Works fully offline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only a JDK is required, no database install</a:t>
            </a:r>
            <a:endParaRPr lang="en-US" sz="759" dirty="0"/>
          </a:p>
        </p:txBody>
      </p:sp>
      <p:sp>
        <p:nvSpPr>
          <p:cNvPr id="19" name="Text 17"/>
          <p:cNvSpPr/>
          <p:nvPr/>
        </p:nvSpPr>
        <p:spPr>
          <a:xfrm>
            <a:off x="428625" y="2865313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64701" y="2901389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547" dirty="0"/>
          </a:p>
        </p:txBody>
      </p:sp>
      <p:sp>
        <p:nvSpPr>
          <p:cNvPr id="21" name="Text 19"/>
          <p:cNvSpPr/>
          <p:nvPr/>
        </p:nvSpPr>
        <p:spPr>
          <a:xfrm>
            <a:off x="828675" y="2870336"/>
            <a:ext cx="2957513" cy="329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Persistent storage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auto-saves to </a:t>
            </a:r>
            <a:r>
              <a:rPr lang="en-US" sz="800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music_data.txt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after every change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28625" y="3430674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701" y="346675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4" name="Text 22"/>
          <p:cNvSpPr/>
          <p:nvPr/>
        </p:nvSpPr>
        <p:spPr>
          <a:xfrm>
            <a:off x="828675" y="3505572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Modular OOP design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4 small classes, easy to read and extend</a:t>
            </a:r>
            <a:endParaRPr lang="en-US" sz="759" dirty="0"/>
          </a:p>
        </p:txBody>
      </p:sp>
      <p:sp>
        <p:nvSpPr>
          <p:cNvPr id="25" name="Text 23"/>
          <p:cNvSpPr/>
          <p:nvPr/>
        </p:nvSpPr>
        <p:spPr>
          <a:xfrm>
            <a:off x="428625" y="3996035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4701" y="403211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547" dirty="0"/>
          </a:p>
        </p:txBody>
      </p:sp>
      <p:sp>
        <p:nvSpPr>
          <p:cNvPr id="27" name="Text 25"/>
          <p:cNvSpPr/>
          <p:nvPr/>
        </p:nvSpPr>
        <p:spPr>
          <a:xfrm>
            <a:off x="828675" y="4001058"/>
            <a:ext cx="2957513" cy="329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Beginner-friendly code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heavily commented for viva explanation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89784" y="1450181"/>
            <a:ext cx="4722019" cy="2975372"/>
          </a:xfrm>
          <a:prstGeom prst="roundRect">
            <a:avLst>
              <a:gd name="adj" fmla="val 320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121944" y="157519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336" dirty="0"/>
          </a:p>
        </p:txBody>
      </p:sp>
      <p:sp>
        <p:nvSpPr>
          <p:cNvPr id="30" name="Text 28"/>
          <p:cNvSpPr/>
          <p:nvPr/>
        </p:nvSpPr>
        <p:spPr>
          <a:xfrm>
            <a:off x="4321969" y="1546622"/>
            <a:ext cx="4257675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Existing vs Proposed</a:t>
            </a:r>
            <a:endParaRPr lang="en-US" sz="1013" dirty="0"/>
          </a:p>
        </p:txBody>
      </p:sp>
      <p:sp>
        <p:nvSpPr>
          <p:cNvPr id="31" name="Text 29"/>
          <p:cNvSpPr/>
          <p:nvPr/>
        </p:nvSpPr>
        <p:spPr>
          <a:xfrm>
            <a:off x="3993356" y="1810941"/>
            <a:ext cx="4714875" cy="271463"/>
          </a:xfrm>
          <a:prstGeom prst="rect">
            <a:avLst/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993356" y="1810941"/>
            <a:ext cx="1178719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Feature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72075" y="1810941"/>
            <a:ext cx="1667954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Existing tools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0029" y="1810941"/>
            <a:ext cx="1868202" cy="271463"/>
          </a:xfrm>
          <a:prstGeom prst="rect">
            <a:avLst/>
          </a:prstGeom>
          <a:solidFill>
            <a:srgbClr val="F2C879">
              <a:alpha val="14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40029" y="1810941"/>
            <a:ext cx="1868202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F2C8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project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993356" y="2085975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993356" y="2089547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counting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172075" y="2089547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entry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40029" y="2089547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840029" y="2089547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Automatic (+1 per play)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993356" y="2553891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993356" y="2557463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Internet needed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72075" y="2557463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Often (streaming apps)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40029" y="2557463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40029" y="2557463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Never — 100% offline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993356" y="3021806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993356" y="3025378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Storage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172075" y="3025378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Cloud / app account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840029" y="3025378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840029" y="3025378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text file, portable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993356" y="3489722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993356" y="3493294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Statistics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172075" y="3493294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Limited, app-defined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840029" y="3493294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840029" y="3493294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Full local report + Top-5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993356" y="3957638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993356" y="3961209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Source code control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172075" y="3961209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Closed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840029" y="3961209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840029" y="3961209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Open, simple Java classes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28625" y="4529138"/>
            <a:ext cx="4086225" cy="300038"/>
          </a:xfrm>
          <a:prstGeom prst="roundRect">
            <a:avLst>
              <a:gd name="adj" fmla="val 317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28625" y="4532709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4511278" y="4529138"/>
            <a:ext cx="0" cy="300038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428625" y="4825603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442913" y="4529138"/>
            <a:ext cx="0" cy="300038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571500" y="4600575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547" dirty="0"/>
          </a:p>
        </p:txBody>
      </p:sp>
      <p:sp>
        <p:nvSpPr>
          <p:cNvPr id="67" name="Text 65"/>
          <p:cNvSpPr/>
          <p:nvPr/>
        </p:nvSpPr>
        <p:spPr>
          <a:xfrm>
            <a:off x="814388" y="4614193"/>
            <a:ext cx="3579019" cy="14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731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1 · Automation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every play updates the counters with zero manual entry.</a:t>
            </a:r>
            <a:endParaRPr lang="en-US" sz="731" dirty="0"/>
          </a:p>
        </p:txBody>
      </p:sp>
      <p:sp>
        <p:nvSpPr>
          <p:cNvPr id="68" name="Text 66"/>
          <p:cNvSpPr/>
          <p:nvPr/>
        </p:nvSpPr>
        <p:spPr>
          <a:xfrm>
            <a:off x="4629150" y="4529138"/>
            <a:ext cx="4086225" cy="300038"/>
          </a:xfrm>
          <a:prstGeom prst="roundRect">
            <a:avLst>
              <a:gd name="adj" fmla="val 317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4629150" y="4532709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8711803" y="4529138"/>
            <a:ext cx="0" cy="300038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4629150" y="4825603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4643438" y="4529138"/>
            <a:ext cx="0" cy="300038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772025" y="4600575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547" dirty="0"/>
          </a:p>
        </p:txBody>
      </p:sp>
      <p:sp>
        <p:nvSpPr>
          <p:cNvPr id="74" name="Text 72"/>
          <p:cNvSpPr/>
          <p:nvPr/>
        </p:nvSpPr>
        <p:spPr>
          <a:xfrm>
            <a:off x="5014913" y="4614193"/>
            <a:ext cx="3579019" cy="14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731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2 · Persistence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every change is saved to </a:t>
            </a:r>
            <a:r>
              <a:rPr lang="en-US" sz="731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music_data.txt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on the spot.</a:t>
            </a:r>
            <a:endParaRPr lang="en-US" sz="73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627840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System Architecture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116684" y="532209"/>
            <a:ext cx="559869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21A29BD9-4F44-BF9B-028D-7BE083564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691" y="830126"/>
            <a:ext cx="8386762" cy="41307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1922952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Functionalities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552774" y="532209"/>
            <a:ext cx="616260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00100"/>
            <a:ext cx="6903095" cy="156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Eight menu options cover the complete workflow — </a:t>
            </a: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maps to one menu number the user types</a:t>
            </a: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7346007" y="818964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★</a:t>
            </a:r>
            <a:endParaRPr lang="en-US" sz="1055" dirty="0"/>
          </a:p>
        </p:txBody>
      </p:sp>
      <p:sp>
        <p:nvSpPr>
          <p:cNvPr id="8" name="Text 6"/>
          <p:cNvSpPr/>
          <p:nvPr/>
        </p:nvSpPr>
        <p:spPr>
          <a:xfrm>
            <a:off x="7496026" y="810927"/>
            <a:ext cx="13168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0"/>
              </a:lnSpc>
              <a:buNone/>
            </a:pPr>
            <a:r>
              <a:rPr lang="en-US" sz="647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Gold border — signature features</a:t>
            </a:r>
            <a:endParaRPr lang="en-US" sz="647" dirty="0"/>
          </a:p>
        </p:txBody>
      </p:sp>
      <p:sp>
        <p:nvSpPr>
          <p:cNvPr id="9" name="Text 7"/>
          <p:cNvSpPr/>
          <p:nvPr/>
        </p:nvSpPr>
        <p:spPr>
          <a:xfrm>
            <a:off x="432197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57213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0074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♪</a:t>
            </a:r>
            <a:endParaRPr lang="en-US" sz="1688" dirty="0"/>
          </a:p>
        </p:txBody>
      </p:sp>
      <p:sp>
        <p:nvSpPr>
          <p:cNvPr id="12" name="Text 10"/>
          <p:cNvSpPr/>
          <p:nvPr/>
        </p:nvSpPr>
        <p:spPr>
          <a:xfrm>
            <a:off x="1850017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861566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7213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View All Songs</a:t>
            </a:r>
            <a:endParaRPr lang="en-US" sz="928" dirty="0"/>
          </a:p>
        </p:txBody>
      </p:sp>
      <p:sp>
        <p:nvSpPr>
          <p:cNvPr id="15" name="Text 13"/>
          <p:cNvSpPr/>
          <p:nvPr/>
        </p:nvSpPr>
        <p:spPr>
          <a:xfrm>
            <a:off x="557213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Neat table of No. / Title / Artist / Length / Plays.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28888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653903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686764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⊕</a:t>
            </a:r>
            <a:endParaRPr lang="en-US" sz="1688" dirty="0"/>
          </a:p>
        </p:txBody>
      </p:sp>
      <p:sp>
        <p:nvSpPr>
          <p:cNvPr id="19" name="Text 17"/>
          <p:cNvSpPr/>
          <p:nvPr/>
        </p:nvSpPr>
        <p:spPr>
          <a:xfrm>
            <a:off x="3946708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58257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3903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Add a New Song</a:t>
            </a:r>
            <a:endParaRPr lang="en-US" sz="928" dirty="0"/>
          </a:p>
        </p:txBody>
      </p:sp>
      <p:sp>
        <p:nvSpPr>
          <p:cNvPr id="22" name="Text 20"/>
          <p:cNvSpPr/>
          <p:nvPr/>
        </p:nvSpPr>
        <p:spPr>
          <a:xfrm>
            <a:off x="2653903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Validated input for title, artist and length (min + sec).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25578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50594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83455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⊖</a:t>
            </a:r>
            <a:endParaRPr lang="en-US" sz="1688" dirty="0"/>
          </a:p>
        </p:txBody>
      </p:sp>
      <p:sp>
        <p:nvSpPr>
          <p:cNvPr id="26" name="Text 24"/>
          <p:cNvSpPr/>
          <p:nvPr/>
        </p:nvSpPr>
        <p:spPr>
          <a:xfrm>
            <a:off x="6043398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54947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50594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Remove a Song</a:t>
            </a:r>
            <a:endParaRPr lang="en-US" sz="928" dirty="0"/>
          </a:p>
        </p:txBody>
      </p:sp>
      <p:sp>
        <p:nvSpPr>
          <p:cNvPr id="29" name="Text 27"/>
          <p:cNvSpPr/>
          <p:nvPr/>
        </p:nvSpPr>
        <p:spPr>
          <a:xfrm>
            <a:off x="4750594" y="1758032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Deletes by title, ignoring capital letters.</a:t>
            </a:r>
            <a:endParaRPr lang="en-US" sz="703" dirty="0"/>
          </a:p>
        </p:txBody>
      </p:sp>
      <p:sp>
        <p:nvSpPr>
          <p:cNvPr id="30" name="Text 28"/>
          <p:cNvSpPr/>
          <p:nvPr/>
        </p:nvSpPr>
        <p:spPr>
          <a:xfrm>
            <a:off x="6722269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DF6E7"/>
          </a:solidFill>
          <a:ln w="7144">
            <a:solidFill>
              <a:srgbClr val="B7791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47284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880146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688" dirty="0"/>
          </a:p>
        </p:txBody>
      </p:sp>
      <p:sp>
        <p:nvSpPr>
          <p:cNvPr id="33" name="Text 31"/>
          <p:cNvSpPr/>
          <p:nvPr/>
        </p:nvSpPr>
        <p:spPr>
          <a:xfrm>
            <a:off x="8140089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8A5A1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51638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47284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a Song</a:t>
            </a:r>
            <a:endParaRPr lang="en-US" sz="928" dirty="0"/>
          </a:p>
        </p:txBody>
      </p:sp>
      <p:sp>
        <p:nvSpPr>
          <p:cNvPr id="36" name="Text 34"/>
          <p:cNvSpPr/>
          <p:nvPr/>
        </p:nvSpPr>
        <p:spPr>
          <a:xfrm>
            <a:off x="6847284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Shows </a:t>
            </a: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NOW PLAYING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banner and adds +1 to its play count.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32197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7213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90074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⌕</a:t>
            </a:r>
            <a:endParaRPr lang="en-US" sz="1688" dirty="0"/>
          </a:p>
        </p:txBody>
      </p:sp>
      <p:sp>
        <p:nvSpPr>
          <p:cNvPr id="40" name="Text 38"/>
          <p:cNvSpPr/>
          <p:nvPr/>
        </p:nvSpPr>
        <p:spPr>
          <a:xfrm>
            <a:off x="1850017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861566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5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57213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Search Songs</a:t>
            </a:r>
            <a:endParaRPr lang="en-US" sz="928" dirty="0"/>
          </a:p>
        </p:txBody>
      </p:sp>
      <p:sp>
        <p:nvSpPr>
          <p:cNvPr id="43" name="Text 41"/>
          <p:cNvSpPr/>
          <p:nvPr/>
        </p:nvSpPr>
        <p:spPr>
          <a:xfrm>
            <a:off x="557213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Case-insensitive match on title or artist.</a:t>
            </a:r>
            <a:endParaRPr lang="en-US" sz="703" dirty="0"/>
          </a:p>
        </p:txBody>
      </p:sp>
      <p:sp>
        <p:nvSpPr>
          <p:cNvPr id="44" name="Text 42"/>
          <p:cNvSpPr/>
          <p:nvPr/>
        </p:nvSpPr>
        <p:spPr>
          <a:xfrm>
            <a:off x="2528888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2653903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2686764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⇅</a:t>
            </a:r>
            <a:endParaRPr lang="en-US" sz="1688" dirty="0"/>
          </a:p>
        </p:txBody>
      </p:sp>
      <p:sp>
        <p:nvSpPr>
          <p:cNvPr id="47" name="Text 45"/>
          <p:cNvSpPr/>
          <p:nvPr/>
        </p:nvSpPr>
        <p:spPr>
          <a:xfrm>
            <a:off x="3946708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958257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6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53903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Sort Playlist</a:t>
            </a:r>
            <a:endParaRPr lang="en-US" sz="928" dirty="0"/>
          </a:p>
        </p:txBody>
      </p:sp>
      <p:sp>
        <p:nvSpPr>
          <p:cNvPr id="50" name="Text 48"/>
          <p:cNvSpPr/>
          <p:nvPr/>
        </p:nvSpPr>
        <p:spPr>
          <a:xfrm>
            <a:off x="2653903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A–Z by title, or most-played first.</a:t>
            </a:r>
            <a:endParaRPr lang="en-US" sz="703" dirty="0"/>
          </a:p>
        </p:txBody>
      </p:sp>
      <p:sp>
        <p:nvSpPr>
          <p:cNvPr id="51" name="Text 49"/>
          <p:cNvSpPr/>
          <p:nvPr/>
        </p:nvSpPr>
        <p:spPr>
          <a:xfrm>
            <a:off x="4625578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DF6E7"/>
          </a:solidFill>
          <a:ln w="7144">
            <a:solidFill>
              <a:srgbClr val="B7791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4750594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783455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688" dirty="0"/>
          </a:p>
        </p:txBody>
      </p:sp>
      <p:sp>
        <p:nvSpPr>
          <p:cNvPr id="54" name="Text 52"/>
          <p:cNvSpPr/>
          <p:nvPr/>
        </p:nvSpPr>
        <p:spPr>
          <a:xfrm>
            <a:off x="6043398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8A5A1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54947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7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750594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Listening Stats</a:t>
            </a:r>
            <a:endParaRPr lang="en-US" sz="928" dirty="0"/>
          </a:p>
        </p:txBody>
      </p:sp>
      <p:sp>
        <p:nvSpPr>
          <p:cNvPr id="57" name="Text 55"/>
          <p:cNvSpPr/>
          <p:nvPr/>
        </p:nvSpPr>
        <p:spPr>
          <a:xfrm>
            <a:off x="4750594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Totals, favourite artist and </a:t>
            </a:r>
            <a:r>
              <a:rPr lang="en-US" sz="70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Top-5</a:t>
            </a: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ranking.</a:t>
            </a:r>
            <a:endParaRPr lang="en-US" sz="703" dirty="0"/>
          </a:p>
        </p:txBody>
      </p:sp>
      <p:sp>
        <p:nvSpPr>
          <p:cNvPr id="58" name="Text 56"/>
          <p:cNvSpPr/>
          <p:nvPr/>
        </p:nvSpPr>
        <p:spPr>
          <a:xfrm>
            <a:off x="6722269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847284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880146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688" dirty="0"/>
          </a:p>
        </p:txBody>
      </p:sp>
      <p:sp>
        <p:nvSpPr>
          <p:cNvPr id="61" name="Text 59"/>
          <p:cNvSpPr/>
          <p:nvPr/>
        </p:nvSpPr>
        <p:spPr>
          <a:xfrm>
            <a:off x="8244334" y="2909368"/>
            <a:ext cx="355625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255705" y="2919226"/>
            <a:ext cx="332882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847284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Auto-Save</a:t>
            </a:r>
            <a:endParaRPr lang="en-US" sz="928" dirty="0"/>
          </a:p>
        </p:txBody>
      </p:sp>
      <p:sp>
        <p:nvSpPr>
          <p:cNvPr id="64" name="Text 62"/>
          <p:cNvSpPr/>
          <p:nvPr/>
        </p:nvSpPr>
        <p:spPr>
          <a:xfrm>
            <a:off x="6847284" y="3510707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FileWriter persists the playlist after every change.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28625" y="4536281"/>
            <a:ext cx="8286750" cy="307181"/>
          </a:xfrm>
          <a:prstGeom prst="roundRect">
            <a:avLst>
              <a:gd name="adj" fmla="val 3100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428625" y="4539853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8711803" y="4536281"/>
            <a:ext cx="0" cy="307181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428625" y="4839891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42913" y="4536281"/>
            <a:ext cx="0" cy="307181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571500" y="4614863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477" dirty="0"/>
          </a:p>
        </p:txBody>
      </p:sp>
      <p:sp>
        <p:nvSpPr>
          <p:cNvPr id="71" name="Text 69"/>
          <p:cNvSpPr/>
          <p:nvPr/>
        </p:nvSpPr>
        <p:spPr>
          <a:xfrm>
            <a:off x="807244" y="4624908"/>
            <a:ext cx="7786688" cy="139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 tip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suggested order: View All Songs (1) </a:t>
            </a:r>
            <a:r>
              <a:rPr lang="en-US" sz="800" b="1" dirty="0">
                <a:solidFill>
                  <a:srgbClr val="8A5A1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r>
              <a:rPr lang="en-US" sz="800" dirty="0">
                <a:solidFill>
                  <a:srgbClr val="5B6B8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Play "Believer" (4) </a:t>
            </a:r>
            <a:r>
              <a:rPr lang="en-US" sz="800" b="1" dirty="0">
                <a:solidFill>
                  <a:srgbClr val="8A5A1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r>
              <a:rPr lang="en-US" sz="800" dirty="0">
                <a:solidFill>
                  <a:srgbClr val="5B6B8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Listening Stats (7).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85750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28613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316111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410766"/>
            <a:ext cx="296499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57033" y="308967"/>
            <a:ext cx="1583345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53461" y="305395"/>
            <a:ext cx="1590489" cy="304246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(1 of 5) · Project overview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0050" y="642938"/>
            <a:ext cx="8343900" cy="162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complete project is </a:t>
            </a: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 well-organised Java classes — 628 lines of fully commented, beginner-readable code</a:t>
            </a: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The next four slides show each class exactly as submitted.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403622" y="896652"/>
            <a:ext cx="4983435" cy="2212777"/>
          </a:xfrm>
          <a:prstGeom prst="roundRect">
            <a:avLst>
              <a:gd name="adj" fmla="val 430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7194" y="900224"/>
          <a:ext cx="4976291" cy="2384583"/>
        </p:xfrm>
        <a:graphic>
          <a:graphicData uri="http://schemas.openxmlformats.org/drawingml/2006/table">
            <a:tbl>
              <a:tblPr/>
              <a:tblGrid>
                <a:gridCol w="1179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18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CLASS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ROLE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KEY MEMBERS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LINES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Song.java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Model — represents one song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fields, constructor, play counter, file helpers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Playlist.java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Data manager — the song collection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add, remove, view, search, sort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128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StatsManager.java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Statistics engine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totals, favourite artist, Top-5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129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Main.java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Controller — menu and files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menu loop, input validation, save/load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270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628 lines of Java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628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Image 0" descr="/tmp/h2p-fit-1792001661526-vxte7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504" y="964518"/>
            <a:ext cx="3210446" cy="247877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7076" y="3546872"/>
            <a:ext cx="1562360" cy="519708"/>
          </a:xfrm>
          <a:prstGeom prst="roundRect">
            <a:avLst>
              <a:gd name="adj" fmla="val 18328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626373" y="3719715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5626373" y="3729038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 of 5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083126" y="3621881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Song.java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6083126" y="3755827"/>
            <a:ext cx="927013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encapsulation &amp; the file format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178018" y="3546872"/>
            <a:ext cx="1562360" cy="519708"/>
          </a:xfrm>
          <a:prstGeom prst="roundRect">
            <a:avLst>
              <a:gd name="adj" fmla="val 18328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67315" y="3719715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67315" y="3729038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of 5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724068" y="3680817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Playlist.java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7724068" y="3814763"/>
            <a:ext cx="97646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ArrayList &amp; the printf table</a:t>
            </a:r>
            <a:endParaRPr lang="en-US" sz="619" dirty="0"/>
          </a:p>
        </p:txBody>
      </p:sp>
      <p:sp>
        <p:nvSpPr>
          <p:cNvPr id="22" name="Text 18"/>
          <p:cNvSpPr/>
          <p:nvPr/>
        </p:nvSpPr>
        <p:spPr>
          <a:xfrm>
            <a:off x="5537076" y="4145161"/>
            <a:ext cx="1562360" cy="401836"/>
          </a:xfrm>
          <a:prstGeom prst="roundRect">
            <a:avLst>
              <a:gd name="adj" fmla="val 23704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5626373" y="4259068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5626373" y="4268391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 of 5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6083126" y="4220170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StatsManager.java</a:t>
            </a:r>
            <a:endParaRPr lang="en-US" sz="703" dirty="0"/>
          </a:p>
        </p:txBody>
      </p:sp>
      <p:sp>
        <p:nvSpPr>
          <p:cNvPr id="26" name="Text 22"/>
          <p:cNvSpPr/>
          <p:nvPr/>
        </p:nvSpPr>
        <p:spPr>
          <a:xfrm>
            <a:off x="6083126" y="4354116"/>
            <a:ext cx="92701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HashMap maths</a:t>
            </a:r>
            <a:endParaRPr lang="en-US" sz="619" dirty="0"/>
          </a:p>
        </p:txBody>
      </p:sp>
      <p:sp>
        <p:nvSpPr>
          <p:cNvPr id="27" name="Text 23"/>
          <p:cNvSpPr/>
          <p:nvPr/>
        </p:nvSpPr>
        <p:spPr>
          <a:xfrm>
            <a:off x="7178018" y="4145161"/>
            <a:ext cx="1562360" cy="401836"/>
          </a:xfrm>
          <a:prstGeom prst="roundRect">
            <a:avLst>
              <a:gd name="adj" fmla="val 23704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7267315" y="4259068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267315" y="4268391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 of 5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724068" y="4220170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724068" y="4354116"/>
            <a:ext cx="92701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menu loop &amp; auto-save</a:t>
            </a:r>
            <a:endParaRPr lang="en-US" sz="619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912976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05017" y="280392"/>
            <a:ext cx="1635361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01446" y="276820"/>
            <a:ext cx="1642504" cy="304246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(2 of 5) · Song.java — Model</a:t>
            </a:r>
            <a:endParaRPr lang="en-US" sz="800" dirty="0"/>
          </a:p>
        </p:txBody>
      </p:sp>
      <p:pic>
        <p:nvPicPr>
          <p:cNvPr id="8" name="Image 0" descr="/tmp/h2p-fit-1792001660371-b7y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96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340694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532736" y="280392"/>
            <a:ext cx="2207642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529164" y="276820"/>
            <a:ext cx="2214786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 of 5) · Playlist.java — Data Manager</a:t>
            </a:r>
            <a:endParaRPr lang="en-US" sz="800" dirty="0"/>
          </a:p>
        </p:txBody>
      </p:sp>
      <p:pic>
        <p:nvPicPr>
          <p:cNvPr id="8" name="Image 0" descr="/tmp/h2p-fit-1792001661837-pqpk0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1872555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64597" y="280392"/>
            <a:ext cx="2675781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1025" y="276820"/>
            <a:ext cx="2682925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 of 5) · StatsManager.java — Statistics Engine</a:t>
            </a:r>
            <a:endParaRPr lang="en-US" sz="800" dirty="0"/>
          </a:p>
        </p:txBody>
      </p:sp>
      <p:pic>
        <p:nvPicPr>
          <p:cNvPr id="8" name="Image 0" descr="/tmp/h2p-fit-1792001662248-lg7t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652899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44940" y="280392"/>
            <a:ext cx="1895438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41368" y="276820"/>
            <a:ext cx="1902582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(5 of 5) · Main.java — Controller</a:t>
            </a:r>
            <a:endParaRPr lang="en-US" sz="800" dirty="0"/>
          </a:p>
        </p:txBody>
      </p:sp>
      <p:pic>
        <p:nvPicPr>
          <p:cNvPr id="8" name="Image 0" descr="/tmp/h2p-fit-1792001662235-96an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550263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Output Screenshots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054623" y="532209"/>
            <a:ext cx="566075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tmp/h2p-fit-1792001657423-6y0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800100"/>
            <a:ext cx="4086225" cy="3536156"/>
          </a:xfrm>
          <a:prstGeom prst="rect">
            <a:avLst/>
          </a:prstGeom>
        </p:spPr>
      </p:pic>
      <p:pic>
        <p:nvPicPr>
          <p:cNvPr id="7" name="Image 1" descr="/tmp/h2p-fit-1792001657435-uy7tl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800100"/>
            <a:ext cx="4086225" cy="35361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8625" y="441483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9" name="Text 5"/>
          <p:cNvSpPr/>
          <p:nvPr/>
        </p:nvSpPr>
        <p:spPr>
          <a:xfrm>
            <a:off x="592931" y="4407694"/>
            <a:ext cx="3921919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table rendered with </a:t>
            </a: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printf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columns stay aligned.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4629150" y="441483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125" dirty="0"/>
          </a:p>
        </p:txBody>
      </p:sp>
      <p:sp>
        <p:nvSpPr>
          <p:cNvPr id="11" name="Text 7"/>
          <p:cNvSpPr/>
          <p:nvPr/>
        </p:nvSpPr>
        <p:spPr>
          <a:xfrm>
            <a:off x="4793456" y="4407694"/>
            <a:ext cx="3921919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Believer moved </a:t>
            </a: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51 → 52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plays; totals recomputed live.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32197" y="4604147"/>
            <a:ext cx="8279606" cy="278606"/>
          </a:xfrm>
          <a:prstGeom prst="roundRect">
            <a:avLst>
              <a:gd name="adj" fmla="val 34188"/>
            </a:avLst>
          </a:prstGeom>
          <a:solidFill>
            <a:srgbClr val="FBF3E2"/>
          </a:solidFill>
          <a:ln w="7144">
            <a:solidFill>
              <a:srgbClr val="E8D5A9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50069" y="4672013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406" dirty="0"/>
          </a:p>
        </p:txBody>
      </p:sp>
      <p:sp>
        <p:nvSpPr>
          <p:cNvPr id="14" name="Text 10"/>
          <p:cNvSpPr/>
          <p:nvPr/>
        </p:nvSpPr>
        <p:spPr>
          <a:xfrm>
            <a:off x="771525" y="4680942"/>
            <a:ext cx="7822406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output of </a:t>
            </a:r>
            <a:r>
              <a:rPr lang="en-US" sz="800" dirty="0">
                <a:solidFill>
                  <a:srgbClr val="233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Main</a:t>
            </a: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(OpenJDK 21) — replace with your own machine’s screenshots after running the program.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  <a:effectLst>
            <a:outerShdw blurRad="57150" dist="19050" dir="5400000" algn="bl" rotWithShape="0">
              <a:srgbClr val="B7791F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85763"/>
            <a:ext cx="385763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900113" y="416458"/>
            <a:ext cx="778668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Future Scope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57200" y="828675"/>
            <a:ext cx="8229600" cy="14288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821531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971550"/>
            <a:ext cx="8229600" cy="19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4"/>
              </a:lnSpc>
              <a:buNone/>
            </a:pPr>
            <a:r>
              <a:rPr lang="en-US" sz="956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modular design leaves clean extension points for the next versions.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460772" y="1314450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0081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84907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▢</a:t>
            </a:r>
            <a:endParaRPr lang="en-US" sz="1758" dirty="0"/>
          </a:p>
        </p:txBody>
      </p:sp>
      <p:sp>
        <p:nvSpPr>
          <p:cNvPr id="11" name="Text 9"/>
          <p:cNvSpPr/>
          <p:nvPr/>
        </p:nvSpPr>
        <p:spPr>
          <a:xfrm>
            <a:off x="1078706" y="1843534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GUI version</a:t>
            </a:r>
            <a:endParaRPr lang="en-US" sz="1041" dirty="0"/>
          </a:p>
        </p:txBody>
      </p:sp>
      <p:sp>
        <p:nvSpPr>
          <p:cNvPr id="12" name="Text 10"/>
          <p:cNvSpPr/>
          <p:nvPr/>
        </p:nvSpPr>
        <p:spPr>
          <a:xfrm>
            <a:off x="650081" y="2199829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Swing / JavaFX front-end with buttons and lists instead of typed menu numbers.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51522" y="1314450"/>
            <a:ext cx="2640843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40832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475658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758" dirty="0"/>
          </a:p>
        </p:txBody>
      </p:sp>
      <p:sp>
        <p:nvSpPr>
          <p:cNvPr id="16" name="Text 14"/>
          <p:cNvSpPr/>
          <p:nvPr/>
        </p:nvSpPr>
        <p:spPr>
          <a:xfrm>
            <a:off x="3869457" y="1843534"/>
            <a:ext cx="1833600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Database storage</a:t>
            </a:r>
            <a:endParaRPr lang="en-US" sz="1041" dirty="0"/>
          </a:p>
        </p:txBody>
      </p:sp>
      <p:sp>
        <p:nvSpPr>
          <p:cNvPr id="17" name="Text 15"/>
          <p:cNvSpPr/>
          <p:nvPr/>
        </p:nvSpPr>
        <p:spPr>
          <a:xfrm>
            <a:off x="3440832" y="2199829"/>
            <a:ext cx="226222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Move from text file to MySQL via JDBC to support many users and large libraries.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042385" y="1314450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31694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66520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758" dirty="0"/>
          </a:p>
        </p:txBody>
      </p:sp>
      <p:sp>
        <p:nvSpPr>
          <p:cNvPr id="21" name="Text 19"/>
          <p:cNvSpPr/>
          <p:nvPr/>
        </p:nvSpPr>
        <p:spPr>
          <a:xfrm>
            <a:off x="6660319" y="1843534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Shuffle and queue</a:t>
            </a:r>
            <a:endParaRPr lang="en-US" sz="1041" dirty="0"/>
          </a:p>
        </p:txBody>
      </p:sp>
      <p:sp>
        <p:nvSpPr>
          <p:cNvPr id="22" name="Text 20"/>
          <p:cNvSpPr/>
          <p:nvPr/>
        </p:nvSpPr>
        <p:spPr>
          <a:xfrm>
            <a:off x="6231694" y="2199829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Random play order and a play-next queue like real music players.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0772" y="3123605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50081" y="3587502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4907" y="3622328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👍</a:t>
            </a:r>
            <a:endParaRPr lang="en-US" sz="1758" dirty="0"/>
          </a:p>
        </p:txBody>
      </p:sp>
      <p:sp>
        <p:nvSpPr>
          <p:cNvPr id="26" name="Text 24"/>
          <p:cNvSpPr/>
          <p:nvPr/>
        </p:nvSpPr>
        <p:spPr>
          <a:xfrm>
            <a:off x="1078706" y="3652689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Smart recommendations</a:t>
            </a:r>
            <a:endParaRPr lang="en-US" sz="1041" dirty="0"/>
          </a:p>
        </p:txBody>
      </p:sp>
      <p:sp>
        <p:nvSpPr>
          <p:cNvPr id="27" name="Text 25"/>
          <p:cNvSpPr/>
          <p:nvPr/>
        </p:nvSpPr>
        <p:spPr>
          <a:xfrm>
            <a:off x="650081" y="4008983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Suggest songs from the favourite artist and unplayed titles.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51522" y="3123605"/>
            <a:ext cx="2640843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40832" y="366496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75658" y="369979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1758" dirty="0"/>
          </a:p>
        </p:txBody>
      </p:sp>
      <p:sp>
        <p:nvSpPr>
          <p:cNvPr id="31" name="Text 29"/>
          <p:cNvSpPr/>
          <p:nvPr/>
        </p:nvSpPr>
        <p:spPr>
          <a:xfrm>
            <a:off x="3869457" y="3730154"/>
            <a:ext cx="1833600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Report export</a:t>
            </a:r>
            <a:endParaRPr lang="en-US" sz="1041" dirty="0"/>
          </a:p>
        </p:txBody>
      </p:sp>
      <p:sp>
        <p:nvSpPr>
          <p:cNvPr id="32" name="Text 30"/>
          <p:cNvSpPr/>
          <p:nvPr/>
        </p:nvSpPr>
        <p:spPr>
          <a:xfrm>
            <a:off x="3440832" y="4086448"/>
            <a:ext cx="2371953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Generate a weekly listening report as PDF or CSV.</a:t>
            </a:r>
            <a:endParaRPr lang="en-US" sz="788" dirty="0"/>
          </a:p>
        </p:txBody>
      </p:sp>
      <p:sp>
        <p:nvSpPr>
          <p:cNvPr id="33" name="Text 31"/>
          <p:cNvSpPr/>
          <p:nvPr/>
        </p:nvSpPr>
        <p:spPr>
          <a:xfrm>
            <a:off x="6042385" y="3123605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1694" y="3587502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66520" y="3622328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758" dirty="0"/>
          </a:p>
        </p:txBody>
      </p:sp>
      <p:sp>
        <p:nvSpPr>
          <p:cNvPr id="36" name="Text 34"/>
          <p:cNvSpPr/>
          <p:nvPr/>
        </p:nvSpPr>
        <p:spPr>
          <a:xfrm>
            <a:off x="6660319" y="3652689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Real audio playback</a:t>
            </a:r>
            <a:endParaRPr lang="en-US" sz="1041" dirty="0"/>
          </a:p>
        </p:txBody>
      </p:sp>
      <p:sp>
        <p:nvSpPr>
          <p:cNvPr id="37" name="Text 35"/>
          <p:cNvSpPr/>
          <p:nvPr/>
        </p:nvSpPr>
        <p:spPr>
          <a:xfrm>
            <a:off x="6231694" y="4008983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Integrate an audio library so playing a song actually produces sound.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  <a:effectLst>
            <a:outerShdw blurRad="57150" dist="19050" dir="5400000" algn="bl" rotWithShape="0">
              <a:srgbClr val="B7791F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42900"/>
            <a:ext cx="385763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900113" y="373596"/>
            <a:ext cx="778668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Conclusion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57200" y="785813"/>
            <a:ext cx="8229600" cy="14288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778669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0772" y="946547"/>
            <a:ext cx="1115876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01642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913" dirty="0"/>
          </a:p>
        </p:txBody>
      </p:sp>
      <p:sp>
        <p:nvSpPr>
          <p:cNvPr id="9" name="Text 7"/>
          <p:cNvSpPr/>
          <p:nvPr/>
        </p:nvSpPr>
        <p:spPr>
          <a:xfrm>
            <a:off x="695184" y="1367247"/>
            <a:ext cx="647052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Java classes</a:t>
            </a:r>
            <a:endParaRPr lang="en-US" sz="675" dirty="0"/>
          </a:p>
        </p:txBody>
      </p:sp>
      <p:sp>
        <p:nvSpPr>
          <p:cNvPr id="10" name="Text 8"/>
          <p:cNvSpPr/>
          <p:nvPr/>
        </p:nvSpPr>
        <p:spPr>
          <a:xfrm>
            <a:off x="1683804" y="946547"/>
            <a:ext cx="1115988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24674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1913" dirty="0"/>
          </a:p>
        </p:txBody>
      </p:sp>
      <p:sp>
        <p:nvSpPr>
          <p:cNvPr id="12" name="Text 10"/>
          <p:cNvSpPr/>
          <p:nvPr/>
        </p:nvSpPr>
        <p:spPr>
          <a:xfrm>
            <a:off x="1897029" y="1367247"/>
            <a:ext cx="689538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menu features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2906948" y="946547"/>
            <a:ext cx="1115876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96881" y="1064419"/>
            <a:ext cx="936010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100%</a:t>
            </a:r>
            <a:endParaRPr lang="en-US" sz="1913" dirty="0"/>
          </a:p>
        </p:txBody>
      </p:sp>
      <p:sp>
        <p:nvSpPr>
          <p:cNvPr id="15" name="Text 13"/>
          <p:cNvSpPr/>
          <p:nvPr/>
        </p:nvSpPr>
        <p:spPr>
          <a:xfrm>
            <a:off x="3109496" y="1367247"/>
            <a:ext cx="710780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offline &amp; free</a:t>
            </a:r>
            <a:endParaRPr lang="en-US" sz="675" dirty="0"/>
          </a:p>
        </p:txBody>
      </p:sp>
      <p:sp>
        <p:nvSpPr>
          <p:cNvPr id="16" name="Text 14"/>
          <p:cNvSpPr/>
          <p:nvPr/>
        </p:nvSpPr>
        <p:spPr>
          <a:xfrm>
            <a:off x="4129980" y="946547"/>
            <a:ext cx="1115988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0850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</a:t>
            </a:r>
            <a:endParaRPr lang="en-US" sz="1913" dirty="0"/>
          </a:p>
        </p:txBody>
      </p:sp>
      <p:sp>
        <p:nvSpPr>
          <p:cNvPr id="18" name="Text 16"/>
          <p:cNvSpPr/>
          <p:nvPr/>
        </p:nvSpPr>
        <p:spPr>
          <a:xfrm>
            <a:off x="4204990" y="1367247"/>
            <a:ext cx="965969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entries per play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457200" y="1732917"/>
            <a:ext cx="5031957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3"/>
              </a:lnSpc>
              <a:buNone/>
            </a:pPr>
            <a:r>
              <a:rPr lang="en-US" sz="1069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What we achieved</a:t>
            </a:r>
            <a:endParaRPr lang="en-US" sz="1069" dirty="0"/>
          </a:p>
        </p:txBody>
      </p:sp>
      <p:sp>
        <p:nvSpPr>
          <p:cNvPr id="20" name="Text 18"/>
          <p:cNvSpPr/>
          <p:nvPr/>
        </p:nvSpPr>
        <p:spPr>
          <a:xfrm>
            <a:off x="460772" y="2011524"/>
            <a:ext cx="4785196" cy="2342592"/>
          </a:xfrm>
          <a:prstGeom prst="roundRect">
            <a:avLst>
              <a:gd name="adj" fmla="val 406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1506" y="2265015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2" name="Text 20"/>
          <p:cNvSpPr/>
          <p:nvPr/>
        </p:nvSpPr>
        <p:spPr>
          <a:xfrm>
            <a:off x="850106" y="2181076"/>
            <a:ext cx="4235128" cy="33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complete playlist manager built in Core Java — Song, Playlist, StatsManager and Main classes</a:t>
            </a:r>
            <a:endParaRPr lang="en-US" sz="816" dirty="0"/>
          </a:p>
        </p:txBody>
      </p:sp>
      <p:sp>
        <p:nvSpPr>
          <p:cNvPr id="23" name="Shape 21"/>
          <p:cNvSpPr/>
          <p:nvPr/>
        </p:nvSpPr>
        <p:spPr>
          <a:xfrm>
            <a:off x="621506" y="2618631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1506" y="282926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5" name="Text 23"/>
          <p:cNvSpPr/>
          <p:nvPr/>
        </p:nvSpPr>
        <p:spPr>
          <a:xfrm>
            <a:off x="850106" y="2823009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Automatic play counting with a live statistics engine (totals, favourite artist, Top-5)</a:t>
            </a:r>
            <a:endParaRPr lang="en-US" sz="816" dirty="0"/>
          </a:p>
        </p:txBody>
      </p:sp>
      <p:sp>
        <p:nvSpPr>
          <p:cNvPr id="26" name="Shape 24"/>
          <p:cNvSpPr/>
          <p:nvPr/>
        </p:nvSpPr>
        <p:spPr>
          <a:xfrm>
            <a:off x="621506" y="3182875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21506" y="339350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8" name="Text 26"/>
          <p:cNvSpPr/>
          <p:nvPr/>
        </p:nvSpPr>
        <p:spPr>
          <a:xfrm>
            <a:off x="850106" y="3387254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Search, sort and persistent text-file storage proven across restarts</a:t>
            </a:r>
            <a:endParaRPr lang="en-US" sz="816" dirty="0"/>
          </a:p>
        </p:txBody>
      </p:sp>
      <p:sp>
        <p:nvSpPr>
          <p:cNvPr id="29" name="Shape 27"/>
          <p:cNvSpPr/>
          <p:nvPr/>
        </p:nvSpPr>
        <p:spPr>
          <a:xfrm>
            <a:off x="621506" y="3747120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21506" y="3957749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31" name="Text 29"/>
          <p:cNvSpPr/>
          <p:nvPr/>
        </p:nvSpPr>
        <p:spPr>
          <a:xfrm>
            <a:off x="850106" y="3951498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All five objectives from Slide 3 verified in the working demo</a:t>
            </a:r>
            <a:endParaRPr lang="en-US" sz="816" dirty="0"/>
          </a:p>
        </p:txBody>
      </p:sp>
      <p:sp>
        <p:nvSpPr>
          <p:cNvPr id="32" name="Text 30"/>
          <p:cNvSpPr/>
          <p:nvPr/>
        </p:nvSpPr>
        <p:spPr>
          <a:xfrm>
            <a:off x="5424562" y="946547"/>
            <a:ext cx="3258666" cy="3407569"/>
          </a:xfrm>
          <a:prstGeom prst="roundRect">
            <a:avLst>
              <a:gd name="adj" fmla="val 292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585296" y="1092994"/>
            <a:ext cx="2937197" cy="2047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603"/>
              </a:lnSpc>
              <a:buNone/>
            </a:pPr>
            <a:r>
              <a:rPr lang="en-US" sz="1069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Learning outcomes</a:t>
            </a:r>
            <a:endParaRPr lang="en-US" sz="1069" dirty="0"/>
          </a:p>
        </p:txBody>
      </p:sp>
      <p:sp>
        <p:nvSpPr>
          <p:cNvPr id="34" name="Text 32"/>
          <p:cNvSpPr/>
          <p:nvPr/>
        </p:nvSpPr>
        <p:spPr>
          <a:xfrm>
            <a:off x="5585296" y="154271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35" name="Text 33"/>
          <p:cNvSpPr/>
          <p:nvPr/>
        </p:nvSpPr>
        <p:spPr>
          <a:xfrm>
            <a:off x="5806753" y="1538027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OOP encapsulation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private data behind public methods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5585296" y="1899568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585296" y="2120689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38" name="Text 36"/>
          <p:cNvSpPr/>
          <p:nvPr/>
        </p:nvSpPr>
        <p:spPr>
          <a:xfrm>
            <a:off x="5806753" y="2043559"/>
            <a:ext cx="2715741" cy="318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Collections</a:t>
            </a: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ArrayList for storage, HashMap for artist totals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585296" y="2477542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5585296" y="269866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1" name="Text 39"/>
          <p:cNvSpPr/>
          <p:nvPr/>
        </p:nvSpPr>
        <p:spPr>
          <a:xfrm>
            <a:off x="5806753" y="2693975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File I/O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FileWriter saves, Scanner loads, try-catch safety</a:t>
            </a:r>
            <a:endParaRPr lang="en-US" sz="788" dirty="0"/>
          </a:p>
        </p:txBody>
      </p:sp>
      <p:sp>
        <p:nvSpPr>
          <p:cNvPr id="42" name="Shape 40"/>
          <p:cNvSpPr/>
          <p:nvPr/>
        </p:nvSpPr>
        <p:spPr>
          <a:xfrm>
            <a:off x="5585296" y="3055516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585296" y="327663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4" name="Text 42"/>
          <p:cNvSpPr/>
          <p:nvPr/>
        </p:nvSpPr>
        <p:spPr>
          <a:xfrm>
            <a:off x="5806753" y="3271949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Input validation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readInt / readText loops that never crash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5585296" y="3633490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585296" y="3854611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7" name="Text 45"/>
          <p:cNvSpPr/>
          <p:nvPr/>
        </p:nvSpPr>
        <p:spPr>
          <a:xfrm>
            <a:off x="5806753" y="3849923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Modular design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each class has one clear responsibility</a:t>
            </a:r>
            <a:endParaRPr lang="en-US" sz="788" dirty="0"/>
          </a:p>
        </p:txBody>
      </p:sp>
      <p:sp>
        <p:nvSpPr>
          <p:cNvPr id="48" name="Text 46"/>
          <p:cNvSpPr/>
          <p:nvPr/>
        </p:nvSpPr>
        <p:spPr>
          <a:xfrm>
            <a:off x="457200" y="4471988"/>
            <a:ext cx="8229600" cy="357188"/>
          </a:xfrm>
          <a:prstGeom prst="roundRect">
            <a:avLst>
              <a:gd name="adj" fmla="val 26667"/>
            </a:avLst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14363" y="457200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F2C8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50" name="Text 48"/>
          <p:cNvSpPr/>
          <p:nvPr/>
        </p:nvSpPr>
        <p:spPr>
          <a:xfrm>
            <a:off x="857250" y="4572893"/>
            <a:ext cx="7672388" cy="15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4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project meets every planned objective and provides a solid base for the GUI and database upgrades listed in Future Scope.</a:t>
            </a:r>
            <a:endParaRPr lang="en-US" sz="844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9309" y="189309"/>
            <a:ext cx="8765381" cy="4764881"/>
          </a:xfrm>
          <a:prstGeom prst="roundRect">
            <a:avLst>
              <a:gd name="adj" fmla="val 2799"/>
            </a:avLst>
          </a:prstGeom>
          <a:noFill/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43400" y="1335546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549859"/>
            <a:ext cx="8595248" cy="664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843"/>
              </a:lnSpc>
              <a:buNone/>
            </a:pPr>
            <a:r>
              <a:rPr lang="en-US" sz="46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Thank You</a:t>
            </a:r>
            <a:r>
              <a:rPr lang="en-US" sz="4613" b="1" dirty="0">
                <a:solidFill>
                  <a:srgbClr val="B7791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!</a:t>
            </a:r>
            <a:endParaRPr lang="en-US" sz="4613" dirty="0"/>
          </a:p>
        </p:txBody>
      </p:sp>
      <p:sp>
        <p:nvSpPr>
          <p:cNvPr id="5" name="Text 3"/>
          <p:cNvSpPr/>
          <p:nvPr/>
        </p:nvSpPr>
        <p:spPr>
          <a:xfrm>
            <a:off x="3132266" y="2264904"/>
            <a:ext cx="2879355" cy="208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01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Questions and suggestions are most welcome.</a:t>
            </a:r>
            <a:endParaRPr lang="en-US" sz="1013" dirty="0"/>
          </a:p>
        </p:txBody>
      </p:sp>
      <p:sp>
        <p:nvSpPr>
          <p:cNvPr id="6" name="Text 4"/>
          <p:cNvSpPr/>
          <p:nvPr/>
        </p:nvSpPr>
        <p:spPr>
          <a:xfrm>
            <a:off x="2447739" y="2675669"/>
            <a:ext cx="4248410" cy="350044"/>
          </a:xfrm>
          <a:prstGeom prst="roundRect">
            <a:avLst>
              <a:gd name="adj" fmla="val 271836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51336" y="277925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♪</a:t>
            </a:r>
            <a:endParaRPr lang="en-US" sz="1406" dirty="0"/>
          </a:p>
        </p:txBody>
      </p:sp>
      <p:sp>
        <p:nvSpPr>
          <p:cNvPr id="8" name="Text 6"/>
          <p:cNvSpPr/>
          <p:nvPr/>
        </p:nvSpPr>
        <p:spPr>
          <a:xfrm>
            <a:off x="2865648" y="2764966"/>
            <a:ext cx="36269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Music Playlist &amp; Listening Stats Manager — Core Java Mini Project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85900" y="4680942"/>
            <a:ext cx="6172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5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2542</Words>
  <Application>Microsoft Office PowerPoint</Application>
  <PresentationFormat>On-screen Show (16:9)</PresentationFormat>
  <Paragraphs>320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Carlito</vt:lpstr>
      <vt:lpstr>Courier New</vt:lpstr>
      <vt:lpstr>Liberation Sans Narrow</vt:lpstr>
      <vt:lpstr>Segoe UI Symbol</vt:lpstr>
      <vt:lpstr>Tinos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Boga Shashank</cp:lastModifiedBy>
  <cp:revision>1</cp:revision>
  <dcterms:created xsi:type="dcterms:W3CDTF">2026-10-14T18:14:22Z</dcterms:created>
  <dcterms:modified xsi:type="dcterms:W3CDTF">2026-10-16T07:33:33Z</dcterms:modified>
</cp:coreProperties>
</file>