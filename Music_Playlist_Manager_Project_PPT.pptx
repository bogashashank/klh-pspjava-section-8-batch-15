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B143191-D716-4AC1-A600-9A33CE9720B6}" v="3" dt="2026-10-16T07:42:08.22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13" d="100"/>
          <a:sy n="113" d="100"/>
        </p:scale>
        <p:origin x="394" y="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microsoft.com/office/2016/11/relationships/changesInfo" Target="changesInfos/changesInfo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Boga Shashank" userId="d9288b1565e02af5" providerId="LiveId" clId="{91ED3C43-599C-45D9-B8BE-500491248CD8}"/>
    <pc:docChg chg="undo custSel modSld">
      <pc:chgData name="Boga Shashank" userId="d9288b1565e02af5" providerId="LiveId" clId="{91ED3C43-599C-45D9-B8BE-500491248CD8}" dt="2026-10-16T07:44:19.647" v="461" actId="14100"/>
      <pc:docMkLst>
        <pc:docMk/>
      </pc:docMkLst>
      <pc:sldChg chg="modSp mod">
        <pc:chgData name="Boga Shashank" userId="d9288b1565e02af5" providerId="LiveId" clId="{91ED3C43-599C-45D9-B8BE-500491248CD8}" dt="2026-10-15T14:42:02.794" v="429" actId="20577"/>
        <pc:sldMkLst>
          <pc:docMk/>
          <pc:sldMk cId="0" sldId="256"/>
        </pc:sldMkLst>
        <pc:spChg chg="mod">
          <ac:chgData name="Boga Shashank" userId="d9288b1565e02af5" providerId="LiveId" clId="{91ED3C43-599C-45D9-B8BE-500491248CD8}" dt="2026-10-15T14:42:02.794" v="429" actId="20577"/>
          <ac:spMkLst>
            <pc:docMk/>
            <pc:sldMk cId="0" sldId="256"/>
            <ac:spMk id="2" creationId="{00000000-0000-0000-0000-000000000000}"/>
          </ac:spMkLst>
        </pc:spChg>
        <pc:spChg chg="mod">
          <ac:chgData name="Boga Shashank" userId="d9288b1565e02af5" providerId="LiveId" clId="{91ED3C43-599C-45D9-B8BE-500491248CD8}" dt="2026-10-14T18:22:56.058" v="73" actId="20577"/>
          <ac:spMkLst>
            <pc:docMk/>
            <pc:sldMk cId="0" sldId="256"/>
            <ac:spMk id="8" creationId="{00000000-0000-0000-0000-000000000000}"/>
          </ac:spMkLst>
        </pc:spChg>
        <pc:spChg chg="mod">
          <ac:chgData name="Boga Shashank" userId="d9288b1565e02af5" providerId="LiveId" clId="{91ED3C43-599C-45D9-B8BE-500491248CD8}" dt="2026-10-14T18:22:33.892" v="25" actId="20577"/>
          <ac:spMkLst>
            <pc:docMk/>
            <pc:sldMk cId="0" sldId="256"/>
            <ac:spMk id="9" creationId="{00000000-0000-0000-0000-000000000000}"/>
          </ac:spMkLst>
        </pc:spChg>
        <pc:spChg chg="mod">
          <ac:chgData name="Boga Shashank" userId="d9288b1565e02af5" providerId="LiveId" clId="{91ED3C43-599C-45D9-B8BE-500491248CD8}" dt="2026-10-14T18:23:09.278" v="113" actId="20577"/>
          <ac:spMkLst>
            <pc:docMk/>
            <pc:sldMk cId="0" sldId="256"/>
            <ac:spMk id="11" creationId="{00000000-0000-0000-0000-000000000000}"/>
          </ac:spMkLst>
        </pc:spChg>
        <pc:spChg chg="mod">
          <ac:chgData name="Boga Shashank" userId="d9288b1565e02af5" providerId="LiveId" clId="{91ED3C43-599C-45D9-B8BE-500491248CD8}" dt="2026-10-14T18:22:44.158" v="46" actId="20577"/>
          <ac:spMkLst>
            <pc:docMk/>
            <pc:sldMk cId="0" sldId="256"/>
            <ac:spMk id="12" creationId="{00000000-0000-0000-0000-000000000000}"/>
          </ac:spMkLst>
        </pc:spChg>
        <pc:spChg chg="mod">
          <ac:chgData name="Boga Shashank" userId="d9288b1565e02af5" providerId="LiveId" clId="{91ED3C43-599C-45D9-B8BE-500491248CD8}" dt="2026-10-14T18:23:20.738" v="140" actId="20577"/>
          <ac:spMkLst>
            <pc:docMk/>
            <pc:sldMk cId="0" sldId="256"/>
            <ac:spMk id="14" creationId="{00000000-0000-0000-0000-000000000000}"/>
          </ac:spMkLst>
        </pc:spChg>
        <pc:spChg chg="mod">
          <ac:chgData name="Boga Shashank" userId="d9288b1565e02af5" providerId="LiveId" clId="{91ED3C43-599C-45D9-B8BE-500491248CD8}" dt="2026-10-14T18:23:25.080" v="146" actId="20577"/>
          <ac:spMkLst>
            <pc:docMk/>
            <pc:sldMk cId="0" sldId="256"/>
            <ac:spMk id="16" creationId="{00000000-0000-0000-0000-000000000000}"/>
          </ac:spMkLst>
        </pc:spChg>
        <pc:spChg chg="mod">
          <ac:chgData name="Boga Shashank" userId="d9288b1565e02af5" providerId="LiveId" clId="{91ED3C43-599C-45D9-B8BE-500491248CD8}" dt="2026-10-14T18:24:36.152" v="262" actId="20577"/>
          <ac:spMkLst>
            <pc:docMk/>
            <pc:sldMk cId="0" sldId="256"/>
            <ac:spMk id="18" creationId="{00000000-0000-0000-0000-000000000000}"/>
          </ac:spMkLst>
        </pc:spChg>
        <pc:spChg chg="mod">
          <ac:chgData name="Boga Shashank" userId="d9288b1565e02af5" providerId="LiveId" clId="{91ED3C43-599C-45D9-B8BE-500491248CD8}" dt="2026-10-15T14:32:07.731" v="399" actId="20577"/>
          <ac:spMkLst>
            <pc:docMk/>
            <pc:sldMk cId="0" sldId="256"/>
            <ac:spMk id="22" creationId="{00000000-0000-0000-0000-000000000000}"/>
          </ac:spMkLst>
        </pc:spChg>
      </pc:sldChg>
      <pc:sldChg chg="modSp mod">
        <pc:chgData name="Boga Shashank" userId="d9288b1565e02af5" providerId="LiveId" clId="{91ED3C43-599C-45D9-B8BE-500491248CD8}" dt="2026-10-15T14:33:00.154" v="411" actId="1076"/>
        <pc:sldMkLst>
          <pc:docMk/>
          <pc:sldMk cId="0" sldId="257"/>
        </pc:sldMkLst>
        <pc:spChg chg="mod">
          <ac:chgData name="Boga Shashank" userId="d9288b1565e02af5" providerId="LiveId" clId="{91ED3C43-599C-45D9-B8BE-500491248CD8}" dt="2026-10-15T14:32:54.824" v="410" actId="20577"/>
          <ac:spMkLst>
            <pc:docMk/>
            <pc:sldMk cId="0" sldId="257"/>
            <ac:spMk id="6" creationId="{00000000-0000-0000-0000-000000000000}"/>
          </ac:spMkLst>
        </pc:spChg>
        <pc:spChg chg="mod">
          <ac:chgData name="Boga Shashank" userId="d9288b1565e02af5" providerId="LiveId" clId="{91ED3C43-599C-45D9-B8BE-500491248CD8}" dt="2026-10-15T14:33:00.154" v="411" actId="1076"/>
          <ac:spMkLst>
            <pc:docMk/>
            <pc:sldMk cId="0" sldId="257"/>
            <ac:spMk id="16" creationId="{00000000-0000-0000-0000-000000000000}"/>
          </ac:spMkLst>
        </pc:spChg>
      </pc:sldChg>
      <pc:sldChg chg="modSp mod">
        <pc:chgData name="Boga Shashank" userId="d9288b1565e02af5" providerId="LiveId" clId="{91ED3C43-599C-45D9-B8BE-500491248CD8}" dt="2026-10-15T14:33:22.714" v="414" actId="14100"/>
        <pc:sldMkLst>
          <pc:docMk/>
          <pc:sldMk cId="0" sldId="259"/>
        </pc:sldMkLst>
        <pc:spChg chg="mod">
          <ac:chgData name="Boga Shashank" userId="d9288b1565e02af5" providerId="LiveId" clId="{91ED3C43-599C-45D9-B8BE-500491248CD8}" dt="2026-10-15T14:33:13.738" v="412" actId="14100"/>
          <ac:spMkLst>
            <pc:docMk/>
            <pc:sldMk cId="0" sldId="259"/>
            <ac:spMk id="15" creationId="{00000000-0000-0000-0000-000000000000}"/>
          </ac:spMkLst>
        </pc:spChg>
        <pc:spChg chg="mod">
          <ac:chgData name="Boga Shashank" userId="d9288b1565e02af5" providerId="LiveId" clId="{91ED3C43-599C-45D9-B8BE-500491248CD8}" dt="2026-10-15T14:33:19.530" v="413" actId="14100"/>
          <ac:spMkLst>
            <pc:docMk/>
            <pc:sldMk cId="0" sldId="259"/>
            <ac:spMk id="19" creationId="{00000000-0000-0000-0000-000000000000}"/>
          </ac:spMkLst>
        </pc:spChg>
        <pc:spChg chg="mod">
          <ac:chgData name="Boga Shashank" userId="d9288b1565e02af5" providerId="LiveId" clId="{91ED3C43-599C-45D9-B8BE-500491248CD8}" dt="2026-10-15T14:33:22.714" v="414" actId="14100"/>
          <ac:spMkLst>
            <pc:docMk/>
            <pc:sldMk cId="0" sldId="259"/>
            <ac:spMk id="23" creationId="{00000000-0000-0000-0000-000000000000}"/>
          </ac:spMkLst>
        </pc:spChg>
      </pc:sldChg>
      <pc:sldChg chg="addSp delSp modSp mod">
        <pc:chgData name="Boga Shashank" userId="d9288b1565e02af5" providerId="LiveId" clId="{91ED3C43-599C-45D9-B8BE-500491248CD8}" dt="2026-10-16T07:44:19.647" v="461" actId="14100"/>
        <pc:sldMkLst>
          <pc:docMk/>
          <pc:sldMk cId="0" sldId="262"/>
        </pc:sldMkLst>
        <pc:spChg chg="del mod">
          <ac:chgData name="Boga Shashank" userId="d9288b1565e02af5" providerId="LiveId" clId="{91ED3C43-599C-45D9-B8BE-500491248CD8}" dt="2026-10-16T07:33:16.092" v="439" actId="478"/>
          <ac:spMkLst>
            <pc:docMk/>
            <pc:sldMk cId="0" sldId="262"/>
            <ac:spMk id="6" creationId="{00000000-0000-0000-0000-000000000000}"/>
          </ac:spMkLst>
        </pc:spChg>
        <pc:spChg chg="mod">
          <ac:chgData name="Boga Shashank" userId="d9288b1565e02af5" providerId="LiveId" clId="{91ED3C43-599C-45D9-B8BE-500491248CD8}" dt="2026-10-15T14:34:06.456" v="418" actId="1076"/>
          <ac:spMkLst>
            <pc:docMk/>
            <pc:sldMk cId="0" sldId="262"/>
            <ac:spMk id="7" creationId="{00000000-0000-0000-0000-000000000000}"/>
          </ac:spMkLst>
        </pc:spChg>
        <pc:spChg chg="mod">
          <ac:chgData name="Boga Shashank" userId="d9288b1565e02af5" providerId="LiveId" clId="{91ED3C43-599C-45D9-B8BE-500491248CD8}" dt="2026-10-15T14:34:10.361" v="419" actId="1076"/>
          <ac:spMkLst>
            <pc:docMk/>
            <pc:sldMk cId="0" sldId="262"/>
            <ac:spMk id="8" creationId="{00000000-0000-0000-0000-000000000000}"/>
          </ac:spMkLst>
        </pc:spChg>
        <pc:spChg chg="add del mod">
          <ac:chgData name="Boga Shashank" userId="d9288b1565e02af5" providerId="LiveId" clId="{91ED3C43-599C-45D9-B8BE-500491248CD8}" dt="2026-10-16T07:44:08.741" v="457" actId="478"/>
          <ac:spMkLst>
            <pc:docMk/>
            <pc:sldMk cId="0" sldId="262"/>
            <ac:spMk id="8" creationId="{B0F25847-8CA2-5B78-01DF-F935D3C74245}"/>
          </ac:spMkLst>
        </pc:spChg>
        <pc:spChg chg="del mod">
          <ac:chgData name="Boga Shashank" userId="d9288b1565e02af5" providerId="LiveId" clId="{91ED3C43-599C-45D9-B8BE-500491248CD8}" dt="2026-10-16T07:33:16.092" v="439" actId="478"/>
          <ac:spMkLst>
            <pc:docMk/>
            <pc:sldMk cId="0" sldId="262"/>
            <ac:spMk id="9" creationId="{00000000-0000-0000-0000-000000000000}"/>
          </ac:spMkLst>
        </pc:spChg>
        <pc:spChg chg="mod">
          <ac:chgData name="Boga Shashank" userId="d9288b1565e02af5" providerId="LiveId" clId="{91ED3C43-599C-45D9-B8BE-500491248CD8}" dt="2026-10-15T14:33:54.056" v="416" actId="27636"/>
          <ac:spMkLst>
            <pc:docMk/>
            <pc:sldMk cId="0" sldId="262"/>
            <ac:spMk id="10" creationId="{00000000-0000-0000-0000-000000000000}"/>
          </ac:spMkLst>
        </pc:spChg>
        <pc:spChg chg="del">
          <ac:chgData name="Boga Shashank" userId="d9288b1565e02af5" providerId="LiveId" clId="{91ED3C43-599C-45D9-B8BE-500491248CD8}" dt="2026-10-16T07:33:16.092" v="439" actId="478"/>
          <ac:spMkLst>
            <pc:docMk/>
            <pc:sldMk cId="0" sldId="262"/>
            <ac:spMk id="12" creationId="{00000000-0000-0000-0000-000000000000}"/>
          </ac:spMkLst>
        </pc:spChg>
        <pc:spChg chg="del">
          <ac:chgData name="Boga Shashank" userId="d9288b1565e02af5" providerId="LiveId" clId="{91ED3C43-599C-45D9-B8BE-500491248CD8}" dt="2026-10-16T07:33:16.092" v="439" actId="478"/>
          <ac:spMkLst>
            <pc:docMk/>
            <pc:sldMk cId="0" sldId="262"/>
            <ac:spMk id="13" creationId="{00000000-0000-0000-0000-000000000000}"/>
          </ac:spMkLst>
        </pc:spChg>
        <pc:spChg chg="del mod">
          <ac:chgData name="Boga Shashank" userId="d9288b1565e02af5" providerId="LiveId" clId="{91ED3C43-599C-45D9-B8BE-500491248CD8}" dt="2026-10-16T07:33:16.092" v="439" actId="478"/>
          <ac:spMkLst>
            <pc:docMk/>
            <pc:sldMk cId="0" sldId="262"/>
            <ac:spMk id="14" creationId="{00000000-0000-0000-0000-000000000000}"/>
          </ac:spMkLst>
        </pc:spChg>
        <pc:spChg chg="del">
          <ac:chgData name="Boga Shashank" userId="d9288b1565e02af5" providerId="LiveId" clId="{91ED3C43-599C-45D9-B8BE-500491248CD8}" dt="2026-10-16T07:33:16.092" v="439" actId="478"/>
          <ac:spMkLst>
            <pc:docMk/>
            <pc:sldMk cId="0" sldId="262"/>
            <ac:spMk id="19" creationId="{00000000-0000-0000-0000-000000000000}"/>
          </ac:spMkLst>
        </pc:spChg>
        <pc:spChg chg="del">
          <ac:chgData name="Boga Shashank" userId="d9288b1565e02af5" providerId="LiveId" clId="{91ED3C43-599C-45D9-B8BE-500491248CD8}" dt="2026-10-16T07:33:16.092" v="439" actId="478"/>
          <ac:spMkLst>
            <pc:docMk/>
            <pc:sldMk cId="0" sldId="262"/>
            <ac:spMk id="26" creationId="{00000000-0000-0000-0000-000000000000}"/>
          </ac:spMkLst>
        </pc:spChg>
        <pc:spChg chg="mod">
          <ac:chgData name="Boga Shashank" userId="d9288b1565e02af5" providerId="LiveId" clId="{91ED3C43-599C-45D9-B8BE-500491248CD8}" dt="2026-10-16T07:33:12.859" v="432" actId="27636"/>
          <ac:spMkLst>
            <pc:docMk/>
            <pc:sldMk cId="0" sldId="262"/>
            <ac:spMk id="37" creationId="{00000000-0000-0000-0000-000000000000}"/>
          </ac:spMkLst>
        </pc:spChg>
        <pc:spChg chg="del">
          <ac:chgData name="Boga Shashank" userId="d9288b1565e02af5" providerId="LiveId" clId="{91ED3C43-599C-45D9-B8BE-500491248CD8}" dt="2026-10-16T07:33:16.092" v="439" actId="478"/>
          <ac:spMkLst>
            <pc:docMk/>
            <pc:sldMk cId="0" sldId="262"/>
            <ac:spMk id="39" creationId="{00000000-0000-0000-0000-000000000000}"/>
          </ac:spMkLst>
        </pc:spChg>
        <pc:spChg chg="del">
          <ac:chgData name="Boga Shashank" userId="d9288b1565e02af5" providerId="LiveId" clId="{91ED3C43-599C-45D9-B8BE-500491248CD8}" dt="2026-10-16T07:33:16.092" v="439" actId="478"/>
          <ac:spMkLst>
            <pc:docMk/>
            <pc:sldMk cId="0" sldId="262"/>
            <ac:spMk id="40" creationId="{00000000-0000-0000-0000-000000000000}"/>
          </ac:spMkLst>
        </pc:spChg>
        <pc:spChg chg="del">
          <ac:chgData name="Boga Shashank" userId="d9288b1565e02af5" providerId="LiveId" clId="{91ED3C43-599C-45D9-B8BE-500491248CD8}" dt="2026-10-16T07:33:16.092" v="439" actId="478"/>
          <ac:spMkLst>
            <pc:docMk/>
            <pc:sldMk cId="0" sldId="262"/>
            <ac:spMk id="45" creationId="{00000000-0000-0000-0000-000000000000}"/>
          </ac:spMkLst>
        </pc:spChg>
        <pc:spChg chg="mod">
          <ac:chgData name="Boga Shashank" userId="d9288b1565e02af5" providerId="LiveId" clId="{91ED3C43-599C-45D9-B8BE-500491248CD8}" dt="2026-10-16T07:33:12.848" v="431" actId="27636"/>
          <ac:spMkLst>
            <pc:docMk/>
            <pc:sldMk cId="0" sldId="262"/>
            <ac:spMk id="49" creationId="{00000000-0000-0000-0000-000000000000}"/>
          </ac:spMkLst>
        </pc:spChg>
        <pc:spChg chg="add del mod">
          <ac:chgData name="Boga Shashank" userId="d9288b1565e02af5" providerId="LiveId" clId="{91ED3C43-599C-45D9-B8BE-500491248CD8}" dt="2026-10-16T07:33:13.439" v="438"/>
          <ac:spMkLst>
            <pc:docMk/>
            <pc:sldMk cId="0" sldId="262"/>
            <ac:spMk id="51" creationId="{8C602204-9128-B2FB-AB32-DCE9CF1E1374}"/>
          </ac:spMkLst>
        </pc:spChg>
        <pc:spChg chg="del">
          <ac:chgData name="Boga Shashank" userId="d9288b1565e02af5" providerId="LiveId" clId="{91ED3C43-599C-45D9-B8BE-500491248CD8}" dt="2026-10-15T14:35:07.373" v="427" actId="478"/>
          <ac:spMkLst>
            <pc:docMk/>
            <pc:sldMk cId="0" sldId="262"/>
            <ac:spMk id="53" creationId="{00000000-0000-0000-0000-000000000000}"/>
          </ac:spMkLst>
        </pc:spChg>
        <pc:spChg chg="del">
          <ac:chgData name="Boga Shashank" userId="d9288b1565e02af5" providerId="LiveId" clId="{91ED3C43-599C-45D9-B8BE-500491248CD8}" dt="2026-10-15T14:35:07.373" v="427" actId="478"/>
          <ac:spMkLst>
            <pc:docMk/>
            <pc:sldMk cId="0" sldId="262"/>
            <ac:spMk id="56" creationId="{00000000-0000-0000-0000-000000000000}"/>
          </ac:spMkLst>
        </pc:spChg>
        <pc:spChg chg="del">
          <ac:chgData name="Boga Shashank" userId="d9288b1565e02af5" providerId="LiveId" clId="{91ED3C43-599C-45D9-B8BE-500491248CD8}" dt="2026-10-15T14:35:07.373" v="427" actId="478"/>
          <ac:spMkLst>
            <pc:docMk/>
            <pc:sldMk cId="0" sldId="262"/>
            <ac:spMk id="57" creationId="{00000000-0000-0000-0000-000000000000}"/>
          </ac:spMkLst>
        </pc:spChg>
        <pc:spChg chg="del">
          <ac:chgData name="Boga Shashank" userId="d9288b1565e02af5" providerId="LiveId" clId="{91ED3C43-599C-45D9-B8BE-500491248CD8}" dt="2026-10-15T14:35:07.373" v="427" actId="478"/>
          <ac:spMkLst>
            <pc:docMk/>
            <pc:sldMk cId="0" sldId="262"/>
            <ac:spMk id="59" creationId="{00000000-0000-0000-0000-000000000000}"/>
          </ac:spMkLst>
        </pc:spChg>
        <pc:spChg chg="del">
          <ac:chgData name="Boga Shashank" userId="d9288b1565e02af5" providerId="LiveId" clId="{91ED3C43-599C-45D9-B8BE-500491248CD8}" dt="2026-10-15T14:35:07.373" v="427" actId="478"/>
          <ac:spMkLst>
            <pc:docMk/>
            <pc:sldMk cId="0" sldId="262"/>
            <ac:spMk id="60" creationId="{00000000-0000-0000-0000-000000000000}"/>
          </ac:spMkLst>
        </pc:spChg>
        <pc:spChg chg="del">
          <ac:chgData name="Boga Shashank" userId="d9288b1565e02af5" providerId="LiveId" clId="{91ED3C43-599C-45D9-B8BE-500491248CD8}" dt="2026-10-15T14:35:07.373" v="427" actId="478"/>
          <ac:spMkLst>
            <pc:docMk/>
            <pc:sldMk cId="0" sldId="262"/>
            <ac:spMk id="61" creationId="{00000000-0000-0000-0000-000000000000}"/>
          </ac:spMkLst>
        </pc:spChg>
        <pc:spChg chg="del">
          <ac:chgData name="Boga Shashank" userId="d9288b1565e02af5" providerId="LiveId" clId="{91ED3C43-599C-45D9-B8BE-500491248CD8}" dt="2026-10-15T14:35:07.373" v="427" actId="478"/>
          <ac:spMkLst>
            <pc:docMk/>
            <pc:sldMk cId="0" sldId="262"/>
            <ac:spMk id="64" creationId="{00000000-0000-0000-0000-000000000000}"/>
          </ac:spMkLst>
        </pc:spChg>
        <pc:spChg chg="del">
          <ac:chgData name="Boga Shashank" userId="d9288b1565e02af5" providerId="LiveId" clId="{91ED3C43-599C-45D9-B8BE-500491248CD8}" dt="2026-10-15T14:35:07.373" v="427" actId="478"/>
          <ac:spMkLst>
            <pc:docMk/>
            <pc:sldMk cId="0" sldId="262"/>
            <ac:spMk id="65" creationId="{00000000-0000-0000-0000-000000000000}"/>
          </ac:spMkLst>
        </pc:spChg>
        <pc:spChg chg="del mod">
          <ac:chgData name="Boga Shashank" userId="d9288b1565e02af5" providerId="LiveId" clId="{91ED3C43-599C-45D9-B8BE-500491248CD8}" dt="2026-10-15T14:35:07.373" v="427" actId="478"/>
          <ac:spMkLst>
            <pc:docMk/>
            <pc:sldMk cId="0" sldId="262"/>
            <ac:spMk id="66" creationId="{00000000-0000-0000-0000-000000000000}"/>
          </ac:spMkLst>
        </pc:spChg>
        <pc:spChg chg="del">
          <ac:chgData name="Boga Shashank" userId="d9288b1565e02af5" providerId="LiveId" clId="{91ED3C43-599C-45D9-B8BE-500491248CD8}" dt="2026-10-15T14:35:07.373" v="427" actId="478"/>
          <ac:spMkLst>
            <pc:docMk/>
            <pc:sldMk cId="0" sldId="262"/>
            <ac:spMk id="68" creationId="{00000000-0000-0000-0000-000000000000}"/>
          </ac:spMkLst>
        </pc:spChg>
        <pc:graphicFrameChg chg="add del modGraphic">
          <ac:chgData name="Boga Shashank" userId="d9288b1565e02af5" providerId="LiveId" clId="{91ED3C43-599C-45D9-B8BE-500491248CD8}" dt="2026-10-16T07:39:24.360" v="446" actId="478"/>
          <ac:graphicFrameMkLst>
            <pc:docMk/>
            <pc:sldMk cId="0" sldId="262"/>
            <ac:graphicFrameMk id="6" creationId="{275E4883-9139-F551-61C2-8EC57F643B51}"/>
          </ac:graphicFrameMkLst>
        </pc:graphicFrameChg>
        <pc:graphicFrameChg chg="add del mod modGraphic">
          <ac:chgData name="Boga Shashank" userId="d9288b1565e02af5" providerId="LiveId" clId="{91ED3C43-599C-45D9-B8BE-500491248CD8}" dt="2026-10-16T07:42:00.817" v="450" actId="478"/>
          <ac:graphicFrameMkLst>
            <pc:docMk/>
            <pc:sldMk cId="0" sldId="262"/>
            <ac:graphicFrameMk id="7" creationId="{FAFE1BA9-5843-8FB6-FB27-83F614125A63}"/>
          </ac:graphicFrameMkLst>
        </pc:graphicFrameChg>
        <pc:picChg chg="add del">
          <ac:chgData name="Boga Shashank" userId="d9288b1565e02af5" providerId="LiveId" clId="{91ED3C43-599C-45D9-B8BE-500491248CD8}" dt="2026-10-16T07:44:12.765" v="459" actId="478"/>
          <ac:picMkLst>
            <pc:docMk/>
            <pc:sldMk cId="0" sldId="262"/>
            <ac:picMk id="10" creationId="{0294B1F8-234F-61AE-7647-12B837BB4F77}"/>
          </ac:picMkLst>
        </pc:picChg>
        <pc:picChg chg="add mod">
          <ac:chgData name="Boga Shashank" userId="d9288b1565e02af5" providerId="LiveId" clId="{91ED3C43-599C-45D9-B8BE-500491248CD8}" dt="2026-10-16T07:44:19.647" v="461" actId="14100"/>
          <ac:picMkLst>
            <pc:docMk/>
            <pc:sldMk cId="0" sldId="262"/>
            <ac:picMk id="12" creationId="{2181284D-C2BC-C670-EE7A-79B20AD30865}"/>
          </ac:picMkLst>
        </pc:picChg>
        <pc:picChg chg="add del mod">
          <ac:chgData name="Boga Shashank" userId="d9288b1565e02af5" providerId="LiveId" clId="{91ED3C43-599C-45D9-B8BE-500491248CD8}" dt="2026-10-16T07:35:26.566" v="444" actId="478"/>
          <ac:picMkLst>
            <pc:docMk/>
            <pc:sldMk cId="0" sldId="262"/>
            <ac:picMk id="53" creationId="{21A29BD9-4F44-BF9B-028D-7BE08356451D}"/>
          </ac:picMkLst>
        </pc:picChg>
      </pc:sldChg>
      <pc:sldChg chg="delSp modSp mod">
        <pc:chgData name="Boga Shashank" userId="d9288b1565e02af5" providerId="LiveId" clId="{91ED3C43-599C-45D9-B8BE-500491248CD8}" dt="2026-10-16T07:33:12.902" v="436" actId="27636"/>
        <pc:sldMkLst>
          <pc:docMk/>
          <pc:sldMk cId="0" sldId="264"/>
        </pc:sldMkLst>
        <pc:spChg chg="mod">
          <ac:chgData name="Boga Shashank" userId="d9288b1565e02af5" providerId="LiveId" clId="{91ED3C43-599C-45D9-B8BE-500491248CD8}" dt="2026-10-16T07:33:12.902" v="436" actId="27636"/>
          <ac:spMkLst>
            <pc:docMk/>
            <pc:sldMk cId="0" sldId="264"/>
            <ac:spMk id="15" creationId="{00000000-0000-0000-0000-000000000000}"/>
          </ac:spMkLst>
        </pc:spChg>
        <pc:spChg chg="mod">
          <ac:chgData name="Boga Shashank" userId="d9288b1565e02af5" providerId="LiveId" clId="{91ED3C43-599C-45D9-B8BE-500491248CD8}" dt="2026-10-16T07:33:12.884" v="434" actId="27636"/>
          <ac:spMkLst>
            <pc:docMk/>
            <pc:sldMk cId="0" sldId="264"/>
            <ac:spMk id="20" creationId="{00000000-0000-0000-0000-000000000000}"/>
          </ac:spMkLst>
        </pc:spChg>
        <pc:spChg chg="mod">
          <ac:chgData name="Boga Shashank" userId="d9288b1565e02af5" providerId="LiveId" clId="{91ED3C43-599C-45D9-B8BE-500491248CD8}" dt="2026-10-16T07:33:12.902" v="435" actId="27636"/>
          <ac:spMkLst>
            <pc:docMk/>
            <pc:sldMk cId="0" sldId="264"/>
            <ac:spMk id="25" creationId="{00000000-0000-0000-0000-000000000000}"/>
          </ac:spMkLst>
        </pc:spChg>
        <pc:spChg chg="mod">
          <ac:chgData name="Boga Shashank" userId="d9288b1565e02af5" providerId="LiveId" clId="{91ED3C43-599C-45D9-B8BE-500491248CD8}" dt="2026-10-16T07:33:12.884" v="433" actId="27636"/>
          <ac:spMkLst>
            <pc:docMk/>
            <pc:sldMk cId="0" sldId="264"/>
            <ac:spMk id="30" creationId="{00000000-0000-0000-0000-000000000000}"/>
          </ac:spMkLst>
        </pc:spChg>
        <pc:spChg chg="del">
          <ac:chgData name="Boga Shashank" userId="d9288b1565e02af5" providerId="LiveId" clId="{91ED3C43-599C-45D9-B8BE-500491248CD8}" dt="2026-10-15T14:35:19.747" v="428" actId="478"/>
          <ac:spMkLst>
            <pc:docMk/>
            <pc:sldMk cId="0" sldId="264"/>
            <ac:spMk id="32" creationId="{00000000-0000-0000-0000-000000000000}"/>
          </ac:spMkLst>
        </pc:spChg>
        <pc:spChg chg="del">
          <ac:chgData name="Boga Shashank" userId="d9288b1565e02af5" providerId="LiveId" clId="{91ED3C43-599C-45D9-B8BE-500491248CD8}" dt="2026-10-15T14:35:19.747" v="428" actId="478"/>
          <ac:spMkLst>
            <pc:docMk/>
            <pc:sldMk cId="0" sldId="264"/>
            <ac:spMk id="33" creationId="{00000000-0000-0000-0000-000000000000}"/>
          </ac:spMkLst>
        </pc:spChg>
        <pc:spChg chg="del">
          <ac:chgData name="Boga Shashank" userId="d9288b1565e02af5" providerId="LiveId" clId="{91ED3C43-599C-45D9-B8BE-500491248CD8}" dt="2026-10-15T14:35:19.747" v="428" actId="478"/>
          <ac:spMkLst>
            <pc:docMk/>
            <pc:sldMk cId="0" sldId="264"/>
            <ac:spMk id="34" creationId="{00000000-0000-0000-0000-000000000000}"/>
          </ac:spMkLst>
        </pc:spChg>
        <pc:spChg chg="del">
          <ac:chgData name="Boga Shashank" userId="d9288b1565e02af5" providerId="LiveId" clId="{91ED3C43-599C-45D9-B8BE-500491248CD8}" dt="2026-10-15T14:35:19.747" v="428" actId="478"/>
          <ac:spMkLst>
            <pc:docMk/>
            <pc:sldMk cId="0" sldId="264"/>
            <ac:spMk id="35" creationId="{00000000-0000-0000-0000-000000000000}"/>
          </ac:spMkLst>
        </pc:spChg>
        <pc:spChg chg="del">
          <ac:chgData name="Boga Shashank" userId="d9288b1565e02af5" providerId="LiveId" clId="{91ED3C43-599C-45D9-B8BE-500491248CD8}" dt="2026-10-15T14:35:19.747" v="428" actId="478"/>
          <ac:spMkLst>
            <pc:docMk/>
            <pc:sldMk cId="0" sldId="264"/>
            <ac:spMk id="36" creationId="{00000000-0000-0000-0000-000000000000}"/>
          </ac:spMkLst>
        </pc:spChg>
        <pc:spChg chg="del">
          <ac:chgData name="Boga Shashank" userId="d9288b1565e02af5" providerId="LiveId" clId="{91ED3C43-599C-45D9-B8BE-500491248CD8}" dt="2026-10-15T14:35:19.747" v="428" actId="478"/>
          <ac:spMkLst>
            <pc:docMk/>
            <pc:sldMk cId="0" sldId="264"/>
            <ac:spMk id="37" creationId="{00000000-0000-0000-0000-000000000000}"/>
          </ac:spMkLst>
        </pc:spChg>
        <pc:spChg chg="del">
          <ac:chgData name="Boga Shashank" userId="d9288b1565e02af5" providerId="LiveId" clId="{91ED3C43-599C-45D9-B8BE-500491248CD8}" dt="2026-10-15T14:35:19.747" v="428" actId="478"/>
          <ac:spMkLst>
            <pc:docMk/>
            <pc:sldMk cId="0" sldId="264"/>
            <ac:spMk id="38" creationId="{00000000-0000-0000-0000-000000000000}"/>
          </ac:spMkLst>
        </pc:spChg>
      </pc:sldChg>
      <pc:sldChg chg="modSp mod">
        <pc:chgData name="Boga Shashank" userId="d9288b1565e02af5" providerId="LiveId" clId="{91ED3C43-599C-45D9-B8BE-500491248CD8}" dt="2026-10-14T18:26:18.914" v="366" actId="1038"/>
        <pc:sldMkLst>
          <pc:docMk/>
          <pc:sldMk cId="0" sldId="265"/>
        </pc:sldMkLst>
        <pc:picChg chg="mod">
          <ac:chgData name="Boga Shashank" userId="d9288b1565e02af5" providerId="LiveId" clId="{91ED3C43-599C-45D9-B8BE-500491248CD8}" dt="2026-10-14T18:26:18.914" v="366" actId="1038"/>
          <ac:picMkLst>
            <pc:docMk/>
            <pc:sldMk cId="0" sldId="265"/>
            <ac:picMk id="8" creationId="{00000000-0000-0000-0000-000000000000}"/>
          </ac:picMkLst>
        </pc:picChg>
      </pc:sldChg>
      <pc:sldChg chg="delSp modSp mod">
        <pc:chgData name="Boga Shashank" userId="d9288b1565e02af5" providerId="LiveId" clId="{91ED3C43-599C-45D9-B8BE-500491248CD8}" dt="2026-10-14T18:26:39.080" v="398" actId="20577"/>
        <pc:sldMkLst>
          <pc:docMk/>
          <pc:sldMk cId="0" sldId="272"/>
        </pc:sldMkLst>
        <pc:spChg chg="mod">
          <ac:chgData name="Boga Shashank" userId="d9288b1565e02af5" providerId="LiveId" clId="{91ED3C43-599C-45D9-B8BE-500491248CD8}" dt="2026-10-14T18:26:39.080" v="398" actId="20577"/>
          <ac:spMkLst>
            <pc:docMk/>
            <pc:sldMk cId="0" sldId="272"/>
            <ac:spMk id="17" creationId="{00000000-0000-0000-0000-00000000000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9048293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Greet the panel and introduce the team.
- Read both student names and roll numbers exactly as shown.
- One-line pitch: a console Java app that organises a personal playlist and auto-tracks listening statistics.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Set the context: in the streaming era playlists define how we listen — but nothing lightweight and offline records it.
- State what the app does: a menu-driven console app that manages a playlist and auto-tracks every play.
- Name the tech stack: Core Java, classes and objects, ArrayList, HashMap, File I/O.
- Say why the topic was chosen: it fills the gap for a simple offline listening tracker.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Read the core statement in the navy card aloud.
- Walk the four pain points: manual logging, spreadsheet upkeep, online-only streaming stats, no instant summary.
- End on the goal line: lightweight, offline, auto-counting playlist and statistics manager in Java.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Point out that the five objectives map one-to-one to the menu features.
- Touch each briefly: playlist manager, automatic tracking, statistics, search/sort, file persistence.
- Say every objective will be verified live in the demo.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Walk the comparison table top to bottom.
- Note each method's drawback: manual counting, online-only stats, heavy database setup.
- Finish on the gap this project fills — automatic counting, fully offline, full statistics report.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Stress the two pillars: automation (plays counted with zero manual entry) and persistence (auto-save to music_data.txt).
- Walk the five advantages briefly — offline JDK-only setup, 4-class modular OOP design, code commented for the viva.
- Use the table column by column; finish on "Open, simple Java classes".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Narrate the exact flow: user presses 4 → Main calls playSong() → Playlist fetches the Song → playCount +1 → auto-save writes music_data.txt.
- Emphasise separation of controller / manager / model layers: Main, Playlist + StatsManager, Song.
- Point at the ▼ save / ▲ load pair — storage is written after every change and reloaded at every start.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Each card maps to one typed menu number — walk them briefly in order 1 to 8.
- Suggested demo order: View All Songs (1), play "Believer" (4), then Listening Stats (7).
- Point out the gold-bordered cards 4 and 7 — the project's signature features.
- Auto-save runs after every change; it needs no menu option.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One line on separation of responsibilities: model / data manager / statistics / controller.
- Each of the four classes gets its own slide with the full code next.
- Mention 628 total lines, all commented — written to be read, not just run.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Point out private fields + public getter methods — that is encapsulation.
- Show the save-file format example: Believer|Imagine Dragons|204|51.
- fromFileString is the reverse operation used when the program starts.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removeSong loops once and stops at the first title match (ignore case).
- printf keeps the table columns aligned — mention the %-26s width flags.
- Both sorts are one-line lambda comparators: A-Z by title, highest plays first.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Walk the HashMap artist tally once slowly: key = artist, value = total plays.
- Listening time = sum of length x plays, converted to hours + minutes.
- Top-5 sorts a COPY of the list, so the user's playlist order stays untouched.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Narrate the menu loop once: print menu, read choice, switch-case dispatch.
- playSong core: get song, +1 count, auto-save — three meaningful lines.
- addSong, removeSong, search and sort handlers follow the same simple pattern (full source in upload).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Point at Believer moving 51 → 52 plays — and the totals and Top-5 recomputed live in the right window.
- Highlight the aligned printf table columns in the left window.
- Offer a live demo: run java Main (OpenJDK 21) in front of the panel.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Frame the section: modular OOP design gives clean extension points for future versions.
- Highlight the top two natural next steps — GUI front-end (Swing/JavaFX) and MySQL storage via JDBC.
- Walk the remaining four briefly: shuffle/queue, smart recommendations, PDF/CSV report export, real audio playback.
- Close: the current console version is a complete, extensible Core Java base.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Point at the stat strip: 4 Java classes, 8 menu features, 100% offline and free, 0 manual entries per play.
- Read the four achievements aloud; stress that all five Slide-3 objectives were verified in the working demo.
- Learning outcomes: each member gives one personal line — OOP, collections, File I/O, input validation, modular design.
- End on the navy strip: every objective met, and a solid base ready for the GUI and database upgrades.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Thank the panel for their time and attention.
- Invite questions and suggestions on the design, the code or the statistics engine.
- Offer the live demo: run "java Main", play a song and show the stats update live.
- Close by thanking the faculty guide once more.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1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72492" y="195102"/>
            <a:ext cx="3505428" cy="234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97"/>
              </a:lnSpc>
              <a:buNone/>
            </a:pPr>
            <a:r>
              <a:rPr lang="en-US" sz="800" kern="0" spc="146" dirty="0">
                <a:solidFill>
                  <a:srgbClr val="8A5A1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Problem Solving Using Programming </a:t>
            </a:r>
            <a:r>
              <a:rPr lang="en-US" sz="800" kern="0" spc="146" dirty="0" err="1">
                <a:solidFill>
                  <a:srgbClr val="8A5A1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JavaQ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57200" y="700088"/>
            <a:ext cx="457200" cy="28575"/>
          </a:xfrm>
          <a:prstGeom prst="roundRect">
            <a:avLst>
              <a:gd name="adj" fmla="val 66667"/>
            </a:avLst>
          </a:prstGeom>
          <a:solidFill>
            <a:srgbClr val="B7791F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57200" y="914400"/>
            <a:ext cx="4517641" cy="9320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399"/>
              </a:lnSpc>
              <a:buNone/>
            </a:pPr>
            <a:r>
              <a:rPr lang="en-US" sz="2981" b="1" dirty="0">
                <a:solidFill>
                  <a:srgbClr val="16305B"/>
                </a:solidFill>
                <a:latin typeface="Tinos" pitchFamily="34" charset="0"/>
                <a:ea typeface="Tinos" pitchFamily="34" charset="-122"/>
                <a:cs typeface="Tinos" pitchFamily="34" charset="-120"/>
              </a:rPr>
              <a:t>Music Playlist </a:t>
            </a:r>
            <a:r>
              <a:rPr lang="en-US" sz="2981" b="1" dirty="0">
                <a:solidFill>
                  <a:srgbClr val="8A5A14"/>
                </a:solidFill>
                <a:latin typeface="Tinos" pitchFamily="34" charset="0"/>
                <a:ea typeface="Tinos" pitchFamily="34" charset="-122"/>
                <a:cs typeface="Tinos" pitchFamily="34" charset="-120"/>
              </a:rPr>
              <a:t>&amp;</a:t>
            </a:r>
            <a:r>
              <a:rPr lang="en-US" sz="2981" b="1" dirty="0">
                <a:solidFill>
                  <a:srgbClr val="16305B"/>
                </a:solidFill>
                <a:latin typeface="Tinos" pitchFamily="34" charset="0"/>
                <a:ea typeface="Tinos" pitchFamily="34" charset="-122"/>
                <a:cs typeface="Tinos" pitchFamily="34" charset="-120"/>
              </a:rPr>
              <a:t> Listening Stats Manager</a:t>
            </a:r>
            <a:endParaRPr lang="en-US" sz="2981" dirty="0"/>
          </a:p>
        </p:txBody>
      </p:sp>
      <p:sp>
        <p:nvSpPr>
          <p:cNvPr id="5" name="Text 3"/>
          <p:cNvSpPr/>
          <p:nvPr/>
        </p:nvSpPr>
        <p:spPr>
          <a:xfrm>
            <a:off x="457200" y="1906042"/>
            <a:ext cx="4143375" cy="4195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30"/>
              </a:lnSpc>
              <a:buNone/>
            </a:pPr>
            <a:r>
              <a:rPr lang="en-US" sz="956" dirty="0">
                <a:solidFill>
                  <a:srgbClr val="5B6B84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A console-based Java application to organise a personal music playlist and automatically track listening statistics.</a:t>
            </a:r>
            <a:endParaRPr lang="en-US" sz="956" dirty="0"/>
          </a:p>
        </p:txBody>
      </p:sp>
      <p:sp>
        <p:nvSpPr>
          <p:cNvPr id="6" name="Text 4"/>
          <p:cNvSpPr/>
          <p:nvPr/>
        </p:nvSpPr>
        <p:spPr>
          <a:xfrm>
            <a:off x="457200" y="3442395"/>
            <a:ext cx="6133262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28"/>
              </a:lnSpc>
              <a:buNone/>
            </a:pPr>
            <a:r>
              <a:rPr lang="en-US" sz="800" kern="0" spc="149" dirty="0">
                <a:solidFill>
                  <a:srgbClr val="5B6B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Presented by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467916" y="3660279"/>
            <a:ext cx="0" cy="387102"/>
          </a:xfrm>
          <a:prstGeom prst="line">
            <a:avLst/>
          </a:prstGeom>
          <a:noFill/>
          <a:ln w="21431">
            <a:solidFill>
              <a:srgbClr val="B7791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578644" y="3695998"/>
            <a:ext cx="2008733" cy="15428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marL="0" indent="0" algn="l">
              <a:lnSpc>
                <a:spcPts val="1207"/>
              </a:lnSpc>
              <a:buNone/>
            </a:pPr>
            <a:r>
              <a:rPr lang="en-US" sz="928" b="1" dirty="0">
                <a:solidFill>
                  <a:srgbClr val="16305B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Boga Shashank</a:t>
            </a:r>
            <a:endParaRPr lang="en-US" sz="928" dirty="0"/>
          </a:p>
        </p:txBody>
      </p:sp>
      <p:sp>
        <p:nvSpPr>
          <p:cNvPr id="9" name="Text 7"/>
          <p:cNvSpPr/>
          <p:nvPr/>
        </p:nvSpPr>
        <p:spPr>
          <a:xfrm>
            <a:off x="578644" y="3877717"/>
            <a:ext cx="2008733" cy="1339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055"/>
              </a:lnSpc>
              <a:buNone/>
            </a:pPr>
            <a:r>
              <a:rPr lang="en-US" sz="800" dirty="0">
                <a:solidFill>
                  <a:srgbClr val="5B6B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Roll No: 2620040175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2855268" y="3660279"/>
            <a:ext cx="0" cy="387102"/>
          </a:xfrm>
          <a:prstGeom prst="line">
            <a:avLst/>
          </a:prstGeom>
          <a:noFill/>
          <a:ln w="21431">
            <a:solidFill>
              <a:srgbClr val="B7791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Text 9"/>
          <p:cNvSpPr/>
          <p:nvPr/>
        </p:nvSpPr>
        <p:spPr>
          <a:xfrm>
            <a:off x="2965996" y="3695998"/>
            <a:ext cx="2008845" cy="15428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marL="0" indent="0" algn="l">
              <a:lnSpc>
                <a:spcPts val="1207"/>
              </a:lnSpc>
              <a:buNone/>
            </a:pPr>
            <a:r>
              <a:rPr lang="en-US" sz="928" b="1" dirty="0">
                <a:solidFill>
                  <a:srgbClr val="16305B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Yarlagadda </a:t>
            </a:r>
            <a:r>
              <a:rPr lang="en-US" sz="928" b="1" dirty="0" err="1">
                <a:solidFill>
                  <a:srgbClr val="16305B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Druveen</a:t>
            </a:r>
            <a:endParaRPr lang="en-US" sz="928" dirty="0"/>
          </a:p>
        </p:txBody>
      </p:sp>
      <p:sp>
        <p:nvSpPr>
          <p:cNvPr id="12" name="Text 10"/>
          <p:cNvSpPr/>
          <p:nvPr/>
        </p:nvSpPr>
        <p:spPr>
          <a:xfrm>
            <a:off x="2965996" y="3877717"/>
            <a:ext cx="2008845" cy="1339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055"/>
              </a:lnSpc>
              <a:buNone/>
            </a:pPr>
            <a:r>
              <a:rPr lang="en-US" sz="800" dirty="0">
                <a:solidFill>
                  <a:srgbClr val="5B6B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Roll No: 262003528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467916" y="4161681"/>
            <a:ext cx="0" cy="224582"/>
          </a:xfrm>
          <a:prstGeom prst="line">
            <a:avLst/>
          </a:prstGeom>
          <a:noFill/>
          <a:ln w="21431">
            <a:solidFill>
              <a:srgbClr val="B7791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Text 12"/>
          <p:cNvSpPr/>
          <p:nvPr/>
        </p:nvSpPr>
        <p:spPr>
          <a:xfrm>
            <a:off x="578644" y="4197400"/>
            <a:ext cx="2118461" cy="153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07"/>
              </a:lnSpc>
              <a:buNone/>
            </a:pPr>
            <a:r>
              <a:rPr lang="en-US" sz="928" b="1" dirty="0">
                <a:solidFill>
                  <a:srgbClr val="16305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Faculty Guide: V GopiKrishna</a:t>
            </a:r>
            <a:endParaRPr lang="en-US" sz="928" dirty="0"/>
          </a:p>
        </p:txBody>
      </p:sp>
      <p:sp>
        <p:nvSpPr>
          <p:cNvPr id="15" name="Shape 13"/>
          <p:cNvSpPr/>
          <p:nvPr/>
        </p:nvSpPr>
        <p:spPr>
          <a:xfrm>
            <a:off x="2855268" y="4161681"/>
            <a:ext cx="0" cy="224582"/>
          </a:xfrm>
          <a:prstGeom prst="line">
            <a:avLst/>
          </a:prstGeom>
          <a:noFill/>
          <a:ln w="21431">
            <a:solidFill>
              <a:srgbClr val="B7791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2965996" y="4197400"/>
            <a:ext cx="2118573" cy="153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07"/>
              </a:lnSpc>
              <a:buNone/>
            </a:pPr>
            <a:endParaRPr lang="en-US" sz="928" dirty="0"/>
          </a:p>
        </p:txBody>
      </p:sp>
      <p:sp>
        <p:nvSpPr>
          <p:cNvPr id="17" name="Shape 15"/>
          <p:cNvSpPr/>
          <p:nvPr/>
        </p:nvSpPr>
        <p:spPr>
          <a:xfrm>
            <a:off x="457200" y="4561284"/>
            <a:ext cx="4517641" cy="0"/>
          </a:xfrm>
          <a:prstGeom prst="line">
            <a:avLst/>
          </a:prstGeom>
          <a:noFill/>
          <a:ln w="7144">
            <a:solidFill>
              <a:srgbClr val="D9E2E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8" name="Text 16"/>
          <p:cNvSpPr/>
          <p:nvPr/>
        </p:nvSpPr>
        <p:spPr>
          <a:xfrm>
            <a:off x="457200" y="4557713"/>
            <a:ext cx="4517641" cy="282158"/>
          </a:xfrm>
          <a:prstGeom prst="rect">
            <a:avLst/>
          </a:prstGeom>
          <a:noFill/>
          <a:ln/>
        </p:spPr>
        <p:txBody>
          <a:bodyPr wrap="square" lIns="0" tIns="100013" rIns="0" bIns="0" rtlCol="0" anchor="t"/>
          <a:lstStyle/>
          <a:p>
            <a:pPr marL="0" indent="0" algn="l">
              <a:lnSpc>
                <a:spcPts val="1181"/>
              </a:lnSpc>
              <a:buNone/>
            </a:pPr>
            <a:endParaRPr lang="en-US" sz="800" dirty="0"/>
          </a:p>
        </p:txBody>
      </p:sp>
      <p:pic>
        <p:nvPicPr>
          <p:cNvPr id="19" name="Image 0" descr="/tmp/h2p-fit-1792001653473-g595d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453" y="0"/>
            <a:ext cx="3840435" cy="5143500"/>
          </a:xfrm>
          <a:prstGeom prst="rect">
            <a:avLst/>
          </a:prstGeom>
        </p:spPr>
      </p:pic>
      <p:pic>
        <p:nvPicPr>
          <p:cNvPr id="2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03453" y="0"/>
            <a:ext cx="3840435" cy="5143500"/>
          </a:xfrm>
          <a:prstGeom prst="rect">
            <a:avLst/>
          </a:prstGeom>
        </p:spPr>
      </p:pic>
      <p:sp>
        <p:nvSpPr>
          <p:cNvPr id="21" name="Text 17"/>
          <p:cNvSpPr/>
          <p:nvPr/>
        </p:nvSpPr>
        <p:spPr>
          <a:xfrm>
            <a:off x="5574916" y="4597003"/>
            <a:ext cx="400050" cy="28575"/>
          </a:xfrm>
          <a:prstGeom prst="roundRect">
            <a:avLst>
              <a:gd name="adj" fmla="val 66667"/>
            </a:avLst>
          </a:prstGeom>
          <a:solidFill>
            <a:srgbClr val="B7791F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2" name="Text 18"/>
          <p:cNvSpPr/>
          <p:nvPr/>
        </p:nvSpPr>
        <p:spPr>
          <a:xfrm>
            <a:off x="5574916" y="4725591"/>
            <a:ext cx="3297510" cy="1735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6"/>
              </a:lnSpc>
              <a:buNone/>
            </a:pPr>
            <a:endParaRPr lang="en-US" sz="844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28625" y="385763"/>
            <a:ext cx="328613" cy="328613"/>
          </a:xfrm>
          <a:prstGeom prst="roundRect">
            <a:avLst>
              <a:gd name="adj" fmla="val 28985"/>
            </a:avLst>
          </a:prstGeom>
          <a:solidFill>
            <a:srgbClr val="B7791F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47725" y="437555"/>
            <a:ext cx="209513" cy="2430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772"/>
              </a:lnSpc>
              <a:buNone/>
            </a:pPr>
            <a:r>
              <a:rPr lang="en-US" sz="1181" b="1" dirty="0">
                <a:solidFill>
                  <a:srgbClr val="FFFFFF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1</a:t>
            </a:r>
            <a:endParaRPr lang="en-US" sz="1181" dirty="0"/>
          </a:p>
        </p:txBody>
      </p:sp>
      <p:sp>
        <p:nvSpPr>
          <p:cNvPr id="4" name="Text 2"/>
          <p:cNvSpPr/>
          <p:nvPr/>
        </p:nvSpPr>
        <p:spPr>
          <a:xfrm>
            <a:off x="758678" y="416458"/>
            <a:ext cx="1902101" cy="2884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04"/>
              </a:lnSpc>
              <a:buNone/>
            </a:pPr>
            <a:r>
              <a:rPr lang="en-US" sz="1913" b="1" dirty="0">
                <a:solidFill>
                  <a:srgbClr val="16305B"/>
                </a:solidFill>
                <a:latin typeface="Tinos" pitchFamily="34" charset="0"/>
                <a:ea typeface="Tinos" pitchFamily="34" charset="-122"/>
                <a:cs typeface="Tinos" pitchFamily="34" charset="-120"/>
              </a:rPr>
              <a:t>Introduction</a:t>
            </a:r>
            <a:endParaRPr lang="en-US" sz="1913" dirty="0"/>
          </a:p>
        </p:txBody>
      </p:sp>
      <p:sp>
        <p:nvSpPr>
          <p:cNvPr id="5" name="Text 3"/>
          <p:cNvSpPr/>
          <p:nvPr/>
        </p:nvSpPr>
        <p:spPr>
          <a:xfrm>
            <a:off x="2332658" y="546497"/>
            <a:ext cx="6382717" cy="7144"/>
          </a:xfrm>
          <a:prstGeom prst="rect">
            <a:avLst/>
          </a:prstGeom>
          <a:solidFill>
            <a:srgbClr val="D9E2EF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428625" y="928688"/>
            <a:ext cx="4987230" cy="599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58"/>
              </a:lnSpc>
              <a:buNone/>
            </a:pPr>
            <a:r>
              <a:rPr lang="en-US" sz="900" dirty="0">
                <a:solidFill>
                  <a:srgbClr val="23304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In the era of Spotify and Apple Music, playlists define how we listen to music. Yet there is no , offline tool that records every song you play and summarises your listening habits in one place.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28625" y="1641053"/>
            <a:ext cx="4987230" cy="819299"/>
          </a:xfrm>
          <a:prstGeom prst="rect">
            <a:avLst/>
          </a:prstGeom>
          <a:solidFill>
            <a:srgbClr val="F4F7FB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8" name="Shape 6"/>
          <p:cNvSpPr/>
          <p:nvPr/>
        </p:nvSpPr>
        <p:spPr>
          <a:xfrm>
            <a:off x="428625" y="1644625"/>
            <a:ext cx="4987230" cy="0"/>
          </a:xfrm>
          <a:prstGeom prst="line">
            <a:avLst/>
          </a:prstGeom>
          <a:noFill/>
          <a:ln w="7144">
            <a:solidFill>
              <a:srgbClr val="D9E2E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" name="Shape 7"/>
          <p:cNvSpPr/>
          <p:nvPr/>
        </p:nvSpPr>
        <p:spPr>
          <a:xfrm>
            <a:off x="5412284" y="1641053"/>
            <a:ext cx="0" cy="819299"/>
          </a:xfrm>
          <a:prstGeom prst="line">
            <a:avLst/>
          </a:prstGeom>
          <a:noFill/>
          <a:ln w="7144">
            <a:solidFill>
              <a:srgbClr val="D9E2E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Shape 8"/>
          <p:cNvSpPr/>
          <p:nvPr/>
        </p:nvSpPr>
        <p:spPr>
          <a:xfrm>
            <a:off x="428625" y="2456780"/>
            <a:ext cx="4987230" cy="0"/>
          </a:xfrm>
          <a:prstGeom prst="line">
            <a:avLst/>
          </a:prstGeom>
          <a:noFill/>
          <a:ln w="7144">
            <a:solidFill>
              <a:srgbClr val="D9E2E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Shape 9"/>
          <p:cNvSpPr/>
          <p:nvPr/>
        </p:nvSpPr>
        <p:spPr>
          <a:xfrm>
            <a:off x="442913" y="1641053"/>
            <a:ext cx="0" cy="819299"/>
          </a:xfrm>
          <a:prstGeom prst="line">
            <a:avLst/>
          </a:prstGeom>
          <a:noFill/>
          <a:ln w="28575">
            <a:solidFill>
              <a:srgbClr val="B7791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Text 10"/>
          <p:cNvSpPr/>
          <p:nvPr/>
        </p:nvSpPr>
        <p:spPr>
          <a:xfrm>
            <a:off x="614363" y="1776785"/>
            <a:ext cx="4637187" cy="547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39"/>
              </a:lnSpc>
              <a:buNone/>
            </a:pPr>
            <a:r>
              <a:rPr lang="en-US" sz="928" dirty="0">
                <a:solidFill>
                  <a:srgbClr val="16305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This project is a menu-driven console application built in Core Java that lets a user manage a personal music playlist and automatically tracks how many times each song is played.</a:t>
            </a:r>
            <a:endParaRPr lang="en-US" sz="928" dirty="0"/>
          </a:p>
        </p:txBody>
      </p:sp>
      <p:sp>
        <p:nvSpPr>
          <p:cNvPr id="13" name="Text 11"/>
          <p:cNvSpPr/>
          <p:nvPr/>
        </p:nvSpPr>
        <p:spPr>
          <a:xfrm>
            <a:off x="428625" y="2646090"/>
            <a:ext cx="135731" cy="13573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336" dirty="0">
                <a:solidFill>
                  <a:srgbClr val="B7791F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✓</a:t>
            </a:r>
            <a:endParaRPr lang="en-US" sz="1336" dirty="0"/>
          </a:p>
        </p:txBody>
      </p:sp>
      <p:sp>
        <p:nvSpPr>
          <p:cNvPr id="14" name="Text 12"/>
          <p:cNvSpPr/>
          <p:nvPr/>
        </p:nvSpPr>
        <p:spPr>
          <a:xfrm>
            <a:off x="642938" y="2631802"/>
            <a:ext cx="4772918" cy="1735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6"/>
              </a:lnSpc>
              <a:buNone/>
            </a:pPr>
            <a:r>
              <a:rPr lang="en-US" sz="844" dirty="0">
                <a:solidFill>
                  <a:srgbClr val="23304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Built with Core Java — classes &amp; objects, ArrayList, HashMap, File I/O</a:t>
            </a:r>
            <a:endParaRPr lang="en-US" sz="844" dirty="0"/>
          </a:p>
        </p:txBody>
      </p:sp>
      <p:sp>
        <p:nvSpPr>
          <p:cNvPr id="15" name="Text 13"/>
          <p:cNvSpPr/>
          <p:nvPr/>
        </p:nvSpPr>
        <p:spPr>
          <a:xfrm>
            <a:off x="428625" y="2899693"/>
            <a:ext cx="135731" cy="13573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336" dirty="0">
                <a:solidFill>
                  <a:srgbClr val="B7791F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✓</a:t>
            </a:r>
            <a:endParaRPr lang="en-US" sz="1336" dirty="0"/>
          </a:p>
        </p:txBody>
      </p:sp>
      <p:sp>
        <p:nvSpPr>
          <p:cNvPr id="16" name="Text 14"/>
          <p:cNvSpPr/>
          <p:nvPr/>
        </p:nvSpPr>
        <p:spPr>
          <a:xfrm>
            <a:off x="690352" y="2948627"/>
            <a:ext cx="4772918" cy="1735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6"/>
              </a:lnSpc>
              <a:buNone/>
            </a:pPr>
            <a:r>
              <a:rPr lang="en-US" sz="844" dirty="0">
                <a:solidFill>
                  <a:srgbClr val="23304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Playlist data persists in a plain text file between runs</a:t>
            </a:r>
            <a:endParaRPr lang="en-US" sz="844" dirty="0"/>
          </a:p>
        </p:txBody>
      </p:sp>
      <p:sp>
        <p:nvSpPr>
          <p:cNvPr id="17" name="Text 15"/>
          <p:cNvSpPr/>
          <p:nvPr/>
        </p:nvSpPr>
        <p:spPr>
          <a:xfrm>
            <a:off x="428625" y="3153296"/>
            <a:ext cx="135731" cy="13573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336" dirty="0">
                <a:solidFill>
                  <a:srgbClr val="B7791F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✓</a:t>
            </a:r>
            <a:endParaRPr lang="en-US" sz="1336" dirty="0"/>
          </a:p>
        </p:txBody>
      </p:sp>
      <p:sp>
        <p:nvSpPr>
          <p:cNvPr id="18" name="Text 16"/>
          <p:cNvSpPr/>
          <p:nvPr/>
        </p:nvSpPr>
        <p:spPr>
          <a:xfrm>
            <a:off x="642938" y="3139008"/>
            <a:ext cx="4772918" cy="1735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6"/>
              </a:lnSpc>
              <a:buNone/>
            </a:pPr>
            <a:r>
              <a:rPr lang="en-US" sz="844" dirty="0">
                <a:solidFill>
                  <a:srgbClr val="23304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Every play updates counters automatically — no manual logging</a:t>
            </a:r>
            <a:endParaRPr lang="en-US" sz="844" dirty="0"/>
          </a:p>
        </p:txBody>
      </p:sp>
      <p:sp>
        <p:nvSpPr>
          <p:cNvPr id="19" name="Text 17"/>
          <p:cNvSpPr/>
          <p:nvPr/>
        </p:nvSpPr>
        <p:spPr>
          <a:xfrm>
            <a:off x="428625" y="3406899"/>
            <a:ext cx="135731" cy="13573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336" dirty="0">
                <a:solidFill>
                  <a:srgbClr val="B7791F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✓</a:t>
            </a:r>
            <a:endParaRPr lang="en-US" sz="1336" dirty="0"/>
          </a:p>
        </p:txBody>
      </p:sp>
      <p:sp>
        <p:nvSpPr>
          <p:cNvPr id="20" name="Text 18"/>
          <p:cNvSpPr/>
          <p:nvPr/>
        </p:nvSpPr>
        <p:spPr>
          <a:xfrm>
            <a:off x="642938" y="3392612"/>
            <a:ext cx="4772918" cy="1735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6"/>
              </a:lnSpc>
              <a:buNone/>
            </a:pPr>
            <a:r>
              <a:rPr lang="en-US" sz="844" dirty="0">
                <a:solidFill>
                  <a:srgbClr val="23304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Statistics engine reports totals, favourite artist and Top-5 songs</a:t>
            </a:r>
            <a:endParaRPr lang="en-US" sz="844" dirty="0"/>
          </a:p>
        </p:txBody>
      </p:sp>
      <p:sp>
        <p:nvSpPr>
          <p:cNvPr id="21" name="Text 19"/>
          <p:cNvSpPr/>
          <p:nvPr/>
        </p:nvSpPr>
        <p:spPr>
          <a:xfrm>
            <a:off x="5662315" y="932259"/>
            <a:ext cx="3049488" cy="3850481"/>
          </a:xfrm>
          <a:prstGeom prst="roundRect">
            <a:avLst>
              <a:gd name="adj" fmla="val 3123"/>
            </a:avLst>
          </a:prstGeom>
          <a:solidFill>
            <a:srgbClr val="FFFFFF"/>
          </a:solidFill>
          <a:ln w="7144">
            <a:solidFill>
              <a:srgbClr val="D9E2EF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22" name="Image 0" descr="/tmp/h2p-fit-1792001653378-byzfz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5887" y="935831"/>
            <a:ext cx="3042345" cy="3346847"/>
          </a:xfrm>
          <a:prstGeom prst="rect">
            <a:avLst/>
          </a:prstGeom>
        </p:spPr>
      </p:pic>
      <p:sp>
        <p:nvSpPr>
          <p:cNvPr id="23" name="Shape 20"/>
          <p:cNvSpPr/>
          <p:nvPr/>
        </p:nvSpPr>
        <p:spPr>
          <a:xfrm>
            <a:off x="5665887" y="4286250"/>
            <a:ext cx="3042345" cy="0"/>
          </a:xfrm>
          <a:prstGeom prst="line">
            <a:avLst/>
          </a:prstGeom>
          <a:noFill/>
          <a:ln w="7144">
            <a:solidFill>
              <a:srgbClr val="D9E2E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4" name="Text 21"/>
          <p:cNvSpPr/>
          <p:nvPr/>
        </p:nvSpPr>
        <p:spPr>
          <a:xfrm>
            <a:off x="5794474" y="4389834"/>
            <a:ext cx="2785170" cy="2893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39"/>
              </a:lnSpc>
              <a:buNone/>
            </a:pPr>
            <a:r>
              <a:rPr lang="en-US" sz="800" i="1" dirty="0">
                <a:solidFill>
                  <a:srgbClr val="5B6B84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Playlists generate the data — this project records and analyses it.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28625" y="371475"/>
            <a:ext cx="328613" cy="328613"/>
          </a:xfrm>
          <a:prstGeom prst="roundRect">
            <a:avLst>
              <a:gd name="adj" fmla="val 28985"/>
            </a:avLst>
          </a:prstGeom>
          <a:solidFill>
            <a:srgbClr val="B7791F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47725" y="423267"/>
            <a:ext cx="209513" cy="2430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772"/>
              </a:lnSpc>
              <a:buNone/>
            </a:pPr>
            <a:r>
              <a:rPr lang="en-US" sz="1181" b="1" dirty="0">
                <a:solidFill>
                  <a:srgbClr val="FFFFFF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2</a:t>
            </a:r>
            <a:endParaRPr lang="en-US" sz="1181" dirty="0"/>
          </a:p>
        </p:txBody>
      </p:sp>
      <p:sp>
        <p:nvSpPr>
          <p:cNvPr id="4" name="Text 2"/>
          <p:cNvSpPr/>
          <p:nvPr/>
        </p:nvSpPr>
        <p:spPr>
          <a:xfrm>
            <a:off x="885825" y="402171"/>
            <a:ext cx="2498638" cy="2884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04"/>
              </a:lnSpc>
              <a:buNone/>
            </a:pPr>
            <a:r>
              <a:rPr lang="en-US" sz="1913" b="1" dirty="0">
                <a:solidFill>
                  <a:srgbClr val="16305B"/>
                </a:solidFill>
                <a:latin typeface="Tinos" pitchFamily="34" charset="0"/>
                <a:ea typeface="Tinos" pitchFamily="34" charset="-122"/>
                <a:cs typeface="Tinos" pitchFamily="34" charset="-120"/>
              </a:rPr>
              <a:t>Problem Statement</a:t>
            </a:r>
            <a:endParaRPr lang="en-US" sz="1913" dirty="0"/>
          </a:p>
        </p:txBody>
      </p:sp>
      <p:sp>
        <p:nvSpPr>
          <p:cNvPr id="5" name="Text 3"/>
          <p:cNvSpPr/>
          <p:nvPr/>
        </p:nvSpPr>
        <p:spPr>
          <a:xfrm>
            <a:off x="3013323" y="532209"/>
            <a:ext cx="5702052" cy="7144"/>
          </a:xfrm>
          <a:prstGeom prst="rect">
            <a:avLst/>
          </a:prstGeom>
          <a:solidFill>
            <a:srgbClr val="D9E2EF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428625" y="885825"/>
            <a:ext cx="8286750" cy="796528"/>
          </a:xfrm>
          <a:prstGeom prst="roundRect">
            <a:avLst>
              <a:gd name="adj" fmla="val 11958"/>
            </a:avLst>
          </a:prstGeom>
          <a:solidFill>
            <a:srgbClr val="16305B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628650" y="1042988"/>
            <a:ext cx="334863" cy="3819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84"/>
              </a:lnSpc>
              <a:buNone/>
            </a:pPr>
            <a:r>
              <a:rPr lang="en-US" sz="3713" dirty="0">
                <a:solidFill>
                  <a:srgbClr val="B7791F"/>
                </a:solidFill>
                <a:latin typeface="Tinos" pitchFamily="34" charset="0"/>
                <a:ea typeface="Tinos" pitchFamily="34" charset="-122"/>
                <a:cs typeface="Tinos" pitchFamily="34" charset="-120"/>
              </a:rPr>
              <a:t>“</a:t>
            </a:r>
            <a:endParaRPr lang="en-US" sz="3713" dirty="0"/>
          </a:p>
        </p:txBody>
      </p:sp>
      <p:sp>
        <p:nvSpPr>
          <p:cNvPr id="8" name="Text 6"/>
          <p:cNvSpPr/>
          <p:nvPr/>
        </p:nvSpPr>
        <p:spPr>
          <a:xfrm>
            <a:off x="980815" y="1042988"/>
            <a:ext cx="7505960" cy="467916"/>
          </a:xfrm>
          <a:prstGeom prst="rect">
            <a:avLst/>
          </a:prstGeom>
          <a:noFill/>
          <a:ln/>
        </p:spPr>
        <p:txBody>
          <a:bodyPr wrap="square" lIns="0" tIns="28575" rIns="0" bIns="0" rtlCol="0" anchor="t"/>
          <a:lstStyle/>
          <a:p>
            <a:pPr marL="0" indent="0" algn="l">
              <a:lnSpc>
                <a:spcPts val="1730"/>
              </a:lnSpc>
              <a:buNone/>
            </a:pPr>
            <a:r>
              <a:rPr lang="en-US" sz="1153" dirty="0">
                <a:solidFill>
                  <a:srgbClr val="EAF0F9"/>
                </a:solidFill>
                <a:latin typeface="Tinos" pitchFamily="34" charset="0"/>
                <a:ea typeface="Tinos" pitchFamily="34" charset="-122"/>
                <a:cs typeface="Tinos" pitchFamily="34" charset="-120"/>
              </a:rPr>
              <a:t>Music listeners have no simple, offline way to record which songs they play and to see their listening habits summarised in one place.</a:t>
            </a:r>
            <a:endParaRPr lang="en-US" sz="1153" dirty="0"/>
          </a:p>
        </p:txBody>
      </p:sp>
      <p:sp>
        <p:nvSpPr>
          <p:cNvPr id="9" name="Text 7"/>
          <p:cNvSpPr/>
          <p:nvPr/>
        </p:nvSpPr>
        <p:spPr>
          <a:xfrm>
            <a:off x="432197" y="1828800"/>
            <a:ext cx="4079081" cy="1166217"/>
          </a:xfrm>
          <a:prstGeom prst="roundRect">
            <a:avLst>
              <a:gd name="adj" fmla="val 8167"/>
            </a:avLst>
          </a:prstGeom>
          <a:solidFill>
            <a:srgbClr val="FFFFFF"/>
          </a:solidFill>
          <a:ln w="7144">
            <a:solidFill>
              <a:srgbClr val="D9E2EF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582216" y="1964531"/>
            <a:ext cx="292894" cy="292894"/>
          </a:xfrm>
          <a:prstGeom prst="roundRect">
            <a:avLst>
              <a:gd name="adj" fmla="val 32520"/>
            </a:avLst>
          </a:prstGeom>
          <a:solidFill>
            <a:srgbClr val="F4F7FB"/>
          </a:solidFill>
          <a:ln w="7144">
            <a:solidFill>
              <a:srgbClr val="D9E2EF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609540" y="1991856"/>
            <a:ext cx="238244" cy="2382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617" dirty="0">
                <a:solidFill>
                  <a:srgbClr val="B7791F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✎</a:t>
            </a:r>
            <a:endParaRPr lang="en-US" sz="1617" dirty="0"/>
          </a:p>
        </p:txBody>
      </p:sp>
      <p:sp>
        <p:nvSpPr>
          <p:cNvPr id="12" name="Text 10"/>
          <p:cNvSpPr/>
          <p:nvPr/>
        </p:nvSpPr>
        <p:spPr>
          <a:xfrm>
            <a:off x="992981" y="1960959"/>
            <a:ext cx="3371850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25"/>
              </a:lnSpc>
              <a:buNone/>
            </a:pPr>
            <a:r>
              <a:rPr lang="en-US" sz="900" b="1" dirty="0">
                <a:solidFill>
                  <a:srgbClr val="16305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Manual logging is tedious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992981" y="2146697"/>
            <a:ext cx="337185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39"/>
              </a:lnSpc>
              <a:buNone/>
            </a:pPr>
            <a:r>
              <a:rPr lang="en-US" sz="800" dirty="0">
                <a:solidFill>
                  <a:srgbClr val="5B6B84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Writing down each played song by hand is slow, and entries are easily forgotten or duplicated.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4632722" y="1828800"/>
            <a:ext cx="4079081" cy="1166217"/>
          </a:xfrm>
          <a:prstGeom prst="roundRect">
            <a:avLst>
              <a:gd name="adj" fmla="val 8167"/>
            </a:avLst>
          </a:prstGeom>
          <a:solidFill>
            <a:srgbClr val="FFFFFF"/>
          </a:solidFill>
          <a:ln w="7144">
            <a:solidFill>
              <a:srgbClr val="D9E2EF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4782741" y="1964531"/>
            <a:ext cx="292894" cy="292894"/>
          </a:xfrm>
          <a:prstGeom prst="roundRect">
            <a:avLst>
              <a:gd name="adj" fmla="val 32520"/>
            </a:avLst>
          </a:prstGeom>
          <a:solidFill>
            <a:srgbClr val="F4F7FB"/>
          </a:solidFill>
          <a:ln w="7144">
            <a:solidFill>
              <a:srgbClr val="D9E2EF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4810065" y="1991856"/>
            <a:ext cx="238244" cy="2382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617" dirty="0">
                <a:solidFill>
                  <a:srgbClr val="B7791F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◉</a:t>
            </a:r>
            <a:endParaRPr lang="en-US" sz="1617" dirty="0"/>
          </a:p>
        </p:txBody>
      </p:sp>
      <p:sp>
        <p:nvSpPr>
          <p:cNvPr id="17" name="Text 15"/>
          <p:cNvSpPr/>
          <p:nvPr/>
        </p:nvSpPr>
        <p:spPr>
          <a:xfrm>
            <a:off x="5193506" y="1960959"/>
            <a:ext cx="3371850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25"/>
              </a:lnSpc>
              <a:buNone/>
            </a:pPr>
            <a:r>
              <a:rPr lang="en-US" sz="900" b="1" dirty="0">
                <a:solidFill>
                  <a:srgbClr val="16305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Spreadsheets need upkeep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5193506" y="2146697"/>
            <a:ext cx="337185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39"/>
              </a:lnSpc>
              <a:buNone/>
            </a:pPr>
            <a:r>
              <a:rPr lang="en-US" sz="800" dirty="0">
                <a:solidFill>
                  <a:srgbClr val="5B6B84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Excel trackers must be updated manually, so play counts end up guessed instead of measured.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432197" y="3116461"/>
            <a:ext cx="4079081" cy="1166217"/>
          </a:xfrm>
          <a:prstGeom prst="roundRect">
            <a:avLst>
              <a:gd name="adj" fmla="val 8167"/>
            </a:avLst>
          </a:prstGeom>
          <a:solidFill>
            <a:srgbClr val="FFFFFF"/>
          </a:solidFill>
          <a:ln w="7144">
            <a:solidFill>
              <a:srgbClr val="D9E2EF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582216" y="3252192"/>
            <a:ext cx="292894" cy="292894"/>
          </a:xfrm>
          <a:prstGeom prst="roundRect">
            <a:avLst>
              <a:gd name="adj" fmla="val 32520"/>
            </a:avLst>
          </a:prstGeom>
          <a:solidFill>
            <a:srgbClr val="F4F7FB"/>
          </a:solidFill>
          <a:ln w="7144">
            <a:solidFill>
              <a:srgbClr val="D9E2EF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609540" y="3279517"/>
            <a:ext cx="238244" cy="2382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617" dirty="0">
                <a:solidFill>
                  <a:srgbClr val="B7791F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☁</a:t>
            </a:r>
            <a:endParaRPr lang="en-US" sz="1617" dirty="0"/>
          </a:p>
        </p:txBody>
      </p:sp>
      <p:sp>
        <p:nvSpPr>
          <p:cNvPr id="22" name="Text 20"/>
          <p:cNvSpPr/>
          <p:nvPr/>
        </p:nvSpPr>
        <p:spPr>
          <a:xfrm>
            <a:off x="992981" y="3248620"/>
            <a:ext cx="3481578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25"/>
              </a:lnSpc>
              <a:buNone/>
            </a:pPr>
            <a:r>
              <a:rPr lang="en-US" sz="900" b="1" dirty="0">
                <a:solidFill>
                  <a:srgbClr val="16305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Streaming apps are online-only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992981" y="3434358"/>
            <a:ext cx="337185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39"/>
              </a:lnSpc>
              <a:buNone/>
            </a:pPr>
            <a:r>
              <a:rPr lang="en-US" sz="800" dirty="0">
                <a:solidFill>
                  <a:srgbClr val="5B6B84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Their statistics need an internet connection and an account, and cannot be customised or exported.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4632722" y="3116461"/>
            <a:ext cx="4079081" cy="1166217"/>
          </a:xfrm>
          <a:prstGeom prst="roundRect">
            <a:avLst>
              <a:gd name="adj" fmla="val 8167"/>
            </a:avLst>
          </a:prstGeom>
          <a:solidFill>
            <a:srgbClr val="FFFFFF"/>
          </a:solidFill>
          <a:ln w="7144">
            <a:solidFill>
              <a:srgbClr val="D9E2EF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4782741" y="3252192"/>
            <a:ext cx="292894" cy="292894"/>
          </a:xfrm>
          <a:prstGeom prst="roundRect">
            <a:avLst>
              <a:gd name="adj" fmla="val 32520"/>
            </a:avLst>
          </a:prstGeom>
          <a:solidFill>
            <a:srgbClr val="F4F7FB"/>
          </a:solidFill>
          <a:ln w="7144">
            <a:solidFill>
              <a:srgbClr val="D9E2EF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4810065" y="3279517"/>
            <a:ext cx="238244" cy="2382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617" dirty="0">
                <a:solidFill>
                  <a:srgbClr val="B7791F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?</a:t>
            </a:r>
            <a:endParaRPr lang="en-US" sz="1617" dirty="0"/>
          </a:p>
        </p:txBody>
      </p:sp>
      <p:sp>
        <p:nvSpPr>
          <p:cNvPr id="27" name="Text 25"/>
          <p:cNvSpPr/>
          <p:nvPr/>
        </p:nvSpPr>
        <p:spPr>
          <a:xfrm>
            <a:off x="5193506" y="3248620"/>
            <a:ext cx="3326666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25"/>
              </a:lnSpc>
              <a:buNone/>
            </a:pPr>
            <a:r>
              <a:rPr lang="en-US" sz="900" b="1" dirty="0">
                <a:solidFill>
                  <a:srgbClr val="16305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No instant summary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5193506" y="3434358"/>
            <a:ext cx="3168253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39"/>
              </a:lnSpc>
              <a:buNone/>
            </a:pPr>
            <a:r>
              <a:rPr lang="en-US" sz="759" dirty="0">
                <a:solidFill>
                  <a:srgbClr val="5B6B84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Finding your most-played song or favourite artist means counting by hand.</a:t>
            </a:r>
            <a:endParaRPr lang="en-US" sz="759" dirty="0"/>
          </a:p>
        </p:txBody>
      </p:sp>
      <p:sp>
        <p:nvSpPr>
          <p:cNvPr id="29" name="Text 27"/>
          <p:cNvSpPr/>
          <p:nvPr/>
        </p:nvSpPr>
        <p:spPr>
          <a:xfrm>
            <a:off x="428625" y="4429125"/>
            <a:ext cx="8286750" cy="371475"/>
          </a:xfrm>
          <a:prstGeom prst="rect">
            <a:avLst/>
          </a:prstGeom>
          <a:solidFill>
            <a:srgbClr val="F4F7FB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0" name="Shape 28"/>
          <p:cNvSpPr/>
          <p:nvPr/>
        </p:nvSpPr>
        <p:spPr>
          <a:xfrm>
            <a:off x="428625" y="4432697"/>
            <a:ext cx="8286750" cy="0"/>
          </a:xfrm>
          <a:prstGeom prst="line">
            <a:avLst/>
          </a:prstGeom>
          <a:noFill/>
          <a:ln w="7144">
            <a:solidFill>
              <a:srgbClr val="D9E2E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1" name="Shape 29"/>
          <p:cNvSpPr/>
          <p:nvPr/>
        </p:nvSpPr>
        <p:spPr>
          <a:xfrm>
            <a:off x="8711803" y="4429125"/>
            <a:ext cx="0" cy="371475"/>
          </a:xfrm>
          <a:prstGeom prst="line">
            <a:avLst/>
          </a:prstGeom>
          <a:noFill/>
          <a:ln w="7144">
            <a:solidFill>
              <a:srgbClr val="D9E2E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2" name="Shape 30"/>
          <p:cNvSpPr/>
          <p:nvPr/>
        </p:nvSpPr>
        <p:spPr>
          <a:xfrm>
            <a:off x="428625" y="4797028"/>
            <a:ext cx="8286750" cy="0"/>
          </a:xfrm>
          <a:prstGeom prst="line">
            <a:avLst/>
          </a:prstGeom>
          <a:noFill/>
          <a:ln w="7144">
            <a:solidFill>
              <a:srgbClr val="D9E2E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3" name="Shape 31"/>
          <p:cNvSpPr/>
          <p:nvPr/>
        </p:nvSpPr>
        <p:spPr>
          <a:xfrm>
            <a:off x="442913" y="4429125"/>
            <a:ext cx="0" cy="371475"/>
          </a:xfrm>
          <a:prstGeom prst="line">
            <a:avLst/>
          </a:prstGeom>
          <a:noFill/>
          <a:ln w="28575">
            <a:solidFill>
              <a:srgbClr val="B7791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4" name="Text 32"/>
          <p:cNvSpPr/>
          <p:nvPr/>
        </p:nvSpPr>
        <p:spPr>
          <a:xfrm>
            <a:off x="600075" y="4536281"/>
            <a:ext cx="157163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47" dirty="0">
                <a:solidFill>
                  <a:srgbClr val="B7791F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⚑</a:t>
            </a:r>
            <a:endParaRPr lang="en-US" sz="1547" dirty="0"/>
          </a:p>
        </p:txBody>
      </p:sp>
      <p:sp>
        <p:nvSpPr>
          <p:cNvPr id="35" name="Text 33"/>
          <p:cNvSpPr/>
          <p:nvPr/>
        </p:nvSpPr>
        <p:spPr>
          <a:xfrm>
            <a:off x="842963" y="4537174"/>
            <a:ext cx="7722394" cy="1562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23"/>
              </a:lnSpc>
              <a:buNone/>
            </a:pPr>
            <a:r>
              <a:rPr lang="en-US" sz="844" b="1" dirty="0">
                <a:solidFill>
                  <a:srgbClr val="16305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Project goal</a:t>
            </a:r>
            <a:r>
              <a:rPr lang="en-US" sz="844" dirty="0">
                <a:solidFill>
                  <a:srgbClr val="23304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— a lightweight, offline, auto-counting playlist and statistics manager built in Java.</a:t>
            </a:r>
            <a:endParaRPr lang="en-US" sz="844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5763"/>
            <a:ext cx="328613" cy="328613"/>
          </a:xfrm>
          <a:prstGeom prst="roundRect">
            <a:avLst>
              <a:gd name="adj" fmla="val 28985"/>
            </a:avLst>
          </a:prstGeom>
          <a:solidFill>
            <a:srgbClr val="B7791F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76300" y="437555"/>
            <a:ext cx="209513" cy="2430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772"/>
              </a:lnSpc>
              <a:buNone/>
            </a:pPr>
            <a:r>
              <a:rPr lang="en-US" sz="1181" b="1" dirty="0">
                <a:solidFill>
                  <a:srgbClr val="FFFFFF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3</a:t>
            </a:r>
            <a:endParaRPr lang="en-US" sz="1181" dirty="0"/>
          </a:p>
        </p:txBody>
      </p:sp>
      <p:sp>
        <p:nvSpPr>
          <p:cNvPr id="4" name="Text 2"/>
          <p:cNvSpPr/>
          <p:nvPr/>
        </p:nvSpPr>
        <p:spPr>
          <a:xfrm>
            <a:off x="795297" y="416458"/>
            <a:ext cx="1604029" cy="2884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04"/>
              </a:lnSpc>
              <a:buNone/>
            </a:pPr>
            <a:r>
              <a:rPr lang="en-US" sz="1913" b="1" dirty="0">
                <a:solidFill>
                  <a:srgbClr val="16305B"/>
                </a:solidFill>
                <a:latin typeface="Tinos" pitchFamily="34" charset="0"/>
                <a:ea typeface="Tinos" pitchFamily="34" charset="-122"/>
                <a:cs typeface="Tinos" pitchFamily="34" charset="-120"/>
              </a:rPr>
              <a:t>Objectives</a:t>
            </a:r>
            <a:endParaRPr lang="en-US" sz="1913" dirty="0"/>
          </a:p>
        </p:txBody>
      </p:sp>
      <p:sp>
        <p:nvSpPr>
          <p:cNvPr id="5" name="Text 3"/>
          <p:cNvSpPr/>
          <p:nvPr/>
        </p:nvSpPr>
        <p:spPr>
          <a:xfrm>
            <a:off x="2135646" y="546497"/>
            <a:ext cx="6551154" cy="7144"/>
          </a:xfrm>
          <a:prstGeom prst="rect">
            <a:avLst/>
          </a:prstGeom>
          <a:solidFill>
            <a:srgbClr val="D9E2EF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457200" y="828675"/>
            <a:ext cx="8229600" cy="179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08"/>
              </a:lnSpc>
              <a:buNone/>
            </a:pPr>
            <a:r>
              <a:rPr lang="en-US" sz="872" dirty="0">
                <a:solidFill>
                  <a:srgbClr val="5B6B84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Five clear objectives guided the design of the application.</a:t>
            </a:r>
            <a:endParaRPr lang="en-US" sz="872" dirty="0"/>
          </a:p>
        </p:txBody>
      </p:sp>
      <p:sp>
        <p:nvSpPr>
          <p:cNvPr id="7" name="Text 5"/>
          <p:cNvSpPr/>
          <p:nvPr/>
        </p:nvSpPr>
        <p:spPr>
          <a:xfrm>
            <a:off x="460772" y="1198364"/>
            <a:ext cx="4036219" cy="712031"/>
          </a:xfrm>
          <a:prstGeom prst="roundRect">
            <a:avLst>
              <a:gd name="adj" fmla="val 13377"/>
            </a:avLst>
          </a:prstGeom>
          <a:solidFill>
            <a:srgbClr val="FFFFFF"/>
          </a:solidFill>
          <a:ln w="7144">
            <a:solidFill>
              <a:srgbClr val="D9E2EF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50081" y="1373386"/>
            <a:ext cx="550605" cy="3086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50"/>
              </a:lnSpc>
              <a:buNone/>
            </a:pPr>
            <a:r>
              <a:rPr lang="en-US" sz="2250" b="1" dirty="0">
                <a:solidFill>
                  <a:srgbClr val="8A5A14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01</a:t>
            </a:r>
            <a:endParaRPr lang="en-US" sz="2250" dirty="0"/>
          </a:p>
        </p:txBody>
      </p:sp>
      <p:sp>
        <p:nvSpPr>
          <p:cNvPr id="9" name="Text 7"/>
          <p:cNvSpPr/>
          <p:nvPr/>
        </p:nvSpPr>
        <p:spPr>
          <a:xfrm>
            <a:off x="1137084" y="1373386"/>
            <a:ext cx="2932632" cy="17552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80"/>
              </a:lnSpc>
              <a:buNone/>
            </a:pPr>
            <a:r>
              <a:rPr lang="en-US" sz="984" b="1" dirty="0">
                <a:solidFill>
                  <a:srgbClr val="16305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Build a playlist manager</a:t>
            </a:r>
            <a:endParaRPr lang="en-US" sz="984" dirty="0"/>
          </a:p>
        </p:txBody>
      </p:sp>
      <p:sp>
        <p:nvSpPr>
          <p:cNvPr id="10" name="Text 8"/>
          <p:cNvSpPr/>
          <p:nvPr/>
        </p:nvSpPr>
        <p:spPr>
          <a:xfrm>
            <a:off x="1137084" y="1585913"/>
            <a:ext cx="2792983" cy="1494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77"/>
              </a:lnSpc>
              <a:buNone/>
            </a:pPr>
            <a:r>
              <a:rPr lang="en-US" sz="759" dirty="0">
                <a:solidFill>
                  <a:srgbClr val="5B6B84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Add, view and remove songs using clean object-oriented classes.</a:t>
            </a:r>
            <a:endParaRPr lang="en-US" sz="759" dirty="0"/>
          </a:p>
        </p:txBody>
      </p:sp>
      <p:sp>
        <p:nvSpPr>
          <p:cNvPr id="11" name="Text 9"/>
          <p:cNvSpPr/>
          <p:nvPr/>
        </p:nvSpPr>
        <p:spPr>
          <a:xfrm>
            <a:off x="4647009" y="1198364"/>
            <a:ext cx="4036219" cy="712031"/>
          </a:xfrm>
          <a:prstGeom prst="roundRect">
            <a:avLst>
              <a:gd name="adj" fmla="val 13377"/>
            </a:avLst>
          </a:prstGeom>
          <a:solidFill>
            <a:srgbClr val="FFFFFF"/>
          </a:solidFill>
          <a:ln w="7144">
            <a:solidFill>
              <a:srgbClr val="D9E2EF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4836319" y="1373386"/>
            <a:ext cx="550605" cy="3086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50"/>
              </a:lnSpc>
              <a:buNone/>
            </a:pPr>
            <a:r>
              <a:rPr lang="en-US" sz="2250" b="1" dirty="0">
                <a:solidFill>
                  <a:srgbClr val="8A5A14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02</a:t>
            </a:r>
            <a:endParaRPr lang="en-US" sz="2250" dirty="0"/>
          </a:p>
        </p:txBody>
      </p:sp>
      <p:sp>
        <p:nvSpPr>
          <p:cNvPr id="13" name="Text 11"/>
          <p:cNvSpPr/>
          <p:nvPr/>
        </p:nvSpPr>
        <p:spPr>
          <a:xfrm>
            <a:off x="5323322" y="1373386"/>
            <a:ext cx="3170597" cy="17552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80"/>
              </a:lnSpc>
              <a:buNone/>
            </a:pPr>
            <a:r>
              <a:rPr lang="en-US" sz="984" b="1" dirty="0">
                <a:solidFill>
                  <a:srgbClr val="16305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Automate play tracking</a:t>
            </a:r>
            <a:endParaRPr lang="en-US" sz="984" dirty="0"/>
          </a:p>
        </p:txBody>
      </p:sp>
      <p:sp>
        <p:nvSpPr>
          <p:cNvPr id="14" name="Text 12"/>
          <p:cNvSpPr/>
          <p:nvPr/>
        </p:nvSpPr>
        <p:spPr>
          <a:xfrm>
            <a:off x="5323322" y="1585913"/>
            <a:ext cx="3166132" cy="1494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77"/>
              </a:lnSpc>
              <a:buNone/>
            </a:pPr>
            <a:r>
              <a:rPr lang="en-US" sz="759" dirty="0">
                <a:solidFill>
                  <a:srgbClr val="5B6B84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Every play of a song increments its counter instantly — zero manual entry.</a:t>
            </a:r>
            <a:endParaRPr lang="en-US" sz="759" dirty="0"/>
          </a:p>
        </p:txBody>
      </p:sp>
      <p:sp>
        <p:nvSpPr>
          <p:cNvPr id="15" name="Text 13"/>
          <p:cNvSpPr/>
          <p:nvPr/>
        </p:nvSpPr>
        <p:spPr>
          <a:xfrm>
            <a:off x="460772" y="2060414"/>
            <a:ext cx="2640732" cy="1387213"/>
          </a:xfrm>
          <a:prstGeom prst="roundRect">
            <a:avLst>
              <a:gd name="adj" fmla="val 3607"/>
            </a:avLst>
          </a:prstGeom>
          <a:solidFill>
            <a:srgbClr val="FFFFFF"/>
          </a:solidFill>
          <a:ln w="7144">
            <a:solidFill>
              <a:srgbClr val="D9E2EF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650081" y="2235436"/>
            <a:ext cx="440412" cy="2468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800" b="1" dirty="0">
                <a:solidFill>
                  <a:srgbClr val="8A5A14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03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068214" y="2235436"/>
            <a:ext cx="1953708" cy="1604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70"/>
              </a:lnSpc>
              <a:buNone/>
            </a:pPr>
            <a:r>
              <a:rPr lang="en-US" sz="900" b="1" dirty="0">
                <a:solidFill>
                  <a:srgbClr val="16305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Generate listening statistics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068214" y="2434010"/>
            <a:ext cx="1843980" cy="3399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33"/>
              </a:lnSpc>
              <a:buNone/>
            </a:pPr>
            <a:r>
              <a:rPr lang="en-US" sz="800" dirty="0">
                <a:solidFill>
                  <a:srgbClr val="5B6B84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Compute total plays, total listening time, favourite artist and the Top-5 songs.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3251522" y="2060414"/>
            <a:ext cx="2640843" cy="1387213"/>
          </a:xfrm>
          <a:prstGeom prst="roundRect">
            <a:avLst>
              <a:gd name="adj" fmla="val 3607"/>
            </a:avLst>
          </a:prstGeom>
          <a:solidFill>
            <a:srgbClr val="FFFFFF"/>
          </a:solidFill>
          <a:ln w="7144">
            <a:solidFill>
              <a:srgbClr val="D9E2EF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3440832" y="2235436"/>
            <a:ext cx="440412" cy="2468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800" b="1" dirty="0">
                <a:solidFill>
                  <a:srgbClr val="8A5A14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04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3858964" y="2235436"/>
            <a:ext cx="1844092" cy="16045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70"/>
              </a:lnSpc>
              <a:buNone/>
            </a:pPr>
            <a:r>
              <a:rPr lang="en-US" sz="900" b="1" dirty="0">
                <a:solidFill>
                  <a:srgbClr val="16305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Provide search and sort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3858964" y="2434010"/>
            <a:ext cx="1844092" cy="3399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33"/>
              </a:lnSpc>
              <a:buNone/>
            </a:pPr>
            <a:r>
              <a:rPr lang="en-US" sz="800" dirty="0">
                <a:solidFill>
                  <a:srgbClr val="5B6B84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Find any song by title or artist and rank the playlist alphabetically or by plays.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6042385" y="2060414"/>
            <a:ext cx="2640732" cy="1387213"/>
          </a:xfrm>
          <a:prstGeom prst="roundRect">
            <a:avLst>
              <a:gd name="adj" fmla="val 3607"/>
            </a:avLst>
          </a:prstGeom>
          <a:solidFill>
            <a:srgbClr val="FFFFFF"/>
          </a:solidFill>
          <a:ln w="7144">
            <a:solidFill>
              <a:srgbClr val="D9E2EF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6231694" y="2235436"/>
            <a:ext cx="440412" cy="2468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800" b="1" dirty="0">
                <a:solidFill>
                  <a:srgbClr val="8A5A14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05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6649827" y="2235436"/>
            <a:ext cx="1843980" cy="16045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70"/>
              </a:lnSpc>
              <a:buNone/>
            </a:pPr>
            <a:r>
              <a:rPr lang="en-US" sz="900" b="1" dirty="0">
                <a:solidFill>
                  <a:srgbClr val="16305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Persist data with File I/O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6649827" y="2434010"/>
            <a:ext cx="1843980" cy="3399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33"/>
              </a:lnSpc>
              <a:buNone/>
            </a:pPr>
            <a:r>
              <a:rPr lang="en-US" sz="800" dirty="0">
                <a:solidFill>
                  <a:srgbClr val="5B6B84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Save the playlist to a text file and reload it automatically on every run.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28625" y="371475"/>
            <a:ext cx="328613" cy="328613"/>
          </a:xfrm>
          <a:prstGeom prst="roundRect">
            <a:avLst>
              <a:gd name="adj" fmla="val 28985"/>
            </a:avLst>
          </a:prstGeom>
          <a:solidFill>
            <a:srgbClr val="B7791F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47725" y="423267"/>
            <a:ext cx="209513" cy="2430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772"/>
              </a:lnSpc>
              <a:buNone/>
            </a:pPr>
            <a:r>
              <a:rPr lang="en-US" sz="1181" b="1" dirty="0">
                <a:solidFill>
                  <a:srgbClr val="FFFFFF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4</a:t>
            </a:r>
            <a:endParaRPr lang="en-US" sz="1181" dirty="0"/>
          </a:p>
        </p:txBody>
      </p:sp>
      <p:sp>
        <p:nvSpPr>
          <p:cNvPr id="4" name="Text 2"/>
          <p:cNvSpPr/>
          <p:nvPr/>
        </p:nvSpPr>
        <p:spPr>
          <a:xfrm>
            <a:off x="885825" y="402171"/>
            <a:ext cx="2066525" cy="2884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04"/>
              </a:lnSpc>
              <a:buNone/>
            </a:pPr>
            <a:r>
              <a:rPr lang="en-US" sz="1913" b="1" dirty="0">
                <a:solidFill>
                  <a:srgbClr val="16305B"/>
                </a:solidFill>
                <a:latin typeface="Tinos" pitchFamily="34" charset="0"/>
                <a:ea typeface="Tinos" pitchFamily="34" charset="-122"/>
                <a:cs typeface="Tinos" pitchFamily="34" charset="-120"/>
              </a:rPr>
              <a:t>Existing System</a:t>
            </a:r>
            <a:endParaRPr lang="en-US" sz="1913" dirty="0"/>
          </a:p>
        </p:txBody>
      </p:sp>
      <p:sp>
        <p:nvSpPr>
          <p:cNvPr id="5" name="Text 3"/>
          <p:cNvSpPr/>
          <p:nvPr/>
        </p:nvSpPr>
        <p:spPr>
          <a:xfrm>
            <a:off x="2667633" y="532209"/>
            <a:ext cx="6047742" cy="7144"/>
          </a:xfrm>
          <a:prstGeom prst="rect">
            <a:avLst/>
          </a:prstGeom>
          <a:solidFill>
            <a:srgbClr val="D9E2EF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428625" y="885825"/>
            <a:ext cx="4029075" cy="3705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51"/>
              </a:lnSpc>
              <a:buNone/>
            </a:pPr>
            <a:r>
              <a:rPr lang="en-US" sz="872" dirty="0">
                <a:solidFill>
                  <a:srgbClr val="23304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Today, listeners track their music in three common ways — each with clear drawbacks:</a:t>
            </a:r>
            <a:endParaRPr lang="en-US" sz="872" dirty="0"/>
          </a:p>
        </p:txBody>
      </p:sp>
      <p:sp>
        <p:nvSpPr>
          <p:cNvPr id="7" name="Text 5"/>
          <p:cNvSpPr/>
          <p:nvPr/>
        </p:nvSpPr>
        <p:spPr>
          <a:xfrm>
            <a:off x="432197" y="1361108"/>
            <a:ext cx="4021931" cy="672517"/>
          </a:xfrm>
          <a:prstGeom prst="roundRect">
            <a:avLst>
              <a:gd name="adj" fmla="val 14163"/>
            </a:avLst>
          </a:prstGeom>
          <a:solidFill>
            <a:srgbClr val="F4F7FB"/>
          </a:solidFill>
          <a:ln w="7144">
            <a:solidFill>
              <a:srgbClr val="D9E2EF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564356" y="1486123"/>
            <a:ext cx="150019" cy="15001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477" dirty="0">
                <a:solidFill>
                  <a:srgbClr val="B7791F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✓</a:t>
            </a:r>
            <a:endParaRPr lang="en-US" sz="1477" dirty="0"/>
          </a:p>
        </p:txBody>
      </p:sp>
      <p:sp>
        <p:nvSpPr>
          <p:cNvPr id="9" name="Text 7"/>
          <p:cNvSpPr/>
          <p:nvPr/>
        </p:nvSpPr>
        <p:spPr>
          <a:xfrm>
            <a:off x="814388" y="1471836"/>
            <a:ext cx="3617309" cy="14502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133"/>
              </a:lnSpc>
              <a:buNone/>
            </a:pPr>
            <a:r>
              <a:rPr lang="en-US" sz="872" b="1" dirty="0">
                <a:solidFill>
                  <a:srgbClr val="16305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Handwritten lists / spreadsheets</a:t>
            </a:r>
            <a:endParaRPr lang="en-US" sz="872" dirty="0"/>
          </a:p>
        </p:txBody>
      </p:sp>
      <p:sp>
        <p:nvSpPr>
          <p:cNvPr id="10" name="Text 8"/>
          <p:cNvSpPr/>
          <p:nvPr/>
        </p:nvSpPr>
        <p:spPr>
          <a:xfrm>
            <a:off x="814388" y="1644290"/>
            <a:ext cx="3507581" cy="2786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97"/>
              </a:lnSpc>
              <a:buNone/>
            </a:pPr>
            <a:r>
              <a:rPr lang="en-US" sz="800" dirty="0">
                <a:solidFill>
                  <a:srgbClr val="5B6B84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Play counts are noted or guessed by hand; the sheet drifts out of date and errors accumulate.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432197" y="2140781"/>
            <a:ext cx="4021931" cy="672517"/>
          </a:xfrm>
          <a:prstGeom prst="roundRect">
            <a:avLst>
              <a:gd name="adj" fmla="val 14163"/>
            </a:avLst>
          </a:prstGeom>
          <a:solidFill>
            <a:srgbClr val="F4F7FB"/>
          </a:solidFill>
          <a:ln w="7144">
            <a:solidFill>
              <a:srgbClr val="D9E2EF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564356" y="2265797"/>
            <a:ext cx="150019" cy="15001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477" dirty="0">
                <a:solidFill>
                  <a:srgbClr val="B7791F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☁</a:t>
            </a:r>
            <a:endParaRPr lang="en-US" sz="1477" dirty="0"/>
          </a:p>
        </p:txBody>
      </p:sp>
      <p:sp>
        <p:nvSpPr>
          <p:cNvPr id="13" name="Text 11"/>
          <p:cNvSpPr/>
          <p:nvPr/>
        </p:nvSpPr>
        <p:spPr>
          <a:xfrm>
            <a:off x="814388" y="2251509"/>
            <a:ext cx="3617309" cy="14502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133"/>
              </a:lnSpc>
              <a:buNone/>
            </a:pPr>
            <a:r>
              <a:rPr lang="en-US" sz="872" b="1" dirty="0">
                <a:solidFill>
                  <a:srgbClr val="16305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Streaming apps (Spotify, Apple Music)</a:t>
            </a:r>
            <a:endParaRPr lang="en-US" sz="872" dirty="0"/>
          </a:p>
        </p:txBody>
      </p:sp>
      <p:sp>
        <p:nvSpPr>
          <p:cNvPr id="14" name="Text 12"/>
          <p:cNvSpPr/>
          <p:nvPr/>
        </p:nvSpPr>
        <p:spPr>
          <a:xfrm>
            <a:off x="814388" y="2423964"/>
            <a:ext cx="3507581" cy="2786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97"/>
              </a:lnSpc>
              <a:buNone/>
            </a:pPr>
            <a:r>
              <a:rPr lang="en-US" sz="800" dirty="0">
                <a:solidFill>
                  <a:srgbClr val="5B6B84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Rich, but online-only: they need an account and internet, and show only the statistics the app decides to expose.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432197" y="2920454"/>
            <a:ext cx="4021931" cy="533214"/>
          </a:xfrm>
          <a:prstGeom prst="roundRect">
            <a:avLst>
              <a:gd name="adj" fmla="val 17863"/>
            </a:avLst>
          </a:prstGeom>
          <a:solidFill>
            <a:srgbClr val="F4F7FB"/>
          </a:solidFill>
          <a:ln w="7144">
            <a:solidFill>
              <a:srgbClr val="D9E2EF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564356" y="3045470"/>
            <a:ext cx="150019" cy="15001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477" dirty="0">
                <a:solidFill>
                  <a:srgbClr val="B7791F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▦</a:t>
            </a:r>
            <a:endParaRPr lang="en-US" sz="1477" dirty="0"/>
          </a:p>
        </p:txBody>
      </p:sp>
      <p:sp>
        <p:nvSpPr>
          <p:cNvPr id="17" name="Text 15"/>
          <p:cNvSpPr/>
          <p:nvPr/>
        </p:nvSpPr>
        <p:spPr>
          <a:xfrm>
            <a:off x="814388" y="3031182"/>
            <a:ext cx="3617309" cy="14502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133"/>
              </a:lnSpc>
              <a:buNone/>
            </a:pPr>
            <a:r>
              <a:rPr lang="en-US" sz="872" b="1" dirty="0">
                <a:solidFill>
                  <a:srgbClr val="16305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Database-based trackers (MySQL projects)</a:t>
            </a:r>
            <a:endParaRPr lang="en-US" sz="872" dirty="0"/>
          </a:p>
        </p:txBody>
      </p:sp>
      <p:sp>
        <p:nvSpPr>
          <p:cNvPr id="18" name="Text 16"/>
          <p:cNvSpPr/>
          <p:nvPr/>
        </p:nvSpPr>
        <p:spPr>
          <a:xfrm>
            <a:off x="814388" y="3203637"/>
            <a:ext cx="3460477" cy="1393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97"/>
              </a:lnSpc>
              <a:buNone/>
            </a:pPr>
            <a:r>
              <a:rPr lang="en-US" sz="731" dirty="0">
                <a:solidFill>
                  <a:srgbClr val="5B6B84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Powerful but heavy — installation and setup are overkill for a single listener’s needs.</a:t>
            </a:r>
            <a:endParaRPr lang="en-US" sz="731" dirty="0"/>
          </a:p>
        </p:txBody>
      </p:sp>
      <p:sp>
        <p:nvSpPr>
          <p:cNvPr id="19" name="Text 17"/>
          <p:cNvSpPr/>
          <p:nvPr/>
        </p:nvSpPr>
        <p:spPr>
          <a:xfrm>
            <a:off x="4689872" y="889397"/>
            <a:ext cx="4021931" cy="3907631"/>
          </a:xfrm>
          <a:prstGeom prst="roundRect">
            <a:avLst>
              <a:gd name="adj" fmla="val 2438"/>
            </a:avLst>
          </a:prstGeom>
          <a:solidFill>
            <a:srgbClr val="FFFFFF"/>
          </a:solidFill>
          <a:ln w="7144">
            <a:solidFill>
              <a:srgbClr val="D9E2EF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4836319" y="1007269"/>
            <a:ext cx="3871913" cy="20831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519"/>
              </a:lnSpc>
              <a:buNone/>
            </a:pPr>
            <a:r>
              <a:rPr lang="en-US" sz="1013" b="1" dirty="0">
                <a:solidFill>
                  <a:srgbClr val="16305B"/>
                </a:solidFill>
                <a:latin typeface="Tinos" pitchFamily="34" charset="0"/>
                <a:ea typeface="Tinos" pitchFamily="34" charset="-122"/>
                <a:cs typeface="Tinos" pitchFamily="34" charset="-120"/>
              </a:rPr>
              <a:t>Quick comparison</a:t>
            </a:r>
            <a:endParaRPr lang="en-US" sz="1013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693444" y="1293019"/>
          <a:ext cx="4014787" cy="1502570"/>
        </p:xfrm>
        <a:graphic>
          <a:graphicData uri="http://schemas.openxmlformats.org/drawingml/2006/table">
            <a:tbl>
              <a:tblPr/>
              <a:tblGrid>
                <a:gridCol w="121533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9543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1772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8629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b="1" dirty="0">
                          <a:solidFill>
                            <a:srgbClr val="EAF0F9"/>
                          </a:solidFill>
                          <a:latin typeface="Carlito" pitchFamily="34" charset="0"/>
                          <a:ea typeface="Carlito" pitchFamily="34" charset="-122"/>
                          <a:cs typeface="Carlito" pitchFamily="34" charset="-120"/>
                        </a:rPr>
                        <a:t>Method</a:t>
                      </a:r>
                      <a:endParaRPr lang="en-US" sz="800" dirty="0">
                        <a:latin typeface="Carlito" charset="0"/>
                        <a:ea typeface="Carlito" charset="0"/>
                        <a:cs typeface="Carlito" charset="0"/>
                      </a:endParaRPr>
                    </a:p>
                  </a:txBody>
                  <a:tcPr marL="78581" marR="100013" marT="100013" marB="78581" anchor="ctr">
                    <a:lnL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EAF0F9"/>
                          </a:solidFill>
                          <a:latin typeface="Carlito" pitchFamily="34" charset="0"/>
                          <a:ea typeface="Carlito" pitchFamily="34" charset="-122"/>
                          <a:cs typeface="Carlito" pitchFamily="34" charset="-120"/>
                        </a:rPr>
                        <a:t>Auto count</a:t>
                      </a:r>
                      <a:endParaRPr lang="en-US" sz="800" dirty="0">
                        <a:latin typeface="Carlito" charset="0"/>
                        <a:ea typeface="Carlito" charset="0"/>
                        <a:cs typeface="Carlito" charset="0"/>
                      </a:endParaRPr>
                    </a:p>
                  </a:txBody>
                  <a:tcPr marL="78581" marR="100013" marT="100013" marB="78581" anchor="ctr">
                    <a:lnL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EAF0F9"/>
                          </a:solidFill>
                          <a:latin typeface="Carlito" pitchFamily="34" charset="0"/>
                          <a:ea typeface="Carlito" pitchFamily="34" charset="-122"/>
                          <a:cs typeface="Carlito" pitchFamily="34" charset="-120"/>
                        </a:rPr>
                        <a:t>Offline</a:t>
                      </a:r>
                      <a:endParaRPr lang="en-US" sz="800" dirty="0">
                        <a:latin typeface="Carlito" charset="0"/>
                        <a:ea typeface="Carlito" charset="0"/>
                        <a:cs typeface="Carlito" charset="0"/>
                      </a:endParaRPr>
                    </a:p>
                  </a:txBody>
                  <a:tcPr marL="78581" marR="100013" marT="100013" marB="78581" anchor="ctr">
                    <a:lnL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EAF0F9"/>
                          </a:solidFill>
                          <a:latin typeface="Carlito" pitchFamily="34" charset="0"/>
                          <a:ea typeface="Carlito" pitchFamily="34" charset="-122"/>
                          <a:cs typeface="Carlito" pitchFamily="34" charset="-120"/>
                        </a:rPr>
                        <a:t>Full stats</a:t>
                      </a:r>
                      <a:endParaRPr lang="en-US" sz="800" dirty="0">
                        <a:latin typeface="Carlito" charset="0"/>
                        <a:ea typeface="Carlito" charset="0"/>
                        <a:cs typeface="Carlito" charset="0"/>
                      </a:endParaRPr>
                    </a:p>
                  </a:txBody>
                  <a:tcPr marL="78581" marR="100013" marT="100013" marB="78581" anchor="ctr">
                    <a:lnL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dirty="0">
                          <a:solidFill>
                            <a:srgbClr val="23304A"/>
                          </a:solidFill>
                          <a:latin typeface="Carlito" pitchFamily="34" charset="0"/>
                          <a:ea typeface="Carlito" pitchFamily="34" charset="-122"/>
                          <a:cs typeface="Carlito" pitchFamily="34" charset="-120"/>
                        </a:rPr>
                        <a:t>Handwritten list</a:t>
                      </a:r>
                      <a:endParaRPr lang="en-US" sz="800" dirty="0">
                        <a:latin typeface="Carlito" charset="0"/>
                        <a:ea typeface="Carlito" charset="0"/>
                        <a:cs typeface="Carlito" charset="0"/>
                      </a:endParaRPr>
                    </a:p>
                  </a:txBody>
                  <a:tcPr marL="78581" marR="100013" marT="100013" marB="78581" anchor="ctr">
                    <a:lnL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23304A"/>
                          </a:solidFill>
                          <a:latin typeface="Carlito" pitchFamily="34" charset="0"/>
                          <a:ea typeface="Carlito" pitchFamily="34" charset="-122"/>
                          <a:cs typeface="Carlito" pitchFamily="34" charset="-120"/>
                        </a:rPr>
                        <a:t>✕</a:t>
                      </a:r>
                      <a:endParaRPr lang="en-US" sz="800" dirty="0">
                        <a:latin typeface="Carlito" charset="0"/>
                        <a:ea typeface="Carlito" charset="0"/>
                        <a:cs typeface="Carlito" charset="0"/>
                      </a:endParaRPr>
                    </a:p>
                  </a:txBody>
                  <a:tcPr marL="78581" marR="100013" marT="100013" marB="78581" anchor="ctr">
                    <a:lnL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23304A"/>
                          </a:solidFill>
                          <a:latin typeface="Carlito" pitchFamily="34" charset="0"/>
                          <a:ea typeface="Carlito" pitchFamily="34" charset="-122"/>
                          <a:cs typeface="Carlito" pitchFamily="34" charset="-120"/>
                        </a:rPr>
                        <a:t>✓</a:t>
                      </a:r>
                      <a:endParaRPr lang="en-US" sz="800" dirty="0">
                        <a:latin typeface="Carlito" charset="0"/>
                        <a:ea typeface="Carlito" charset="0"/>
                        <a:cs typeface="Carlito" charset="0"/>
                      </a:endParaRPr>
                    </a:p>
                  </a:txBody>
                  <a:tcPr marL="78581" marR="100013" marT="100013" marB="78581" anchor="ctr">
                    <a:lnL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23304A"/>
                          </a:solidFill>
                          <a:latin typeface="Carlito" pitchFamily="34" charset="0"/>
                          <a:ea typeface="Carlito" pitchFamily="34" charset="-122"/>
                          <a:cs typeface="Carlito" pitchFamily="34" charset="-120"/>
                        </a:rPr>
                        <a:t>✕</a:t>
                      </a:r>
                      <a:endParaRPr lang="en-US" sz="800" dirty="0">
                        <a:latin typeface="Carlito" charset="0"/>
                        <a:ea typeface="Carlito" charset="0"/>
                        <a:cs typeface="Carlito" charset="0"/>
                      </a:endParaRPr>
                    </a:p>
                  </a:txBody>
                  <a:tcPr marL="78581" marR="100013" marT="100013" marB="78581" anchor="ctr">
                    <a:lnL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dirty="0">
                          <a:solidFill>
                            <a:srgbClr val="23304A"/>
                          </a:solidFill>
                          <a:latin typeface="Carlito" pitchFamily="34" charset="0"/>
                          <a:ea typeface="Carlito" pitchFamily="34" charset="-122"/>
                          <a:cs typeface="Carlito" pitchFamily="34" charset="-120"/>
                        </a:rPr>
                        <a:t>Spreadsheet</a:t>
                      </a:r>
                      <a:endParaRPr lang="en-US" sz="800" dirty="0">
                        <a:latin typeface="Carlito" charset="0"/>
                        <a:ea typeface="Carlito" charset="0"/>
                        <a:cs typeface="Carlito" charset="0"/>
                      </a:endParaRPr>
                    </a:p>
                  </a:txBody>
                  <a:tcPr marL="78581" marR="100013" marT="100013" marB="78581" anchor="ctr">
                    <a:lnL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23304A"/>
                          </a:solidFill>
                          <a:latin typeface="Carlito" pitchFamily="34" charset="0"/>
                          <a:ea typeface="Carlito" pitchFamily="34" charset="-122"/>
                          <a:cs typeface="Carlito" pitchFamily="34" charset="-120"/>
                        </a:rPr>
                        <a:t>✕</a:t>
                      </a:r>
                      <a:endParaRPr lang="en-US" sz="800" dirty="0">
                        <a:latin typeface="Carlito" charset="0"/>
                        <a:ea typeface="Carlito" charset="0"/>
                        <a:cs typeface="Carlito" charset="0"/>
                      </a:endParaRPr>
                    </a:p>
                  </a:txBody>
                  <a:tcPr marL="78581" marR="100013" marT="100013" marB="78581" anchor="ctr">
                    <a:lnL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23304A"/>
                          </a:solidFill>
                          <a:latin typeface="Carlito" pitchFamily="34" charset="0"/>
                          <a:ea typeface="Carlito" pitchFamily="34" charset="-122"/>
                          <a:cs typeface="Carlito" pitchFamily="34" charset="-120"/>
                        </a:rPr>
                        <a:t>✓</a:t>
                      </a:r>
                      <a:endParaRPr lang="en-US" sz="800" dirty="0">
                        <a:latin typeface="Carlito" charset="0"/>
                        <a:ea typeface="Carlito" charset="0"/>
                        <a:cs typeface="Carlito" charset="0"/>
                      </a:endParaRPr>
                    </a:p>
                  </a:txBody>
                  <a:tcPr marL="78581" marR="100013" marT="100013" marB="78581" anchor="ctr">
                    <a:lnL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23304A"/>
                          </a:solidFill>
                          <a:latin typeface="Carlito" pitchFamily="34" charset="0"/>
                          <a:ea typeface="Carlito" pitchFamily="34" charset="-122"/>
                          <a:cs typeface="Carlito" pitchFamily="34" charset="-120"/>
                        </a:rPr>
                        <a:t>manual</a:t>
                      </a:r>
                      <a:endParaRPr lang="en-US" sz="800" dirty="0">
                        <a:latin typeface="Carlito" charset="0"/>
                        <a:ea typeface="Carlito" charset="0"/>
                        <a:cs typeface="Carlito" charset="0"/>
                      </a:endParaRPr>
                    </a:p>
                  </a:txBody>
                  <a:tcPr marL="78581" marR="100013" marT="100013" marB="78581" anchor="ctr">
                    <a:lnL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dirty="0">
                          <a:solidFill>
                            <a:srgbClr val="23304A"/>
                          </a:solidFill>
                          <a:latin typeface="Carlito" pitchFamily="34" charset="0"/>
                          <a:ea typeface="Carlito" pitchFamily="34" charset="-122"/>
                          <a:cs typeface="Carlito" pitchFamily="34" charset="-120"/>
                        </a:rPr>
                        <a:t>Streaming app</a:t>
                      </a:r>
                      <a:endParaRPr lang="en-US" sz="800" dirty="0">
                        <a:latin typeface="Carlito" charset="0"/>
                        <a:ea typeface="Carlito" charset="0"/>
                        <a:cs typeface="Carlito" charset="0"/>
                      </a:endParaRPr>
                    </a:p>
                  </a:txBody>
                  <a:tcPr marL="78581" marR="100013" marT="100013" marB="78581" anchor="ctr">
                    <a:lnL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23304A"/>
                          </a:solidFill>
                          <a:latin typeface="Carlito" pitchFamily="34" charset="0"/>
                          <a:ea typeface="Carlito" pitchFamily="34" charset="-122"/>
                          <a:cs typeface="Carlito" pitchFamily="34" charset="-120"/>
                        </a:rPr>
                        <a:t>✓</a:t>
                      </a:r>
                      <a:endParaRPr lang="en-US" sz="800" dirty="0">
                        <a:latin typeface="Carlito" charset="0"/>
                        <a:ea typeface="Carlito" charset="0"/>
                        <a:cs typeface="Carlito" charset="0"/>
                      </a:endParaRPr>
                    </a:p>
                  </a:txBody>
                  <a:tcPr marL="78581" marR="100013" marT="100013" marB="78581" anchor="ctr">
                    <a:lnL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23304A"/>
                          </a:solidFill>
                          <a:latin typeface="Carlito" pitchFamily="34" charset="0"/>
                          <a:ea typeface="Carlito" pitchFamily="34" charset="-122"/>
                          <a:cs typeface="Carlito" pitchFamily="34" charset="-120"/>
                        </a:rPr>
                        <a:t>✕</a:t>
                      </a:r>
                      <a:endParaRPr lang="en-US" sz="800" dirty="0">
                        <a:latin typeface="Carlito" charset="0"/>
                        <a:ea typeface="Carlito" charset="0"/>
                        <a:cs typeface="Carlito" charset="0"/>
                      </a:endParaRPr>
                    </a:p>
                  </a:txBody>
                  <a:tcPr marL="78581" marR="100013" marT="100013" marB="78581" anchor="ctr">
                    <a:lnL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23304A"/>
                          </a:solidFill>
                          <a:latin typeface="Carlito" pitchFamily="34" charset="0"/>
                          <a:ea typeface="Carlito" pitchFamily="34" charset="-122"/>
                          <a:cs typeface="Carlito" pitchFamily="34" charset="-120"/>
                        </a:rPr>
                        <a:t>limited</a:t>
                      </a:r>
                      <a:endParaRPr lang="en-US" sz="800" dirty="0">
                        <a:latin typeface="Carlito" charset="0"/>
                        <a:ea typeface="Carlito" charset="0"/>
                        <a:cs typeface="Carlito" charset="0"/>
                      </a:endParaRPr>
                    </a:p>
                  </a:txBody>
                  <a:tcPr marL="78581" marR="100013" marT="100013" marB="78581" anchor="ctr">
                    <a:lnL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b="1" dirty="0">
                          <a:solidFill>
                            <a:srgbClr val="16305B"/>
                          </a:solidFill>
                          <a:latin typeface="Carlito" pitchFamily="34" charset="0"/>
                          <a:ea typeface="Carlito" pitchFamily="34" charset="-122"/>
                          <a:cs typeface="Carlito" pitchFamily="34" charset="-120"/>
                        </a:rPr>
                        <a:t>This project</a:t>
                      </a:r>
                      <a:endParaRPr lang="en-US" sz="800" dirty="0">
                        <a:latin typeface="Carlito" charset="0"/>
                        <a:ea typeface="Carlito" charset="0"/>
                        <a:cs typeface="Carlito" charset="0"/>
                      </a:endParaRPr>
                    </a:p>
                  </a:txBody>
                  <a:tcPr marL="78581" marR="100013" marT="100013" marB="78581" anchor="ctr">
                    <a:lnL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7791F">
                        <a:alpha val="13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16305B"/>
                          </a:solidFill>
                          <a:latin typeface="Carlito" pitchFamily="34" charset="0"/>
                          <a:ea typeface="Carlito" pitchFamily="34" charset="-122"/>
                          <a:cs typeface="Carlito" pitchFamily="34" charset="-120"/>
                        </a:rPr>
                        <a:t>✓</a:t>
                      </a:r>
                      <a:endParaRPr lang="en-US" sz="800" dirty="0">
                        <a:latin typeface="Carlito" charset="0"/>
                        <a:ea typeface="Carlito" charset="0"/>
                        <a:cs typeface="Carlito" charset="0"/>
                      </a:endParaRPr>
                    </a:p>
                  </a:txBody>
                  <a:tcPr marL="78581" marR="100013" marT="100013" marB="78581" anchor="ctr">
                    <a:lnL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7791F">
                        <a:alpha val="13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16305B"/>
                          </a:solidFill>
                          <a:latin typeface="Carlito" pitchFamily="34" charset="0"/>
                          <a:ea typeface="Carlito" pitchFamily="34" charset="-122"/>
                          <a:cs typeface="Carlito" pitchFamily="34" charset="-120"/>
                        </a:rPr>
                        <a:t>✓</a:t>
                      </a:r>
                      <a:endParaRPr lang="en-US" sz="800" dirty="0">
                        <a:latin typeface="Carlito" charset="0"/>
                        <a:ea typeface="Carlito" charset="0"/>
                        <a:cs typeface="Carlito" charset="0"/>
                      </a:endParaRPr>
                    </a:p>
                  </a:txBody>
                  <a:tcPr marL="78581" marR="100013" marT="100013" marB="78581" anchor="ctr">
                    <a:lnL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7791F">
                        <a:alpha val="13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16305B"/>
                          </a:solidFill>
                          <a:latin typeface="Carlito" pitchFamily="34" charset="0"/>
                          <a:ea typeface="Carlito" pitchFamily="34" charset="-122"/>
                          <a:cs typeface="Carlito" pitchFamily="34" charset="-120"/>
                        </a:rPr>
                        <a:t>full report</a:t>
                      </a:r>
                      <a:endParaRPr lang="en-US" sz="800" dirty="0">
                        <a:latin typeface="Carlito" charset="0"/>
                        <a:ea typeface="Carlito" charset="0"/>
                        <a:cs typeface="Carlito" charset="0"/>
                      </a:endParaRPr>
                    </a:p>
                  </a:txBody>
                  <a:tcPr marL="78581" marR="100013" marT="100013" marB="78581" anchor="ctr">
                    <a:lnL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7791F">
                        <a:alpha val="13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28625" y="371475"/>
            <a:ext cx="328613" cy="328613"/>
          </a:xfrm>
          <a:prstGeom prst="roundRect">
            <a:avLst>
              <a:gd name="adj" fmla="val 28985"/>
            </a:avLst>
          </a:prstGeom>
          <a:solidFill>
            <a:srgbClr val="B7791F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47725" y="423267"/>
            <a:ext cx="209513" cy="2430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772"/>
              </a:lnSpc>
              <a:buNone/>
            </a:pPr>
            <a:r>
              <a:rPr lang="en-US" sz="1181" b="1" dirty="0">
                <a:solidFill>
                  <a:srgbClr val="FFFFFF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5</a:t>
            </a:r>
            <a:endParaRPr lang="en-US" sz="1181" dirty="0"/>
          </a:p>
        </p:txBody>
      </p:sp>
      <p:sp>
        <p:nvSpPr>
          <p:cNvPr id="4" name="Text 2"/>
          <p:cNvSpPr/>
          <p:nvPr/>
        </p:nvSpPr>
        <p:spPr>
          <a:xfrm>
            <a:off x="885825" y="402171"/>
            <a:ext cx="2212470" cy="2884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04"/>
              </a:lnSpc>
              <a:buNone/>
            </a:pPr>
            <a:r>
              <a:rPr lang="en-US" sz="1913" b="1" dirty="0">
                <a:solidFill>
                  <a:srgbClr val="16305B"/>
                </a:solidFill>
                <a:latin typeface="Tinos" pitchFamily="34" charset="0"/>
                <a:ea typeface="Tinos" pitchFamily="34" charset="-122"/>
                <a:cs typeface="Tinos" pitchFamily="34" charset="-120"/>
              </a:rPr>
              <a:t>Proposed System</a:t>
            </a:r>
            <a:endParaRPr lang="en-US" sz="1913" dirty="0"/>
          </a:p>
        </p:txBody>
      </p:sp>
      <p:sp>
        <p:nvSpPr>
          <p:cNvPr id="5" name="Text 3"/>
          <p:cNvSpPr/>
          <p:nvPr/>
        </p:nvSpPr>
        <p:spPr>
          <a:xfrm>
            <a:off x="2784388" y="532209"/>
            <a:ext cx="5930987" cy="7144"/>
          </a:xfrm>
          <a:prstGeom prst="rect">
            <a:avLst/>
          </a:prstGeom>
          <a:solidFill>
            <a:srgbClr val="D9E2EF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428625" y="814388"/>
            <a:ext cx="8286750" cy="517922"/>
          </a:xfrm>
          <a:prstGeom prst="roundRect">
            <a:avLst>
              <a:gd name="adj" fmla="val 18391"/>
            </a:avLst>
          </a:prstGeom>
          <a:solidFill>
            <a:srgbClr val="F4F7FB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" name="Shape 5"/>
          <p:cNvSpPr/>
          <p:nvPr/>
        </p:nvSpPr>
        <p:spPr>
          <a:xfrm>
            <a:off x="428625" y="817959"/>
            <a:ext cx="8286750" cy="0"/>
          </a:xfrm>
          <a:prstGeom prst="line">
            <a:avLst/>
          </a:prstGeom>
          <a:noFill/>
          <a:ln w="7144">
            <a:solidFill>
              <a:srgbClr val="D9E2E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Shape 6"/>
          <p:cNvSpPr/>
          <p:nvPr/>
        </p:nvSpPr>
        <p:spPr>
          <a:xfrm>
            <a:off x="8711803" y="814388"/>
            <a:ext cx="0" cy="517922"/>
          </a:xfrm>
          <a:prstGeom prst="line">
            <a:avLst/>
          </a:prstGeom>
          <a:noFill/>
          <a:ln w="7144">
            <a:solidFill>
              <a:srgbClr val="D9E2E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" name="Shape 7"/>
          <p:cNvSpPr/>
          <p:nvPr/>
        </p:nvSpPr>
        <p:spPr>
          <a:xfrm>
            <a:off x="428625" y="1328738"/>
            <a:ext cx="8286750" cy="0"/>
          </a:xfrm>
          <a:prstGeom prst="line">
            <a:avLst/>
          </a:prstGeom>
          <a:noFill/>
          <a:ln w="7144">
            <a:solidFill>
              <a:srgbClr val="D9E2E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Shape 8"/>
          <p:cNvSpPr/>
          <p:nvPr/>
        </p:nvSpPr>
        <p:spPr>
          <a:xfrm>
            <a:off x="442913" y="814388"/>
            <a:ext cx="0" cy="517922"/>
          </a:xfrm>
          <a:prstGeom prst="line">
            <a:avLst/>
          </a:prstGeom>
          <a:noFill/>
          <a:ln w="28575">
            <a:solidFill>
              <a:srgbClr val="B7791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Text 9"/>
          <p:cNvSpPr/>
          <p:nvPr/>
        </p:nvSpPr>
        <p:spPr>
          <a:xfrm>
            <a:off x="585788" y="907256"/>
            <a:ext cx="7993856" cy="332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08"/>
              </a:lnSpc>
              <a:buNone/>
            </a:pPr>
            <a:r>
              <a:rPr lang="en-US" sz="872" dirty="0">
                <a:solidFill>
                  <a:srgbClr val="23304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A lightweight Java console application where </a:t>
            </a:r>
            <a:r>
              <a:rPr lang="en-US" sz="872" b="1" dirty="0">
                <a:solidFill>
                  <a:srgbClr val="16305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playing a song updates its counter automatically</a:t>
            </a:r>
            <a:r>
              <a:rPr lang="en-US" sz="872" dirty="0">
                <a:solidFill>
                  <a:srgbClr val="23304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, and a built-in </a:t>
            </a:r>
            <a:r>
              <a:rPr lang="en-US" sz="872" b="1" dirty="0">
                <a:solidFill>
                  <a:srgbClr val="16305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stats engine</a:t>
            </a:r>
            <a:r>
              <a:rPr lang="en-US" sz="872" dirty="0">
                <a:solidFill>
                  <a:srgbClr val="23304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summarises listening habits instantly — all data stored in a plain text file.</a:t>
            </a:r>
            <a:endParaRPr lang="en-US" sz="872" dirty="0"/>
          </a:p>
        </p:txBody>
      </p:sp>
      <p:sp>
        <p:nvSpPr>
          <p:cNvPr id="12" name="Text 10"/>
          <p:cNvSpPr/>
          <p:nvPr/>
        </p:nvSpPr>
        <p:spPr>
          <a:xfrm>
            <a:off x="428625" y="1446609"/>
            <a:ext cx="4282099" cy="12794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marL="0" indent="0" algn="l">
              <a:lnSpc>
                <a:spcPts val="886"/>
              </a:lnSpc>
              <a:buNone/>
            </a:pPr>
            <a:r>
              <a:rPr lang="en-US" sz="800" kern="0" spc="83" dirty="0">
                <a:solidFill>
                  <a:srgbClr val="5B6B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 ADVANTAGES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428625" y="1734592"/>
            <a:ext cx="300038" cy="300038"/>
          </a:xfrm>
          <a:prstGeom prst="roundRect">
            <a:avLst>
              <a:gd name="adj" fmla="val 34921"/>
            </a:avLst>
          </a:prstGeom>
          <a:solidFill>
            <a:srgbClr val="B7791F">
              <a:alpha val="12000"/>
            </a:srgbClr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464701" y="1770668"/>
            <a:ext cx="227886" cy="22788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47" dirty="0">
                <a:solidFill>
                  <a:srgbClr val="8A5A14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⚡</a:t>
            </a:r>
            <a:endParaRPr lang="en-US" sz="1547" dirty="0"/>
          </a:p>
        </p:txBody>
      </p:sp>
      <p:sp>
        <p:nvSpPr>
          <p:cNvPr id="15" name="Text 13"/>
          <p:cNvSpPr/>
          <p:nvPr/>
        </p:nvSpPr>
        <p:spPr>
          <a:xfrm>
            <a:off x="828675" y="1809490"/>
            <a:ext cx="2957513" cy="1708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23"/>
              </a:lnSpc>
              <a:buNone/>
            </a:pPr>
            <a:r>
              <a:rPr lang="en-US" sz="774" b="1" dirty="0">
                <a:solidFill>
                  <a:srgbClr val="16305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Automatic play counting</a:t>
            </a:r>
            <a:r>
              <a:rPr lang="en-US" sz="759" dirty="0">
                <a:solidFill>
                  <a:srgbClr val="5B6B84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— statistics are always current</a:t>
            </a:r>
            <a:endParaRPr lang="en-US" sz="759" dirty="0"/>
          </a:p>
        </p:txBody>
      </p:sp>
      <p:sp>
        <p:nvSpPr>
          <p:cNvPr id="16" name="Text 14"/>
          <p:cNvSpPr/>
          <p:nvPr/>
        </p:nvSpPr>
        <p:spPr>
          <a:xfrm>
            <a:off x="428625" y="2299953"/>
            <a:ext cx="300038" cy="300038"/>
          </a:xfrm>
          <a:prstGeom prst="roundRect">
            <a:avLst>
              <a:gd name="adj" fmla="val 34921"/>
            </a:avLst>
          </a:prstGeom>
          <a:solidFill>
            <a:srgbClr val="B7791F">
              <a:alpha val="12000"/>
            </a:srgbClr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464701" y="2336029"/>
            <a:ext cx="227886" cy="22788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47" dirty="0">
                <a:solidFill>
                  <a:srgbClr val="8A5A14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◌</a:t>
            </a:r>
            <a:endParaRPr lang="en-US" sz="1547" dirty="0"/>
          </a:p>
        </p:txBody>
      </p:sp>
      <p:sp>
        <p:nvSpPr>
          <p:cNvPr id="18" name="Text 16"/>
          <p:cNvSpPr/>
          <p:nvPr/>
        </p:nvSpPr>
        <p:spPr>
          <a:xfrm>
            <a:off x="828675" y="2374850"/>
            <a:ext cx="2957513" cy="1708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23"/>
              </a:lnSpc>
              <a:buNone/>
            </a:pPr>
            <a:r>
              <a:rPr lang="en-US" sz="774" b="1" dirty="0">
                <a:solidFill>
                  <a:srgbClr val="16305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Works fully offline</a:t>
            </a:r>
            <a:r>
              <a:rPr lang="en-US" sz="759" dirty="0">
                <a:solidFill>
                  <a:srgbClr val="5B6B84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— only a JDK is required, no database install</a:t>
            </a:r>
            <a:endParaRPr lang="en-US" sz="759" dirty="0"/>
          </a:p>
        </p:txBody>
      </p:sp>
      <p:sp>
        <p:nvSpPr>
          <p:cNvPr id="19" name="Text 17"/>
          <p:cNvSpPr/>
          <p:nvPr/>
        </p:nvSpPr>
        <p:spPr>
          <a:xfrm>
            <a:off x="428625" y="2865313"/>
            <a:ext cx="300038" cy="300038"/>
          </a:xfrm>
          <a:prstGeom prst="roundRect">
            <a:avLst>
              <a:gd name="adj" fmla="val 34921"/>
            </a:avLst>
          </a:prstGeom>
          <a:solidFill>
            <a:srgbClr val="B7791F">
              <a:alpha val="12000"/>
            </a:srgbClr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464701" y="2901389"/>
            <a:ext cx="227886" cy="22788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47" dirty="0">
                <a:solidFill>
                  <a:srgbClr val="8A5A14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⤓</a:t>
            </a:r>
            <a:endParaRPr lang="en-US" sz="1547" dirty="0"/>
          </a:p>
        </p:txBody>
      </p:sp>
      <p:sp>
        <p:nvSpPr>
          <p:cNvPr id="21" name="Text 19"/>
          <p:cNvSpPr/>
          <p:nvPr/>
        </p:nvSpPr>
        <p:spPr>
          <a:xfrm>
            <a:off x="828675" y="2870336"/>
            <a:ext cx="2957513" cy="3298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23"/>
              </a:lnSpc>
              <a:buNone/>
            </a:pPr>
            <a:r>
              <a:rPr lang="en-US" sz="816" b="1" dirty="0">
                <a:solidFill>
                  <a:srgbClr val="16305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Persistent storage</a:t>
            </a:r>
            <a:r>
              <a:rPr lang="en-US" sz="800" dirty="0">
                <a:solidFill>
                  <a:srgbClr val="5B6B84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— auto-saves to </a:t>
            </a:r>
            <a:r>
              <a:rPr lang="en-US" sz="800" dirty="0">
                <a:solidFill>
                  <a:srgbClr val="8A5A1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music_data.txt</a:t>
            </a:r>
            <a:r>
              <a:rPr lang="en-US" sz="800" dirty="0">
                <a:solidFill>
                  <a:srgbClr val="5B6B84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after every change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428625" y="3430674"/>
            <a:ext cx="300038" cy="300038"/>
          </a:xfrm>
          <a:prstGeom prst="roundRect">
            <a:avLst>
              <a:gd name="adj" fmla="val 34921"/>
            </a:avLst>
          </a:prstGeom>
          <a:solidFill>
            <a:srgbClr val="B7791F">
              <a:alpha val="12000"/>
            </a:srgbClr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464701" y="3466750"/>
            <a:ext cx="227886" cy="22788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47" dirty="0">
                <a:solidFill>
                  <a:srgbClr val="8A5A14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✦</a:t>
            </a:r>
            <a:endParaRPr lang="en-US" sz="1547" dirty="0"/>
          </a:p>
        </p:txBody>
      </p:sp>
      <p:sp>
        <p:nvSpPr>
          <p:cNvPr id="24" name="Text 22"/>
          <p:cNvSpPr/>
          <p:nvPr/>
        </p:nvSpPr>
        <p:spPr>
          <a:xfrm>
            <a:off x="828675" y="3505572"/>
            <a:ext cx="2957513" cy="1708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23"/>
              </a:lnSpc>
              <a:buNone/>
            </a:pPr>
            <a:r>
              <a:rPr lang="en-US" sz="774" b="1" dirty="0">
                <a:solidFill>
                  <a:srgbClr val="16305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Modular OOP design</a:t>
            </a:r>
            <a:r>
              <a:rPr lang="en-US" sz="759" dirty="0">
                <a:solidFill>
                  <a:srgbClr val="5B6B84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— 4 small classes, easy to read and extend</a:t>
            </a:r>
            <a:endParaRPr lang="en-US" sz="759" dirty="0"/>
          </a:p>
        </p:txBody>
      </p:sp>
      <p:sp>
        <p:nvSpPr>
          <p:cNvPr id="25" name="Text 23"/>
          <p:cNvSpPr/>
          <p:nvPr/>
        </p:nvSpPr>
        <p:spPr>
          <a:xfrm>
            <a:off x="428625" y="3996035"/>
            <a:ext cx="300038" cy="300038"/>
          </a:xfrm>
          <a:prstGeom prst="roundRect">
            <a:avLst>
              <a:gd name="adj" fmla="val 34921"/>
            </a:avLst>
          </a:prstGeom>
          <a:solidFill>
            <a:srgbClr val="B7791F">
              <a:alpha val="12000"/>
            </a:srgbClr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464701" y="4032111"/>
            <a:ext cx="227886" cy="22788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47" dirty="0">
                <a:solidFill>
                  <a:srgbClr val="8A5A14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▿</a:t>
            </a:r>
            <a:endParaRPr lang="en-US" sz="1547" dirty="0"/>
          </a:p>
        </p:txBody>
      </p:sp>
      <p:sp>
        <p:nvSpPr>
          <p:cNvPr id="27" name="Text 25"/>
          <p:cNvSpPr/>
          <p:nvPr/>
        </p:nvSpPr>
        <p:spPr>
          <a:xfrm>
            <a:off x="828675" y="4001058"/>
            <a:ext cx="2957513" cy="3298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23"/>
              </a:lnSpc>
              <a:buNone/>
            </a:pPr>
            <a:r>
              <a:rPr lang="en-US" sz="816" b="1" dirty="0">
                <a:solidFill>
                  <a:srgbClr val="16305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Beginner-friendly code</a:t>
            </a:r>
            <a:r>
              <a:rPr lang="en-US" sz="800" dirty="0">
                <a:solidFill>
                  <a:srgbClr val="5B6B84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— heavily commented for viva explanation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3989784" y="1450181"/>
            <a:ext cx="4722019" cy="2975372"/>
          </a:xfrm>
          <a:prstGeom prst="roundRect">
            <a:avLst>
              <a:gd name="adj" fmla="val 3201"/>
            </a:avLst>
          </a:prstGeom>
          <a:solidFill>
            <a:srgbClr val="FFFFFF"/>
          </a:solidFill>
          <a:ln w="7144">
            <a:solidFill>
              <a:srgbClr val="D9E2EF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9" name="Text 27"/>
          <p:cNvSpPr/>
          <p:nvPr/>
        </p:nvSpPr>
        <p:spPr>
          <a:xfrm>
            <a:off x="4121944" y="1575197"/>
            <a:ext cx="135731" cy="13573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336" dirty="0">
                <a:solidFill>
                  <a:srgbClr val="8A5A14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⇄</a:t>
            </a:r>
            <a:endParaRPr lang="en-US" sz="1336" dirty="0"/>
          </a:p>
        </p:txBody>
      </p:sp>
      <p:sp>
        <p:nvSpPr>
          <p:cNvPr id="30" name="Text 28"/>
          <p:cNvSpPr/>
          <p:nvPr/>
        </p:nvSpPr>
        <p:spPr>
          <a:xfrm>
            <a:off x="4321969" y="1546622"/>
            <a:ext cx="4257675" cy="20831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519"/>
              </a:lnSpc>
              <a:buNone/>
            </a:pPr>
            <a:r>
              <a:rPr lang="en-US" sz="1013" b="1" dirty="0">
                <a:solidFill>
                  <a:srgbClr val="16305B"/>
                </a:solidFill>
                <a:latin typeface="Tinos" pitchFamily="34" charset="0"/>
                <a:ea typeface="Tinos" pitchFamily="34" charset="-122"/>
                <a:cs typeface="Tinos" pitchFamily="34" charset="-120"/>
              </a:rPr>
              <a:t>Existing vs Proposed</a:t>
            </a:r>
            <a:endParaRPr lang="en-US" sz="1013" dirty="0"/>
          </a:p>
        </p:txBody>
      </p:sp>
      <p:sp>
        <p:nvSpPr>
          <p:cNvPr id="31" name="Text 29"/>
          <p:cNvSpPr/>
          <p:nvPr/>
        </p:nvSpPr>
        <p:spPr>
          <a:xfrm>
            <a:off x="3993356" y="1810941"/>
            <a:ext cx="4714875" cy="271463"/>
          </a:xfrm>
          <a:prstGeom prst="rect">
            <a:avLst/>
          </a:prstGeom>
          <a:solidFill>
            <a:srgbClr val="16305B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2" name="Text 30"/>
          <p:cNvSpPr/>
          <p:nvPr/>
        </p:nvSpPr>
        <p:spPr>
          <a:xfrm>
            <a:off x="3993356" y="1810941"/>
            <a:ext cx="1178719" cy="271463"/>
          </a:xfrm>
          <a:prstGeom prst="rect">
            <a:avLst/>
          </a:prstGeom>
          <a:noFill/>
          <a:ln/>
        </p:spPr>
        <p:txBody>
          <a:bodyPr wrap="none" lIns="114300" tIns="71438" rIns="114300" bIns="71438" rtlCol="0" anchor="t"/>
          <a:lstStyle/>
          <a:p>
            <a:pPr marL="0" indent="0" algn="l">
              <a:lnSpc>
                <a:spcPts val="1013"/>
              </a:lnSpc>
              <a:buNone/>
            </a:pPr>
            <a:r>
              <a:rPr lang="en-US" sz="800" kern="0" spc="34" dirty="0">
                <a:solidFill>
                  <a:srgbClr val="EAF0F9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Feature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5172075" y="1810941"/>
            <a:ext cx="1667954" cy="271463"/>
          </a:xfrm>
          <a:prstGeom prst="rect">
            <a:avLst/>
          </a:prstGeom>
          <a:noFill/>
          <a:ln/>
        </p:spPr>
        <p:txBody>
          <a:bodyPr wrap="none" lIns="114300" tIns="71438" rIns="114300" bIns="71438" rtlCol="0" anchor="t"/>
          <a:lstStyle/>
          <a:p>
            <a:pPr marL="0" indent="0" algn="l">
              <a:lnSpc>
                <a:spcPts val="1013"/>
              </a:lnSpc>
              <a:buNone/>
            </a:pPr>
            <a:r>
              <a:rPr lang="en-US" sz="800" kern="0" spc="34" dirty="0">
                <a:solidFill>
                  <a:srgbClr val="EAF0F9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Existing tools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6840029" y="1810941"/>
            <a:ext cx="1868202" cy="271463"/>
          </a:xfrm>
          <a:prstGeom prst="rect">
            <a:avLst/>
          </a:prstGeom>
          <a:solidFill>
            <a:srgbClr val="F2C879">
              <a:alpha val="14000"/>
            </a:srgbClr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5" name="Text 33"/>
          <p:cNvSpPr/>
          <p:nvPr/>
        </p:nvSpPr>
        <p:spPr>
          <a:xfrm>
            <a:off x="6840029" y="1810941"/>
            <a:ext cx="1868202" cy="271463"/>
          </a:xfrm>
          <a:prstGeom prst="rect">
            <a:avLst/>
          </a:prstGeom>
          <a:noFill/>
          <a:ln/>
        </p:spPr>
        <p:txBody>
          <a:bodyPr wrap="none" lIns="114300" tIns="71438" rIns="114300" bIns="71438" rtlCol="0" anchor="t"/>
          <a:lstStyle/>
          <a:p>
            <a:pPr marL="0" indent="0" algn="l">
              <a:lnSpc>
                <a:spcPts val="1013"/>
              </a:lnSpc>
              <a:buNone/>
            </a:pPr>
            <a:r>
              <a:rPr lang="en-US" sz="800" kern="0" spc="34" dirty="0">
                <a:solidFill>
                  <a:srgbClr val="F2C879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This project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3993356" y="2085975"/>
            <a:ext cx="4714875" cy="0"/>
          </a:xfrm>
          <a:prstGeom prst="line">
            <a:avLst/>
          </a:prstGeom>
          <a:noFill/>
          <a:ln w="7144">
            <a:solidFill>
              <a:srgbClr val="D9E2E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7" name="Text 35"/>
          <p:cNvSpPr/>
          <p:nvPr/>
        </p:nvSpPr>
        <p:spPr>
          <a:xfrm>
            <a:off x="3993356" y="2089547"/>
            <a:ext cx="1178719" cy="460772"/>
          </a:xfrm>
          <a:prstGeom prst="rect">
            <a:avLst/>
          </a:prstGeom>
          <a:noFill/>
          <a:ln/>
        </p:spPr>
        <p:txBody>
          <a:bodyPr wrap="none" lIns="114300" tIns="42863" rIns="114300" bIns="42863" rtlCol="0" anchor="t"/>
          <a:lstStyle/>
          <a:p>
            <a:pPr marL="0" indent="0" algn="l">
              <a:lnSpc>
                <a:spcPts val="987"/>
              </a:lnSpc>
              <a:buNone/>
            </a:pPr>
            <a:r>
              <a:rPr lang="en-US" sz="800" dirty="0">
                <a:solidFill>
                  <a:srgbClr val="23304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Play counting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5172075" y="2089547"/>
            <a:ext cx="1667954" cy="460772"/>
          </a:xfrm>
          <a:prstGeom prst="rect">
            <a:avLst/>
          </a:prstGeom>
          <a:noFill/>
          <a:ln/>
        </p:spPr>
        <p:txBody>
          <a:bodyPr wrap="none" lIns="114300" tIns="42863" rIns="114300" bIns="42863" rtlCol="0" anchor="t"/>
          <a:lstStyle/>
          <a:p>
            <a:pPr marL="0" indent="0" algn="l">
              <a:lnSpc>
                <a:spcPts val="987"/>
              </a:lnSpc>
              <a:buNone/>
            </a:pPr>
            <a:r>
              <a:rPr lang="en-US" sz="800" dirty="0">
                <a:solidFill>
                  <a:srgbClr val="5B6B84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Manual entry</a:t>
            </a:r>
            <a:endParaRPr lang="en-US" sz="800" dirty="0"/>
          </a:p>
        </p:txBody>
      </p:sp>
      <p:sp>
        <p:nvSpPr>
          <p:cNvPr id="39" name="Text 37"/>
          <p:cNvSpPr/>
          <p:nvPr/>
        </p:nvSpPr>
        <p:spPr>
          <a:xfrm>
            <a:off x="6840029" y="2089547"/>
            <a:ext cx="1868202" cy="460772"/>
          </a:xfrm>
          <a:prstGeom prst="rect">
            <a:avLst/>
          </a:prstGeom>
          <a:solidFill>
            <a:srgbClr val="B7791F">
              <a:alpha val="9000"/>
            </a:srgbClr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0" name="Text 38"/>
          <p:cNvSpPr/>
          <p:nvPr/>
        </p:nvSpPr>
        <p:spPr>
          <a:xfrm>
            <a:off x="6840029" y="2089547"/>
            <a:ext cx="1868202" cy="460772"/>
          </a:xfrm>
          <a:prstGeom prst="rect">
            <a:avLst/>
          </a:prstGeom>
          <a:noFill/>
          <a:ln/>
        </p:spPr>
        <p:txBody>
          <a:bodyPr wrap="none" lIns="114300" tIns="42863" rIns="114300" bIns="42863" rtlCol="0" anchor="t"/>
          <a:lstStyle/>
          <a:p>
            <a:pPr marL="0" indent="0" algn="l">
              <a:lnSpc>
                <a:spcPts val="987"/>
              </a:lnSpc>
              <a:buNone/>
            </a:pPr>
            <a:r>
              <a:rPr lang="en-US" sz="800" b="1" dirty="0">
                <a:solidFill>
                  <a:srgbClr val="16305B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Automatic (+1 per play)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3993356" y="2553891"/>
            <a:ext cx="4714875" cy="0"/>
          </a:xfrm>
          <a:prstGeom prst="line">
            <a:avLst/>
          </a:prstGeom>
          <a:noFill/>
          <a:ln w="7144">
            <a:solidFill>
              <a:srgbClr val="D9E2E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2" name="Text 40"/>
          <p:cNvSpPr/>
          <p:nvPr/>
        </p:nvSpPr>
        <p:spPr>
          <a:xfrm>
            <a:off x="3993356" y="2557463"/>
            <a:ext cx="1178719" cy="460772"/>
          </a:xfrm>
          <a:prstGeom prst="rect">
            <a:avLst/>
          </a:prstGeom>
          <a:noFill/>
          <a:ln/>
        </p:spPr>
        <p:txBody>
          <a:bodyPr wrap="none" lIns="114300" tIns="42863" rIns="114300" bIns="42863" rtlCol="0" anchor="t"/>
          <a:lstStyle/>
          <a:p>
            <a:pPr marL="0" indent="0" algn="l">
              <a:lnSpc>
                <a:spcPts val="987"/>
              </a:lnSpc>
              <a:buNone/>
            </a:pPr>
            <a:r>
              <a:rPr lang="en-US" sz="800" dirty="0">
                <a:solidFill>
                  <a:srgbClr val="23304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Internet needed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5172075" y="2557463"/>
            <a:ext cx="1667954" cy="460772"/>
          </a:xfrm>
          <a:prstGeom prst="rect">
            <a:avLst/>
          </a:prstGeom>
          <a:noFill/>
          <a:ln/>
        </p:spPr>
        <p:txBody>
          <a:bodyPr wrap="none" lIns="114300" tIns="42863" rIns="114300" bIns="42863" rtlCol="0" anchor="t"/>
          <a:lstStyle/>
          <a:p>
            <a:pPr marL="0" indent="0" algn="l">
              <a:lnSpc>
                <a:spcPts val="987"/>
              </a:lnSpc>
              <a:buNone/>
            </a:pPr>
            <a:r>
              <a:rPr lang="en-US" sz="800" dirty="0">
                <a:solidFill>
                  <a:srgbClr val="5B6B84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Often (streaming apps)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6840029" y="2557463"/>
            <a:ext cx="1868202" cy="460772"/>
          </a:xfrm>
          <a:prstGeom prst="rect">
            <a:avLst/>
          </a:prstGeom>
          <a:solidFill>
            <a:srgbClr val="B7791F">
              <a:alpha val="9000"/>
            </a:srgbClr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5" name="Text 43"/>
          <p:cNvSpPr/>
          <p:nvPr/>
        </p:nvSpPr>
        <p:spPr>
          <a:xfrm>
            <a:off x="6840029" y="2557463"/>
            <a:ext cx="1868202" cy="460772"/>
          </a:xfrm>
          <a:prstGeom prst="rect">
            <a:avLst/>
          </a:prstGeom>
          <a:noFill/>
          <a:ln/>
        </p:spPr>
        <p:txBody>
          <a:bodyPr wrap="none" lIns="114300" tIns="42863" rIns="114300" bIns="42863" rtlCol="0" anchor="t"/>
          <a:lstStyle/>
          <a:p>
            <a:pPr marL="0" indent="0" algn="l">
              <a:lnSpc>
                <a:spcPts val="987"/>
              </a:lnSpc>
              <a:buNone/>
            </a:pPr>
            <a:r>
              <a:rPr lang="en-US" sz="800" b="1" dirty="0">
                <a:solidFill>
                  <a:srgbClr val="16305B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Never — 100% offline</a:t>
            </a:r>
            <a:endParaRPr lang="en-US" sz="800" dirty="0"/>
          </a:p>
        </p:txBody>
      </p:sp>
      <p:sp>
        <p:nvSpPr>
          <p:cNvPr id="46" name="Shape 44"/>
          <p:cNvSpPr/>
          <p:nvPr/>
        </p:nvSpPr>
        <p:spPr>
          <a:xfrm>
            <a:off x="3993356" y="3021806"/>
            <a:ext cx="4714875" cy="0"/>
          </a:xfrm>
          <a:prstGeom prst="line">
            <a:avLst/>
          </a:prstGeom>
          <a:noFill/>
          <a:ln w="7144">
            <a:solidFill>
              <a:srgbClr val="D9E2E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7" name="Text 45"/>
          <p:cNvSpPr/>
          <p:nvPr/>
        </p:nvSpPr>
        <p:spPr>
          <a:xfrm>
            <a:off x="3993356" y="3025378"/>
            <a:ext cx="1178719" cy="460772"/>
          </a:xfrm>
          <a:prstGeom prst="rect">
            <a:avLst/>
          </a:prstGeom>
          <a:noFill/>
          <a:ln/>
        </p:spPr>
        <p:txBody>
          <a:bodyPr wrap="none" lIns="114300" tIns="42863" rIns="114300" bIns="42863" rtlCol="0" anchor="t"/>
          <a:lstStyle/>
          <a:p>
            <a:pPr marL="0" indent="0" algn="l">
              <a:lnSpc>
                <a:spcPts val="987"/>
              </a:lnSpc>
              <a:buNone/>
            </a:pPr>
            <a:r>
              <a:rPr lang="en-US" sz="800" dirty="0">
                <a:solidFill>
                  <a:srgbClr val="23304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Storage</a:t>
            </a:r>
            <a:endParaRPr lang="en-US" sz="800" dirty="0"/>
          </a:p>
        </p:txBody>
      </p:sp>
      <p:sp>
        <p:nvSpPr>
          <p:cNvPr id="48" name="Text 46"/>
          <p:cNvSpPr/>
          <p:nvPr/>
        </p:nvSpPr>
        <p:spPr>
          <a:xfrm>
            <a:off x="5172075" y="3025378"/>
            <a:ext cx="1667954" cy="460772"/>
          </a:xfrm>
          <a:prstGeom prst="rect">
            <a:avLst/>
          </a:prstGeom>
          <a:noFill/>
          <a:ln/>
        </p:spPr>
        <p:txBody>
          <a:bodyPr wrap="none" lIns="114300" tIns="42863" rIns="114300" bIns="42863" rtlCol="0" anchor="t"/>
          <a:lstStyle/>
          <a:p>
            <a:pPr marL="0" indent="0" algn="l">
              <a:lnSpc>
                <a:spcPts val="987"/>
              </a:lnSpc>
              <a:buNone/>
            </a:pPr>
            <a:r>
              <a:rPr lang="en-US" sz="800" dirty="0">
                <a:solidFill>
                  <a:srgbClr val="5B6B84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Cloud / app account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6840029" y="3025378"/>
            <a:ext cx="1868202" cy="460772"/>
          </a:xfrm>
          <a:prstGeom prst="rect">
            <a:avLst/>
          </a:prstGeom>
          <a:solidFill>
            <a:srgbClr val="B7791F">
              <a:alpha val="9000"/>
            </a:srgbClr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0" name="Text 48"/>
          <p:cNvSpPr/>
          <p:nvPr/>
        </p:nvSpPr>
        <p:spPr>
          <a:xfrm>
            <a:off x="6840029" y="3025378"/>
            <a:ext cx="1868202" cy="460772"/>
          </a:xfrm>
          <a:prstGeom prst="rect">
            <a:avLst/>
          </a:prstGeom>
          <a:noFill/>
          <a:ln/>
        </p:spPr>
        <p:txBody>
          <a:bodyPr wrap="none" lIns="114300" tIns="42863" rIns="114300" bIns="42863" rtlCol="0" anchor="t"/>
          <a:lstStyle/>
          <a:p>
            <a:pPr marL="0" indent="0" algn="l">
              <a:lnSpc>
                <a:spcPts val="987"/>
              </a:lnSpc>
              <a:buNone/>
            </a:pPr>
            <a:r>
              <a:rPr lang="en-US" sz="800" b="1" dirty="0">
                <a:solidFill>
                  <a:srgbClr val="16305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Local text file, portable</a:t>
            </a:r>
            <a:endParaRPr lang="en-US" sz="800" dirty="0"/>
          </a:p>
        </p:txBody>
      </p:sp>
      <p:sp>
        <p:nvSpPr>
          <p:cNvPr id="51" name="Shape 49"/>
          <p:cNvSpPr/>
          <p:nvPr/>
        </p:nvSpPr>
        <p:spPr>
          <a:xfrm>
            <a:off x="3993356" y="3489722"/>
            <a:ext cx="4714875" cy="0"/>
          </a:xfrm>
          <a:prstGeom prst="line">
            <a:avLst/>
          </a:prstGeom>
          <a:noFill/>
          <a:ln w="7144">
            <a:solidFill>
              <a:srgbClr val="D9E2E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2" name="Text 50"/>
          <p:cNvSpPr/>
          <p:nvPr/>
        </p:nvSpPr>
        <p:spPr>
          <a:xfrm>
            <a:off x="3993356" y="3493294"/>
            <a:ext cx="1178719" cy="460772"/>
          </a:xfrm>
          <a:prstGeom prst="rect">
            <a:avLst/>
          </a:prstGeom>
          <a:noFill/>
          <a:ln/>
        </p:spPr>
        <p:txBody>
          <a:bodyPr wrap="none" lIns="114300" tIns="42863" rIns="114300" bIns="42863" rtlCol="0" anchor="t"/>
          <a:lstStyle/>
          <a:p>
            <a:pPr marL="0" indent="0" algn="l">
              <a:lnSpc>
                <a:spcPts val="987"/>
              </a:lnSpc>
              <a:buNone/>
            </a:pPr>
            <a:r>
              <a:rPr lang="en-US" sz="800" dirty="0">
                <a:solidFill>
                  <a:srgbClr val="23304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Statistics</a:t>
            </a:r>
            <a:endParaRPr lang="en-US" sz="800" dirty="0"/>
          </a:p>
        </p:txBody>
      </p:sp>
      <p:sp>
        <p:nvSpPr>
          <p:cNvPr id="53" name="Text 51"/>
          <p:cNvSpPr/>
          <p:nvPr/>
        </p:nvSpPr>
        <p:spPr>
          <a:xfrm>
            <a:off x="5172075" y="3493294"/>
            <a:ext cx="1667954" cy="460772"/>
          </a:xfrm>
          <a:prstGeom prst="rect">
            <a:avLst/>
          </a:prstGeom>
          <a:noFill/>
          <a:ln/>
        </p:spPr>
        <p:txBody>
          <a:bodyPr wrap="none" lIns="114300" tIns="42863" rIns="114300" bIns="42863" rtlCol="0" anchor="t"/>
          <a:lstStyle/>
          <a:p>
            <a:pPr marL="0" indent="0" algn="l">
              <a:lnSpc>
                <a:spcPts val="987"/>
              </a:lnSpc>
              <a:buNone/>
            </a:pPr>
            <a:r>
              <a:rPr lang="en-US" sz="800" dirty="0">
                <a:solidFill>
                  <a:srgbClr val="5B6B84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Limited, app-defined</a:t>
            </a:r>
            <a:endParaRPr lang="en-US" sz="800" dirty="0"/>
          </a:p>
        </p:txBody>
      </p:sp>
      <p:sp>
        <p:nvSpPr>
          <p:cNvPr id="54" name="Text 52"/>
          <p:cNvSpPr/>
          <p:nvPr/>
        </p:nvSpPr>
        <p:spPr>
          <a:xfrm>
            <a:off x="6840029" y="3493294"/>
            <a:ext cx="1868202" cy="460772"/>
          </a:xfrm>
          <a:prstGeom prst="rect">
            <a:avLst/>
          </a:prstGeom>
          <a:solidFill>
            <a:srgbClr val="B7791F">
              <a:alpha val="9000"/>
            </a:srgbClr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5" name="Text 53"/>
          <p:cNvSpPr/>
          <p:nvPr/>
        </p:nvSpPr>
        <p:spPr>
          <a:xfrm>
            <a:off x="6840029" y="3493294"/>
            <a:ext cx="1868202" cy="460772"/>
          </a:xfrm>
          <a:prstGeom prst="rect">
            <a:avLst/>
          </a:prstGeom>
          <a:noFill/>
          <a:ln/>
        </p:spPr>
        <p:txBody>
          <a:bodyPr wrap="none" lIns="114300" tIns="42863" rIns="114300" bIns="42863" rtlCol="0" anchor="t"/>
          <a:lstStyle/>
          <a:p>
            <a:pPr marL="0" indent="0" algn="l">
              <a:lnSpc>
                <a:spcPts val="987"/>
              </a:lnSpc>
              <a:buNone/>
            </a:pPr>
            <a:r>
              <a:rPr lang="en-US" sz="800" b="1" dirty="0">
                <a:solidFill>
                  <a:srgbClr val="16305B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Full local report + Top-5</a:t>
            </a:r>
            <a:endParaRPr lang="en-US" sz="800" dirty="0"/>
          </a:p>
        </p:txBody>
      </p:sp>
      <p:sp>
        <p:nvSpPr>
          <p:cNvPr id="56" name="Shape 54"/>
          <p:cNvSpPr/>
          <p:nvPr/>
        </p:nvSpPr>
        <p:spPr>
          <a:xfrm>
            <a:off x="3993356" y="3957638"/>
            <a:ext cx="4714875" cy="0"/>
          </a:xfrm>
          <a:prstGeom prst="line">
            <a:avLst/>
          </a:prstGeom>
          <a:noFill/>
          <a:ln w="7144">
            <a:solidFill>
              <a:srgbClr val="D9E2E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7" name="Text 55"/>
          <p:cNvSpPr/>
          <p:nvPr/>
        </p:nvSpPr>
        <p:spPr>
          <a:xfrm>
            <a:off x="3993356" y="3961209"/>
            <a:ext cx="1178719" cy="460772"/>
          </a:xfrm>
          <a:prstGeom prst="rect">
            <a:avLst/>
          </a:prstGeom>
          <a:noFill/>
          <a:ln/>
        </p:spPr>
        <p:txBody>
          <a:bodyPr wrap="none" lIns="114300" tIns="42863" rIns="114300" bIns="42863" rtlCol="0" anchor="t"/>
          <a:lstStyle/>
          <a:p>
            <a:pPr marL="0" indent="0" algn="l">
              <a:lnSpc>
                <a:spcPts val="987"/>
              </a:lnSpc>
              <a:buNone/>
            </a:pPr>
            <a:r>
              <a:rPr lang="en-US" sz="800" dirty="0">
                <a:solidFill>
                  <a:srgbClr val="23304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Source code control</a:t>
            </a:r>
            <a:endParaRPr lang="en-US" sz="800" dirty="0"/>
          </a:p>
        </p:txBody>
      </p:sp>
      <p:sp>
        <p:nvSpPr>
          <p:cNvPr id="58" name="Text 56"/>
          <p:cNvSpPr/>
          <p:nvPr/>
        </p:nvSpPr>
        <p:spPr>
          <a:xfrm>
            <a:off x="5172075" y="3961209"/>
            <a:ext cx="1667954" cy="460772"/>
          </a:xfrm>
          <a:prstGeom prst="rect">
            <a:avLst/>
          </a:prstGeom>
          <a:noFill/>
          <a:ln/>
        </p:spPr>
        <p:txBody>
          <a:bodyPr wrap="none" lIns="114300" tIns="42863" rIns="114300" bIns="42863" rtlCol="0" anchor="t"/>
          <a:lstStyle/>
          <a:p>
            <a:pPr marL="0" indent="0" algn="l">
              <a:lnSpc>
                <a:spcPts val="987"/>
              </a:lnSpc>
              <a:buNone/>
            </a:pPr>
            <a:r>
              <a:rPr lang="en-US" sz="800" dirty="0">
                <a:solidFill>
                  <a:srgbClr val="5B6B84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Closed</a:t>
            </a:r>
            <a:endParaRPr lang="en-US" sz="800" dirty="0"/>
          </a:p>
        </p:txBody>
      </p:sp>
      <p:sp>
        <p:nvSpPr>
          <p:cNvPr id="59" name="Text 57"/>
          <p:cNvSpPr/>
          <p:nvPr/>
        </p:nvSpPr>
        <p:spPr>
          <a:xfrm>
            <a:off x="6840029" y="3961209"/>
            <a:ext cx="1868202" cy="460772"/>
          </a:xfrm>
          <a:prstGeom prst="rect">
            <a:avLst/>
          </a:prstGeom>
          <a:solidFill>
            <a:srgbClr val="B7791F">
              <a:alpha val="9000"/>
            </a:srgbClr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0" name="Text 58"/>
          <p:cNvSpPr/>
          <p:nvPr/>
        </p:nvSpPr>
        <p:spPr>
          <a:xfrm>
            <a:off x="6840029" y="3961209"/>
            <a:ext cx="1868202" cy="460772"/>
          </a:xfrm>
          <a:prstGeom prst="rect">
            <a:avLst/>
          </a:prstGeom>
          <a:noFill/>
          <a:ln/>
        </p:spPr>
        <p:txBody>
          <a:bodyPr wrap="none" lIns="114300" tIns="42863" rIns="114300" bIns="42863" rtlCol="0" anchor="t"/>
          <a:lstStyle/>
          <a:p>
            <a:pPr marL="0" indent="0" algn="l">
              <a:lnSpc>
                <a:spcPts val="987"/>
              </a:lnSpc>
              <a:buNone/>
            </a:pPr>
            <a:r>
              <a:rPr lang="en-US" sz="800" b="1" dirty="0">
                <a:solidFill>
                  <a:srgbClr val="16305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Open, simple Java classes</a:t>
            </a:r>
            <a:endParaRPr lang="en-US" sz="800" dirty="0"/>
          </a:p>
        </p:txBody>
      </p:sp>
      <p:sp>
        <p:nvSpPr>
          <p:cNvPr id="61" name="Text 59"/>
          <p:cNvSpPr/>
          <p:nvPr/>
        </p:nvSpPr>
        <p:spPr>
          <a:xfrm>
            <a:off x="428625" y="4529138"/>
            <a:ext cx="4086225" cy="300038"/>
          </a:xfrm>
          <a:prstGeom prst="roundRect">
            <a:avLst>
              <a:gd name="adj" fmla="val 31746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2" name="Shape 60"/>
          <p:cNvSpPr/>
          <p:nvPr/>
        </p:nvSpPr>
        <p:spPr>
          <a:xfrm>
            <a:off x="428625" y="4532709"/>
            <a:ext cx="4086225" cy="0"/>
          </a:xfrm>
          <a:prstGeom prst="line">
            <a:avLst/>
          </a:prstGeom>
          <a:noFill/>
          <a:ln w="7144">
            <a:solidFill>
              <a:srgbClr val="D9E2E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3" name="Shape 61"/>
          <p:cNvSpPr/>
          <p:nvPr/>
        </p:nvSpPr>
        <p:spPr>
          <a:xfrm>
            <a:off x="4511278" y="4529138"/>
            <a:ext cx="0" cy="300038"/>
          </a:xfrm>
          <a:prstGeom prst="line">
            <a:avLst/>
          </a:prstGeom>
          <a:noFill/>
          <a:ln w="7144">
            <a:solidFill>
              <a:srgbClr val="D9E2E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4" name="Shape 62"/>
          <p:cNvSpPr/>
          <p:nvPr/>
        </p:nvSpPr>
        <p:spPr>
          <a:xfrm>
            <a:off x="428625" y="4825603"/>
            <a:ext cx="4086225" cy="0"/>
          </a:xfrm>
          <a:prstGeom prst="line">
            <a:avLst/>
          </a:prstGeom>
          <a:noFill/>
          <a:ln w="7144">
            <a:solidFill>
              <a:srgbClr val="D9E2E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5" name="Shape 63"/>
          <p:cNvSpPr/>
          <p:nvPr/>
        </p:nvSpPr>
        <p:spPr>
          <a:xfrm>
            <a:off x="442913" y="4529138"/>
            <a:ext cx="0" cy="300038"/>
          </a:xfrm>
          <a:prstGeom prst="line">
            <a:avLst/>
          </a:prstGeom>
          <a:noFill/>
          <a:ln w="28575">
            <a:solidFill>
              <a:srgbClr val="B7791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6" name="Text 64"/>
          <p:cNvSpPr/>
          <p:nvPr/>
        </p:nvSpPr>
        <p:spPr>
          <a:xfrm>
            <a:off x="571500" y="4600575"/>
            <a:ext cx="157163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47" dirty="0">
                <a:solidFill>
                  <a:srgbClr val="8A5A14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⚡</a:t>
            </a:r>
            <a:endParaRPr lang="en-US" sz="1547" dirty="0"/>
          </a:p>
        </p:txBody>
      </p:sp>
      <p:sp>
        <p:nvSpPr>
          <p:cNvPr id="67" name="Text 65"/>
          <p:cNvSpPr/>
          <p:nvPr/>
        </p:nvSpPr>
        <p:spPr>
          <a:xfrm>
            <a:off x="814388" y="4614193"/>
            <a:ext cx="3579019" cy="1435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24"/>
              </a:lnSpc>
              <a:buNone/>
            </a:pPr>
            <a:r>
              <a:rPr lang="en-US" sz="731" b="1" dirty="0">
                <a:solidFill>
                  <a:srgbClr val="16305B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Pillar 1 · Automation</a:t>
            </a:r>
            <a:r>
              <a:rPr lang="en-US" sz="731" dirty="0">
                <a:solidFill>
                  <a:srgbClr val="5B6B84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— every play updates the counters with zero manual entry.</a:t>
            </a:r>
            <a:endParaRPr lang="en-US" sz="731" dirty="0"/>
          </a:p>
        </p:txBody>
      </p:sp>
      <p:sp>
        <p:nvSpPr>
          <p:cNvPr id="68" name="Text 66"/>
          <p:cNvSpPr/>
          <p:nvPr/>
        </p:nvSpPr>
        <p:spPr>
          <a:xfrm>
            <a:off x="4629150" y="4529138"/>
            <a:ext cx="4086225" cy="300038"/>
          </a:xfrm>
          <a:prstGeom prst="roundRect">
            <a:avLst>
              <a:gd name="adj" fmla="val 31746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9" name="Shape 67"/>
          <p:cNvSpPr/>
          <p:nvPr/>
        </p:nvSpPr>
        <p:spPr>
          <a:xfrm>
            <a:off x="4629150" y="4532709"/>
            <a:ext cx="4086225" cy="0"/>
          </a:xfrm>
          <a:prstGeom prst="line">
            <a:avLst/>
          </a:prstGeom>
          <a:noFill/>
          <a:ln w="7144">
            <a:solidFill>
              <a:srgbClr val="D9E2E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0" name="Shape 68"/>
          <p:cNvSpPr/>
          <p:nvPr/>
        </p:nvSpPr>
        <p:spPr>
          <a:xfrm>
            <a:off x="8711803" y="4529138"/>
            <a:ext cx="0" cy="300038"/>
          </a:xfrm>
          <a:prstGeom prst="line">
            <a:avLst/>
          </a:prstGeom>
          <a:noFill/>
          <a:ln w="7144">
            <a:solidFill>
              <a:srgbClr val="D9E2E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1" name="Shape 69"/>
          <p:cNvSpPr/>
          <p:nvPr/>
        </p:nvSpPr>
        <p:spPr>
          <a:xfrm>
            <a:off x="4629150" y="4825603"/>
            <a:ext cx="4086225" cy="0"/>
          </a:xfrm>
          <a:prstGeom prst="line">
            <a:avLst/>
          </a:prstGeom>
          <a:noFill/>
          <a:ln w="7144">
            <a:solidFill>
              <a:srgbClr val="D9E2E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2" name="Shape 70"/>
          <p:cNvSpPr/>
          <p:nvPr/>
        </p:nvSpPr>
        <p:spPr>
          <a:xfrm>
            <a:off x="4643438" y="4529138"/>
            <a:ext cx="0" cy="300038"/>
          </a:xfrm>
          <a:prstGeom prst="line">
            <a:avLst/>
          </a:prstGeom>
          <a:noFill/>
          <a:ln w="28575">
            <a:solidFill>
              <a:srgbClr val="B7791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3" name="Text 71"/>
          <p:cNvSpPr/>
          <p:nvPr/>
        </p:nvSpPr>
        <p:spPr>
          <a:xfrm>
            <a:off x="4772025" y="4600575"/>
            <a:ext cx="157163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47" dirty="0">
                <a:solidFill>
                  <a:srgbClr val="8A5A14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⤓</a:t>
            </a:r>
            <a:endParaRPr lang="en-US" sz="1547" dirty="0"/>
          </a:p>
        </p:txBody>
      </p:sp>
      <p:sp>
        <p:nvSpPr>
          <p:cNvPr id="74" name="Text 72"/>
          <p:cNvSpPr/>
          <p:nvPr/>
        </p:nvSpPr>
        <p:spPr>
          <a:xfrm>
            <a:off x="5014913" y="4614193"/>
            <a:ext cx="3579019" cy="1435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24"/>
              </a:lnSpc>
              <a:buNone/>
            </a:pPr>
            <a:r>
              <a:rPr lang="en-US" sz="731" b="1" dirty="0">
                <a:solidFill>
                  <a:srgbClr val="16305B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Pillar 2 · Persistence</a:t>
            </a:r>
            <a:r>
              <a:rPr lang="en-US" sz="731" dirty="0">
                <a:solidFill>
                  <a:srgbClr val="5B6B84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— every change is saved to </a:t>
            </a:r>
            <a:r>
              <a:rPr lang="en-US" sz="731" dirty="0">
                <a:solidFill>
                  <a:srgbClr val="5B6B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music_data.txt</a:t>
            </a:r>
            <a:r>
              <a:rPr lang="en-US" sz="731" dirty="0">
                <a:solidFill>
                  <a:srgbClr val="5B6B84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on the spot.</a:t>
            </a:r>
            <a:endParaRPr lang="en-US" sz="731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28625" y="371475"/>
            <a:ext cx="328613" cy="328613"/>
          </a:xfrm>
          <a:prstGeom prst="roundRect">
            <a:avLst>
              <a:gd name="adj" fmla="val 28985"/>
            </a:avLst>
          </a:prstGeom>
          <a:solidFill>
            <a:srgbClr val="B7791F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47725" y="423267"/>
            <a:ext cx="209513" cy="2430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772"/>
              </a:lnSpc>
              <a:buNone/>
            </a:pPr>
            <a:r>
              <a:rPr lang="en-US" sz="1181" b="1" dirty="0">
                <a:solidFill>
                  <a:srgbClr val="FFFFFF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6</a:t>
            </a:r>
            <a:endParaRPr lang="en-US" sz="1181" dirty="0"/>
          </a:p>
        </p:txBody>
      </p:sp>
      <p:sp>
        <p:nvSpPr>
          <p:cNvPr id="4" name="Text 2"/>
          <p:cNvSpPr/>
          <p:nvPr/>
        </p:nvSpPr>
        <p:spPr>
          <a:xfrm>
            <a:off x="885825" y="402171"/>
            <a:ext cx="2627840" cy="2884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04"/>
              </a:lnSpc>
              <a:buNone/>
            </a:pPr>
            <a:r>
              <a:rPr lang="en-US" sz="1913" b="1" dirty="0">
                <a:solidFill>
                  <a:srgbClr val="16305B"/>
                </a:solidFill>
                <a:latin typeface="Tinos" pitchFamily="34" charset="0"/>
                <a:ea typeface="Tinos" pitchFamily="34" charset="-122"/>
                <a:cs typeface="Tinos" pitchFamily="34" charset="-120"/>
              </a:rPr>
              <a:t>System Architecture</a:t>
            </a:r>
            <a:endParaRPr lang="en-US" sz="1913" dirty="0"/>
          </a:p>
        </p:txBody>
      </p:sp>
      <p:sp>
        <p:nvSpPr>
          <p:cNvPr id="5" name="Text 3"/>
          <p:cNvSpPr/>
          <p:nvPr/>
        </p:nvSpPr>
        <p:spPr>
          <a:xfrm>
            <a:off x="3116684" y="532209"/>
            <a:ext cx="5598691" cy="7144"/>
          </a:xfrm>
          <a:prstGeom prst="rect">
            <a:avLst/>
          </a:prstGeom>
          <a:solidFill>
            <a:srgbClr val="D9E2EF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2181284D-C2BC-C670-EE7A-79B20AD3086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830126"/>
            <a:ext cx="9144000" cy="429551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28625" y="371475"/>
            <a:ext cx="328613" cy="328613"/>
          </a:xfrm>
          <a:prstGeom prst="roundRect">
            <a:avLst>
              <a:gd name="adj" fmla="val 28985"/>
            </a:avLst>
          </a:prstGeom>
          <a:solidFill>
            <a:srgbClr val="B7791F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47725" y="423267"/>
            <a:ext cx="209513" cy="2430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772"/>
              </a:lnSpc>
              <a:buNone/>
            </a:pPr>
            <a:r>
              <a:rPr lang="en-US" sz="1181" b="1" dirty="0">
                <a:solidFill>
                  <a:srgbClr val="FFFFFF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7</a:t>
            </a:r>
            <a:endParaRPr lang="en-US" sz="1181" dirty="0"/>
          </a:p>
        </p:txBody>
      </p:sp>
      <p:sp>
        <p:nvSpPr>
          <p:cNvPr id="4" name="Text 2"/>
          <p:cNvSpPr/>
          <p:nvPr/>
        </p:nvSpPr>
        <p:spPr>
          <a:xfrm>
            <a:off x="885825" y="402171"/>
            <a:ext cx="1922952" cy="2884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04"/>
              </a:lnSpc>
              <a:buNone/>
            </a:pPr>
            <a:r>
              <a:rPr lang="en-US" sz="1913" b="1" dirty="0">
                <a:solidFill>
                  <a:srgbClr val="16305B"/>
                </a:solidFill>
                <a:latin typeface="Tinos" pitchFamily="34" charset="0"/>
                <a:ea typeface="Tinos" pitchFamily="34" charset="-122"/>
                <a:cs typeface="Tinos" pitchFamily="34" charset="-120"/>
              </a:rPr>
              <a:t>Functionalities</a:t>
            </a:r>
            <a:endParaRPr lang="en-US" sz="1913" dirty="0"/>
          </a:p>
        </p:txBody>
      </p:sp>
      <p:sp>
        <p:nvSpPr>
          <p:cNvPr id="5" name="Text 3"/>
          <p:cNvSpPr/>
          <p:nvPr/>
        </p:nvSpPr>
        <p:spPr>
          <a:xfrm>
            <a:off x="2552774" y="532209"/>
            <a:ext cx="6162601" cy="7144"/>
          </a:xfrm>
          <a:prstGeom prst="rect">
            <a:avLst/>
          </a:prstGeom>
          <a:solidFill>
            <a:srgbClr val="D9E2EF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428625" y="800100"/>
            <a:ext cx="6903095" cy="1565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42"/>
              </a:lnSpc>
              <a:buNone/>
            </a:pPr>
            <a:r>
              <a:rPr lang="en-US" sz="816" dirty="0">
                <a:solidFill>
                  <a:srgbClr val="23304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Eight menu options cover the complete workflow — </a:t>
            </a:r>
            <a:r>
              <a:rPr lang="en-US" sz="816" b="1" dirty="0">
                <a:solidFill>
                  <a:srgbClr val="16305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each maps to one menu number the user types</a:t>
            </a:r>
            <a:r>
              <a:rPr lang="en-US" sz="816" dirty="0">
                <a:solidFill>
                  <a:srgbClr val="23304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.</a:t>
            </a:r>
            <a:endParaRPr lang="en-US" sz="816" dirty="0"/>
          </a:p>
        </p:txBody>
      </p:sp>
      <p:sp>
        <p:nvSpPr>
          <p:cNvPr id="7" name="Text 5"/>
          <p:cNvSpPr/>
          <p:nvPr/>
        </p:nvSpPr>
        <p:spPr>
          <a:xfrm>
            <a:off x="7346007" y="818964"/>
            <a:ext cx="107156" cy="1071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055" dirty="0">
                <a:solidFill>
                  <a:srgbClr val="8A5A14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★</a:t>
            </a:r>
            <a:endParaRPr lang="en-US" sz="1055" dirty="0"/>
          </a:p>
        </p:txBody>
      </p:sp>
      <p:sp>
        <p:nvSpPr>
          <p:cNvPr id="8" name="Text 6"/>
          <p:cNvSpPr/>
          <p:nvPr/>
        </p:nvSpPr>
        <p:spPr>
          <a:xfrm>
            <a:off x="7496026" y="810927"/>
            <a:ext cx="1316897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970"/>
              </a:lnSpc>
              <a:buNone/>
            </a:pPr>
            <a:r>
              <a:rPr lang="en-US" sz="647" dirty="0">
                <a:solidFill>
                  <a:srgbClr val="5B6B84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Gold border — signature features</a:t>
            </a:r>
            <a:endParaRPr lang="en-US" sz="647" dirty="0"/>
          </a:p>
        </p:txBody>
      </p:sp>
      <p:sp>
        <p:nvSpPr>
          <p:cNvPr id="9" name="Text 7"/>
          <p:cNvSpPr/>
          <p:nvPr/>
        </p:nvSpPr>
        <p:spPr>
          <a:xfrm>
            <a:off x="432197" y="1034393"/>
            <a:ext cx="1989534" cy="1645518"/>
          </a:xfrm>
          <a:prstGeom prst="roundRect">
            <a:avLst>
              <a:gd name="adj" fmla="val 6946"/>
            </a:avLst>
          </a:prstGeom>
          <a:solidFill>
            <a:srgbClr val="FFFFFF"/>
          </a:solidFill>
          <a:ln w="7144">
            <a:solidFill>
              <a:srgbClr val="D9E2EF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557213" y="1166552"/>
            <a:ext cx="314325" cy="314325"/>
          </a:xfrm>
          <a:prstGeom prst="roundRect">
            <a:avLst>
              <a:gd name="adj" fmla="val 33333"/>
            </a:avLst>
          </a:prstGeom>
          <a:solidFill>
            <a:srgbClr val="B7791F">
              <a:alpha val="12000"/>
            </a:srgbClr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590074" y="1199413"/>
            <a:ext cx="248602" cy="2486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688" dirty="0">
                <a:solidFill>
                  <a:srgbClr val="8A5A14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♪</a:t>
            </a:r>
            <a:endParaRPr lang="en-US" sz="1688" dirty="0"/>
          </a:p>
        </p:txBody>
      </p:sp>
      <p:sp>
        <p:nvSpPr>
          <p:cNvPr id="12" name="Text 10"/>
          <p:cNvSpPr/>
          <p:nvPr/>
        </p:nvSpPr>
        <p:spPr>
          <a:xfrm>
            <a:off x="1850017" y="1156694"/>
            <a:ext cx="463879" cy="184023"/>
          </a:xfrm>
          <a:prstGeom prst="roundRect">
            <a:avLst>
              <a:gd name="adj" fmla="val 31056"/>
            </a:avLst>
          </a:prstGeom>
          <a:solidFill>
            <a:srgbClr val="EAF0F9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1861566" y="1166552"/>
            <a:ext cx="440781" cy="16430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ts val="844"/>
              </a:lnSpc>
              <a:buNone/>
            </a:pPr>
            <a:r>
              <a:rPr lang="en-US" sz="800" kern="0" spc="56" dirty="0">
                <a:solidFill>
                  <a:srgbClr val="16305B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MENU 1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557213" y="1573746"/>
            <a:ext cx="1739503" cy="1527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14"/>
              </a:lnSpc>
              <a:buNone/>
            </a:pPr>
            <a:r>
              <a:rPr lang="en-US" sz="928" b="1" dirty="0">
                <a:solidFill>
                  <a:srgbClr val="16305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View All Songs</a:t>
            </a:r>
            <a:endParaRPr lang="en-US" sz="928" dirty="0"/>
          </a:p>
        </p:txBody>
      </p:sp>
      <p:sp>
        <p:nvSpPr>
          <p:cNvPr id="15" name="Text 13"/>
          <p:cNvSpPr/>
          <p:nvPr/>
        </p:nvSpPr>
        <p:spPr>
          <a:xfrm>
            <a:off x="557213" y="1758032"/>
            <a:ext cx="1739503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5"/>
              </a:lnSpc>
              <a:buNone/>
            </a:pPr>
            <a:r>
              <a:rPr lang="en-US" sz="800" dirty="0">
                <a:solidFill>
                  <a:srgbClr val="5B6B84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Neat table of No. / Title / Artist / Length / Plays.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2528888" y="1034393"/>
            <a:ext cx="1989534" cy="1645518"/>
          </a:xfrm>
          <a:prstGeom prst="roundRect">
            <a:avLst>
              <a:gd name="adj" fmla="val 6946"/>
            </a:avLst>
          </a:prstGeom>
          <a:solidFill>
            <a:srgbClr val="FFFFFF"/>
          </a:solidFill>
          <a:ln w="7144">
            <a:solidFill>
              <a:srgbClr val="D9E2EF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2653903" y="1166552"/>
            <a:ext cx="314325" cy="314325"/>
          </a:xfrm>
          <a:prstGeom prst="roundRect">
            <a:avLst>
              <a:gd name="adj" fmla="val 33333"/>
            </a:avLst>
          </a:prstGeom>
          <a:solidFill>
            <a:srgbClr val="B7791F">
              <a:alpha val="12000"/>
            </a:srgbClr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2686764" y="1199413"/>
            <a:ext cx="248602" cy="2486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688" dirty="0">
                <a:solidFill>
                  <a:srgbClr val="8A5A14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⊕</a:t>
            </a:r>
            <a:endParaRPr lang="en-US" sz="1688" dirty="0"/>
          </a:p>
        </p:txBody>
      </p:sp>
      <p:sp>
        <p:nvSpPr>
          <p:cNvPr id="19" name="Text 17"/>
          <p:cNvSpPr/>
          <p:nvPr/>
        </p:nvSpPr>
        <p:spPr>
          <a:xfrm>
            <a:off x="3946708" y="1156694"/>
            <a:ext cx="463879" cy="184023"/>
          </a:xfrm>
          <a:prstGeom prst="roundRect">
            <a:avLst>
              <a:gd name="adj" fmla="val 31056"/>
            </a:avLst>
          </a:prstGeom>
          <a:solidFill>
            <a:srgbClr val="EAF0F9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3958257" y="1166552"/>
            <a:ext cx="440781" cy="16430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ts val="844"/>
              </a:lnSpc>
              <a:buNone/>
            </a:pPr>
            <a:r>
              <a:rPr lang="en-US" sz="800" kern="0" spc="56" dirty="0">
                <a:solidFill>
                  <a:srgbClr val="16305B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MENU 2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2653903" y="1573746"/>
            <a:ext cx="1739503" cy="1527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14"/>
              </a:lnSpc>
              <a:buNone/>
            </a:pPr>
            <a:r>
              <a:rPr lang="en-US" sz="928" b="1" dirty="0">
                <a:solidFill>
                  <a:srgbClr val="16305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Add a New Song</a:t>
            </a:r>
            <a:endParaRPr lang="en-US" sz="928" dirty="0"/>
          </a:p>
        </p:txBody>
      </p:sp>
      <p:sp>
        <p:nvSpPr>
          <p:cNvPr id="22" name="Text 20"/>
          <p:cNvSpPr/>
          <p:nvPr/>
        </p:nvSpPr>
        <p:spPr>
          <a:xfrm>
            <a:off x="2653903" y="1758032"/>
            <a:ext cx="1739503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5"/>
              </a:lnSpc>
              <a:buNone/>
            </a:pPr>
            <a:r>
              <a:rPr lang="en-US" sz="800" dirty="0">
                <a:solidFill>
                  <a:srgbClr val="5B6B84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Validated input for title, artist and length (min + sec).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4625578" y="1034393"/>
            <a:ext cx="1989534" cy="1645518"/>
          </a:xfrm>
          <a:prstGeom prst="roundRect">
            <a:avLst>
              <a:gd name="adj" fmla="val 6946"/>
            </a:avLst>
          </a:prstGeom>
          <a:solidFill>
            <a:srgbClr val="FFFFFF"/>
          </a:solidFill>
          <a:ln w="7144">
            <a:solidFill>
              <a:srgbClr val="D9E2EF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4750594" y="1166552"/>
            <a:ext cx="314325" cy="314325"/>
          </a:xfrm>
          <a:prstGeom prst="roundRect">
            <a:avLst>
              <a:gd name="adj" fmla="val 33333"/>
            </a:avLst>
          </a:prstGeom>
          <a:solidFill>
            <a:srgbClr val="B7791F">
              <a:alpha val="12000"/>
            </a:srgbClr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4783455" y="1199413"/>
            <a:ext cx="248602" cy="2486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688" dirty="0">
                <a:solidFill>
                  <a:srgbClr val="8A5A14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⊖</a:t>
            </a:r>
            <a:endParaRPr lang="en-US" sz="1688" dirty="0"/>
          </a:p>
        </p:txBody>
      </p:sp>
      <p:sp>
        <p:nvSpPr>
          <p:cNvPr id="26" name="Text 24"/>
          <p:cNvSpPr/>
          <p:nvPr/>
        </p:nvSpPr>
        <p:spPr>
          <a:xfrm>
            <a:off x="6043398" y="1156694"/>
            <a:ext cx="463879" cy="184023"/>
          </a:xfrm>
          <a:prstGeom prst="roundRect">
            <a:avLst>
              <a:gd name="adj" fmla="val 31056"/>
            </a:avLst>
          </a:prstGeom>
          <a:solidFill>
            <a:srgbClr val="EAF0F9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6054947" y="1166552"/>
            <a:ext cx="440781" cy="16430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ts val="844"/>
              </a:lnSpc>
              <a:buNone/>
            </a:pPr>
            <a:r>
              <a:rPr lang="en-US" sz="800" kern="0" spc="56" dirty="0">
                <a:solidFill>
                  <a:srgbClr val="16305B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MENU 3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4750594" y="1573746"/>
            <a:ext cx="1739503" cy="1527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14"/>
              </a:lnSpc>
              <a:buNone/>
            </a:pPr>
            <a:r>
              <a:rPr lang="en-US" sz="928" b="1" dirty="0">
                <a:solidFill>
                  <a:srgbClr val="16305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Remove a Song</a:t>
            </a:r>
            <a:endParaRPr lang="en-US" sz="928" dirty="0"/>
          </a:p>
        </p:txBody>
      </p:sp>
      <p:sp>
        <p:nvSpPr>
          <p:cNvPr id="29" name="Text 27"/>
          <p:cNvSpPr/>
          <p:nvPr/>
        </p:nvSpPr>
        <p:spPr>
          <a:xfrm>
            <a:off x="4750594" y="1758032"/>
            <a:ext cx="1843873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5"/>
              </a:lnSpc>
              <a:buNone/>
            </a:pPr>
            <a:r>
              <a:rPr lang="en-US" sz="703" dirty="0">
                <a:solidFill>
                  <a:srgbClr val="5B6B84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Deletes by title, ignoring capital letters.</a:t>
            </a:r>
            <a:endParaRPr lang="en-US" sz="703" dirty="0"/>
          </a:p>
        </p:txBody>
      </p:sp>
      <p:sp>
        <p:nvSpPr>
          <p:cNvPr id="30" name="Text 28"/>
          <p:cNvSpPr/>
          <p:nvPr/>
        </p:nvSpPr>
        <p:spPr>
          <a:xfrm>
            <a:off x="6722269" y="1034393"/>
            <a:ext cx="1989534" cy="1645518"/>
          </a:xfrm>
          <a:prstGeom prst="roundRect">
            <a:avLst>
              <a:gd name="adj" fmla="val 6946"/>
            </a:avLst>
          </a:prstGeom>
          <a:solidFill>
            <a:srgbClr val="FDF6E7"/>
          </a:solidFill>
          <a:ln w="7144">
            <a:solidFill>
              <a:srgbClr val="B7791F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6847284" y="1166552"/>
            <a:ext cx="314325" cy="314325"/>
          </a:xfrm>
          <a:prstGeom prst="roundRect">
            <a:avLst>
              <a:gd name="adj" fmla="val 33333"/>
            </a:avLst>
          </a:prstGeom>
          <a:solidFill>
            <a:srgbClr val="B7791F">
              <a:alpha val="12000"/>
            </a:srgbClr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2" name="Text 30"/>
          <p:cNvSpPr/>
          <p:nvPr/>
        </p:nvSpPr>
        <p:spPr>
          <a:xfrm>
            <a:off x="6880146" y="1199413"/>
            <a:ext cx="248602" cy="2486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688" dirty="0">
                <a:solidFill>
                  <a:srgbClr val="8A5A14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▶</a:t>
            </a:r>
            <a:endParaRPr lang="en-US" sz="1688" dirty="0"/>
          </a:p>
        </p:txBody>
      </p:sp>
      <p:sp>
        <p:nvSpPr>
          <p:cNvPr id="33" name="Text 31"/>
          <p:cNvSpPr/>
          <p:nvPr/>
        </p:nvSpPr>
        <p:spPr>
          <a:xfrm>
            <a:off x="8140089" y="1156694"/>
            <a:ext cx="463879" cy="184023"/>
          </a:xfrm>
          <a:prstGeom prst="roundRect">
            <a:avLst>
              <a:gd name="adj" fmla="val 31056"/>
            </a:avLst>
          </a:prstGeom>
          <a:solidFill>
            <a:srgbClr val="8A5A14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8151638" y="1166552"/>
            <a:ext cx="440781" cy="16430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ts val="844"/>
              </a:lnSpc>
              <a:buNone/>
            </a:pPr>
            <a:r>
              <a:rPr lang="en-US" sz="800" kern="0" spc="56" dirty="0">
                <a:solidFill>
                  <a:srgbClr val="FFFFFF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MENU 4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6847284" y="1573746"/>
            <a:ext cx="1739503" cy="1527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14"/>
              </a:lnSpc>
              <a:buNone/>
            </a:pPr>
            <a:r>
              <a:rPr lang="en-US" sz="928" b="1" dirty="0">
                <a:solidFill>
                  <a:srgbClr val="16305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Play a Song</a:t>
            </a:r>
            <a:endParaRPr lang="en-US" sz="928" dirty="0"/>
          </a:p>
        </p:txBody>
      </p:sp>
      <p:sp>
        <p:nvSpPr>
          <p:cNvPr id="36" name="Text 34"/>
          <p:cNvSpPr/>
          <p:nvPr/>
        </p:nvSpPr>
        <p:spPr>
          <a:xfrm>
            <a:off x="6847284" y="1758032"/>
            <a:ext cx="1739503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5"/>
              </a:lnSpc>
              <a:buNone/>
            </a:pPr>
            <a:r>
              <a:rPr lang="en-US" sz="800" dirty="0">
                <a:solidFill>
                  <a:srgbClr val="5B6B84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Shows </a:t>
            </a:r>
            <a:r>
              <a:rPr lang="en-US" sz="800" b="1" dirty="0">
                <a:solidFill>
                  <a:srgbClr val="16305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NOW PLAYING</a:t>
            </a:r>
            <a:r>
              <a:rPr lang="en-US" sz="800" dirty="0">
                <a:solidFill>
                  <a:srgbClr val="5B6B84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banner and adds +1 to its play count.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432197" y="2787067"/>
            <a:ext cx="1989534" cy="1645630"/>
          </a:xfrm>
          <a:prstGeom prst="roundRect">
            <a:avLst>
              <a:gd name="adj" fmla="val 6946"/>
            </a:avLst>
          </a:prstGeom>
          <a:solidFill>
            <a:srgbClr val="FFFFFF"/>
          </a:solidFill>
          <a:ln w="7144">
            <a:solidFill>
              <a:srgbClr val="D9E2EF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8" name="Text 36"/>
          <p:cNvSpPr/>
          <p:nvPr/>
        </p:nvSpPr>
        <p:spPr>
          <a:xfrm>
            <a:off x="557213" y="2919226"/>
            <a:ext cx="314325" cy="314325"/>
          </a:xfrm>
          <a:prstGeom prst="roundRect">
            <a:avLst>
              <a:gd name="adj" fmla="val 33333"/>
            </a:avLst>
          </a:prstGeom>
          <a:solidFill>
            <a:srgbClr val="B7791F">
              <a:alpha val="12000"/>
            </a:srgbClr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9" name="Text 37"/>
          <p:cNvSpPr/>
          <p:nvPr/>
        </p:nvSpPr>
        <p:spPr>
          <a:xfrm>
            <a:off x="590074" y="2952088"/>
            <a:ext cx="248602" cy="2486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688" dirty="0">
                <a:solidFill>
                  <a:srgbClr val="8A5A14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⌕</a:t>
            </a:r>
            <a:endParaRPr lang="en-US" sz="1688" dirty="0"/>
          </a:p>
        </p:txBody>
      </p:sp>
      <p:sp>
        <p:nvSpPr>
          <p:cNvPr id="40" name="Text 38"/>
          <p:cNvSpPr/>
          <p:nvPr/>
        </p:nvSpPr>
        <p:spPr>
          <a:xfrm>
            <a:off x="1850017" y="2909368"/>
            <a:ext cx="463879" cy="184023"/>
          </a:xfrm>
          <a:prstGeom prst="roundRect">
            <a:avLst>
              <a:gd name="adj" fmla="val 31056"/>
            </a:avLst>
          </a:prstGeom>
          <a:solidFill>
            <a:srgbClr val="EAF0F9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1" name="Text 39"/>
          <p:cNvSpPr/>
          <p:nvPr/>
        </p:nvSpPr>
        <p:spPr>
          <a:xfrm>
            <a:off x="1861566" y="2919226"/>
            <a:ext cx="440781" cy="16430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ts val="844"/>
              </a:lnSpc>
              <a:buNone/>
            </a:pPr>
            <a:r>
              <a:rPr lang="en-US" sz="800" kern="0" spc="56" dirty="0">
                <a:solidFill>
                  <a:srgbClr val="16305B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MENU 5</a:t>
            </a:r>
            <a:endParaRPr lang="en-US" sz="800" dirty="0"/>
          </a:p>
        </p:txBody>
      </p:sp>
      <p:sp>
        <p:nvSpPr>
          <p:cNvPr id="42" name="Text 40"/>
          <p:cNvSpPr/>
          <p:nvPr/>
        </p:nvSpPr>
        <p:spPr>
          <a:xfrm>
            <a:off x="557213" y="3326420"/>
            <a:ext cx="1739503" cy="1527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14"/>
              </a:lnSpc>
              <a:buNone/>
            </a:pPr>
            <a:r>
              <a:rPr lang="en-US" sz="928" b="1" dirty="0">
                <a:solidFill>
                  <a:srgbClr val="16305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Search Songs</a:t>
            </a:r>
            <a:endParaRPr lang="en-US" sz="928" dirty="0"/>
          </a:p>
        </p:txBody>
      </p:sp>
      <p:sp>
        <p:nvSpPr>
          <p:cNvPr id="43" name="Text 41"/>
          <p:cNvSpPr/>
          <p:nvPr/>
        </p:nvSpPr>
        <p:spPr>
          <a:xfrm>
            <a:off x="557213" y="3510707"/>
            <a:ext cx="1843873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5"/>
              </a:lnSpc>
              <a:buNone/>
            </a:pPr>
            <a:r>
              <a:rPr lang="en-US" sz="703" dirty="0">
                <a:solidFill>
                  <a:srgbClr val="5B6B84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Case-insensitive match on title or artist.</a:t>
            </a:r>
            <a:endParaRPr lang="en-US" sz="703" dirty="0"/>
          </a:p>
        </p:txBody>
      </p:sp>
      <p:sp>
        <p:nvSpPr>
          <p:cNvPr id="44" name="Text 42"/>
          <p:cNvSpPr/>
          <p:nvPr/>
        </p:nvSpPr>
        <p:spPr>
          <a:xfrm>
            <a:off x="2528888" y="2787067"/>
            <a:ext cx="1989534" cy="1645630"/>
          </a:xfrm>
          <a:prstGeom prst="roundRect">
            <a:avLst>
              <a:gd name="adj" fmla="val 6946"/>
            </a:avLst>
          </a:prstGeom>
          <a:solidFill>
            <a:srgbClr val="FFFFFF"/>
          </a:solidFill>
          <a:ln w="7144">
            <a:solidFill>
              <a:srgbClr val="D9E2EF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5" name="Text 43"/>
          <p:cNvSpPr/>
          <p:nvPr/>
        </p:nvSpPr>
        <p:spPr>
          <a:xfrm>
            <a:off x="2653903" y="2919226"/>
            <a:ext cx="314325" cy="314325"/>
          </a:xfrm>
          <a:prstGeom prst="roundRect">
            <a:avLst>
              <a:gd name="adj" fmla="val 33333"/>
            </a:avLst>
          </a:prstGeom>
          <a:solidFill>
            <a:srgbClr val="B7791F">
              <a:alpha val="12000"/>
            </a:srgbClr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6" name="Text 44"/>
          <p:cNvSpPr/>
          <p:nvPr/>
        </p:nvSpPr>
        <p:spPr>
          <a:xfrm>
            <a:off x="2686764" y="2952088"/>
            <a:ext cx="248602" cy="2486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688" dirty="0">
                <a:solidFill>
                  <a:srgbClr val="8A5A14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⇅</a:t>
            </a:r>
            <a:endParaRPr lang="en-US" sz="1688" dirty="0"/>
          </a:p>
        </p:txBody>
      </p:sp>
      <p:sp>
        <p:nvSpPr>
          <p:cNvPr id="47" name="Text 45"/>
          <p:cNvSpPr/>
          <p:nvPr/>
        </p:nvSpPr>
        <p:spPr>
          <a:xfrm>
            <a:off x="3946708" y="2909368"/>
            <a:ext cx="463879" cy="184023"/>
          </a:xfrm>
          <a:prstGeom prst="roundRect">
            <a:avLst>
              <a:gd name="adj" fmla="val 31056"/>
            </a:avLst>
          </a:prstGeom>
          <a:solidFill>
            <a:srgbClr val="EAF0F9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8" name="Text 46"/>
          <p:cNvSpPr/>
          <p:nvPr/>
        </p:nvSpPr>
        <p:spPr>
          <a:xfrm>
            <a:off x="3958257" y="2919226"/>
            <a:ext cx="440781" cy="16430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ts val="844"/>
              </a:lnSpc>
              <a:buNone/>
            </a:pPr>
            <a:r>
              <a:rPr lang="en-US" sz="800" kern="0" spc="56" dirty="0">
                <a:solidFill>
                  <a:srgbClr val="16305B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MENU 6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2653903" y="3326420"/>
            <a:ext cx="1739503" cy="1527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14"/>
              </a:lnSpc>
              <a:buNone/>
            </a:pPr>
            <a:r>
              <a:rPr lang="en-US" sz="928" b="1" dirty="0">
                <a:solidFill>
                  <a:srgbClr val="16305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Sort Playlist</a:t>
            </a:r>
            <a:endParaRPr lang="en-US" sz="928" dirty="0"/>
          </a:p>
        </p:txBody>
      </p:sp>
      <p:sp>
        <p:nvSpPr>
          <p:cNvPr id="50" name="Text 48"/>
          <p:cNvSpPr/>
          <p:nvPr/>
        </p:nvSpPr>
        <p:spPr>
          <a:xfrm>
            <a:off x="2653903" y="3510707"/>
            <a:ext cx="1843873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5"/>
              </a:lnSpc>
              <a:buNone/>
            </a:pPr>
            <a:r>
              <a:rPr lang="en-US" sz="703" dirty="0">
                <a:solidFill>
                  <a:srgbClr val="5B6B84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A–Z by title, or most-played first.</a:t>
            </a:r>
            <a:endParaRPr lang="en-US" sz="703" dirty="0"/>
          </a:p>
        </p:txBody>
      </p:sp>
      <p:sp>
        <p:nvSpPr>
          <p:cNvPr id="51" name="Text 49"/>
          <p:cNvSpPr/>
          <p:nvPr/>
        </p:nvSpPr>
        <p:spPr>
          <a:xfrm>
            <a:off x="4625578" y="2787067"/>
            <a:ext cx="1989534" cy="1645630"/>
          </a:xfrm>
          <a:prstGeom prst="roundRect">
            <a:avLst>
              <a:gd name="adj" fmla="val 6946"/>
            </a:avLst>
          </a:prstGeom>
          <a:solidFill>
            <a:srgbClr val="FDF6E7"/>
          </a:solidFill>
          <a:ln w="7144">
            <a:solidFill>
              <a:srgbClr val="B7791F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2" name="Text 50"/>
          <p:cNvSpPr/>
          <p:nvPr/>
        </p:nvSpPr>
        <p:spPr>
          <a:xfrm>
            <a:off x="4750594" y="2919226"/>
            <a:ext cx="314325" cy="314325"/>
          </a:xfrm>
          <a:prstGeom prst="roundRect">
            <a:avLst>
              <a:gd name="adj" fmla="val 33333"/>
            </a:avLst>
          </a:prstGeom>
          <a:solidFill>
            <a:srgbClr val="B7791F">
              <a:alpha val="12000"/>
            </a:srgbClr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3" name="Text 51"/>
          <p:cNvSpPr/>
          <p:nvPr/>
        </p:nvSpPr>
        <p:spPr>
          <a:xfrm>
            <a:off x="4783455" y="2952088"/>
            <a:ext cx="248602" cy="2486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688" dirty="0">
                <a:solidFill>
                  <a:srgbClr val="8A5A14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▦</a:t>
            </a:r>
            <a:endParaRPr lang="en-US" sz="1688" dirty="0"/>
          </a:p>
        </p:txBody>
      </p:sp>
      <p:sp>
        <p:nvSpPr>
          <p:cNvPr id="54" name="Text 52"/>
          <p:cNvSpPr/>
          <p:nvPr/>
        </p:nvSpPr>
        <p:spPr>
          <a:xfrm>
            <a:off x="6043398" y="2909368"/>
            <a:ext cx="463879" cy="184023"/>
          </a:xfrm>
          <a:prstGeom prst="roundRect">
            <a:avLst>
              <a:gd name="adj" fmla="val 31056"/>
            </a:avLst>
          </a:prstGeom>
          <a:solidFill>
            <a:srgbClr val="8A5A14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5" name="Text 53"/>
          <p:cNvSpPr/>
          <p:nvPr/>
        </p:nvSpPr>
        <p:spPr>
          <a:xfrm>
            <a:off x="6054947" y="2919226"/>
            <a:ext cx="440781" cy="16430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ts val="844"/>
              </a:lnSpc>
              <a:buNone/>
            </a:pPr>
            <a:r>
              <a:rPr lang="en-US" sz="800" kern="0" spc="56" dirty="0">
                <a:solidFill>
                  <a:srgbClr val="FFFFFF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MENU 7</a:t>
            </a:r>
            <a:endParaRPr lang="en-US" sz="800" dirty="0"/>
          </a:p>
        </p:txBody>
      </p:sp>
      <p:sp>
        <p:nvSpPr>
          <p:cNvPr id="56" name="Text 54"/>
          <p:cNvSpPr/>
          <p:nvPr/>
        </p:nvSpPr>
        <p:spPr>
          <a:xfrm>
            <a:off x="4750594" y="3326420"/>
            <a:ext cx="1739503" cy="1527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14"/>
              </a:lnSpc>
              <a:buNone/>
            </a:pPr>
            <a:r>
              <a:rPr lang="en-US" sz="928" b="1" dirty="0">
                <a:solidFill>
                  <a:srgbClr val="16305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Listening Stats</a:t>
            </a:r>
            <a:endParaRPr lang="en-US" sz="928" dirty="0"/>
          </a:p>
        </p:txBody>
      </p:sp>
      <p:sp>
        <p:nvSpPr>
          <p:cNvPr id="57" name="Text 55"/>
          <p:cNvSpPr/>
          <p:nvPr/>
        </p:nvSpPr>
        <p:spPr>
          <a:xfrm>
            <a:off x="4750594" y="3510707"/>
            <a:ext cx="1843873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5"/>
              </a:lnSpc>
              <a:buNone/>
            </a:pPr>
            <a:r>
              <a:rPr lang="en-US" sz="703" dirty="0">
                <a:solidFill>
                  <a:srgbClr val="5B6B84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Totals, favourite artist and </a:t>
            </a:r>
            <a:r>
              <a:rPr lang="en-US" sz="703" b="1" dirty="0">
                <a:solidFill>
                  <a:srgbClr val="16305B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Top-5</a:t>
            </a:r>
            <a:r>
              <a:rPr lang="en-US" sz="703" dirty="0">
                <a:solidFill>
                  <a:srgbClr val="5B6B84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ranking.</a:t>
            </a:r>
            <a:endParaRPr lang="en-US" sz="703" dirty="0"/>
          </a:p>
        </p:txBody>
      </p:sp>
      <p:sp>
        <p:nvSpPr>
          <p:cNvPr id="58" name="Text 56"/>
          <p:cNvSpPr/>
          <p:nvPr/>
        </p:nvSpPr>
        <p:spPr>
          <a:xfrm>
            <a:off x="6722269" y="2787067"/>
            <a:ext cx="1989534" cy="1645630"/>
          </a:xfrm>
          <a:prstGeom prst="roundRect">
            <a:avLst>
              <a:gd name="adj" fmla="val 6946"/>
            </a:avLst>
          </a:prstGeom>
          <a:solidFill>
            <a:srgbClr val="FFFFFF"/>
          </a:solidFill>
          <a:ln w="7144">
            <a:solidFill>
              <a:srgbClr val="D9E2EF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9" name="Text 57"/>
          <p:cNvSpPr/>
          <p:nvPr/>
        </p:nvSpPr>
        <p:spPr>
          <a:xfrm>
            <a:off x="6847284" y="2919226"/>
            <a:ext cx="314325" cy="314325"/>
          </a:xfrm>
          <a:prstGeom prst="roundRect">
            <a:avLst>
              <a:gd name="adj" fmla="val 33333"/>
            </a:avLst>
          </a:prstGeom>
          <a:solidFill>
            <a:srgbClr val="B7791F">
              <a:alpha val="12000"/>
            </a:srgbClr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0" name="Text 58"/>
          <p:cNvSpPr/>
          <p:nvPr/>
        </p:nvSpPr>
        <p:spPr>
          <a:xfrm>
            <a:off x="6880146" y="2952088"/>
            <a:ext cx="248602" cy="2486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688" dirty="0">
                <a:solidFill>
                  <a:srgbClr val="8A5A14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⤓</a:t>
            </a:r>
            <a:endParaRPr lang="en-US" sz="1688" dirty="0"/>
          </a:p>
        </p:txBody>
      </p:sp>
      <p:sp>
        <p:nvSpPr>
          <p:cNvPr id="61" name="Text 59"/>
          <p:cNvSpPr/>
          <p:nvPr/>
        </p:nvSpPr>
        <p:spPr>
          <a:xfrm>
            <a:off x="8244334" y="2909368"/>
            <a:ext cx="355625" cy="184023"/>
          </a:xfrm>
          <a:prstGeom prst="roundRect">
            <a:avLst>
              <a:gd name="adj" fmla="val 31056"/>
            </a:avLst>
          </a:prstGeom>
          <a:solidFill>
            <a:srgbClr val="EAF0F9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2" name="Text 60"/>
          <p:cNvSpPr/>
          <p:nvPr/>
        </p:nvSpPr>
        <p:spPr>
          <a:xfrm>
            <a:off x="8255705" y="2919226"/>
            <a:ext cx="332882" cy="16430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ts val="844"/>
              </a:lnSpc>
              <a:buNone/>
            </a:pPr>
            <a:r>
              <a:rPr lang="en-US" sz="800" kern="0" spc="56" dirty="0">
                <a:solidFill>
                  <a:srgbClr val="16305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AUTO</a:t>
            </a:r>
            <a:endParaRPr lang="en-US" sz="800" dirty="0"/>
          </a:p>
        </p:txBody>
      </p:sp>
      <p:sp>
        <p:nvSpPr>
          <p:cNvPr id="63" name="Text 61"/>
          <p:cNvSpPr/>
          <p:nvPr/>
        </p:nvSpPr>
        <p:spPr>
          <a:xfrm>
            <a:off x="6847284" y="3326420"/>
            <a:ext cx="1739503" cy="1527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14"/>
              </a:lnSpc>
              <a:buNone/>
            </a:pPr>
            <a:r>
              <a:rPr lang="en-US" sz="928" b="1" dirty="0">
                <a:solidFill>
                  <a:srgbClr val="16305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Auto-Save</a:t>
            </a:r>
            <a:endParaRPr lang="en-US" sz="928" dirty="0"/>
          </a:p>
        </p:txBody>
      </p:sp>
      <p:sp>
        <p:nvSpPr>
          <p:cNvPr id="64" name="Text 62"/>
          <p:cNvSpPr/>
          <p:nvPr/>
        </p:nvSpPr>
        <p:spPr>
          <a:xfrm>
            <a:off x="6847284" y="3510707"/>
            <a:ext cx="1739503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5"/>
              </a:lnSpc>
              <a:buNone/>
            </a:pPr>
            <a:r>
              <a:rPr lang="en-US" sz="800" dirty="0">
                <a:solidFill>
                  <a:srgbClr val="5B6B84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FileWriter persists the playlist after every change.</a:t>
            </a:r>
            <a:endParaRPr lang="en-US" sz="800" dirty="0"/>
          </a:p>
        </p:txBody>
      </p:sp>
      <p:sp>
        <p:nvSpPr>
          <p:cNvPr id="65" name="Text 63"/>
          <p:cNvSpPr/>
          <p:nvPr/>
        </p:nvSpPr>
        <p:spPr>
          <a:xfrm>
            <a:off x="428625" y="4536281"/>
            <a:ext cx="8286750" cy="307181"/>
          </a:xfrm>
          <a:prstGeom prst="roundRect">
            <a:avLst>
              <a:gd name="adj" fmla="val 31008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6" name="Shape 64"/>
          <p:cNvSpPr/>
          <p:nvPr/>
        </p:nvSpPr>
        <p:spPr>
          <a:xfrm>
            <a:off x="428625" y="4539853"/>
            <a:ext cx="8286750" cy="0"/>
          </a:xfrm>
          <a:prstGeom prst="line">
            <a:avLst/>
          </a:prstGeom>
          <a:noFill/>
          <a:ln w="7144">
            <a:solidFill>
              <a:srgbClr val="D9E2E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7" name="Shape 65"/>
          <p:cNvSpPr/>
          <p:nvPr/>
        </p:nvSpPr>
        <p:spPr>
          <a:xfrm>
            <a:off x="8711803" y="4536281"/>
            <a:ext cx="0" cy="307181"/>
          </a:xfrm>
          <a:prstGeom prst="line">
            <a:avLst/>
          </a:prstGeom>
          <a:noFill/>
          <a:ln w="7144">
            <a:solidFill>
              <a:srgbClr val="D9E2E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8" name="Shape 66"/>
          <p:cNvSpPr/>
          <p:nvPr/>
        </p:nvSpPr>
        <p:spPr>
          <a:xfrm>
            <a:off x="428625" y="4839891"/>
            <a:ext cx="8286750" cy="0"/>
          </a:xfrm>
          <a:prstGeom prst="line">
            <a:avLst/>
          </a:prstGeom>
          <a:noFill/>
          <a:ln w="7144">
            <a:solidFill>
              <a:srgbClr val="D9E2E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9" name="Shape 67"/>
          <p:cNvSpPr/>
          <p:nvPr/>
        </p:nvSpPr>
        <p:spPr>
          <a:xfrm>
            <a:off x="442913" y="4536281"/>
            <a:ext cx="0" cy="307181"/>
          </a:xfrm>
          <a:prstGeom prst="line">
            <a:avLst/>
          </a:prstGeom>
          <a:noFill/>
          <a:ln w="28575">
            <a:solidFill>
              <a:srgbClr val="B7791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0" name="Text 68"/>
          <p:cNvSpPr/>
          <p:nvPr/>
        </p:nvSpPr>
        <p:spPr>
          <a:xfrm>
            <a:off x="571500" y="4614863"/>
            <a:ext cx="150019" cy="15001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477" dirty="0">
                <a:solidFill>
                  <a:srgbClr val="8A5A14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▶</a:t>
            </a:r>
            <a:endParaRPr lang="en-US" sz="1477" dirty="0"/>
          </a:p>
        </p:txBody>
      </p:sp>
      <p:sp>
        <p:nvSpPr>
          <p:cNvPr id="71" name="Text 69"/>
          <p:cNvSpPr/>
          <p:nvPr/>
        </p:nvSpPr>
        <p:spPr>
          <a:xfrm>
            <a:off x="807244" y="4624908"/>
            <a:ext cx="7786688" cy="1399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24"/>
              </a:lnSpc>
              <a:buNone/>
            </a:pPr>
            <a:r>
              <a:rPr lang="en-US" sz="800" b="1" dirty="0">
                <a:solidFill>
                  <a:srgbClr val="16305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Demo tip</a:t>
            </a:r>
            <a:r>
              <a:rPr lang="en-US" sz="800" dirty="0">
                <a:solidFill>
                  <a:srgbClr val="5B6B84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— suggested order: View All Songs (1) </a:t>
            </a:r>
            <a:r>
              <a:rPr lang="en-US" sz="800" b="1" dirty="0">
                <a:solidFill>
                  <a:srgbClr val="8A5A14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→</a:t>
            </a:r>
            <a:r>
              <a:rPr lang="en-US" sz="800" dirty="0">
                <a:solidFill>
                  <a:srgbClr val="5B6B84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 Play "Believer" (4) </a:t>
            </a:r>
            <a:r>
              <a:rPr lang="en-US" sz="800" b="1" dirty="0">
                <a:solidFill>
                  <a:srgbClr val="8A5A14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→</a:t>
            </a:r>
            <a:r>
              <a:rPr lang="en-US" sz="800" dirty="0">
                <a:solidFill>
                  <a:srgbClr val="5B6B84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 Listening Stats (7).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00050" y="285750"/>
            <a:ext cx="257175" cy="257175"/>
          </a:xfrm>
          <a:prstGeom prst="roundRect">
            <a:avLst>
              <a:gd name="adj" fmla="val 33333"/>
            </a:avLst>
          </a:prstGeom>
          <a:solidFill>
            <a:srgbClr val="B7791F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94147" y="328613"/>
            <a:ext cx="163078" cy="1851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5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8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57238" y="316111"/>
            <a:ext cx="3489704" cy="21216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547"/>
              </a:lnSpc>
              <a:buNone/>
            </a:pPr>
            <a:r>
              <a:rPr lang="en-US" sz="1406" b="1" dirty="0">
                <a:solidFill>
                  <a:srgbClr val="16305B"/>
                </a:solidFill>
                <a:latin typeface="Tinos" pitchFamily="34" charset="0"/>
                <a:ea typeface="Tinos" pitchFamily="34" charset="-122"/>
                <a:cs typeface="Tinos" pitchFamily="34" charset="-120"/>
              </a:rPr>
              <a:t>Implementation — Java Code Screenshots</a:t>
            </a:r>
            <a:endParaRPr lang="en-US" sz="1406" dirty="0"/>
          </a:p>
        </p:txBody>
      </p:sp>
      <p:sp>
        <p:nvSpPr>
          <p:cNvPr id="5" name="Text 3"/>
          <p:cNvSpPr/>
          <p:nvPr/>
        </p:nvSpPr>
        <p:spPr>
          <a:xfrm>
            <a:off x="4088457" y="410766"/>
            <a:ext cx="2964991" cy="7144"/>
          </a:xfrm>
          <a:prstGeom prst="rect">
            <a:avLst/>
          </a:prstGeom>
          <a:solidFill>
            <a:srgbClr val="D9E2EF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7157033" y="308967"/>
            <a:ext cx="1583345" cy="210741"/>
          </a:xfrm>
          <a:prstGeom prst="roundRect">
            <a:avLst>
              <a:gd name="adj" fmla="val 36158"/>
            </a:avLst>
          </a:prstGeom>
          <a:solidFill>
            <a:srgbClr val="FDF6E7"/>
          </a:solidFill>
          <a:ln w="7144">
            <a:solidFill>
              <a:srgbClr val="E8D5AC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7153461" y="305395"/>
            <a:ext cx="1590489" cy="304246"/>
          </a:xfrm>
          <a:prstGeom prst="rect">
            <a:avLst/>
          </a:prstGeom>
          <a:noFill/>
          <a:ln/>
        </p:spPr>
        <p:txBody>
          <a:bodyPr wrap="none" lIns="85725" tIns="42863" rIns="85725" bIns="42863" rtlCol="0" anchor="t"/>
          <a:lstStyle/>
          <a:p>
            <a:pPr marL="0" indent="0" algn="l">
              <a:lnSpc>
                <a:spcPts val="928"/>
              </a:lnSpc>
              <a:buNone/>
            </a:pPr>
            <a:r>
              <a:rPr lang="en-US" sz="800" kern="0" spc="37" dirty="0">
                <a:solidFill>
                  <a:srgbClr val="8A5A14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(1 of 5) · Project overview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00050" y="642938"/>
            <a:ext cx="8343900" cy="1621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83"/>
              </a:lnSpc>
              <a:buNone/>
            </a:pPr>
            <a:r>
              <a:rPr lang="en-US" sz="816" dirty="0">
                <a:solidFill>
                  <a:srgbClr val="23304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The complete project is </a:t>
            </a:r>
            <a:r>
              <a:rPr lang="en-US" sz="816" b="1" dirty="0">
                <a:solidFill>
                  <a:srgbClr val="16305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4 well-organised Java classes — 628 lines of fully commented, beginner-readable code</a:t>
            </a:r>
            <a:r>
              <a:rPr lang="en-US" sz="816" dirty="0">
                <a:solidFill>
                  <a:srgbClr val="23304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. The next four slides show each class exactly as submitted.</a:t>
            </a:r>
            <a:endParaRPr lang="en-US" sz="816" dirty="0"/>
          </a:p>
        </p:txBody>
      </p:sp>
      <p:sp>
        <p:nvSpPr>
          <p:cNvPr id="9" name="Text 7"/>
          <p:cNvSpPr/>
          <p:nvPr/>
        </p:nvSpPr>
        <p:spPr>
          <a:xfrm>
            <a:off x="403622" y="896652"/>
            <a:ext cx="4983435" cy="2212777"/>
          </a:xfrm>
          <a:prstGeom prst="roundRect">
            <a:avLst>
              <a:gd name="adj" fmla="val 4305"/>
            </a:avLst>
          </a:prstGeom>
          <a:solidFill>
            <a:srgbClr val="FFFFFF"/>
          </a:solidFill>
          <a:ln w="7144">
            <a:solidFill>
              <a:srgbClr val="D9E2EF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07194" y="900224"/>
          <a:ext cx="4976291" cy="2384583"/>
        </p:xfrm>
        <a:graphic>
          <a:graphicData uri="http://schemas.openxmlformats.org/drawingml/2006/table">
            <a:tbl>
              <a:tblPr/>
              <a:tblGrid>
                <a:gridCol w="117916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3177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6182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0352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rlito" pitchFamily="34" charset="0"/>
                          <a:ea typeface="Carlito" pitchFamily="34" charset="-122"/>
                          <a:cs typeface="Carlito" pitchFamily="34" charset="-120"/>
                        </a:rPr>
                        <a:t>CLASS</a:t>
                      </a:r>
                      <a:endParaRPr lang="en-US" sz="800" dirty="0">
                        <a:latin typeface="Carlito" charset="0"/>
                        <a:ea typeface="Carlito" charset="0"/>
                        <a:cs typeface="Carlito" charset="0"/>
                      </a:endParaRPr>
                    </a:p>
                  </a:txBody>
                  <a:tcPr marL="71438" marR="114300" marT="114300" marB="71438" anchor="ctr">
                    <a:lnL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rlito" pitchFamily="34" charset="0"/>
                          <a:ea typeface="Carlito" pitchFamily="34" charset="-122"/>
                          <a:cs typeface="Carlito" pitchFamily="34" charset="-120"/>
                        </a:rPr>
                        <a:t>ROLE</a:t>
                      </a:r>
                      <a:endParaRPr lang="en-US" sz="800" dirty="0">
                        <a:latin typeface="Carlito" charset="0"/>
                        <a:ea typeface="Carlito" charset="0"/>
                        <a:cs typeface="Carlito" charset="0"/>
                      </a:endParaRPr>
                    </a:p>
                  </a:txBody>
                  <a:tcPr marL="71438" marR="114300" marT="114300" marB="71438" anchor="ctr">
                    <a:lnL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rlito" pitchFamily="34" charset="0"/>
                          <a:ea typeface="Carlito" pitchFamily="34" charset="-122"/>
                          <a:cs typeface="Carlito" pitchFamily="34" charset="-120"/>
                        </a:rPr>
                        <a:t>KEY MEMBERS</a:t>
                      </a:r>
                      <a:endParaRPr lang="en-US" sz="800" dirty="0">
                        <a:latin typeface="Carlito" charset="0"/>
                        <a:ea typeface="Carlito" charset="0"/>
                        <a:cs typeface="Carlito" charset="0"/>
                      </a:endParaRPr>
                    </a:p>
                  </a:txBody>
                  <a:tcPr marL="71438" marR="114300" marT="114300" marB="71438" anchor="ctr">
                    <a:lnL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rlito" pitchFamily="34" charset="0"/>
                          <a:ea typeface="Carlito" pitchFamily="34" charset="-122"/>
                          <a:cs typeface="Carlito" pitchFamily="34" charset="-120"/>
                        </a:rPr>
                        <a:t>LINES</a:t>
                      </a:r>
                      <a:endParaRPr lang="en-US" sz="800" dirty="0">
                        <a:latin typeface="Carlito" charset="0"/>
                        <a:ea typeface="Carlito" charset="0"/>
                        <a:cs typeface="Carlito" charset="0"/>
                      </a:endParaRPr>
                    </a:p>
                  </a:txBody>
                  <a:tcPr marL="71438" marR="114300" marT="114300" marB="71438" anchor="ctr">
                    <a:lnL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b="1" dirty="0">
                          <a:solidFill>
                            <a:srgbClr val="16305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Song.java</a:t>
                      </a:r>
                      <a:endParaRPr lang="en-US" sz="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8581" marR="114300" marT="114300" marB="78581" anchor="ctr">
                    <a:lnL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dirty="0">
                          <a:solidFill>
                            <a:srgbClr val="23304A"/>
                          </a:solidFill>
                          <a:latin typeface="Carlito" pitchFamily="34" charset="0"/>
                          <a:ea typeface="Carlito" pitchFamily="34" charset="-122"/>
                          <a:cs typeface="Carlito" pitchFamily="34" charset="-120"/>
                        </a:rPr>
                        <a:t>Model — represents one song</a:t>
                      </a:r>
                      <a:endParaRPr lang="en-US" sz="800" dirty="0">
                        <a:latin typeface="Carlito" charset="0"/>
                        <a:ea typeface="Carlito" charset="0"/>
                        <a:cs typeface="Carlito" charset="0"/>
                      </a:endParaRPr>
                    </a:p>
                  </a:txBody>
                  <a:tcPr marL="78581" marR="114300" marT="114300" marB="78581" anchor="ctr">
                    <a:lnL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dirty="0">
                          <a:solidFill>
                            <a:srgbClr val="5B6B84"/>
                          </a:solidFill>
                          <a:latin typeface="Carlito" pitchFamily="34" charset="0"/>
                          <a:ea typeface="Carlito" pitchFamily="34" charset="-122"/>
                          <a:cs typeface="Carlito" pitchFamily="34" charset="-120"/>
                        </a:rPr>
                        <a:t>fields, constructor, play counter, file helpers</a:t>
                      </a:r>
                      <a:endParaRPr lang="en-US" sz="800" dirty="0">
                        <a:latin typeface="Carlito" charset="0"/>
                        <a:ea typeface="Carlito" charset="0"/>
                        <a:cs typeface="Carlito" charset="0"/>
                      </a:endParaRPr>
                    </a:p>
                  </a:txBody>
                  <a:tcPr marL="78581" marR="114300" marT="114300" marB="78581" anchor="ctr">
                    <a:lnL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b="1" dirty="0">
                          <a:solidFill>
                            <a:srgbClr val="8A5A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101</a:t>
                      </a:r>
                      <a:endParaRPr lang="en-US" sz="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8581" marR="114300" marT="114300" marB="78581" anchor="ctr">
                    <a:lnL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b="1" dirty="0">
                          <a:solidFill>
                            <a:srgbClr val="16305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Playlist.java</a:t>
                      </a:r>
                      <a:endParaRPr lang="en-US" sz="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8581" marR="114300" marT="114300" marB="78581" anchor="ctr">
                    <a:lnL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dirty="0">
                          <a:solidFill>
                            <a:srgbClr val="23304A"/>
                          </a:solidFill>
                          <a:latin typeface="Carlito" pitchFamily="34" charset="0"/>
                          <a:ea typeface="Carlito" pitchFamily="34" charset="-122"/>
                          <a:cs typeface="Carlito" pitchFamily="34" charset="-120"/>
                        </a:rPr>
                        <a:t>Data manager — the song collection</a:t>
                      </a:r>
                      <a:endParaRPr lang="en-US" sz="800" dirty="0">
                        <a:latin typeface="Carlito" charset="0"/>
                        <a:ea typeface="Carlito" charset="0"/>
                        <a:cs typeface="Carlito" charset="0"/>
                      </a:endParaRPr>
                    </a:p>
                  </a:txBody>
                  <a:tcPr marL="78581" marR="114300" marT="114300" marB="78581" anchor="ctr">
                    <a:lnL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dirty="0">
                          <a:solidFill>
                            <a:srgbClr val="5B6B84"/>
                          </a:solidFill>
                          <a:latin typeface="Carlito" pitchFamily="34" charset="0"/>
                          <a:ea typeface="Carlito" pitchFamily="34" charset="-122"/>
                          <a:cs typeface="Carlito" pitchFamily="34" charset="-120"/>
                        </a:rPr>
                        <a:t>add, remove, view, search, sort</a:t>
                      </a:r>
                      <a:endParaRPr lang="en-US" sz="800" dirty="0">
                        <a:latin typeface="Carlito" charset="0"/>
                        <a:ea typeface="Carlito" charset="0"/>
                        <a:cs typeface="Carlito" charset="0"/>
                      </a:endParaRPr>
                    </a:p>
                  </a:txBody>
                  <a:tcPr marL="78581" marR="114300" marT="114300" marB="78581" anchor="ctr">
                    <a:lnL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b="1" dirty="0">
                          <a:solidFill>
                            <a:srgbClr val="8A5A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128</a:t>
                      </a:r>
                      <a:endParaRPr lang="en-US" sz="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8581" marR="114300" marT="114300" marB="78581" anchor="ctr">
                    <a:lnL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b="1" dirty="0">
                          <a:solidFill>
                            <a:srgbClr val="16305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StatsManager.java</a:t>
                      </a:r>
                      <a:endParaRPr lang="en-US" sz="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8581" marR="114300" marT="114300" marB="78581" anchor="ctr">
                    <a:lnL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dirty="0">
                          <a:solidFill>
                            <a:srgbClr val="23304A"/>
                          </a:solidFill>
                          <a:latin typeface="Carlito" pitchFamily="34" charset="0"/>
                          <a:ea typeface="Carlito" pitchFamily="34" charset="-122"/>
                          <a:cs typeface="Carlito" pitchFamily="34" charset="-120"/>
                        </a:rPr>
                        <a:t>Statistics engine</a:t>
                      </a:r>
                      <a:endParaRPr lang="en-US" sz="800" dirty="0">
                        <a:latin typeface="Carlito" charset="0"/>
                        <a:ea typeface="Carlito" charset="0"/>
                        <a:cs typeface="Carlito" charset="0"/>
                      </a:endParaRPr>
                    </a:p>
                  </a:txBody>
                  <a:tcPr marL="78581" marR="114300" marT="114300" marB="78581" anchor="ctr">
                    <a:lnL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dirty="0">
                          <a:solidFill>
                            <a:srgbClr val="5B6B84"/>
                          </a:solidFill>
                          <a:latin typeface="Carlito" pitchFamily="34" charset="0"/>
                          <a:ea typeface="Carlito" pitchFamily="34" charset="-122"/>
                          <a:cs typeface="Carlito" pitchFamily="34" charset="-120"/>
                        </a:rPr>
                        <a:t>totals, favourite artist, Top-5</a:t>
                      </a:r>
                      <a:endParaRPr lang="en-US" sz="800" dirty="0">
                        <a:latin typeface="Carlito" charset="0"/>
                        <a:ea typeface="Carlito" charset="0"/>
                        <a:cs typeface="Carlito" charset="0"/>
                      </a:endParaRPr>
                    </a:p>
                  </a:txBody>
                  <a:tcPr marL="78581" marR="114300" marT="114300" marB="78581" anchor="ctr">
                    <a:lnL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b="1" dirty="0">
                          <a:solidFill>
                            <a:srgbClr val="8A5A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129</a:t>
                      </a:r>
                      <a:endParaRPr lang="en-US" sz="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8581" marR="114300" marT="114300" marB="78581" anchor="ctr">
                    <a:lnL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b="1" dirty="0">
                          <a:solidFill>
                            <a:srgbClr val="16305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Main.java</a:t>
                      </a:r>
                      <a:endParaRPr lang="en-US" sz="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8581" marR="114300" marT="114300" marB="78581" anchor="ctr">
                    <a:lnL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dirty="0">
                          <a:solidFill>
                            <a:srgbClr val="23304A"/>
                          </a:solidFill>
                          <a:latin typeface="Carlito" pitchFamily="34" charset="0"/>
                          <a:ea typeface="Carlito" pitchFamily="34" charset="-122"/>
                          <a:cs typeface="Carlito" pitchFamily="34" charset="-120"/>
                        </a:rPr>
                        <a:t>Controller — menu and files</a:t>
                      </a:r>
                      <a:endParaRPr lang="en-US" sz="800" dirty="0">
                        <a:latin typeface="Carlito" charset="0"/>
                        <a:ea typeface="Carlito" charset="0"/>
                        <a:cs typeface="Carlito" charset="0"/>
                      </a:endParaRPr>
                    </a:p>
                  </a:txBody>
                  <a:tcPr marL="78581" marR="114300" marT="114300" marB="78581" anchor="ctr">
                    <a:lnL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dirty="0">
                          <a:solidFill>
                            <a:srgbClr val="5B6B84"/>
                          </a:solidFill>
                          <a:latin typeface="Carlito" pitchFamily="34" charset="0"/>
                          <a:ea typeface="Carlito" pitchFamily="34" charset="-122"/>
                          <a:cs typeface="Carlito" pitchFamily="34" charset="-120"/>
                        </a:rPr>
                        <a:t>menu loop, input validation, save/load</a:t>
                      </a:r>
                      <a:endParaRPr lang="en-US" sz="800" dirty="0">
                        <a:latin typeface="Carlito" charset="0"/>
                        <a:ea typeface="Carlito" charset="0"/>
                        <a:cs typeface="Carlito" charset="0"/>
                      </a:endParaRPr>
                    </a:p>
                  </a:txBody>
                  <a:tcPr marL="78581" marR="114300" marT="114300" marB="78581" anchor="ctr">
                    <a:lnL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b="1" dirty="0">
                          <a:solidFill>
                            <a:srgbClr val="8A5A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270</a:t>
                      </a:r>
                      <a:endParaRPr lang="en-US" sz="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8581" marR="114300" marT="114300" marB="78581" anchor="ctr">
                    <a:lnL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b="1" dirty="0">
                          <a:solidFill>
                            <a:srgbClr val="8A5A14"/>
                          </a:solidFill>
                          <a:latin typeface="Carlito" pitchFamily="34" charset="0"/>
                          <a:ea typeface="Carlito" pitchFamily="34" charset="-122"/>
                          <a:cs typeface="Carlito" pitchFamily="34" charset="-120"/>
                        </a:rPr>
                        <a:t>Total</a:t>
                      </a:r>
                      <a:endParaRPr lang="en-US" sz="800" dirty="0">
                        <a:latin typeface="Carlito" charset="0"/>
                        <a:ea typeface="Carlito" charset="0"/>
                        <a:cs typeface="Carlito" charset="0"/>
                      </a:endParaRPr>
                    </a:p>
                  </a:txBody>
                  <a:tcPr marL="78581" marR="114300" marT="114300" marB="78581" anchor="ctr">
                    <a:lnL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rlito" charset="0"/>
                        <a:ea typeface="Carlito" charset="0"/>
                        <a:cs typeface="Carlito" charset="0"/>
                      </a:endParaRPr>
                    </a:p>
                  </a:txBody>
                  <a:tcPr marL="78581" marR="114300" marT="114300" marB="78581" anchor="ctr">
                    <a:lnL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b="1" dirty="0">
                          <a:solidFill>
                            <a:srgbClr val="16305B"/>
                          </a:solidFill>
                          <a:latin typeface="Carlito" pitchFamily="34" charset="0"/>
                          <a:ea typeface="Carlito" pitchFamily="34" charset="-122"/>
                          <a:cs typeface="Carlito" pitchFamily="34" charset="-120"/>
                        </a:rPr>
                        <a:t>628 lines of Java</a:t>
                      </a:r>
                      <a:endParaRPr lang="en-US" sz="800" dirty="0">
                        <a:latin typeface="Carlito" charset="0"/>
                        <a:ea typeface="Carlito" charset="0"/>
                        <a:cs typeface="Carlito" charset="0"/>
                      </a:endParaRPr>
                    </a:p>
                  </a:txBody>
                  <a:tcPr marL="78581" marR="114300" marT="114300" marB="78581" anchor="ctr">
                    <a:lnL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b="1" dirty="0">
                          <a:solidFill>
                            <a:srgbClr val="8A5A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628</a:t>
                      </a:r>
                      <a:endParaRPr lang="en-US" sz="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8581" marR="114300" marT="114300" marB="78581" anchor="ctr">
                    <a:lnL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pic>
        <p:nvPicPr>
          <p:cNvPr id="11" name="Image 0" descr="/tmp/h2p-fit-1792001661526-vxte7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33504" y="964518"/>
            <a:ext cx="3210446" cy="247877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537076" y="3546872"/>
            <a:ext cx="1562360" cy="519708"/>
          </a:xfrm>
          <a:prstGeom prst="roundRect">
            <a:avLst>
              <a:gd name="adj" fmla="val 18328"/>
            </a:avLst>
          </a:prstGeom>
          <a:solidFill>
            <a:srgbClr val="F4F7FB"/>
          </a:solidFill>
          <a:ln w="7144">
            <a:solidFill>
              <a:srgbClr val="D9E2EF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3" name="Text 9"/>
          <p:cNvSpPr/>
          <p:nvPr/>
        </p:nvSpPr>
        <p:spPr>
          <a:xfrm>
            <a:off x="5626373" y="3719715"/>
            <a:ext cx="385316" cy="174022"/>
          </a:xfrm>
          <a:prstGeom prst="roundRect">
            <a:avLst>
              <a:gd name="adj" fmla="val 32841"/>
            </a:avLst>
          </a:prstGeom>
          <a:solidFill>
            <a:srgbClr val="B7791F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4" name="Text 10"/>
          <p:cNvSpPr/>
          <p:nvPr/>
        </p:nvSpPr>
        <p:spPr>
          <a:xfrm>
            <a:off x="5626373" y="3729038"/>
            <a:ext cx="385316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ts val="886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2 of 5</a:t>
            </a:r>
            <a:endParaRPr lang="en-US" sz="800" dirty="0"/>
          </a:p>
        </p:txBody>
      </p:sp>
      <p:sp>
        <p:nvSpPr>
          <p:cNvPr id="15" name="Text 11"/>
          <p:cNvSpPr/>
          <p:nvPr/>
        </p:nvSpPr>
        <p:spPr>
          <a:xfrm>
            <a:off x="6083126" y="3621881"/>
            <a:ext cx="927013" cy="10651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 fontScale="25000" lnSpcReduction="20000"/>
          </a:bodyPr>
          <a:lstStyle/>
          <a:p>
            <a:pPr marL="0" indent="0" algn="l">
              <a:lnSpc>
                <a:spcPts val="1055"/>
              </a:lnSpc>
              <a:buNone/>
            </a:pPr>
            <a:r>
              <a:rPr lang="en-US" sz="800" b="1" dirty="0">
                <a:solidFill>
                  <a:srgbClr val="16305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Song.java</a:t>
            </a:r>
            <a:endParaRPr lang="en-US" sz="800" dirty="0"/>
          </a:p>
        </p:txBody>
      </p:sp>
      <p:sp>
        <p:nvSpPr>
          <p:cNvPr id="16" name="Text 12"/>
          <p:cNvSpPr/>
          <p:nvPr/>
        </p:nvSpPr>
        <p:spPr>
          <a:xfrm>
            <a:off x="6083126" y="3755827"/>
            <a:ext cx="927013" cy="235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928"/>
              </a:lnSpc>
              <a:buNone/>
            </a:pPr>
            <a:r>
              <a:rPr lang="en-US" sz="800" dirty="0">
                <a:solidFill>
                  <a:srgbClr val="5B6B84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encapsulation &amp; the file format</a:t>
            </a:r>
            <a:endParaRPr lang="en-US" sz="800" dirty="0"/>
          </a:p>
        </p:txBody>
      </p:sp>
      <p:sp>
        <p:nvSpPr>
          <p:cNvPr id="17" name="Text 13"/>
          <p:cNvSpPr/>
          <p:nvPr/>
        </p:nvSpPr>
        <p:spPr>
          <a:xfrm>
            <a:off x="7178018" y="3546872"/>
            <a:ext cx="1562360" cy="519708"/>
          </a:xfrm>
          <a:prstGeom prst="roundRect">
            <a:avLst>
              <a:gd name="adj" fmla="val 18328"/>
            </a:avLst>
          </a:prstGeom>
          <a:solidFill>
            <a:srgbClr val="F4F7FB"/>
          </a:solidFill>
          <a:ln w="7144">
            <a:solidFill>
              <a:srgbClr val="D9E2EF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8" name="Text 14"/>
          <p:cNvSpPr/>
          <p:nvPr/>
        </p:nvSpPr>
        <p:spPr>
          <a:xfrm>
            <a:off x="7267315" y="3719715"/>
            <a:ext cx="385316" cy="174022"/>
          </a:xfrm>
          <a:prstGeom prst="roundRect">
            <a:avLst>
              <a:gd name="adj" fmla="val 32841"/>
            </a:avLst>
          </a:prstGeom>
          <a:solidFill>
            <a:srgbClr val="B7791F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9" name="Text 15"/>
          <p:cNvSpPr/>
          <p:nvPr/>
        </p:nvSpPr>
        <p:spPr>
          <a:xfrm>
            <a:off x="7267315" y="3729038"/>
            <a:ext cx="385316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ts val="886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3 of 5</a:t>
            </a:r>
            <a:endParaRPr lang="en-US" sz="800" dirty="0"/>
          </a:p>
        </p:txBody>
      </p:sp>
      <p:sp>
        <p:nvSpPr>
          <p:cNvPr id="20" name="Text 16"/>
          <p:cNvSpPr/>
          <p:nvPr/>
        </p:nvSpPr>
        <p:spPr>
          <a:xfrm>
            <a:off x="7724068" y="3680817"/>
            <a:ext cx="927013" cy="10651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 fontScale="25000" lnSpcReduction="20000"/>
          </a:bodyPr>
          <a:lstStyle/>
          <a:p>
            <a:pPr marL="0" indent="0" algn="l">
              <a:lnSpc>
                <a:spcPts val="1055"/>
              </a:lnSpc>
              <a:buNone/>
            </a:pPr>
            <a:r>
              <a:rPr lang="en-US" sz="800" b="1" dirty="0">
                <a:solidFill>
                  <a:srgbClr val="16305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Playlist.java</a:t>
            </a:r>
            <a:endParaRPr lang="en-US" sz="800" dirty="0"/>
          </a:p>
        </p:txBody>
      </p:sp>
      <p:sp>
        <p:nvSpPr>
          <p:cNvPr id="21" name="Text 17"/>
          <p:cNvSpPr/>
          <p:nvPr/>
        </p:nvSpPr>
        <p:spPr>
          <a:xfrm>
            <a:off x="7724068" y="3814763"/>
            <a:ext cx="976461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928"/>
              </a:lnSpc>
              <a:buNone/>
            </a:pPr>
            <a:r>
              <a:rPr lang="en-US" sz="619" dirty="0">
                <a:solidFill>
                  <a:srgbClr val="5B6B84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ArrayList &amp; the printf table</a:t>
            </a:r>
            <a:endParaRPr lang="en-US" sz="619" dirty="0"/>
          </a:p>
        </p:txBody>
      </p:sp>
      <p:sp>
        <p:nvSpPr>
          <p:cNvPr id="22" name="Text 18"/>
          <p:cNvSpPr/>
          <p:nvPr/>
        </p:nvSpPr>
        <p:spPr>
          <a:xfrm>
            <a:off x="5537076" y="4145161"/>
            <a:ext cx="1562360" cy="401836"/>
          </a:xfrm>
          <a:prstGeom prst="roundRect">
            <a:avLst>
              <a:gd name="adj" fmla="val 23704"/>
            </a:avLst>
          </a:prstGeom>
          <a:solidFill>
            <a:srgbClr val="F4F7FB"/>
          </a:solidFill>
          <a:ln w="7144">
            <a:solidFill>
              <a:srgbClr val="D9E2EF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3" name="Text 19"/>
          <p:cNvSpPr/>
          <p:nvPr/>
        </p:nvSpPr>
        <p:spPr>
          <a:xfrm>
            <a:off x="5626373" y="4259068"/>
            <a:ext cx="385316" cy="174022"/>
          </a:xfrm>
          <a:prstGeom prst="roundRect">
            <a:avLst>
              <a:gd name="adj" fmla="val 32841"/>
            </a:avLst>
          </a:prstGeom>
          <a:solidFill>
            <a:srgbClr val="B7791F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4" name="Text 20"/>
          <p:cNvSpPr/>
          <p:nvPr/>
        </p:nvSpPr>
        <p:spPr>
          <a:xfrm>
            <a:off x="5626373" y="4268391"/>
            <a:ext cx="385316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ts val="886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4 of 5</a:t>
            </a:r>
            <a:endParaRPr lang="en-US" sz="800" dirty="0"/>
          </a:p>
        </p:txBody>
      </p:sp>
      <p:sp>
        <p:nvSpPr>
          <p:cNvPr id="25" name="Text 21"/>
          <p:cNvSpPr/>
          <p:nvPr/>
        </p:nvSpPr>
        <p:spPr>
          <a:xfrm>
            <a:off x="6083126" y="4220170"/>
            <a:ext cx="927013" cy="10651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 fontScale="25000" lnSpcReduction="20000"/>
          </a:bodyPr>
          <a:lstStyle/>
          <a:p>
            <a:pPr marL="0" indent="0" algn="l">
              <a:lnSpc>
                <a:spcPts val="1055"/>
              </a:lnSpc>
              <a:buNone/>
            </a:pPr>
            <a:r>
              <a:rPr lang="en-US" sz="703" b="1" dirty="0">
                <a:solidFill>
                  <a:srgbClr val="16305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StatsManager.java</a:t>
            </a:r>
            <a:endParaRPr lang="en-US" sz="703" dirty="0"/>
          </a:p>
        </p:txBody>
      </p:sp>
      <p:sp>
        <p:nvSpPr>
          <p:cNvPr id="26" name="Text 22"/>
          <p:cNvSpPr/>
          <p:nvPr/>
        </p:nvSpPr>
        <p:spPr>
          <a:xfrm>
            <a:off x="6083126" y="4354116"/>
            <a:ext cx="927013" cy="1178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28"/>
              </a:lnSpc>
              <a:buNone/>
            </a:pPr>
            <a:r>
              <a:rPr lang="en-US" sz="619" dirty="0">
                <a:solidFill>
                  <a:srgbClr val="5B6B84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the HashMap maths</a:t>
            </a:r>
            <a:endParaRPr lang="en-US" sz="619" dirty="0"/>
          </a:p>
        </p:txBody>
      </p:sp>
      <p:sp>
        <p:nvSpPr>
          <p:cNvPr id="27" name="Text 23"/>
          <p:cNvSpPr/>
          <p:nvPr/>
        </p:nvSpPr>
        <p:spPr>
          <a:xfrm>
            <a:off x="7178018" y="4145161"/>
            <a:ext cx="1562360" cy="401836"/>
          </a:xfrm>
          <a:prstGeom prst="roundRect">
            <a:avLst>
              <a:gd name="adj" fmla="val 23704"/>
            </a:avLst>
          </a:prstGeom>
          <a:solidFill>
            <a:srgbClr val="F4F7FB"/>
          </a:solidFill>
          <a:ln w="7144">
            <a:solidFill>
              <a:srgbClr val="D9E2EF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8" name="Text 24"/>
          <p:cNvSpPr/>
          <p:nvPr/>
        </p:nvSpPr>
        <p:spPr>
          <a:xfrm>
            <a:off x="7267315" y="4259068"/>
            <a:ext cx="385316" cy="174022"/>
          </a:xfrm>
          <a:prstGeom prst="roundRect">
            <a:avLst>
              <a:gd name="adj" fmla="val 32841"/>
            </a:avLst>
          </a:prstGeom>
          <a:solidFill>
            <a:srgbClr val="B7791F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9" name="Text 25"/>
          <p:cNvSpPr/>
          <p:nvPr/>
        </p:nvSpPr>
        <p:spPr>
          <a:xfrm>
            <a:off x="7267315" y="4268391"/>
            <a:ext cx="385316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ts val="886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5 of 5</a:t>
            </a:r>
            <a:endParaRPr lang="en-US" sz="800" dirty="0"/>
          </a:p>
        </p:txBody>
      </p:sp>
      <p:sp>
        <p:nvSpPr>
          <p:cNvPr id="30" name="Text 26"/>
          <p:cNvSpPr/>
          <p:nvPr/>
        </p:nvSpPr>
        <p:spPr>
          <a:xfrm>
            <a:off x="7724068" y="4220170"/>
            <a:ext cx="927013" cy="10651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 fontScale="25000" lnSpcReduction="20000"/>
          </a:bodyPr>
          <a:lstStyle/>
          <a:p>
            <a:pPr marL="0" indent="0" algn="l">
              <a:lnSpc>
                <a:spcPts val="1055"/>
              </a:lnSpc>
              <a:buNone/>
            </a:pPr>
            <a:r>
              <a:rPr lang="en-US" sz="800" b="1" dirty="0">
                <a:solidFill>
                  <a:srgbClr val="16305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Main.java</a:t>
            </a:r>
            <a:endParaRPr lang="en-US" sz="800" dirty="0"/>
          </a:p>
        </p:txBody>
      </p:sp>
      <p:sp>
        <p:nvSpPr>
          <p:cNvPr id="31" name="Text 27"/>
          <p:cNvSpPr/>
          <p:nvPr/>
        </p:nvSpPr>
        <p:spPr>
          <a:xfrm>
            <a:off x="7724068" y="4354116"/>
            <a:ext cx="927013" cy="1178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28"/>
              </a:lnSpc>
              <a:buNone/>
            </a:pPr>
            <a:r>
              <a:rPr lang="en-US" sz="619" dirty="0">
                <a:solidFill>
                  <a:srgbClr val="5B6B84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menu loop &amp; auto-save</a:t>
            </a:r>
            <a:endParaRPr lang="en-US" sz="619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00050" y="257175"/>
            <a:ext cx="257175" cy="257175"/>
          </a:xfrm>
          <a:prstGeom prst="roundRect">
            <a:avLst>
              <a:gd name="adj" fmla="val 33333"/>
            </a:avLst>
          </a:prstGeom>
          <a:solidFill>
            <a:srgbClr val="B7791F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94147" y="300038"/>
            <a:ext cx="163078" cy="1851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5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8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57238" y="287536"/>
            <a:ext cx="3489704" cy="21216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547"/>
              </a:lnSpc>
              <a:buNone/>
            </a:pPr>
            <a:r>
              <a:rPr lang="en-US" sz="1406" b="1" dirty="0">
                <a:solidFill>
                  <a:srgbClr val="16305B"/>
                </a:solidFill>
                <a:latin typeface="Tinos" pitchFamily="34" charset="0"/>
                <a:ea typeface="Tinos" pitchFamily="34" charset="-122"/>
                <a:cs typeface="Tinos" pitchFamily="34" charset="-120"/>
              </a:rPr>
              <a:t>Implementation — Java Code Screenshots</a:t>
            </a:r>
            <a:endParaRPr lang="en-US" sz="1406" dirty="0"/>
          </a:p>
        </p:txBody>
      </p:sp>
      <p:sp>
        <p:nvSpPr>
          <p:cNvPr id="5" name="Text 3"/>
          <p:cNvSpPr/>
          <p:nvPr/>
        </p:nvSpPr>
        <p:spPr>
          <a:xfrm>
            <a:off x="4088457" y="382191"/>
            <a:ext cx="2912976" cy="7144"/>
          </a:xfrm>
          <a:prstGeom prst="rect">
            <a:avLst/>
          </a:prstGeom>
          <a:solidFill>
            <a:srgbClr val="D9E2EF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7105017" y="280392"/>
            <a:ext cx="1635361" cy="210741"/>
          </a:xfrm>
          <a:prstGeom prst="roundRect">
            <a:avLst>
              <a:gd name="adj" fmla="val 36158"/>
            </a:avLst>
          </a:prstGeom>
          <a:solidFill>
            <a:srgbClr val="FDF6E7"/>
          </a:solidFill>
          <a:ln w="7144">
            <a:solidFill>
              <a:srgbClr val="E8D5AC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7101446" y="276820"/>
            <a:ext cx="1642504" cy="304246"/>
          </a:xfrm>
          <a:prstGeom prst="rect">
            <a:avLst/>
          </a:prstGeom>
          <a:noFill/>
          <a:ln/>
        </p:spPr>
        <p:txBody>
          <a:bodyPr wrap="none" lIns="85725" tIns="42863" rIns="85725" bIns="42863" rtlCol="0" anchor="t"/>
          <a:lstStyle/>
          <a:p>
            <a:pPr marL="0" indent="0" algn="l">
              <a:lnSpc>
                <a:spcPts val="928"/>
              </a:lnSpc>
              <a:buNone/>
            </a:pPr>
            <a:r>
              <a:rPr lang="en-US" sz="800" kern="0" spc="37" dirty="0">
                <a:solidFill>
                  <a:srgbClr val="8A5A14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(2 of 5) · Song.java — Model</a:t>
            </a:r>
            <a:endParaRPr lang="en-US" sz="800" dirty="0"/>
          </a:p>
        </p:txBody>
      </p:sp>
      <p:pic>
        <p:nvPicPr>
          <p:cNvPr id="8" name="Image 0" descr="/tmp/h2p-fit-1792001660371-b7y7e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3596" y="585788"/>
            <a:ext cx="8343900" cy="4386263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00050" y="257175"/>
            <a:ext cx="257175" cy="257175"/>
          </a:xfrm>
          <a:prstGeom prst="roundRect">
            <a:avLst>
              <a:gd name="adj" fmla="val 33333"/>
            </a:avLst>
          </a:prstGeom>
          <a:solidFill>
            <a:srgbClr val="B7791F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94147" y="300038"/>
            <a:ext cx="163078" cy="1851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5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8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57238" y="287536"/>
            <a:ext cx="3489704" cy="21216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547"/>
              </a:lnSpc>
              <a:buNone/>
            </a:pPr>
            <a:r>
              <a:rPr lang="en-US" sz="1406" b="1" dirty="0">
                <a:solidFill>
                  <a:srgbClr val="16305B"/>
                </a:solidFill>
                <a:latin typeface="Tinos" pitchFamily="34" charset="0"/>
                <a:ea typeface="Tinos" pitchFamily="34" charset="-122"/>
                <a:cs typeface="Tinos" pitchFamily="34" charset="-120"/>
              </a:rPr>
              <a:t>Implementation — Java Code Screenshots</a:t>
            </a:r>
            <a:endParaRPr lang="en-US" sz="1406" dirty="0"/>
          </a:p>
        </p:txBody>
      </p:sp>
      <p:sp>
        <p:nvSpPr>
          <p:cNvPr id="5" name="Text 3"/>
          <p:cNvSpPr/>
          <p:nvPr/>
        </p:nvSpPr>
        <p:spPr>
          <a:xfrm>
            <a:off x="4088457" y="382191"/>
            <a:ext cx="2340694" cy="7144"/>
          </a:xfrm>
          <a:prstGeom prst="rect">
            <a:avLst/>
          </a:prstGeom>
          <a:solidFill>
            <a:srgbClr val="D9E2EF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6532736" y="280392"/>
            <a:ext cx="2207642" cy="210741"/>
          </a:xfrm>
          <a:prstGeom prst="roundRect">
            <a:avLst>
              <a:gd name="adj" fmla="val 36158"/>
            </a:avLst>
          </a:prstGeom>
          <a:solidFill>
            <a:srgbClr val="FDF6E7"/>
          </a:solidFill>
          <a:ln w="7144">
            <a:solidFill>
              <a:srgbClr val="E8D5AC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6529164" y="276820"/>
            <a:ext cx="2214786" cy="304246"/>
          </a:xfrm>
          <a:prstGeom prst="rect">
            <a:avLst/>
          </a:prstGeom>
          <a:noFill/>
          <a:ln/>
        </p:spPr>
        <p:txBody>
          <a:bodyPr wrap="square" lIns="85725" tIns="42863" rIns="85725" bIns="42863" rtlCol="0" anchor="t"/>
          <a:lstStyle/>
          <a:p>
            <a:pPr marL="0" indent="0" algn="l">
              <a:lnSpc>
                <a:spcPts val="928"/>
              </a:lnSpc>
              <a:buNone/>
            </a:pPr>
            <a:r>
              <a:rPr lang="en-US" sz="800" kern="0" spc="37" dirty="0">
                <a:solidFill>
                  <a:srgbClr val="8A5A1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(3 of 5) · Playlist.java — Data Manager</a:t>
            </a:r>
            <a:endParaRPr lang="en-US" sz="800" dirty="0"/>
          </a:p>
        </p:txBody>
      </p:sp>
      <p:pic>
        <p:nvPicPr>
          <p:cNvPr id="8" name="Image 0" descr="/tmp/h2p-fit-1792001661837-pqpk0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0050" y="585788"/>
            <a:ext cx="8343900" cy="4386263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00050" y="257175"/>
            <a:ext cx="257175" cy="257175"/>
          </a:xfrm>
          <a:prstGeom prst="roundRect">
            <a:avLst>
              <a:gd name="adj" fmla="val 33333"/>
            </a:avLst>
          </a:prstGeom>
          <a:solidFill>
            <a:srgbClr val="B7791F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94147" y="300038"/>
            <a:ext cx="163078" cy="1851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5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8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57238" y="287536"/>
            <a:ext cx="3489704" cy="21216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547"/>
              </a:lnSpc>
              <a:buNone/>
            </a:pPr>
            <a:r>
              <a:rPr lang="en-US" sz="1406" b="1" dirty="0">
                <a:solidFill>
                  <a:srgbClr val="16305B"/>
                </a:solidFill>
                <a:latin typeface="Tinos" pitchFamily="34" charset="0"/>
                <a:ea typeface="Tinos" pitchFamily="34" charset="-122"/>
                <a:cs typeface="Tinos" pitchFamily="34" charset="-120"/>
              </a:rPr>
              <a:t>Implementation — Java Code Screenshots</a:t>
            </a:r>
            <a:endParaRPr lang="en-US" sz="1406" dirty="0"/>
          </a:p>
        </p:txBody>
      </p:sp>
      <p:sp>
        <p:nvSpPr>
          <p:cNvPr id="5" name="Text 3"/>
          <p:cNvSpPr/>
          <p:nvPr/>
        </p:nvSpPr>
        <p:spPr>
          <a:xfrm>
            <a:off x="4088457" y="382191"/>
            <a:ext cx="1872555" cy="7144"/>
          </a:xfrm>
          <a:prstGeom prst="rect">
            <a:avLst/>
          </a:prstGeom>
          <a:solidFill>
            <a:srgbClr val="D9E2EF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6064597" y="280392"/>
            <a:ext cx="2675781" cy="210741"/>
          </a:xfrm>
          <a:prstGeom prst="roundRect">
            <a:avLst>
              <a:gd name="adj" fmla="val 36158"/>
            </a:avLst>
          </a:prstGeom>
          <a:solidFill>
            <a:srgbClr val="FDF6E7"/>
          </a:solidFill>
          <a:ln w="7144">
            <a:solidFill>
              <a:srgbClr val="E8D5AC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6061025" y="276820"/>
            <a:ext cx="2682925" cy="304246"/>
          </a:xfrm>
          <a:prstGeom prst="rect">
            <a:avLst/>
          </a:prstGeom>
          <a:noFill/>
          <a:ln/>
        </p:spPr>
        <p:txBody>
          <a:bodyPr wrap="square" lIns="85725" tIns="42863" rIns="85725" bIns="42863" rtlCol="0" anchor="t"/>
          <a:lstStyle/>
          <a:p>
            <a:pPr marL="0" indent="0" algn="l">
              <a:lnSpc>
                <a:spcPts val="928"/>
              </a:lnSpc>
              <a:buNone/>
            </a:pPr>
            <a:r>
              <a:rPr lang="en-US" sz="800" kern="0" spc="37" dirty="0">
                <a:solidFill>
                  <a:srgbClr val="8A5A1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(4 of 5) · StatsManager.java — Statistics Engine</a:t>
            </a:r>
            <a:endParaRPr lang="en-US" sz="800" dirty="0"/>
          </a:p>
        </p:txBody>
      </p:sp>
      <p:pic>
        <p:nvPicPr>
          <p:cNvPr id="8" name="Image 0" descr="/tmp/h2p-fit-1792001662248-lg7tg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0050" y="585788"/>
            <a:ext cx="8343900" cy="4386263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00050" y="257175"/>
            <a:ext cx="257175" cy="257175"/>
          </a:xfrm>
          <a:prstGeom prst="roundRect">
            <a:avLst>
              <a:gd name="adj" fmla="val 33333"/>
            </a:avLst>
          </a:prstGeom>
          <a:solidFill>
            <a:srgbClr val="B7791F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94147" y="300038"/>
            <a:ext cx="163078" cy="1851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5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8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57238" y="287536"/>
            <a:ext cx="3489704" cy="21216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547"/>
              </a:lnSpc>
              <a:buNone/>
            </a:pPr>
            <a:r>
              <a:rPr lang="en-US" sz="1406" b="1" dirty="0">
                <a:solidFill>
                  <a:srgbClr val="16305B"/>
                </a:solidFill>
                <a:latin typeface="Tinos" pitchFamily="34" charset="0"/>
                <a:ea typeface="Tinos" pitchFamily="34" charset="-122"/>
                <a:cs typeface="Tinos" pitchFamily="34" charset="-120"/>
              </a:rPr>
              <a:t>Implementation — Java Code Screenshots</a:t>
            </a:r>
            <a:endParaRPr lang="en-US" sz="1406" dirty="0"/>
          </a:p>
        </p:txBody>
      </p:sp>
      <p:sp>
        <p:nvSpPr>
          <p:cNvPr id="5" name="Text 3"/>
          <p:cNvSpPr/>
          <p:nvPr/>
        </p:nvSpPr>
        <p:spPr>
          <a:xfrm>
            <a:off x="4088457" y="382191"/>
            <a:ext cx="2652899" cy="7144"/>
          </a:xfrm>
          <a:prstGeom prst="rect">
            <a:avLst/>
          </a:prstGeom>
          <a:solidFill>
            <a:srgbClr val="D9E2EF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6844940" y="280392"/>
            <a:ext cx="1895438" cy="210741"/>
          </a:xfrm>
          <a:prstGeom prst="roundRect">
            <a:avLst>
              <a:gd name="adj" fmla="val 36158"/>
            </a:avLst>
          </a:prstGeom>
          <a:solidFill>
            <a:srgbClr val="FDF6E7"/>
          </a:solidFill>
          <a:ln w="7144">
            <a:solidFill>
              <a:srgbClr val="E8D5AC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6841368" y="276820"/>
            <a:ext cx="1902582" cy="304246"/>
          </a:xfrm>
          <a:prstGeom prst="rect">
            <a:avLst/>
          </a:prstGeom>
          <a:noFill/>
          <a:ln/>
        </p:spPr>
        <p:txBody>
          <a:bodyPr wrap="square" lIns="85725" tIns="42863" rIns="85725" bIns="42863" rtlCol="0" anchor="t"/>
          <a:lstStyle/>
          <a:p>
            <a:pPr marL="0" indent="0" algn="l">
              <a:lnSpc>
                <a:spcPts val="928"/>
              </a:lnSpc>
              <a:buNone/>
            </a:pPr>
            <a:r>
              <a:rPr lang="en-US" sz="800" kern="0" spc="37" dirty="0">
                <a:solidFill>
                  <a:srgbClr val="8A5A14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(5 of 5) · Main.java — Controller</a:t>
            </a:r>
            <a:endParaRPr lang="en-US" sz="800" dirty="0"/>
          </a:p>
        </p:txBody>
      </p:sp>
      <p:pic>
        <p:nvPicPr>
          <p:cNvPr id="8" name="Image 0" descr="/tmp/h2p-fit-1792001662235-96anf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0050" y="585788"/>
            <a:ext cx="8343900" cy="4386263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28625" y="371475"/>
            <a:ext cx="328613" cy="328613"/>
          </a:xfrm>
          <a:prstGeom prst="roundRect">
            <a:avLst>
              <a:gd name="adj" fmla="val 28985"/>
            </a:avLst>
          </a:prstGeom>
          <a:solidFill>
            <a:srgbClr val="B7791F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47725" y="423267"/>
            <a:ext cx="209513" cy="2430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772"/>
              </a:lnSpc>
              <a:buNone/>
            </a:pPr>
            <a:r>
              <a:rPr lang="en-US" sz="1181" b="1" dirty="0">
                <a:solidFill>
                  <a:srgbClr val="FFFFFF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9</a:t>
            </a:r>
            <a:endParaRPr lang="en-US" sz="1181" dirty="0"/>
          </a:p>
        </p:txBody>
      </p:sp>
      <p:sp>
        <p:nvSpPr>
          <p:cNvPr id="4" name="Text 2"/>
          <p:cNvSpPr/>
          <p:nvPr/>
        </p:nvSpPr>
        <p:spPr>
          <a:xfrm>
            <a:off x="885825" y="402171"/>
            <a:ext cx="2550263" cy="2884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04"/>
              </a:lnSpc>
              <a:buNone/>
            </a:pPr>
            <a:r>
              <a:rPr lang="en-US" sz="1913" b="1" dirty="0">
                <a:solidFill>
                  <a:srgbClr val="16305B"/>
                </a:solidFill>
                <a:latin typeface="Tinos" pitchFamily="34" charset="0"/>
                <a:ea typeface="Tinos" pitchFamily="34" charset="-122"/>
                <a:cs typeface="Tinos" pitchFamily="34" charset="-120"/>
              </a:rPr>
              <a:t>Output Screenshots</a:t>
            </a:r>
            <a:endParaRPr lang="en-US" sz="1913" dirty="0"/>
          </a:p>
        </p:txBody>
      </p:sp>
      <p:sp>
        <p:nvSpPr>
          <p:cNvPr id="5" name="Text 3"/>
          <p:cNvSpPr/>
          <p:nvPr/>
        </p:nvSpPr>
        <p:spPr>
          <a:xfrm>
            <a:off x="3054623" y="532209"/>
            <a:ext cx="5660752" cy="7144"/>
          </a:xfrm>
          <a:prstGeom prst="rect">
            <a:avLst/>
          </a:prstGeom>
          <a:solidFill>
            <a:srgbClr val="D9E2EF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6" name="Image 0" descr="/tmp/h2p-fit-1792001657423-6y079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8625" y="800100"/>
            <a:ext cx="4086225" cy="3536156"/>
          </a:xfrm>
          <a:prstGeom prst="rect">
            <a:avLst/>
          </a:prstGeom>
        </p:spPr>
      </p:pic>
      <p:pic>
        <p:nvPicPr>
          <p:cNvPr id="7" name="Image 1" descr="/tmp/h2p-fit-1792001657435-uy7tlv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29150" y="800100"/>
            <a:ext cx="4086225" cy="3536156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428625" y="4414838"/>
            <a:ext cx="114300" cy="1143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125" dirty="0">
                <a:solidFill>
                  <a:srgbClr val="8A5A14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▦</a:t>
            </a:r>
            <a:endParaRPr lang="en-US" sz="1125" dirty="0"/>
          </a:p>
        </p:txBody>
      </p:sp>
      <p:sp>
        <p:nvSpPr>
          <p:cNvPr id="9" name="Text 5"/>
          <p:cNvSpPr/>
          <p:nvPr/>
        </p:nvSpPr>
        <p:spPr>
          <a:xfrm>
            <a:off x="592931" y="4407694"/>
            <a:ext cx="3921919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949"/>
              </a:lnSpc>
              <a:buNone/>
            </a:pPr>
            <a:r>
              <a:rPr lang="en-US" sz="800" dirty="0">
                <a:solidFill>
                  <a:srgbClr val="5B6B84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Real table rendered with </a:t>
            </a:r>
            <a:r>
              <a:rPr lang="en-US" sz="800" b="1" dirty="0">
                <a:solidFill>
                  <a:srgbClr val="16305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printf</a:t>
            </a:r>
            <a:r>
              <a:rPr lang="en-US" sz="800" dirty="0">
                <a:solidFill>
                  <a:srgbClr val="5B6B84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— columns stay aligned.</a:t>
            </a:r>
            <a:endParaRPr lang="en-US" sz="800" dirty="0"/>
          </a:p>
        </p:txBody>
      </p:sp>
      <p:sp>
        <p:nvSpPr>
          <p:cNvPr id="10" name="Text 6"/>
          <p:cNvSpPr/>
          <p:nvPr/>
        </p:nvSpPr>
        <p:spPr>
          <a:xfrm>
            <a:off x="4629150" y="4414838"/>
            <a:ext cx="114300" cy="1143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125" dirty="0">
                <a:solidFill>
                  <a:srgbClr val="8A5A14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↗</a:t>
            </a:r>
            <a:endParaRPr lang="en-US" sz="1125" dirty="0"/>
          </a:p>
        </p:txBody>
      </p:sp>
      <p:sp>
        <p:nvSpPr>
          <p:cNvPr id="11" name="Text 7"/>
          <p:cNvSpPr/>
          <p:nvPr/>
        </p:nvSpPr>
        <p:spPr>
          <a:xfrm>
            <a:off x="4793456" y="4407694"/>
            <a:ext cx="3921919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949"/>
              </a:lnSpc>
              <a:buNone/>
            </a:pPr>
            <a:r>
              <a:rPr lang="en-US" sz="800" dirty="0">
                <a:solidFill>
                  <a:srgbClr val="5B6B84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Believer moved </a:t>
            </a:r>
            <a:r>
              <a:rPr lang="en-US" sz="800" b="1" dirty="0">
                <a:solidFill>
                  <a:srgbClr val="16305B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51 → 52</a:t>
            </a:r>
            <a:r>
              <a:rPr lang="en-US" sz="800" dirty="0">
                <a:solidFill>
                  <a:srgbClr val="5B6B84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plays; totals recomputed live.</a:t>
            </a:r>
            <a:endParaRPr lang="en-US" sz="800" dirty="0"/>
          </a:p>
        </p:txBody>
      </p:sp>
      <p:sp>
        <p:nvSpPr>
          <p:cNvPr id="12" name="Text 8"/>
          <p:cNvSpPr/>
          <p:nvPr/>
        </p:nvSpPr>
        <p:spPr>
          <a:xfrm>
            <a:off x="432197" y="4604147"/>
            <a:ext cx="8279606" cy="278606"/>
          </a:xfrm>
          <a:prstGeom prst="roundRect">
            <a:avLst>
              <a:gd name="adj" fmla="val 34188"/>
            </a:avLst>
          </a:prstGeom>
          <a:solidFill>
            <a:srgbClr val="FBF3E2"/>
          </a:solidFill>
          <a:ln w="7144">
            <a:solidFill>
              <a:srgbClr val="E8D5A9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3" name="Text 9"/>
          <p:cNvSpPr/>
          <p:nvPr/>
        </p:nvSpPr>
        <p:spPr>
          <a:xfrm>
            <a:off x="550069" y="4672013"/>
            <a:ext cx="142875" cy="1428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406" dirty="0">
                <a:solidFill>
                  <a:srgbClr val="8A5A14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◉</a:t>
            </a:r>
            <a:endParaRPr lang="en-US" sz="1406" dirty="0"/>
          </a:p>
        </p:txBody>
      </p:sp>
      <p:sp>
        <p:nvSpPr>
          <p:cNvPr id="14" name="Text 10"/>
          <p:cNvSpPr/>
          <p:nvPr/>
        </p:nvSpPr>
        <p:spPr>
          <a:xfrm>
            <a:off x="771525" y="4680942"/>
            <a:ext cx="7822406" cy="1339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984"/>
              </a:lnSpc>
              <a:buNone/>
            </a:pPr>
            <a:r>
              <a:rPr lang="en-US" sz="800" dirty="0">
                <a:solidFill>
                  <a:srgbClr val="23304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Live output of </a:t>
            </a:r>
            <a:r>
              <a:rPr lang="en-US" sz="800" dirty="0">
                <a:solidFill>
                  <a:srgbClr val="2330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java Main</a:t>
            </a:r>
            <a:r>
              <a:rPr lang="en-US" sz="800" dirty="0">
                <a:solidFill>
                  <a:srgbClr val="23304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(OpenJDK 21) — replace with your own machine’s screenshots after running the program.</a:t>
            </a:r>
            <a:endParaRPr lang="en-US" sz="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5763"/>
            <a:ext cx="328613" cy="328613"/>
          </a:xfrm>
          <a:prstGeom prst="roundRect">
            <a:avLst>
              <a:gd name="adj" fmla="val 28985"/>
            </a:avLst>
          </a:prstGeom>
          <a:solidFill>
            <a:srgbClr val="B7791F"/>
          </a:solidFill>
          <a:ln/>
          <a:effectLst>
            <a:outerShdw blurRad="57150" dist="19050" dir="5400000" algn="bl" rotWithShape="0">
              <a:srgbClr val="B7791F">
                <a:alpha val="22000"/>
              </a:srgbClr>
            </a:outerShdw>
          </a:effectLst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57200" y="385763"/>
            <a:ext cx="385763" cy="328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ts val="1772"/>
              </a:lnSpc>
              <a:buNone/>
            </a:pPr>
            <a:r>
              <a:rPr lang="en-US" sz="1181" b="1" dirty="0">
                <a:solidFill>
                  <a:srgbClr val="FFFFFF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10</a:t>
            </a:r>
            <a:endParaRPr lang="en-US" sz="1181" dirty="0"/>
          </a:p>
        </p:txBody>
      </p:sp>
      <p:sp>
        <p:nvSpPr>
          <p:cNvPr id="4" name="Text 2"/>
          <p:cNvSpPr/>
          <p:nvPr/>
        </p:nvSpPr>
        <p:spPr>
          <a:xfrm>
            <a:off x="900113" y="416458"/>
            <a:ext cx="7786688" cy="2884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04"/>
              </a:lnSpc>
              <a:buNone/>
            </a:pPr>
            <a:r>
              <a:rPr lang="en-US" sz="1913" b="1" dirty="0">
                <a:solidFill>
                  <a:srgbClr val="16305B"/>
                </a:solidFill>
                <a:latin typeface="Tinos" pitchFamily="34" charset="0"/>
                <a:ea typeface="Tinos" pitchFamily="34" charset="-122"/>
                <a:cs typeface="Tinos" pitchFamily="34" charset="-120"/>
              </a:rPr>
              <a:t>Future Scope</a:t>
            </a:r>
            <a:endParaRPr lang="en-US" sz="1913" dirty="0"/>
          </a:p>
        </p:txBody>
      </p:sp>
      <p:sp>
        <p:nvSpPr>
          <p:cNvPr id="5" name="Text 3"/>
          <p:cNvSpPr/>
          <p:nvPr/>
        </p:nvSpPr>
        <p:spPr>
          <a:xfrm>
            <a:off x="457200" y="828675"/>
            <a:ext cx="8229600" cy="14288"/>
          </a:xfrm>
          <a:prstGeom prst="rect">
            <a:avLst/>
          </a:prstGeom>
          <a:solidFill>
            <a:srgbClr val="D9E2EF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457200" y="821531"/>
            <a:ext cx="457200" cy="28575"/>
          </a:xfrm>
          <a:prstGeom prst="roundRect">
            <a:avLst>
              <a:gd name="adj" fmla="val 66667"/>
            </a:avLst>
          </a:prstGeom>
          <a:solidFill>
            <a:srgbClr val="B7791F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457200" y="971550"/>
            <a:ext cx="8229600" cy="1967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34"/>
              </a:lnSpc>
              <a:buNone/>
            </a:pPr>
            <a:r>
              <a:rPr lang="en-US" sz="956" dirty="0">
                <a:solidFill>
                  <a:srgbClr val="5B6B84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The modular design leaves clean extension points for the next versions.</a:t>
            </a:r>
            <a:endParaRPr lang="en-US" sz="956" dirty="0"/>
          </a:p>
        </p:txBody>
      </p:sp>
      <p:sp>
        <p:nvSpPr>
          <p:cNvPr id="8" name="Text 6"/>
          <p:cNvSpPr/>
          <p:nvPr/>
        </p:nvSpPr>
        <p:spPr>
          <a:xfrm>
            <a:off x="460772" y="1314450"/>
            <a:ext cx="2640732" cy="1659136"/>
          </a:xfrm>
          <a:prstGeom prst="roundRect">
            <a:avLst>
              <a:gd name="adj" fmla="val 5741"/>
            </a:avLst>
          </a:prstGeom>
          <a:solidFill>
            <a:srgbClr val="FFFFFF"/>
          </a:solidFill>
          <a:ln w="7144">
            <a:solidFill>
              <a:srgbClr val="D9E2EF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650081" y="1778347"/>
            <a:ext cx="328613" cy="328613"/>
          </a:xfrm>
          <a:prstGeom prst="roundRect">
            <a:avLst>
              <a:gd name="adj" fmla="val 31884"/>
            </a:avLst>
          </a:prstGeom>
          <a:solidFill>
            <a:srgbClr val="B7791F">
              <a:alpha val="12000"/>
            </a:srgbClr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684907" y="1813173"/>
            <a:ext cx="258961" cy="2589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758" dirty="0">
                <a:solidFill>
                  <a:srgbClr val="8A5A14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▢</a:t>
            </a:r>
            <a:endParaRPr lang="en-US" sz="1758" dirty="0"/>
          </a:p>
        </p:txBody>
      </p:sp>
      <p:sp>
        <p:nvSpPr>
          <p:cNvPr id="11" name="Text 9"/>
          <p:cNvSpPr/>
          <p:nvPr/>
        </p:nvSpPr>
        <p:spPr>
          <a:xfrm>
            <a:off x="1078706" y="1843534"/>
            <a:ext cx="1833488" cy="21409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561"/>
              </a:lnSpc>
              <a:buNone/>
            </a:pPr>
            <a:r>
              <a:rPr lang="en-US" sz="1041" dirty="0">
                <a:solidFill>
                  <a:srgbClr val="16305B"/>
                </a:solidFill>
                <a:latin typeface="Tinos" pitchFamily="34" charset="0"/>
                <a:ea typeface="Tinos" pitchFamily="34" charset="-122"/>
                <a:cs typeface="Tinos" pitchFamily="34" charset="-120"/>
              </a:rPr>
              <a:t>GUI version</a:t>
            </a:r>
            <a:endParaRPr lang="en-US" sz="1041" dirty="0"/>
          </a:p>
        </p:txBody>
      </p:sp>
      <p:sp>
        <p:nvSpPr>
          <p:cNvPr id="12" name="Text 10"/>
          <p:cNvSpPr/>
          <p:nvPr/>
        </p:nvSpPr>
        <p:spPr>
          <a:xfrm>
            <a:off x="650081" y="2199829"/>
            <a:ext cx="2262113" cy="3399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21"/>
              </a:lnSpc>
              <a:buNone/>
            </a:pPr>
            <a:r>
              <a:rPr lang="en-US" sz="800" dirty="0">
                <a:solidFill>
                  <a:srgbClr val="23304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A Swing / JavaFX front-end with buttons and lists instead of typed menu numbers.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3251522" y="1314450"/>
            <a:ext cx="2640843" cy="1659136"/>
          </a:xfrm>
          <a:prstGeom prst="roundRect">
            <a:avLst>
              <a:gd name="adj" fmla="val 5741"/>
            </a:avLst>
          </a:prstGeom>
          <a:solidFill>
            <a:srgbClr val="FFFFFF"/>
          </a:solidFill>
          <a:ln w="7144">
            <a:solidFill>
              <a:srgbClr val="D9E2EF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3440832" y="1778347"/>
            <a:ext cx="328613" cy="328613"/>
          </a:xfrm>
          <a:prstGeom prst="roundRect">
            <a:avLst>
              <a:gd name="adj" fmla="val 31884"/>
            </a:avLst>
          </a:prstGeom>
          <a:solidFill>
            <a:srgbClr val="B7791F">
              <a:alpha val="12000"/>
            </a:srgbClr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3475658" y="1813173"/>
            <a:ext cx="258961" cy="2589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758" dirty="0">
                <a:solidFill>
                  <a:srgbClr val="8A5A14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▦</a:t>
            </a:r>
            <a:endParaRPr lang="en-US" sz="1758" dirty="0"/>
          </a:p>
        </p:txBody>
      </p:sp>
      <p:sp>
        <p:nvSpPr>
          <p:cNvPr id="16" name="Text 14"/>
          <p:cNvSpPr/>
          <p:nvPr/>
        </p:nvSpPr>
        <p:spPr>
          <a:xfrm>
            <a:off x="3869457" y="1843534"/>
            <a:ext cx="1833600" cy="21409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561"/>
              </a:lnSpc>
              <a:buNone/>
            </a:pPr>
            <a:r>
              <a:rPr lang="en-US" sz="1041" dirty="0">
                <a:solidFill>
                  <a:srgbClr val="16305B"/>
                </a:solidFill>
                <a:latin typeface="Tinos" pitchFamily="34" charset="0"/>
                <a:ea typeface="Tinos" pitchFamily="34" charset="-122"/>
                <a:cs typeface="Tinos" pitchFamily="34" charset="-120"/>
              </a:rPr>
              <a:t>Database storage</a:t>
            </a:r>
            <a:endParaRPr lang="en-US" sz="1041" dirty="0"/>
          </a:p>
        </p:txBody>
      </p:sp>
      <p:sp>
        <p:nvSpPr>
          <p:cNvPr id="17" name="Text 15"/>
          <p:cNvSpPr/>
          <p:nvPr/>
        </p:nvSpPr>
        <p:spPr>
          <a:xfrm>
            <a:off x="3440832" y="2199829"/>
            <a:ext cx="2262225" cy="3399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21"/>
              </a:lnSpc>
              <a:buNone/>
            </a:pPr>
            <a:r>
              <a:rPr lang="en-US" sz="800" dirty="0">
                <a:solidFill>
                  <a:srgbClr val="23304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Move from text file to MySQL via JDBC to support many users and large libraries.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6042385" y="1314450"/>
            <a:ext cx="2640732" cy="1659136"/>
          </a:xfrm>
          <a:prstGeom prst="roundRect">
            <a:avLst>
              <a:gd name="adj" fmla="val 5741"/>
            </a:avLst>
          </a:prstGeom>
          <a:solidFill>
            <a:srgbClr val="FFFFFF"/>
          </a:solidFill>
          <a:ln w="7144">
            <a:solidFill>
              <a:srgbClr val="D9E2EF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6231694" y="1778347"/>
            <a:ext cx="328613" cy="328613"/>
          </a:xfrm>
          <a:prstGeom prst="roundRect">
            <a:avLst>
              <a:gd name="adj" fmla="val 31884"/>
            </a:avLst>
          </a:prstGeom>
          <a:solidFill>
            <a:srgbClr val="B7791F">
              <a:alpha val="12000"/>
            </a:srgbClr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6266520" y="1813173"/>
            <a:ext cx="258961" cy="2589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758" dirty="0">
                <a:solidFill>
                  <a:srgbClr val="8A5A14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✦</a:t>
            </a:r>
            <a:endParaRPr lang="en-US" sz="1758" dirty="0"/>
          </a:p>
        </p:txBody>
      </p:sp>
      <p:sp>
        <p:nvSpPr>
          <p:cNvPr id="21" name="Text 19"/>
          <p:cNvSpPr/>
          <p:nvPr/>
        </p:nvSpPr>
        <p:spPr>
          <a:xfrm>
            <a:off x="6660319" y="1843534"/>
            <a:ext cx="1833488" cy="21409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561"/>
              </a:lnSpc>
              <a:buNone/>
            </a:pPr>
            <a:r>
              <a:rPr lang="en-US" sz="1041" dirty="0">
                <a:solidFill>
                  <a:srgbClr val="16305B"/>
                </a:solidFill>
                <a:latin typeface="Tinos" pitchFamily="34" charset="0"/>
                <a:ea typeface="Tinos" pitchFamily="34" charset="-122"/>
                <a:cs typeface="Tinos" pitchFamily="34" charset="-120"/>
              </a:rPr>
              <a:t>Shuffle and queue</a:t>
            </a:r>
            <a:endParaRPr lang="en-US" sz="1041" dirty="0"/>
          </a:p>
        </p:txBody>
      </p:sp>
      <p:sp>
        <p:nvSpPr>
          <p:cNvPr id="22" name="Text 20"/>
          <p:cNvSpPr/>
          <p:nvPr/>
        </p:nvSpPr>
        <p:spPr>
          <a:xfrm>
            <a:off x="6231694" y="2199829"/>
            <a:ext cx="2262113" cy="3399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21"/>
              </a:lnSpc>
              <a:buNone/>
            </a:pPr>
            <a:r>
              <a:rPr lang="en-US" sz="800" dirty="0">
                <a:solidFill>
                  <a:srgbClr val="23304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Random play order and a play-next queue like real music players.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460772" y="3123605"/>
            <a:ext cx="2640732" cy="1659136"/>
          </a:xfrm>
          <a:prstGeom prst="roundRect">
            <a:avLst>
              <a:gd name="adj" fmla="val 5741"/>
            </a:avLst>
          </a:prstGeom>
          <a:solidFill>
            <a:srgbClr val="FFFFFF"/>
          </a:solidFill>
          <a:ln w="7144">
            <a:solidFill>
              <a:srgbClr val="D9E2EF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650081" y="3587502"/>
            <a:ext cx="328613" cy="328613"/>
          </a:xfrm>
          <a:prstGeom prst="roundRect">
            <a:avLst>
              <a:gd name="adj" fmla="val 31884"/>
            </a:avLst>
          </a:prstGeom>
          <a:solidFill>
            <a:srgbClr val="B7791F">
              <a:alpha val="12000"/>
            </a:srgbClr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684907" y="3622328"/>
            <a:ext cx="258961" cy="2589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758" dirty="0">
                <a:solidFill>
                  <a:srgbClr val="8A5A14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👍</a:t>
            </a:r>
            <a:endParaRPr lang="en-US" sz="1758" dirty="0"/>
          </a:p>
        </p:txBody>
      </p:sp>
      <p:sp>
        <p:nvSpPr>
          <p:cNvPr id="26" name="Text 24"/>
          <p:cNvSpPr/>
          <p:nvPr/>
        </p:nvSpPr>
        <p:spPr>
          <a:xfrm>
            <a:off x="1078706" y="3652689"/>
            <a:ext cx="1833488" cy="21409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561"/>
              </a:lnSpc>
              <a:buNone/>
            </a:pPr>
            <a:r>
              <a:rPr lang="en-US" sz="1041" dirty="0">
                <a:solidFill>
                  <a:srgbClr val="16305B"/>
                </a:solidFill>
                <a:latin typeface="Tinos" pitchFamily="34" charset="0"/>
                <a:ea typeface="Tinos" pitchFamily="34" charset="-122"/>
                <a:cs typeface="Tinos" pitchFamily="34" charset="-120"/>
              </a:rPr>
              <a:t>Smart recommendations</a:t>
            </a:r>
            <a:endParaRPr lang="en-US" sz="1041" dirty="0"/>
          </a:p>
        </p:txBody>
      </p:sp>
      <p:sp>
        <p:nvSpPr>
          <p:cNvPr id="27" name="Text 25"/>
          <p:cNvSpPr/>
          <p:nvPr/>
        </p:nvSpPr>
        <p:spPr>
          <a:xfrm>
            <a:off x="650081" y="4008983"/>
            <a:ext cx="2262113" cy="3399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21"/>
              </a:lnSpc>
              <a:buNone/>
            </a:pPr>
            <a:r>
              <a:rPr lang="en-US" sz="800" dirty="0">
                <a:solidFill>
                  <a:srgbClr val="23304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Suggest songs from the favourite artist and unplayed titles.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3251522" y="3123605"/>
            <a:ext cx="2640843" cy="1659136"/>
          </a:xfrm>
          <a:prstGeom prst="roundRect">
            <a:avLst>
              <a:gd name="adj" fmla="val 5741"/>
            </a:avLst>
          </a:prstGeom>
          <a:solidFill>
            <a:srgbClr val="FFFFFF"/>
          </a:solidFill>
          <a:ln w="7144">
            <a:solidFill>
              <a:srgbClr val="D9E2EF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9" name="Text 27"/>
          <p:cNvSpPr/>
          <p:nvPr/>
        </p:nvSpPr>
        <p:spPr>
          <a:xfrm>
            <a:off x="3440832" y="3664967"/>
            <a:ext cx="328613" cy="328613"/>
          </a:xfrm>
          <a:prstGeom prst="roundRect">
            <a:avLst>
              <a:gd name="adj" fmla="val 31884"/>
            </a:avLst>
          </a:prstGeom>
          <a:solidFill>
            <a:srgbClr val="B7791F">
              <a:alpha val="12000"/>
            </a:srgbClr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3475658" y="3699793"/>
            <a:ext cx="258961" cy="2589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758" dirty="0">
                <a:solidFill>
                  <a:srgbClr val="8A5A14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▣</a:t>
            </a:r>
            <a:endParaRPr lang="en-US" sz="1758" dirty="0"/>
          </a:p>
        </p:txBody>
      </p:sp>
      <p:sp>
        <p:nvSpPr>
          <p:cNvPr id="31" name="Text 29"/>
          <p:cNvSpPr/>
          <p:nvPr/>
        </p:nvSpPr>
        <p:spPr>
          <a:xfrm>
            <a:off x="3869457" y="3730154"/>
            <a:ext cx="1833600" cy="21409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561"/>
              </a:lnSpc>
              <a:buNone/>
            </a:pPr>
            <a:r>
              <a:rPr lang="en-US" sz="1041" dirty="0">
                <a:solidFill>
                  <a:srgbClr val="16305B"/>
                </a:solidFill>
                <a:latin typeface="Tinos" pitchFamily="34" charset="0"/>
                <a:ea typeface="Tinos" pitchFamily="34" charset="-122"/>
                <a:cs typeface="Tinos" pitchFamily="34" charset="-120"/>
              </a:rPr>
              <a:t>Report export</a:t>
            </a:r>
            <a:endParaRPr lang="en-US" sz="1041" dirty="0"/>
          </a:p>
        </p:txBody>
      </p:sp>
      <p:sp>
        <p:nvSpPr>
          <p:cNvPr id="32" name="Text 30"/>
          <p:cNvSpPr/>
          <p:nvPr/>
        </p:nvSpPr>
        <p:spPr>
          <a:xfrm>
            <a:off x="3440832" y="4086448"/>
            <a:ext cx="2371953" cy="169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21"/>
              </a:lnSpc>
              <a:buNone/>
            </a:pPr>
            <a:r>
              <a:rPr lang="en-US" sz="788" dirty="0">
                <a:solidFill>
                  <a:srgbClr val="23304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Generate a weekly listening report as PDF or CSV.</a:t>
            </a:r>
            <a:endParaRPr lang="en-US" sz="788" dirty="0"/>
          </a:p>
        </p:txBody>
      </p:sp>
      <p:sp>
        <p:nvSpPr>
          <p:cNvPr id="33" name="Text 31"/>
          <p:cNvSpPr/>
          <p:nvPr/>
        </p:nvSpPr>
        <p:spPr>
          <a:xfrm>
            <a:off x="6042385" y="3123605"/>
            <a:ext cx="2640732" cy="1659136"/>
          </a:xfrm>
          <a:prstGeom prst="roundRect">
            <a:avLst>
              <a:gd name="adj" fmla="val 5741"/>
            </a:avLst>
          </a:prstGeom>
          <a:solidFill>
            <a:srgbClr val="FFFFFF"/>
          </a:solidFill>
          <a:ln w="7144">
            <a:solidFill>
              <a:srgbClr val="D9E2EF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6231694" y="3587502"/>
            <a:ext cx="328613" cy="328613"/>
          </a:xfrm>
          <a:prstGeom prst="roundRect">
            <a:avLst>
              <a:gd name="adj" fmla="val 31884"/>
            </a:avLst>
          </a:prstGeom>
          <a:solidFill>
            <a:srgbClr val="B7791F">
              <a:alpha val="12000"/>
            </a:srgbClr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5" name="Text 33"/>
          <p:cNvSpPr/>
          <p:nvPr/>
        </p:nvSpPr>
        <p:spPr>
          <a:xfrm>
            <a:off x="6266520" y="3622328"/>
            <a:ext cx="258961" cy="2589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758" dirty="0">
                <a:solidFill>
                  <a:srgbClr val="8A5A14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▦</a:t>
            </a:r>
            <a:endParaRPr lang="en-US" sz="1758" dirty="0"/>
          </a:p>
        </p:txBody>
      </p:sp>
      <p:sp>
        <p:nvSpPr>
          <p:cNvPr id="36" name="Text 34"/>
          <p:cNvSpPr/>
          <p:nvPr/>
        </p:nvSpPr>
        <p:spPr>
          <a:xfrm>
            <a:off x="6660319" y="3652689"/>
            <a:ext cx="1833488" cy="21409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561"/>
              </a:lnSpc>
              <a:buNone/>
            </a:pPr>
            <a:r>
              <a:rPr lang="en-US" sz="1041" dirty="0">
                <a:solidFill>
                  <a:srgbClr val="16305B"/>
                </a:solidFill>
                <a:latin typeface="Tinos" pitchFamily="34" charset="0"/>
                <a:ea typeface="Tinos" pitchFamily="34" charset="-122"/>
                <a:cs typeface="Tinos" pitchFamily="34" charset="-120"/>
              </a:rPr>
              <a:t>Real audio playback</a:t>
            </a:r>
            <a:endParaRPr lang="en-US" sz="1041" dirty="0"/>
          </a:p>
        </p:txBody>
      </p:sp>
      <p:sp>
        <p:nvSpPr>
          <p:cNvPr id="37" name="Text 35"/>
          <p:cNvSpPr/>
          <p:nvPr/>
        </p:nvSpPr>
        <p:spPr>
          <a:xfrm>
            <a:off x="6231694" y="4008983"/>
            <a:ext cx="2262113" cy="3399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21"/>
              </a:lnSpc>
              <a:buNone/>
            </a:pPr>
            <a:r>
              <a:rPr lang="en-US" sz="800" dirty="0">
                <a:solidFill>
                  <a:srgbClr val="23304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Integrate an audio library so playing a song actually produces sound.</a:t>
            </a:r>
            <a:endParaRPr lang="en-US" sz="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42900"/>
            <a:ext cx="328613" cy="328613"/>
          </a:xfrm>
          <a:prstGeom prst="roundRect">
            <a:avLst>
              <a:gd name="adj" fmla="val 28985"/>
            </a:avLst>
          </a:prstGeom>
          <a:solidFill>
            <a:srgbClr val="B7791F"/>
          </a:solidFill>
          <a:ln/>
          <a:effectLst>
            <a:outerShdw blurRad="57150" dist="19050" dir="5400000" algn="bl" rotWithShape="0">
              <a:srgbClr val="B7791F">
                <a:alpha val="22000"/>
              </a:srgbClr>
            </a:outerShdw>
          </a:effectLst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57200" y="342900"/>
            <a:ext cx="385763" cy="328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ts val="1772"/>
              </a:lnSpc>
              <a:buNone/>
            </a:pPr>
            <a:r>
              <a:rPr lang="en-US" sz="1181" b="1" dirty="0">
                <a:solidFill>
                  <a:srgbClr val="FFFFFF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11</a:t>
            </a:r>
            <a:endParaRPr lang="en-US" sz="1181" dirty="0"/>
          </a:p>
        </p:txBody>
      </p:sp>
      <p:sp>
        <p:nvSpPr>
          <p:cNvPr id="4" name="Text 2"/>
          <p:cNvSpPr/>
          <p:nvPr/>
        </p:nvSpPr>
        <p:spPr>
          <a:xfrm>
            <a:off x="900113" y="373596"/>
            <a:ext cx="7786688" cy="2884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04"/>
              </a:lnSpc>
              <a:buNone/>
            </a:pPr>
            <a:r>
              <a:rPr lang="en-US" sz="1913" b="1" dirty="0">
                <a:solidFill>
                  <a:srgbClr val="16305B"/>
                </a:solidFill>
                <a:latin typeface="Tinos" pitchFamily="34" charset="0"/>
                <a:ea typeface="Tinos" pitchFamily="34" charset="-122"/>
                <a:cs typeface="Tinos" pitchFamily="34" charset="-120"/>
              </a:rPr>
              <a:t>Conclusion</a:t>
            </a:r>
            <a:endParaRPr lang="en-US" sz="1913" dirty="0"/>
          </a:p>
        </p:txBody>
      </p:sp>
      <p:sp>
        <p:nvSpPr>
          <p:cNvPr id="5" name="Text 3"/>
          <p:cNvSpPr/>
          <p:nvPr/>
        </p:nvSpPr>
        <p:spPr>
          <a:xfrm>
            <a:off x="457200" y="785813"/>
            <a:ext cx="8229600" cy="14288"/>
          </a:xfrm>
          <a:prstGeom prst="rect">
            <a:avLst/>
          </a:prstGeom>
          <a:solidFill>
            <a:srgbClr val="D9E2EF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457200" y="778669"/>
            <a:ext cx="457200" cy="28575"/>
          </a:xfrm>
          <a:prstGeom prst="roundRect">
            <a:avLst>
              <a:gd name="adj" fmla="val 66667"/>
            </a:avLst>
          </a:prstGeom>
          <a:solidFill>
            <a:srgbClr val="B7791F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460772" y="946547"/>
            <a:ext cx="1115876" cy="654211"/>
          </a:xfrm>
          <a:prstGeom prst="roundRect">
            <a:avLst>
              <a:gd name="adj" fmla="val 14560"/>
            </a:avLst>
          </a:prstGeom>
          <a:solidFill>
            <a:srgbClr val="F4F7FB"/>
          </a:solidFill>
          <a:ln w="7144">
            <a:solidFill>
              <a:srgbClr val="D9E2EF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901642" y="1064419"/>
            <a:ext cx="234136" cy="27539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marL="0" indent="0" algn="ctr">
              <a:lnSpc>
                <a:spcPts val="2104"/>
              </a:lnSpc>
              <a:buNone/>
            </a:pPr>
            <a:r>
              <a:rPr lang="en-US" sz="1913" b="1" dirty="0">
                <a:solidFill>
                  <a:srgbClr val="16305B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4</a:t>
            </a:r>
            <a:endParaRPr lang="en-US" sz="1913" dirty="0"/>
          </a:p>
        </p:txBody>
      </p:sp>
      <p:sp>
        <p:nvSpPr>
          <p:cNvPr id="9" name="Text 7"/>
          <p:cNvSpPr/>
          <p:nvPr/>
        </p:nvSpPr>
        <p:spPr>
          <a:xfrm>
            <a:off x="695184" y="1367247"/>
            <a:ext cx="647052" cy="11563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911"/>
              </a:lnSpc>
              <a:buNone/>
            </a:pPr>
            <a:r>
              <a:rPr lang="en-US" sz="675" kern="0" spc="14" dirty="0">
                <a:solidFill>
                  <a:srgbClr val="5B6B84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Java classes</a:t>
            </a:r>
            <a:endParaRPr lang="en-US" sz="675" dirty="0"/>
          </a:p>
        </p:txBody>
      </p:sp>
      <p:sp>
        <p:nvSpPr>
          <p:cNvPr id="10" name="Text 8"/>
          <p:cNvSpPr/>
          <p:nvPr/>
        </p:nvSpPr>
        <p:spPr>
          <a:xfrm>
            <a:off x="1683804" y="946547"/>
            <a:ext cx="1115988" cy="654211"/>
          </a:xfrm>
          <a:prstGeom prst="roundRect">
            <a:avLst>
              <a:gd name="adj" fmla="val 14560"/>
            </a:avLst>
          </a:prstGeom>
          <a:solidFill>
            <a:srgbClr val="F4F7FB"/>
          </a:solidFill>
          <a:ln w="7144">
            <a:solidFill>
              <a:srgbClr val="D9E2EF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2124674" y="1064419"/>
            <a:ext cx="234136" cy="27539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marL="0" indent="0" algn="ctr">
              <a:lnSpc>
                <a:spcPts val="2104"/>
              </a:lnSpc>
              <a:buNone/>
            </a:pPr>
            <a:r>
              <a:rPr lang="en-US" sz="1913" b="1" dirty="0">
                <a:solidFill>
                  <a:srgbClr val="16305B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8</a:t>
            </a:r>
            <a:endParaRPr lang="en-US" sz="1913" dirty="0"/>
          </a:p>
        </p:txBody>
      </p:sp>
      <p:sp>
        <p:nvSpPr>
          <p:cNvPr id="12" name="Text 10"/>
          <p:cNvSpPr/>
          <p:nvPr/>
        </p:nvSpPr>
        <p:spPr>
          <a:xfrm>
            <a:off x="1897029" y="1367247"/>
            <a:ext cx="689538" cy="11563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911"/>
              </a:lnSpc>
              <a:buNone/>
            </a:pPr>
            <a:r>
              <a:rPr lang="en-US" sz="675" kern="0" spc="14" dirty="0">
                <a:solidFill>
                  <a:srgbClr val="5B6B84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menu features</a:t>
            </a:r>
            <a:endParaRPr lang="en-US" sz="675" dirty="0"/>
          </a:p>
        </p:txBody>
      </p:sp>
      <p:sp>
        <p:nvSpPr>
          <p:cNvPr id="13" name="Text 11"/>
          <p:cNvSpPr/>
          <p:nvPr/>
        </p:nvSpPr>
        <p:spPr>
          <a:xfrm>
            <a:off x="2906948" y="946547"/>
            <a:ext cx="1115876" cy="654211"/>
          </a:xfrm>
          <a:prstGeom prst="roundRect">
            <a:avLst>
              <a:gd name="adj" fmla="val 14560"/>
            </a:avLst>
          </a:prstGeom>
          <a:solidFill>
            <a:srgbClr val="F4F7FB"/>
          </a:solidFill>
          <a:ln w="7144">
            <a:solidFill>
              <a:srgbClr val="D9E2EF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2996881" y="1064419"/>
            <a:ext cx="936010" cy="27539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marL="0" indent="0" algn="ctr">
              <a:lnSpc>
                <a:spcPts val="2104"/>
              </a:lnSpc>
              <a:buNone/>
            </a:pPr>
            <a:r>
              <a:rPr lang="en-US" sz="1913" b="1" dirty="0">
                <a:solidFill>
                  <a:srgbClr val="16305B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100%</a:t>
            </a:r>
            <a:endParaRPr lang="en-US" sz="1913" dirty="0"/>
          </a:p>
        </p:txBody>
      </p:sp>
      <p:sp>
        <p:nvSpPr>
          <p:cNvPr id="15" name="Text 13"/>
          <p:cNvSpPr/>
          <p:nvPr/>
        </p:nvSpPr>
        <p:spPr>
          <a:xfrm>
            <a:off x="3109496" y="1367247"/>
            <a:ext cx="710780" cy="11563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911"/>
              </a:lnSpc>
              <a:buNone/>
            </a:pPr>
            <a:r>
              <a:rPr lang="en-US" sz="675" kern="0" spc="14" dirty="0">
                <a:solidFill>
                  <a:srgbClr val="5B6B84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offline &amp; free</a:t>
            </a:r>
            <a:endParaRPr lang="en-US" sz="675" dirty="0"/>
          </a:p>
        </p:txBody>
      </p:sp>
      <p:sp>
        <p:nvSpPr>
          <p:cNvPr id="16" name="Text 14"/>
          <p:cNvSpPr/>
          <p:nvPr/>
        </p:nvSpPr>
        <p:spPr>
          <a:xfrm>
            <a:off x="4129980" y="946547"/>
            <a:ext cx="1115988" cy="654211"/>
          </a:xfrm>
          <a:prstGeom prst="roundRect">
            <a:avLst>
              <a:gd name="adj" fmla="val 14560"/>
            </a:avLst>
          </a:prstGeom>
          <a:solidFill>
            <a:srgbClr val="F4F7FB"/>
          </a:solidFill>
          <a:ln w="7144">
            <a:solidFill>
              <a:srgbClr val="D9E2EF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4570850" y="1064419"/>
            <a:ext cx="234136" cy="27539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marL="0" indent="0" algn="ctr">
              <a:lnSpc>
                <a:spcPts val="2104"/>
              </a:lnSpc>
              <a:buNone/>
            </a:pPr>
            <a:r>
              <a:rPr lang="en-US" sz="1913" b="1" dirty="0">
                <a:solidFill>
                  <a:srgbClr val="16305B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0</a:t>
            </a:r>
            <a:endParaRPr lang="en-US" sz="1913" dirty="0"/>
          </a:p>
        </p:txBody>
      </p:sp>
      <p:sp>
        <p:nvSpPr>
          <p:cNvPr id="18" name="Text 16"/>
          <p:cNvSpPr/>
          <p:nvPr/>
        </p:nvSpPr>
        <p:spPr>
          <a:xfrm>
            <a:off x="4204990" y="1367247"/>
            <a:ext cx="965969" cy="11563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911"/>
              </a:lnSpc>
              <a:buNone/>
            </a:pPr>
            <a:r>
              <a:rPr lang="en-US" sz="675" kern="0" spc="14" dirty="0">
                <a:solidFill>
                  <a:srgbClr val="5B6B84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manual entries per play</a:t>
            </a:r>
            <a:endParaRPr lang="en-US" sz="675" dirty="0"/>
          </a:p>
        </p:txBody>
      </p:sp>
      <p:sp>
        <p:nvSpPr>
          <p:cNvPr id="19" name="Text 17"/>
          <p:cNvSpPr/>
          <p:nvPr/>
        </p:nvSpPr>
        <p:spPr>
          <a:xfrm>
            <a:off x="457200" y="1732917"/>
            <a:ext cx="5031957" cy="2198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603"/>
              </a:lnSpc>
              <a:buNone/>
            </a:pPr>
            <a:r>
              <a:rPr lang="en-US" sz="1069" dirty="0">
                <a:solidFill>
                  <a:srgbClr val="16305B"/>
                </a:solidFill>
                <a:latin typeface="Tinos" pitchFamily="34" charset="0"/>
                <a:ea typeface="Tinos" pitchFamily="34" charset="-122"/>
                <a:cs typeface="Tinos" pitchFamily="34" charset="-120"/>
              </a:rPr>
              <a:t>What we achieved</a:t>
            </a:r>
            <a:endParaRPr lang="en-US" sz="1069" dirty="0"/>
          </a:p>
        </p:txBody>
      </p:sp>
      <p:sp>
        <p:nvSpPr>
          <p:cNvPr id="20" name="Text 18"/>
          <p:cNvSpPr/>
          <p:nvPr/>
        </p:nvSpPr>
        <p:spPr>
          <a:xfrm>
            <a:off x="460772" y="2011524"/>
            <a:ext cx="4785196" cy="2342592"/>
          </a:xfrm>
          <a:prstGeom prst="roundRect">
            <a:avLst>
              <a:gd name="adj" fmla="val 4066"/>
            </a:avLst>
          </a:prstGeom>
          <a:solidFill>
            <a:srgbClr val="FFFFFF"/>
          </a:solidFill>
          <a:ln w="7144">
            <a:solidFill>
              <a:srgbClr val="D9E2EF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621506" y="2265015"/>
            <a:ext cx="142875" cy="1428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406" dirty="0">
                <a:solidFill>
                  <a:srgbClr val="B7791F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✓</a:t>
            </a:r>
            <a:endParaRPr lang="en-US" sz="1406" dirty="0"/>
          </a:p>
        </p:txBody>
      </p:sp>
      <p:sp>
        <p:nvSpPr>
          <p:cNvPr id="22" name="Text 20"/>
          <p:cNvSpPr/>
          <p:nvPr/>
        </p:nvSpPr>
        <p:spPr>
          <a:xfrm>
            <a:off x="850106" y="2181076"/>
            <a:ext cx="4235128" cy="3356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23"/>
              </a:lnSpc>
              <a:buNone/>
            </a:pPr>
            <a:r>
              <a:rPr lang="en-US" sz="816" dirty="0">
                <a:solidFill>
                  <a:srgbClr val="23304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A complete playlist manager built in Core Java — Song, Playlist, StatsManager and Main classes</a:t>
            </a:r>
            <a:endParaRPr lang="en-US" sz="816" dirty="0"/>
          </a:p>
        </p:txBody>
      </p:sp>
      <p:sp>
        <p:nvSpPr>
          <p:cNvPr id="23" name="Shape 21"/>
          <p:cNvSpPr/>
          <p:nvPr/>
        </p:nvSpPr>
        <p:spPr>
          <a:xfrm>
            <a:off x="621506" y="2618631"/>
            <a:ext cx="4463728" cy="0"/>
          </a:xfrm>
          <a:prstGeom prst="line">
            <a:avLst/>
          </a:prstGeom>
          <a:noFill/>
          <a:ln w="7144">
            <a:solidFill>
              <a:srgbClr val="D9E2E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4" name="Text 22"/>
          <p:cNvSpPr/>
          <p:nvPr/>
        </p:nvSpPr>
        <p:spPr>
          <a:xfrm>
            <a:off x="621506" y="2829260"/>
            <a:ext cx="142875" cy="1428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406" dirty="0">
                <a:solidFill>
                  <a:srgbClr val="B7791F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✓</a:t>
            </a:r>
            <a:endParaRPr lang="en-US" sz="1406" dirty="0"/>
          </a:p>
        </p:txBody>
      </p:sp>
      <p:sp>
        <p:nvSpPr>
          <p:cNvPr id="25" name="Text 23"/>
          <p:cNvSpPr/>
          <p:nvPr/>
        </p:nvSpPr>
        <p:spPr>
          <a:xfrm>
            <a:off x="850106" y="2823009"/>
            <a:ext cx="4235128" cy="1678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23"/>
              </a:lnSpc>
              <a:buNone/>
            </a:pPr>
            <a:r>
              <a:rPr lang="en-US" sz="816" dirty="0">
                <a:solidFill>
                  <a:srgbClr val="23304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Automatic play counting with a live statistics engine (totals, favourite artist, Top-5)</a:t>
            </a:r>
            <a:endParaRPr lang="en-US" sz="816" dirty="0"/>
          </a:p>
        </p:txBody>
      </p:sp>
      <p:sp>
        <p:nvSpPr>
          <p:cNvPr id="26" name="Shape 24"/>
          <p:cNvSpPr/>
          <p:nvPr/>
        </p:nvSpPr>
        <p:spPr>
          <a:xfrm>
            <a:off x="621506" y="3182875"/>
            <a:ext cx="4463728" cy="0"/>
          </a:xfrm>
          <a:prstGeom prst="line">
            <a:avLst/>
          </a:prstGeom>
          <a:noFill/>
          <a:ln w="7144">
            <a:solidFill>
              <a:srgbClr val="D9E2E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7" name="Text 25"/>
          <p:cNvSpPr/>
          <p:nvPr/>
        </p:nvSpPr>
        <p:spPr>
          <a:xfrm>
            <a:off x="621506" y="3393504"/>
            <a:ext cx="142875" cy="1428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406" dirty="0">
                <a:solidFill>
                  <a:srgbClr val="B7791F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✓</a:t>
            </a:r>
            <a:endParaRPr lang="en-US" sz="1406" dirty="0"/>
          </a:p>
        </p:txBody>
      </p:sp>
      <p:sp>
        <p:nvSpPr>
          <p:cNvPr id="28" name="Text 26"/>
          <p:cNvSpPr/>
          <p:nvPr/>
        </p:nvSpPr>
        <p:spPr>
          <a:xfrm>
            <a:off x="850106" y="3387254"/>
            <a:ext cx="4235128" cy="1678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23"/>
              </a:lnSpc>
              <a:buNone/>
            </a:pPr>
            <a:r>
              <a:rPr lang="en-US" sz="816" dirty="0">
                <a:solidFill>
                  <a:srgbClr val="23304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Search, sort and persistent text-file storage proven across restarts</a:t>
            </a:r>
            <a:endParaRPr lang="en-US" sz="816" dirty="0"/>
          </a:p>
        </p:txBody>
      </p:sp>
      <p:sp>
        <p:nvSpPr>
          <p:cNvPr id="29" name="Shape 27"/>
          <p:cNvSpPr/>
          <p:nvPr/>
        </p:nvSpPr>
        <p:spPr>
          <a:xfrm>
            <a:off x="621506" y="3747120"/>
            <a:ext cx="4463728" cy="0"/>
          </a:xfrm>
          <a:prstGeom prst="line">
            <a:avLst/>
          </a:prstGeom>
          <a:noFill/>
          <a:ln w="7144">
            <a:solidFill>
              <a:srgbClr val="D9E2E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0" name="Text 28"/>
          <p:cNvSpPr/>
          <p:nvPr/>
        </p:nvSpPr>
        <p:spPr>
          <a:xfrm>
            <a:off x="621506" y="3957749"/>
            <a:ext cx="142875" cy="1428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406" dirty="0">
                <a:solidFill>
                  <a:srgbClr val="B7791F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✓</a:t>
            </a:r>
            <a:endParaRPr lang="en-US" sz="1406" dirty="0"/>
          </a:p>
        </p:txBody>
      </p:sp>
      <p:sp>
        <p:nvSpPr>
          <p:cNvPr id="31" name="Text 29"/>
          <p:cNvSpPr/>
          <p:nvPr/>
        </p:nvSpPr>
        <p:spPr>
          <a:xfrm>
            <a:off x="850106" y="3951498"/>
            <a:ext cx="4235128" cy="1678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23"/>
              </a:lnSpc>
              <a:buNone/>
            </a:pPr>
            <a:r>
              <a:rPr lang="en-US" sz="816" dirty="0">
                <a:solidFill>
                  <a:srgbClr val="23304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All five objectives from Slide 3 verified in the working demo</a:t>
            </a:r>
            <a:endParaRPr lang="en-US" sz="816" dirty="0"/>
          </a:p>
        </p:txBody>
      </p:sp>
      <p:sp>
        <p:nvSpPr>
          <p:cNvPr id="32" name="Text 30"/>
          <p:cNvSpPr/>
          <p:nvPr/>
        </p:nvSpPr>
        <p:spPr>
          <a:xfrm>
            <a:off x="5424562" y="946547"/>
            <a:ext cx="3258666" cy="3407569"/>
          </a:xfrm>
          <a:prstGeom prst="roundRect">
            <a:avLst>
              <a:gd name="adj" fmla="val 2923"/>
            </a:avLst>
          </a:prstGeom>
          <a:solidFill>
            <a:srgbClr val="F4F7FB"/>
          </a:solidFill>
          <a:ln w="7144">
            <a:solidFill>
              <a:srgbClr val="D9E2EF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3" name="Text 31"/>
          <p:cNvSpPr/>
          <p:nvPr/>
        </p:nvSpPr>
        <p:spPr>
          <a:xfrm>
            <a:off x="5585296" y="1092994"/>
            <a:ext cx="2937197" cy="20474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marL="0" indent="0" algn="l">
              <a:lnSpc>
                <a:spcPts val="1603"/>
              </a:lnSpc>
              <a:buNone/>
            </a:pPr>
            <a:r>
              <a:rPr lang="en-US" sz="1069" dirty="0">
                <a:solidFill>
                  <a:srgbClr val="16305B"/>
                </a:solidFill>
                <a:latin typeface="Tinos" pitchFamily="34" charset="0"/>
                <a:ea typeface="Tinos" pitchFamily="34" charset="-122"/>
                <a:cs typeface="Tinos" pitchFamily="34" charset="-120"/>
              </a:rPr>
              <a:t>Learning outcomes</a:t>
            </a:r>
            <a:endParaRPr lang="en-US" sz="1069" dirty="0"/>
          </a:p>
        </p:txBody>
      </p:sp>
      <p:sp>
        <p:nvSpPr>
          <p:cNvPr id="34" name="Text 32"/>
          <p:cNvSpPr/>
          <p:nvPr/>
        </p:nvSpPr>
        <p:spPr>
          <a:xfrm>
            <a:off x="5585296" y="1542715"/>
            <a:ext cx="135731" cy="13573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336" dirty="0">
                <a:solidFill>
                  <a:srgbClr val="8A5A14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▿</a:t>
            </a:r>
            <a:endParaRPr lang="en-US" sz="1336" dirty="0"/>
          </a:p>
        </p:txBody>
      </p:sp>
      <p:sp>
        <p:nvSpPr>
          <p:cNvPr id="35" name="Text 33"/>
          <p:cNvSpPr/>
          <p:nvPr/>
        </p:nvSpPr>
        <p:spPr>
          <a:xfrm>
            <a:off x="5806753" y="1538027"/>
            <a:ext cx="2715741" cy="1590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42"/>
              </a:lnSpc>
              <a:buNone/>
            </a:pPr>
            <a:r>
              <a:rPr lang="en-US" sz="788" b="1" dirty="0">
                <a:solidFill>
                  <a:srgbClr val="16305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OOP encapsulation</a:t>
            </a:r>
            <a:r>
              <a:rPr lang="en-US" sz="788" dirty="0">
                <a:solidFill>
                  <a:srgbClr val="23304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— private data behind public methods</a:t>
            </a:r>
            <a:endParaRPr lang="en-US" sz="788" dirty="0"/>
          </a:p>
        </p:txBody>
      </p:sp>
      <p:sp>
        <p:nvSpPr>
          <p:cNvPr id="36" name="Shape 34"/>
          <p:cNvSpPr/>
          <p:nvPr/>
        </p:nvSpPr>
        <p:spPr>
          <a:xfrm>
            <a:off x="5585296" y="1899568"/>
            <a:ext cx="2937197" cy="0"/>
          </a:xfrm>
          <a:prstGeom prst="line">
            <a:avLst/>
          </a:prstGeom>
          <a:noFill/>
          <a:ln w="7144">
            <a:solidFill>
              <a:srgbClr val="D9E2E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7" name="Text 35"/>
          <p:cNvSpPr/>
          <p:nvPr/>
        </p:nvSpPr>
        <p:spPr>
          <a:xfrm>
            <a:off x="5585296" y="2120689"/>
            <a:ext cx="135731" cy="13573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336" dirty="0">
                <a:solidFill>
                  <a:srgbClr val="8A5A14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▿</a:t>
            </a:r>
            <a:endParaRPr lang="en-US" sz="1336" dirty="0"/>
          </a:p>
        </p:txBody>
      </p:sp>
      <p:sp>
        <p:nvSpPr>
          <p:cNvPr id="38" name="Text 36"/>
          <p:cNvSpPr/>
          <p:nvPr/>
        </p:nvSpPr>
        <p:spPr>
          <a:xfrm>
            <a:off x="5806753" y="2043559"/>
            <a:ext cx="2715741" cy="3181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42"/>
              </a:lnSpc>
              <a:buNone/>
            </a:pPr>
            <a:r>
              <a:rPr lang="en-US" sz="800" b="1" dirty="0">
                <a:solidFill>
                  <a:srgbClr val="16305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Collections</a:t>
            </a:r>
            <a:r>
              <a:rPr lang="en-US" sz="800" dirty="0">
                <a:solidFill>
                  <a:srgbClr val="23304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— ArrayList for storage, HashMap for artist totals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5585296" y="2477542"/>
            <a:ext cx="2937197" cy="0"/>
          </a:xfrm>
          <a:prstGeom prst="line">
            <a:avLst/>
          </a:prstGeom>
          <a:noFill/>
          <a:ln w="7144">
            <a:solidFill>
              <a:srgbClr val="D9E2E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0" name="Text 38"/>
          <p:cNvSpPr/>
          <p:nvPr/>
        </p:nvSpPr>
        <p:spPr>
          <a:xfrm>
            <a:off x="5585296" y="2698663"/>
            <a:ext cx="135731" cy="13573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336" dirty="0">
                <a:solidFill>
                  <a:srgbClr val="8A5A14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▿</a:t>
            </a:r>
            <a:endParaRPr lang="en-US" sz="1336" dirty="0"/>
          </a:p>
        </p:txBody>
      </p:sp>
      <p:sp>
        <p:nvSpPr>
          <p:cNvPr id="41" name="Text 39"/>
          <p:cNvSpPr/>
          <p:nvPr/>
        </p:nvSpPr>
        <p:spPr>
          <a:xfrm>
            <a:off x="5806753" y="2693975"/>
            <a:ext cx="2715741" cy="1590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42"/>
              </a:lnSpc>
              <a:buNone/>
            </a:pPr>
            <a:r>
              <a:rPr lang="en-US" sz="788" b="1" dirty="0">
                <a:solidFill>
                  <a:srgbClr val="16305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File I/O</a:t>
            </a:r>
            <a:r>
              <a:rPr lang="en-US" sz="788" dirty="0">
                <a:solidFill>
                  <a:srgbClr val="23304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— FileWriter saves, Scanner loads, try-catch safety</a:t>
            </a:r>
            <a:endParaRPr lang="en-US" sz="788" dirty="0"/>
          </a:p>
        </p:txBody>
      </p:sp>
      <p:sp>
        <p:nvSpPr>
          <p:cNvPr id="42" name="Shape 40"/>
          <p:cNvSpPr/>
          <p:nvPr/>
        </p:nvSpPr>
        <p:spPr>
          <a:xfrm>
            <a:off x="5585296" y="3055516"/>
            <a:ext cx="2937197" cy="0"/>
          </a:xfrm>
          <a:prstGeom prst="line">
            <a:avLst/>
          </a:prstGeom>
          <a:noFill/>
          <a:ln w="7144">
            <a:solidFill>
              <a:srgbClr val="D9E2E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3" name="Text 41"/>
          <p:cNvSpPr/>
          <p:nvPr/>
        </p:nvSpPr>
        <p:spPr>
          <a:xfrm>
            <a:off x="5585296" y="3276637"/>
            <a:ext cx="135731" cy="13573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336" dirty="0">
                <a:solidFill>
                  <a:srgbClr val="8A5A14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▿</a:t>
            </a:r>
            <a:endParaRPr lang="en-US" sz="1336" dirty="0"/>
          </a:p>
        </p:txBody>
      </p:sp>
      <p:sp>
        <p:nvSpPr>
          <p:cNvPr id="44" name="Text 42"/>
          <p:cNvSpPr/>
          <p:nvPr/>
        </p:nvSpPr>
        <p:spPr>
          <a:xfrm>
            <a:off x="5806753" y="3271949"/>
            <a:ext cx="2715741" cy="1590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42"/>
              </a:lnSpc>
              <a:buNone/>
            </a:pPr>
            <a:r>
              <a:rPr lang="en-US" sz="788" b="1" dirty="0">
                <a:solidFill>
                  <a:srgbClr val="16305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Input validation</a:t>
            </a:r>
            <a:r>
              <a:rPr lang="en-US" sz="788" dirty="0">
                <a:solidFill>
                  <a:srgbClr val="23304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— readInt / readText loops that never crash</a:t>
            </a:r>
            <a:endParaRPr lang="en-US" sz="788" dirty="0"/>
          </a:p>
        </p:txBody>
      </p:sp>
      <p:sp>
        <p:nvSpPr>
          <p:cNvPr id="45" name="Shape 43"/>
          <p:cNvSpPr/>
          <p:nvPr/>
        </p:nvSpPr>
        <p:spPr>
          <a:xfrm>
            <a:off x="5585296" y="3633490"/>
            <a:ext cx="2937197" cy="0"/>
          </a:xfrm>
          <a:prstGeom prst="line">
            <a:avLst/>
          </a:prstGeom>
          <a:noFill/>
          <a:ln w="7144">
            <a:solidFill>
              <a:srgbClr val="D9E2E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6" name="Text 44"/>
          <p:cNvSpPr/>
          <p:nvPr/>
        </p:nvSpPr>
        <p:spPr>
          <a:xfrm>
            <a:off x="5585296" y="3854611"/>
            <a:ext cx="135731" cy="13573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336" dirty="0">
                <a:solidFill>
                  <a:srgbClr val="8A5A14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▿</a:t>
            </a:r>
            <a:endParaRPr lang="en-US" sz="1336" dirty="0"/>
          </a:p>
        </p:txBody>
      </p:sp>
      <p:sp>
        <p:nvSpPr>
          <p:cNvPr id="47" name="Text 45"/>
          <p:cNvSpPr/>
          <p:nvPr/>
        </p:nvSpPr>
        <p:spPr>
          <a:xfrm>
            <a:off x="5806753" y="3849923"/>
            <a:ext cx="2715741" cy="1590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42"/>
              </a:lnSpc>
              <a:buNone/>
            </a:pPr>
            <a:r>
              <a:rPr lang="en-US" sz="788" b="1" dirty="0">
                <a:solidFill>
                  <a:srgbClr val="16305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Modular design</a:t>
            </a:r>
            <a:r>
              <a:rPr lang="en-US" sz="788" dirty="0">
                <a:solidFill>
                  <a:srgbClr val="23304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— each class has one clear responsibility</a:t>
            </a:r>
            <a:endParaRPr lang="en-US" sz="788" dirty="0"/>
          </a:p>
        </p:txBody>
      </p:sp>
      <p:sp>
        <p:nvSpPr>
          <p:cNvPr id="48" name="Text 46"/>
          <p:cNvSpPr/>
          <p:nvPr/>
        </p:nvSpPr>
        <p:spPr>
          <a:xfrm>
            <a:off x="457200" y="4471988"/>
            <a:ext cx="8229600" cy="357188"/>
          </a:xfrm>
          <a:prstGeom prst="roundRect">
            <a:avLst>
              <a:gd name="adj" fmla="val 26667"/>
            </a:avLst>
          </a:prstGeom>
          <a:solidFill>
            <a:srgbClr val="16305B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9" name="Text 47"/>
          <p:cNvSpPr/>
          <p:nvPr/>
        </p:nvSpPr>
        <p:spPr>
          <a:xfrm>
            <a:off x="614363" y="4572000"/>
            <a:ext cx="157163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47" dirty="0">
                <a:solidFill>
                  <a:srgbClr val="F2C879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✓</a:t>
            </a:r>
            <a:endParaRPr lang="en-US" sz="1547" dirty="0"/>
          </a:p>
        </p:txBody>
      </p:sp>
      <p:sp>
        <p:nvSpPr>
          <p:cNvPr id="50" name="Text 48"/>
          <p:cNvSpPr/>
          <p:nvPr/>
        </p:nvSpPr>
        <p:spPr>
          <a:xfrm>
            <a:off x="857250" y="4572893"/>
            <a:ext cx="7672388" cy="1562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23"/>
              </a:lnSpc>
              <a:buNone/>
            </a:pPr>
            <a:r>
              <a:rPr lang="en-US" sz="844" dirty="0">
                <a:solidFill>
                  <a:srgbClr val="EAF0F9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The project meets every planned objective and provides a solid base for the GUI and database upgrades listed in Future Scope.</a:t>
            </a:r>
            <a:endParaRPr lang="en-US" sz="844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89309" y="189309"/>
            <a:ext cx="8765381" cy="4764881"/>
          </a:xfrm>
          <a:prstGeom prst="roundRect">
            <a:avLst>
              <a:gd name="adj" fmla="val 2799"/>
            </a:avLst>
          </a:prstGeom>
          <a:noFill/>
          <a:ln w="7144">
            <a:solidFill>
              <a:srgbClr val="D9E2EF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343400" y="1335546"/>
            <a:ext cx="457200" cy="28575"/>
          </a:xfrm>
          <a:prstGeom prst="roundRect">
            <a:avLst>
              <a:gd name="adj" fmla="val 66667"/>
            </a:avLst>
          </a:prstGeom>
          <a:solidFill>
            <a:srgbClr val="B7791F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274320" y="1549859"/>
            <a:ext cx="8595248" cy="66423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4843"/>
              </a:lnSpc>
              <a:buNone/>
            </a:pPr>
            <a:r>
              <a:rPr lang="en-US" sz="4613" b="1" dirty="0">
                <a:solidFill>
                  <a:srgbClr val="16305B"/>
                </a:solidFill>
                <a:latin typeface="Tinos" pitchFamily="34" charset="0"/>
                <a:ea typeface="Tinos" pitchFamily="34" charset="-122"/>
                <a:cs typeface="Tinos" pitchFamily="34" charset="-120"/>
              </a:rPr>
              <a:t>Thank You</a:t>
            </a:r>
            <a:r>
              <a:rPr lang="en-US" sz="4613" b="1" dirty="0">
                <a:solidFill>
                  <a:srgbClr val="B7791F"/>
                </a:solidFill>
                <a:latin typeface="Tinos" pitchFamily="34" charset="0"/>
                <a:ea typeface="Tinos" pitchFamily="34" charset="-122"/>
                <a:cs typeface="Tinos" pitchFamily="34" charset="-120"/>
              </a:rPr>
              <a:t>!</a:t>
            </a:r>
            <a:endParaRPr lang="en-US" sz="4613" dirty="0"/>
          </a:p>
        </p:txBody>
      </p:sp>
      <p:sp>
        <p:nvSpPr>
          <p:cNvPr id="5" name="Text 3"/>
          <p:cNvSpPr/>
          <p:nvPr/>
        </p:nvSpPr>
        <p:spPr>
          <a:xfrm>
            <a:off x="3132266" y="2264904"/>
            <a:ext cx="2879355" cy="208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519"/>
              </a:lnSpc>
              <a:buNone/>
            </a:pPr>
            <a:r>
              <a:rPr lang="en-US" sz="1013" dirty="0">
                <a:solidFill>
                  <a:srgbClr val="5B6B84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Questions and suggestions are most welcome.</a:t>
            </a:r>
            <a:endParaRPr lang="en-US" sz="1013" dirty="0"/>
          </a:p>
        </p:txBody>
      </p:sp>
      <p:sp>
        <p:nvSpPr>
          <p:cNvPr id="6" name="Text 4"/>
          <p:cNvSpPr/>
          <p:nvPr/>
        </p:nvSpPr>
        <p:spPr>
          <a:xfrm>
            <a:off x="2447739" y="2675669"/>
            <a:ext cx="4248410" cy="350044"/>
          </a:xfrm>
          <a:prstGeom prst="roundRect">
            <a:avLst>
              <a:gd name="adj" fmla="val 2718365"/>
            </a:avLst>
          </a:prstGeom>
          <a:solidFill>
            <a:srgbClr val="FFFFFF"/>
          </a:solidFill>
          <a:ln w="7144">
            <a:solidFill>
              <a:srgbClr val="D9E2EF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2651336" y="2779254"/>
            <a:ext cx="142875" cy="1428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406" dirty="0">
                <a:solidFill>
                  <a:srgbClr val="8A5A14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♪</a:t>
            </a:r>
            <a:endParaRPr lang="en-US" sz="1406" dirty="0"/>
          </a:p>
        </p:txBody>
      </p:sp>
      <p:sp>
        <p:nvSpPr>
          <p:cNvPr id="8" name="Text 6"/>
          <p:cNvSpPr/>
          <p:nvPr/>
        </p:nvSpPr>
        <p:spPr>
          <a:xfrm>
            <a:off x="2865648" y="2764966"/>
            <a:ext cx="3626904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350"/>
              </a:lnSpc>
              <a:buNone/>
            </a:pPr>
            <a:r>
              <a:rPr lang="en-US" sz="900" dirty="0">
                <a:solidFill>
                  <a:srgbClr val="16305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Music Playlist &amp; Listening Stats Manager — Core Java Mini Project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485900" y="4680942"/>
            <a:ext cx="6172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055"/>
              </a:lnSpc>
              <a:buNone/>
            </a:pP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29</TotalTime>
  <Words>2542</Words>
  <Application>Microsoft Office PowerPoint</Application>
  <PresentationFormat>On-screen Show (16:9)</PresentationFormat>
  <Paragraphs>320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4" baseType="lpstr">
      <vt:lpstr>Arial</vt:lpstr>
      <vt:lpstr>Carlito</vt:lpstr>
      <vt:lpstr>Courier New</vt:lpstr>
      <vt:lpstr>Liberation Sans Narrow</vt:lpstr>
      <vt:lpstr>Segoe UI Symbol</vt:lpstr>
      <vt:lpstr>Tinos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Boga Shashank</cp:lastModifiedBy>
  <cp:revision>1</cp:revision>
  <dcterms:created xsi:type="dcterms:W3CDTF">2026-10-14T18:14:22Z</dcterms:created>
  <dcterms:modified xsi:type="dcterms:W3CDTF">2026-10-16T07:44:27Z</dcterms:modified>
</cp:coreProperties>
</file>