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Lst>
  <ns0:sldSz cx="12192000" cy="6858000" type="screen4x3"/>
  <ns0:notesSz cx="6858000" cy="9144000"/>
  <ns0:embeddedFontLst>
    <ns0:embeddedFont>
      <ns0:font typeface="JetBrains Mono"/>
      <ns0:regular ns1:id="rIdFont24"/>
    </ns0:embeddedFont>
    <ns0:embeddedFont>
      <ns0:font typeface="DM Sans"/>
      <ns0:bold ns1:id="rIdFont25"/>
      <ns0:regular ns1:id="rIdFont26"/>
    </ns0:embeddedFont>
    <ns0:embeddedFont>
      <ns0:font typeface="Space Grotesk"/>
      <ns0:bold ns1:id="rIdFont27"/>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Font24" Type="http://schemas.openxmlformats.org/officeDocument/2006/relationships/font" Target="fonts/19492503-4b60-409e-aaee-8fe0dda4af74.fntdata" /><ns0:Relationship Id="rIdFont25" Type="http://schemas.openxmlformats.org/officeDocument/2006/relationships/font" Target="fonts/73c814a9-48eb-4911-abe3-8bcb761d7068.fntdata" /><ns0:Relationship Id="rIdFont26" Type="http://schemas.openxmlformats.org/officeDocument/2006/relationships/font" Target="fonts/d44ba397-52ab-4971-888c-927f33dfbd62.fntdata" /><ns0:Relationship Id="rIdFont27" Type="http://schemas.openxmlformats.org/officeDocument/2006/relationships/font" Target="fonts/92388ce0-1632-45d0-9d9c-f6092ab094db.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85800" y="5314950"/>
            <a:ext cx="10820400" cy="10096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5314950"/>
            <a:ext cx="1082040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3400"/>
            <a:ext cx="11506200" cy="190500"/>
          </a:xfrm>
          <a:prstGeom prst="rect">
            <a:avLst/>
          </a:prstGeom>
          <a:noFill/>
        </p:spPr>
        <p:txBody>
          <a:bodyPr wrap="none" lIns="0" rIns="0" tIns="0" bIns="0" anchor="t">
            <a:spAutoFit/>
          </a:bodyPr>
          <a:lstStyle/>
          <a:p>
            <a:pPr algn="l"/>
            <a:r>
              <a:rPr b="1" sz="1125" i="0" u="none">
                <a:solidFill>
                  <a:srgbClr val="10B981"/>
                </a:solidFill>
                <a:latin typeface="DM Sans"/>
              </a:rPr>
              <a:t>PROBLEM SOLVING USING PROGRAMMING JAVA</a:t>
            </a:r>
          </a:p>
        </p:txBody>
      </p:sp>
      <p:sp>
        <p:nvSpPr>
          <p:cNvPr id="5" name="TextBox 4"/>
          <p:cNvSpPr txBox="1"/>
          <p:nvPr/>
        </p:nvSpPr>
        <p:spPr>
          <a:xfrm>
            <a:off x="685800" y="876300"/>
            <a:ext cx="9101137" cy="1173360"/>
          </a:xfrm>
          <a:prstGeom prst="rect">
            <a:avLst/>
          </a:prstGeom>
          <a:noFill/>
        </p:spPr>
        <p:txBody>
          <a:bodyPr wrap="square" lIns="0" rIns="0" tIns="0" bIns="0" anchor="t">
            <a:spAutoFit/>
          </a:bodyPr>
          <a:lstStyle/>
          <a:p>
            <a:pPr algn="l">
              <a:lnSpc>
                <a:spcPts val="4620"/>
              </a:lnSpc>
            </a:pPr>
            <a:r>
              <a:rPr b="1" sz="4200" i="0" u="none">
                <a:solidFill>
                  <a:srgbClr val="F8FAFC"/>
                </a:solidFill>
                <a:latin typeface="Space Grotesk"/>
              </a:rPr>
              <a:t>Music Playlist &amp; Listening Stats Manager</a:t>
            </a:r>
          </a:p>
        </p:txBody>
      </p:sp>
      <p:sp>
        <p:nvSpPr>
          <p:cNvPr id="6" name="TextBox 5"/>
          <p:cNvSpPr txBox="1"/>
          <p:nvPr/>
        </p:nvSpPr>
        <p:spPr>
          <a:xfrm>
            <a:off x="685800" y="2240160"/>
            <a:ext cx="7524750" cy="533400"/>
          </a:xfrm>
          <a:prstGeom prst="rect">
            <a:avLst/>
          </a:prstGeom>
          <a:noFill/>
        </p:spPr>
        <p:txBody>
          <a:bodyPr wrap="square" lIns="0" rIns="0" tIns="0" bIns="0" anchor="t">
            <a:spAutoFit/>
          </a:bodyPr>
          <a:lstStyle/>
          <a:p>
            <a:pPr algn="l"/>
            <a:r>
              <a:rPr b="0" sz="1575" i="0" u="none">
                <a:solidFill>
                  <a:srgbClr val="94A3B8"/>
                </a:solidFill>
                <a:latin typeface="DM Sans"/>
              </a:rPr>
              <a:t>A console-based Java application to organise a personal music playlist and automatically track listening statistics.</a:t>
            </a:r>
          </a:p>
        </p:txBody>
      </p:sp>
      <p:sp>
        <p:nvSpPr>
          <p:cNvPr id="7" name="TextBox 6"/>
          <p:cNvSpPr txBox="1"/>
          <p:nvPr/>
        </p:nvSpPr>
        <p:spPr>
          <a:xfrm>
            <a:off x="685800" y="5629275"/>
            <a:ext cx="1821656" cy="171450"/>
          </a:xfrm>
          <a:prstGeom prst="rect">
            <a:avLst/>
          </a:prstGeom>
          <a:noFill/>
        </p:spPr>
        <p:txBody>
          <a:bodyPr wrap="none" lIns="0" rIns="0" tIns="0" bIns="0" anchor="t">
            <a:spAutoFit/>
          </a:bodyPr>
          <a:lstStyle/>
          <a:p>
            <a:pPr algn="l"/>
            <a:r>
              <a:rPr b="0" sz="1050" i="0" u="none">
                <a:solidFill>
                  <a:srgbClr val="64748B"/>
                </a:solidFill>
                <a:latin typeface="DM Sans"/>
              </a:rPr>
              <a:t>PRESENTED BY</a:t>
            </a:r>
          </a:p>
        </p:txBody>
      </p:sp>
      <p:sp>
        <p:nvSpPr>
          <p:cNvPr id="8" name="TextBox 7"/>
          <p:cNvSpPr txBox="1"/>
          <p:nvPr/>
        </p:nvSpPr>
        <p:spPr>
          <a:xfrm>
            <a:off x="685800" y="5857875"/>
            <a:ext cx="1821656" cy="247650"/>
          </a:xfrm>
          <a:prstGeom prst="rect">
            <a:avLst/>
          </a:prstGeom>
          <a:noFill/>
        </p:spPr>
        <p:txBody>
          <a:bodyPr wrap="none" lIns="0" rIns="0" tIns="0" bIns="0" anchor="t">
            <a:spAutoFit/>
          </a:bodyPr>
          <a:lstStyle/>
          <a:p>
            <a:pPr algn="l"/>
            <a:r>
              <a:rPr b="1" sz="1500" i="0" u="none">
                <a:solidFill>
                  <a:srgbClr val="F8FAFC"/>
                </a:solidFill>
                <a:latin typeface="DM Sans"/>
              </a:rPr>
              <a:t>Boga Shashank</a:t>
            </a:r>
          </a:p>
        </p:txBody>
      </p:sp>
      <p:sp>
        <p:nvSpPr>
          <p:cNvPr id="9" name="TextBox 8"/>
          <p:cNvSpPr txBox="1"/>
          <p:nvPr/>
        </p:nvSpPr>
        <p:spPr>
          <a:xfrm>
            <a:off x="685800" y="6124575"/>
            <a:ext cx="1821656" cy="200025"/>
          </a:xfrm>
          <a:prstGeom prst="rect">
            <a:avLst/>
          </a:prstGeom>
          <a:noFill/>
        </p:spPr>
        <p:txBody>
          <a:bodyPr wrap="none" lIns="0" rIns="0" tIns="0" bIns="0" anchor="t">
            <a:spAutoFit/>
          </a:bodyPr>
          <a:lstStyle/>
          <a:p>
            <a:pPr algn="l"/>
            <a:r>
              <a:rPr b="0" sz="1200" i="0" u="none">
                <a:solidFill>
                  <a:srgbClr val="10B981"/>
                </a:solidFill>
                <a:latin typeface="DM Sans"/>
              </a:rPr>
              <a:t>Roll No: 2620040175</a:t>
            </a:r>
          </a:p>
        </p:txBody>
      </p:sp>
      <p:sp>
        <p:nvSpPr>
          <p:cNvPr id="10" name="TextBox 9"/>
          <p:cNvSpPr txBox="1"/>
          <p:nvPr/>
        </p:nvSpPr>
        <p:spPr>
          <a:xfrm>
            <a:off x="2600325" y="5629275"/>
            <a:ext cx="2333625" cy="171450"/>
          </a:xfrm>
          <a:prstGeom prst="rect">
            <a:avLst/>
          </a:prstGeom>
          <a:noFill/>
        </p:spPr>
        <p:txBody>
          <a:bodyPr wrap="none" lIns="0" rIns="0" tIns="0" bIns="0" anchor="t">
            <a:spAutoFit/>
          </a:bodyPr>
          <a:lstStyle/>
          <a:p>
            <a:pPr algn="l"/>
            <a:r>
              <a:rPr b="0" sz="1050" i="0" u="none">
                <a:solidFill>
                  <a:srgbClr val="64748B"/>
                </a:solidFill>
                <a:latin typeface="DM Sans"/>
              </a:rPr>
              <a:t>PRESENTED BY</a:t>
            </a:r>
          </a:p>
        </p:txBody>
      </p:sp>
      <p:sp>
        <p:nvSpPr>
          <p:cNvPr id="11" name="TextBox 10"/>
          <p:cNvSpPr txBox="1"/>
          <p:nvPr/>
        </p:nvSpPr>
        <p:spPr>
          <a:xfrm>
            <a:off x="2600325" y="5857875"/>
            <a:ext cx="2333625" cy="247650"/>
          </a:xfrm>
          <a:prstGeom prst="rect">
            <a:avLst/>
          </a:prstGeom>
          <a:noFill/>
        </p:spPr>
        <p:txBody>
          <a:bodyPr wrap="none" lIns="0" rIns="0" tIns="0" bIns="0" anchor="t">
            <a:spAutoFit/>
          </a:bodyPr>
          <a:lstStyle/>
          <a:p>
            <a:pPr algn="l"/>
            <a:r>
              <a:rPr b="1" sz="1500" i="0" u="none">
                <a:solidFill>
                  <a:srgbClr val="F8FAFC"/>
                </a:solidFill>
                <a:latin typeface="DM Sans"/>
              </a:rPr>
              <a:t>Yarlagadda Druveen</a:t>
            </a:r>
          </a:p>
        </p:txBody>
      </p:sp>
      <p:sp>
        <p:nvSpPr>
          <p:cNvPr id="12" name="TextBox 11"/>
          <p:cNvSpPr txBox="1"/>
          <p:nvPr/>
        </p:nvSpPr>
        <p:spPr>
          <a:xfrm>
            <a:off x="2600325" y="6124575"/>
            <a:ext cx="2333625" cy="200025"/>
          </a:xfrm>
          <a:prstGeom prst="rect">
            <a:avLst/>
          </a:prstGeom>
          <a:noFill/>
        </p:spPr>
        <p:txBody>
          <a:bodyPr wrap="none" lIns="0" rIns="0" tIns="0" bIns="0" anchor="t">
            <a:spAutoFit/>
          </a:bodyPr>
          <a:lstStyle/>
          <a:p>
            <a:pPr algn="l"/>
            <a:r>
              <a:rPr b="0" sz="1200" i="0" u="none">
                <a:solidFill>
                  <a:srgbClr val="10B981"/>
                </a:solidFill>
                <a:latin typeface="DM Sans"/>
              </a:rPr>
              <a:t>Roll No: 262003528</a:t>
            </a:r>
          </a:p>
        </p:txBody>
      </p:sp>
      <p:sp>
        <p:nvSpPr>
          <p:cNvPr id="13" name="TextBox 12"/>
          <p:cNvSpPr txBox="1"/>
          <p:nvPr/>
        </p:nvSpPr>
        <p:spPr>
          <a:xfrm>
            <a:off x="9863137" y="5848350"/>
            <a:ext cx="1643062" cy="171450"/>
          </a:xfrm>
          <a:prstGeom prst="rect">
            <a:avLst/>
          </a:prstGeom>
          <a:noFill/>
        </p:spPr>
        <p:txBody>
          <a:bodyPr wrap="none" lIns="0" rIns="0" tIns="0" bIns="0" anchor="t">
            <a:spAutoFit/>
          </a:bodyPr>
          <a:lstStyle/>
          <a:p>
            <a:pPr algn="r"/>
            <a:r>
              <a:rPr b="0" sz="1050" i="0" u="none">
                <a:solidFill>
                  <a:srgbClr val="64748B"/>
                </a:solidFill>
                <a:latin typeface="DM Sans"/>
              </a:rPr>
              <a:t>FACULTY GUIDE</a:t>
            </a:r>
          </a:p>
        </p:txBody>
      </p:sp>
      <p:sp>
        <p:nvSpPr>
          <p:cNvPr id="14" name="TextBox 13"/>
          <p:cNvSpPr txBox="1"/>
          <p:nvPr/>
        </p:nvSpPr>
        <p:spPr>
          <a:xfrm>
            <a:off x="9863137" y="6076950"/>
            <a:ext cx="1643062" cy="247650"/>
          </a:xfrm>
          <a:prstGeom prst="rect">
            <a:avLst/>
          </a:prstGeom>
          <a:noFill/>
        </p:spPr>
        <p:txBody>
          <a:bodyPr wrap="none" lIns="0" rIns="0" tIns="0" bIns="0" anchor="t">
            <a:spAutoFit/>
          </a:bodyPr>
          <a:lstStyle/>
          <a:p>
            <a:pPr algn="r"/>
            <a:r>
              <a:rPr b="1" sz="1500" i="0" u="none">
                <a:solidFill>
                  <a:srgbClr val="F59E0B"/>
                </a:solidFill>
                <a:latin typeface="DM Sans"/>
              </a:rPr>
              <a:t>V GopiKrishna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934200" y="2714625"/>
            <a:ext cx="4648200" cy="2324100"/>
          </a:xfrm>
          <a:prstGeom prst="roundRect">
            <a:avLst>
              <a:gd name="adj" fmla="val 655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953500" y="3057525"/>
            <a:ext cx="609600" cy="609600"/>
          </a:xfrm>
          <a:prstGeom prst="rect">
            <a:avLst/>
          </a:prstGeom>
        </p:spPr>
      </p:pic>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01</a:t>
            </a:r>
          </a:p>
        </p:txBody>
      </p:sp>
      <p:sp>
        <p:nvSpPr>
          <p:cNvPr id="5" name="TextBox 4"/>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1 · Introduction</a:t>
            </a:r>
          </a:p>
        </p:txBody>
      </p:sp>
      <p:sp>
        <p:nvSpPr>
          <p:cNvPr id="6" name="TextBox 5"/>
          <p:cNvSpPr txBox="1"/>
          <p:nvPr/>
        </p:nvSpPr>
        <p:spPr>
          <a:xfrm>
            <a:off x="609600" y="2247900"/>
            <a:ext cx="6038850" cy="714375"/>
          </a:xfrm>
          <a:prstGeom prst="rect">
            <a:avLst/>
          </a:prstGeom>
          <a:noFill/>
        </p:spPr>
        <p:txBody>
          <a:bodyPr wrap="square" lIns="0" rIns="0" tIns="0" bIns="0" anchor="t">
            <a:spAutoFit/>
          </a:bodyPr>
          <a:lstStyle/>
          <a:p>
            <a:pPr algn="l"/>
            <a:r>
              <a:rPr b="0" sz="1425" i="0" u="none">
                <a:solidFill>
                  <a:srgbClr val="334155"/>
                </a:solidFill>
                <a:latin typeface="DM Sans"/>
              </a:rPr>
              <a:t>In the era of Spotify and Apple Music, playlists define how we listen to music. Yet there is no simple, offline tool that records every song you play and summarises your listening habits in one place.</a:t>
            </a:r>
          </a:p>
        </p:txBody>
      </p:sp>
      <p:sp>
        <p:nvSpPr>
          <p:cNvPr id="7" name="TextBox 6"/>
          <p:cNvSpPr txBox="1"/>
          <p:nvPr/>
        </p:nvSpPr>
        <p:spPr>
          <a:xfrm>
            <a:off x="609600" y="3133725"/>
            <a:ext cx="6038850" cy="714375"/>
          </a:xfrm>
          <a:prstGeom prst="rect">
            <a:avLst/>
          </a:prstGeom>
          <a:noFill/>
        </p:spPr>
        <p:txBody>
          <a:bodyPr wrap="square" lIns="0" rIns="0" tIns="0" bIns="0" anchor="t">
            <a:spAutoFit/>
          </a:bodyPr>
          <a:lstStyle/>
          <a:p>
            <a:pPr algn="l"/>
            <a:r>
              <a:rPr b="0" sz="1425" i="0" u="none">
                <a:solidFill>
                  <a:srgbClr val="334155"/>
                </a:solidFill>
                <a:latin typeface="DM Sans"/>
              </a:rPr>
              <a:t>This project is a menu-driven console application built in Core Java that lets a user manage a personal music playlist and automatically tracks how many times each song is played.</a:t>
            </a:r>
          </a:p>
        </p:txBody>
      </p:sp>
      <p:sp>
        <p:nvSpPr>
          <p:cNvPr id="8" name="TextBox 7"/>
          <p:cNvSpPr txBox="1"/>
          <p:nvPr/>
        </p:nvSpPr>
        <p:spPr>
          <a:xfrm>
            <a:off x="6657975" y="3857625"/>
            <a:ext cx="5200650" cy="266700"/>
          </a:xfrm>
          <a:prstGeom prst="rect">
            <a:avLst/>
          </a:prstGeom>
          <a:noFill/>
        </p:spPr>
        <p:txBody>
          <a:bodyPr wrap="none" lIns="0" rIns="0" tIns="0" bIns="0" anchor="t">
            <a:spAutoFit/>
          </a:bodyPr>
          <a:lstStyle/>
          <a:p>
            <a:pPr algn="ctr"/>
            <a:r>
              <a:rPr b="1" sz="1650" i="0" u="none">
                <a:solidFill>
                  <a:srgbClr val="0F172A"/>
                </a:solidFill>
                <a:latin typeface="Space Grotesk"/>
              </a:rPr>
              <a:t>Data-Driven Listening</a:t>
            </a:r>
          </a:p>
        </p:txBody>
      </p:sp>
      <p:sp>
        <p:nvSpPr>
          <p:cNvPr id="9" name="TextBox 8"/>
          <p:cNvSpPr txBox="1"/>
          <p:nvPr/>
        </p:nvSpPr>
        <p:spPr>
          <a:xfrm>
            <a:off x="6781800" y="4238625"/>
            <a:ext cx="4953000" cy="457200"/>
          </a:xfrm>
          <a:prstGeom prst="rect">
            <a:avLst/>
          </a:prstGeom>
          <a:noFill/>
        </p:spPr>
        <p:txBody>
          <a:bodyPr wrap="square" lIns="0" rIns="0" tIns="0" bIns="0" anchor="t">
            <a:spAutoFit/>
          </a:bodyPr>
          <a:lstStyle/>
          <a:p>
            <a:pPr algn="ctr"/>
            <a:r>
              <a:rPr b="0" sz="1350" i="0" u="none">
                <a:solidFill>
                  <a:srgbClr val="475569"/>
                </a:solidFill>
                <a:latin typeface="DM Sans"/>
              </a:rPr>
              <a:t>Playlists generate the data — this project records and analyses it.</a:t>
            </a:r>
          </a:p>
        </p:txBody>
      </p:sp>
      <p:sp>
        <p:nvSpPr>
          <p:cNvPr id="10" name="TextBox 9"/>
          <p:cNvSpPr txBox="1"/>
          <p:nvPr/>
        </p:nvSpPr>
        <p:spPr>
          <a:xfrm>
            <a:off x="609600" y="4076700"/>
            <a:ext cx="7429500"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Built with Core Java:</a:t>
            </a:r>
            <a:r>
              <a:rPr b="0" sz="1350" i="0" u="none">
                <a:solidFill>
                  <a:srgbClr val="0F172A"/>
                </a:solidFill>
                <a:latin typeface="DM Sans"/>
              </a:rPr>
              <a:t> classes &amp; objects, ArrayList, HashMap, File I/O</a:t>
            </a:r>
          </a:p>
        </p:txBody>
      </p:sp>
      <p:sp>
        <p:nvSpPr>
          <p:cNvPr id="11" name="TextBox 10"/>
          <p:cNvSpPr txBox="1"/>
          <p:nvPr/>
        </p:nvSpPr>
        <p:spPr>
          <a:xfrm>
            <a:off x="609600" y="4400550"/>
            <a:ext cx="7429500"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Persistent data:</a:t>
            </a:r>
            <a:r>
              <a:rPr b="0" sz="1350" i="0" u="none">
                <a:solidFill>
                  <a:srgbClr val="0F172A"/>
                </a:solidFill>
                <a:latin typeface="DM Sans"/>
              </a:rPr>
              <a:t> Playlist data persists in a plain text file between runs</a:t>
            </a:r>
          </a:p>
        </p:txBody>
      </p:sp>
      <p:sp>
        <p:nvSpPr>
          <p:cNvPr id="12" name="TextBox 11"/>
          <p:cNvSpPr txBox="1"/>
          <p:nvPr/>
        </p:nvSpPr>
        <p:spPr>
          <a:xfrm>
            <a:off x="609600" y="4724400"/>
            <a:ext cx="6038850" cy="457200"/>
          </a:xfrm>
          <a:prstGeom prst="rect">
            <a:avLst/>
          </a:prstGeom>
          <a:noFill/>
        </p:spPr>
        <p:txBody>
          <a:bodyPr wrap="squar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Auto counters:</a:t>
            </a:r>
            <a:r>
              <a:rPr b="0" sz="1350" i="0" u="none">
                <a:solidFill>
                  <a:srgbClr val="0F172A"/>
                </a:solidFill>
                <a:latin typeface="DM Sans"/>
              </a:rPr>
              <a:t> Every play updates counters automatically — no manual logging</a:t>
            </a:r>
          </a:p>
        </p:txBody>
      </p:sp>
      <p:sp>
        <p:nvSpPr>
          <p:cNvPr id="13" name="TextBox 12"/>
          <p:cNvSpPr txBox="1"/>
          <p:nvPr/>
        </p:nvSpPr>
        <p:spPr>
          <a:xfrm>
            <a:off x="609600" y="5276850"/>
            <a:ext cx="7429500"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Statistics engine:</a:t>
            </a:r>
            <a:r>
              <a:rPr b="0" sz="1350" i="0" u="none">
                <a:solidFill>
                  <a:srgbClr val="0F172A"/>
                </a:solidFill>
                <a:latin typeface="DM Sans"/>
              </a:rPr>
              <a:t> Reports totals, favourite artist and Top-5 songs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5829300"/>
            <a:ext cx="10972800" cy="571500"/>
          </a:xfrm>
          <a:prstGeom prst="roundRect">
            <a:avLst>
              <a:gd name="adj" fmla="val 16666"/>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076575"/>
            <a:ext cx="2600325" cy="14859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00425" y="3076575"/>
            <a:ext cx="2600325" cy="14859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3076575"/>
            <a:ext cx="2600325" cy="1485900"/>
          </a:xfrm>
          <a:prstGeom prst="roundRect">
            <a:avLst>
              <a:gd name="adj" fmla="val 76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82075" y="3200400"/>
            <a:ext cx="2600325" cy="123825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02</a:t>
            </a:r>
          </a:p>
        </p:txBody>
      </p:sp>
      <p:sp>
        <p:nvSpPr>
          <p:cNvPr id="8" name="TextBox 7"/>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2 · Problem Statement</a:t>
            </a:r>
          </a:p>
        </p:txBody>
      </p:sp>
      <p:sp>
        <p:nvSpPr>
          <p:cNvPr id="9" name="TextBox 8"/>
          <p:cNvSpPr txBox="1"/>
          <p:nvPr/>
        </p:nvSpPr>
        <p:spPr>
          <a:xfrm>
            <a:off x="609600" y="1276350"/>
            <a:ext cx="11068050" cy="495300"/>
          </a:xfrm>
          <a:prstGeom prst="rect">
            <a:avLst/>
          </a:prstGeom>
          <a:noFill/>
        </p:spPr>
        <p:txBody>
          <a:bodyPr wrap="square" lIns="0" rIns="0" tIns="0" bIns="0" anchor="t">
            <a:spAutoFit/>
          </a:bodyPr>
          <a:lstStyle/>
          <a:p>
            <a:pPr algn="l"/>
            <a:r>
              <a:rPr b="0" sz="1500" i="0" u="none">
                <a:solidFill>
                  <a:srgbClr val="1E293B"/>
                </a:solidFill>
                <a:latin typeface="DM Sans"/>
              </a:rPr>
              <a:t>“Music listeners have no simple, offline way to record which songs they play and to see their listening habits summarised in one place.”</a:t>
            </a:r>
          </a:p>
        </p:txBody>
      </p:sp>
      <p:sp>
        <p:nvSpPr>
          <p:cNvPr id="10" name="TextBox 9"/>
          <p:cNvSpPr txBox="1"/>
          <p:nvPr/>
        </p:nvSpPr>
        <p:spPr>
          <a:xfrm>
            <a:off x="876300" y="6000750"/>
            <a:ext cx="11315700" cy="228600"/>
          </a:xfrm>
          <a:prstGeom prst="rect">
            <a:avLst/>
          </a:prstGeom>
          <a:noFill/>
        </p:spPr>
        <p:txBody>
          <a:bodyPr wrap="none" lIns="0" rIns="0" tIns="0" bIns="0" anchor="t">
            <a:spAutoFit/>
          </a:bodyPr>
          <a:lstStyle/>
          <a:p>
            <a:pPr algn="l"/>
            <a:r>
              <a:rPr b="0" sz="1350" i="0" u="none">
                <a:solidFill>
                  <a:srgbClr val="FFFFFF"/>
                </a:solidFill>
                <a:latin typeface="DM Sans"/>
              </a:rPr>
              <a:t>⚑ </a:t>
            </a:r>
            <a:r>
              <a:rPr b="1" sz="1350" i="0" u="none">
                <a:solidFill>
                  <a:srgbClr val="FFFFFF"/>
                </a:solidFill>
                <a:latin typeface="DM Sans"/>
              </a:rPr>
              <a:t>Project goal:</a:t>
            </a:r>
            <a:r>
              <a:rPr b="0" sz="1350" i="0" u="none">
                <a:solidFill>
                  <a:srgbClr val="FFFFFF"/>
                </a:solidFill>
                <a:latin typeface="DM Sans"/>
              </a:rPr>
              <a:t> A lightweight, offline, auto-counting playlist and statistics manager built in Java.</a:t>
            </a:r>
          </a:p>
        </p:txBody>
      </p:sp>
      <p:sp>
        <p:nvSpPr>
          <p:cNvPr id="11" name="TextBox 10"/>
          <p:cNvSpPr txBox="1"/>
          <p:nvPr/>
        </p:nvSpPr>
        <p:spPr>
          <a:xfrm>
            <a:off x="838200" y="3305175"/>
            <a:ext cx="2350293" cy="495300"/>
          </a:xfrm>
          <a:prstGeom prst="rect">
            <a:avLst/>
          </a:prstGeom>
          <a:noFill/>
        </p:spPr>
        <p:txBody>
          <a:bodyPr wrap="square" lIns="0" rIns="0" tIns="0" bIns="0" anchor="t">
            <a:spAutoFit/>
          </a:bodyPr>
          <a:lstStyle/>
          <a:p>
            <a:pPr algn="l"/>
            <a:r>
              <a:rPr b="1" sz="1500" i="0" u="none">
                <a:solidFill>
                  <a:srgbClr val="0F172A"/>
                </a:solidFill>
                <a:latin typeface="Space Grotesk"/>
              </a:rPr>
              <a:t>✎ Manual logging is tedious</a:t>
            </a:r>
          </a:p>
        </p:txBody>
      </p:sp>
      <p:sp>
        <p:nvSpPr>
          <p:cNvPr id="12" name="TextBox 11"/>
          <p:cNvSpPr txBox="1"/>
          <p:nvPr/>
        </p:nvSpPr>
        <p:spPr>
          <a:xfrm>
            <a:off x="838200" y="3876675"/>
            <a:ext cx="2238375" cy="457200"/>
          </a:xfrm>
          <a:prstGeom prst="rect">
            <a:avLst/>
          </a:prstGeom>
          <a:noFill/>
        </p:spPr>
        <p:txBody>
          <a:bodyPr wrap="square" lIns="0" rIns="0" tIns="0" bIns="0" anchor="t">
            <a:spAutoFit/>
          </a:bodyPr>
          <a:lstStyle/>
          <a:p>
            <a:pPr algn="l"/>
            <a:r>
              <a:rPr b="0" sz="1350" i="0" u="none">
                <a:solidFill>
                  <a:srgbClr val="475569"/>
                </a:solidFill>
                <a:latin typeface="DM Sans"/>
              </a:rPr>
              <a:t>Slow hand entries are easily forgotten.</a:t>
            </a:r>
          </a:p>
        </p:txBody>
      </p:sp>
      <p:sp>
        <p:nvSpPr>
          <p:cNvPr id="13" name="TextBox 12"/>
          <p:cNvSpPr txBox="1"/>
          <p:nvPr/>
        </p:nvSpPr>
        <p:spPr>
          <a:xfrm>
            <a:off x="3629025" y="3305175"/>
            <a:ext cx="2350293" cy="495300"/>
          </a:xfrm>
          <a:prstGeom prst="rect">
            <a:avLst/>
          </a:prstGeom>
          <a:noFill/>
        </p:spPr>
        <p:txBody>
          <a:bodyPr wrap="square" lIns="0" rIns="0" tIns="0" bIns="0" anchor="t">
            <a:spAutoFit/>
          </a:bodyPr>
          <a:lstStyle/>
          <a:p>
            <a:pPr algn="l"/>
            <a:r>
              <a:rPr b="1" sz="1500" i="0" u="none">
                <a:solidFill>
                  <a:srgbClr val="0F172A"/>
                </a:solidFill>
                <a:latin typeface="Space Grotesk"/>
              </a:rPr>
              <a:t>◉ Spreadsheets need upkeep</a:t>
            </a:r>
          </a:p>
        </p:txBody>
      </p:sp>
      <p:sp>
        <p:nvSpPr>
          <p:cNvPr id="14" name="TextBox 13"/>
          <p:cNvSpPr txBox="1"/>
          <p:nvPr/>
        </p:nvSpPr>
        <p:spPr>
          <a:xfrm>
            <a:off x="3629025" y="3876675"/>
            <a:ext cx="2238375" cy="457200"/>
          </a:xfrm>
          <a:prstGeom prst="rect">
            <a:avLst/>
          </a:prstGeom>
          <a:noFill/>
        </p:spPr>
        <p:txBody>
          <a:bodyPr wrap="square" lIns="0" rIns="0" tIns="0" bIns="0" anchor="t">
            <a:spAutoFit/>
          </a:bodyPr>
          <a:lstStyle/>
          <a:p>
            <a:pPr algn="l"/>
            <a:r>
              <a:rPr b="0" sz="1350" i="0" u="none">
                <a:solidFill>
                  <a:srgbClr val="475569"/>
                </a:solidFill>
                <a:latin typeface="DM Sans"/>
              </a:rPr>
              <a:t>Excel play counts end up guessed.</a:t>
            </a:r>
          </a:p>
        </p:txBody>
      </p:sp>
      <p:sp>
        <p:nvSpPr>
          <p:cNvPr id="15" name="TextBox 14"/>
          <p:cNvSpPr txBox="1"/>
          <p:nvPr/>
        </p:nvSpPr>
        <p:spPr>
          <a:xfrm>
            <a:off x="6419850" y="3305175"/>
            <a:ext cx="2350293" cy="495300"/>
          </a:xfrm>
          <a:prstGeom prst="rect">
            <a:avLst/>
          </a:prstGeom>
          <a:noFill/>
        </p:spPr>
        <p:txBody>
          <a:bodyPr wrap="square" lIns="0" rIns="0" tIns="0" bIns="0" anchor="t">
            <a:spAutoFit/>
          </a:bodyPr>
          <a:lstStyle/>
          <a:p>
            <a:pPr algn="l"/>
            <a:r>
              <a:rPr b="1" sz="1500" i="0" u="none">
                <a:solidFill>
                  <a:srgbClr val="0F172A"/>
                </a:solidFill>
                <a:latin typeface="Space Grotesk"/>
              </a:rPr>
              <a:t>☁ Streaming apps are online</a:t>
            </a:r>
          </a:p>
        </p:txBody>
      </p:sp>
      <p:sp>
        <p:nvSpPr>
          <p:cNvPr id="16" name="TextBox 15"/>
          <p:cNvSpPr txBox="1"/>
          <p:nvPr/>
        </p:nvSpPr>
        <p:spPr>
          <a:xfrm>
            <a:off x="6419850" y="3876675"/>
            <a:ext cx="2238375" cy="457200"/>
          </a:xfrm>
          <a:prstGeom prst="rect">
            <a:avLst/>
          </a:prstGeom>
          <a:noFill/>
        </p:spPr>
        <p:txBody>
          <a:bodyPr wrap="square" lIns="0" rIns="0" tIns="0" bIns="0" anchor="t">
            <a:spAutoFit/>
          </a:bodyPr>
          <a:lstStyle/>
          <a:p>
            <a:pPr algn="l"/>
            <a:r>
              <a:rPr b="0" sz="1350" i="0" u="none">
                <a:solidFill>
                  <a:srgbClr val="475569"/>
                </a:solidFill>
                <a:latin typeface="DM Sans"/>
              </a:rPr>
              <a:t>Stats need internet and locked accounts.</a:t>
            </a:r>
          </a:p>
        </p:txBody>
      </p:sp>
      <p:sp>
        <p:nvSpPr>
          <p:cNvPr id="17" name="TextBox 16"/>
          <p:cNvSpPr txBox="1"/>
          <p:nvPr/>
        </p:nvSpPr>
        <p:spPr>
          <a:xfrm>
            <a:off x="9210675" y="3429000"/>
            <a:ext cx="2812851" cy="247650"/>
          </a:xfrm>
          <a:prstGeom prst="rect">
            <a:avLst/>
          </a:prstGeom>
          <a:noFill/>
        </p:spPr>
        <p:txBody>
          <a:bodyPr wrap="none" lIns="0" rIns="0" tIns="0" bIns="0" anchor="t">
            <a:spAutoFit/>
          </a:bodyPr>
          <a:lstStyle/>
          <a:p>
            <a:pPr algn="l"/>
            <a:r>
              <a:rPr b="1" sz="1500" i="0" u="none">
                <a:solidFill>
                  <a:srgbClr val="0F172A"/>
                </a:solidFill>
                <a:latin typeface="Space Grotesk"/>
              </a:rPr>
              <a:t>? No instant summary</a:t>
            </a:r>
          </a:p>
        </p:txBody>
      </p:sp>
      <p:sp>
        <p:nvSpPr>
          <p:cNvPr id="18" name="TextBox 17"/>
          <p:cNvSpPr txBox="1"/>
          <p:nvPr/>
        </p:nvSpPr>
        <p:spPr>
          <a:xfrm>
            <a:off x="9210675" y="3752850"/>
            <a:ext cx="2238375" cy="457200"/>
          </a:xfrm>
          <a:prstGeom prst="rect">
            <a:avLst/>
          </a:prstGeom>
          <a:noFill/>
        </p:spPr>
        <p:txBody>
          <a:bodyPr wrap="square" lIns="0" rIns="0" tIns="0" bIns="0" anchor="t">
            <a:spAutoFit/>
          </a:bodyPr>
          <a:lstStyle/>
          <a:p>
            <a:pPr algn="l"/>
            <a:r>
              <a:rPr b="0" sz="1350" i="0" u="none">
                <a:solidFill>
                  <a:srgbClr val="475569"/>
                </a:solidFill>
                <a:latin typeface="DM Sans"/>
              </a:rPr>
              <a:t>Finding top artists means hand counting.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719262"/>
            <a:ext cx="10972800" cy="819150"/>
          </a:xfrm>
          <a:prstGeom prst="roundRect">
            <a:avLst>
              <a:gd name="adj" fmla="val 1162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671762"/>
            <a:ext cx="10972800" cy="819150"/>
          </a:xfrm>
          <a:prstGeom prst="roundRect">
            <a:avLst>
              <a:gd name="adj" fmla="val 1162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624262"/>
            <a:ext cx="10972800" cy="819150"/>
          </a:xfrm>
          <a:prstGeom prst="roundRect">
            <a:avLst>
              <a:gd name="adj" fmla="val 1162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4576762"/>
            <a:ext cx="10972800" cy="819150"/>
          </a:xfrm>
          <a:prstGeom prst="roundRect">
            <a:avLst>
              <a:gd name="adj" fmla="val 1162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5529262"/>
            <a:ext cx="10972800" cy="819150"/>
          </a:xfrm>
          <a:prstGeom prst="roundRect">
            <a:avLst>
              <a:gd name="adj" fmla="val 1162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03</a:t>
            </a:r>
          </a:p>
        </p:txBody>
      </p:sp>
      <p:sp>
        <p:nvSpPr>
          <p:cNvPr id="8" name="TextBox 7"/>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3 · Objectives</a:t>
            </a:r>
          </a:p>
        </p:txBody>
      </p:sp>
      <p:sp>
        <p:nvSpPr>
          <p:cNvPr id="9" name="TextBox 8"/>
          <p:cNvSpPr txBox="1"/>
          <p:nvPr/>
        </p:nvSpPr>
        <p:spPr>
          <a:xfrm>
            <a:off x="609600" y="1200150"/>
            <a:ext cx="11582400" cy="238125"/>
          </a:xfrm>
          <a:prstGeom prst="rect">
            <a:avLst/>
          </a:prstGeom>
          <a:noFill/>
        </p:spPr>
        <p:txBody>
          <a:bodyPr wrap="none" lIns="0" rIns="0" tIns="0" bIns="0" anchor="t">
            <a:spAutoFit/>
          </a:bodyPr>
          <a:lstStyle/>
          <a:p>
            <a:pPr algn="l"/>
            <a:r>
              <a:rPr b="0" sz="1425" i="0" u="none">
                <a:solidFill>
                  <a:srgbClr val="475569"/>
                </a:solidFill>
                <a:latin typeface="DM Sans"/>
              </a:rPr>
              <a:t>Five clear objectives guided the design of the application.</a:t>
            </a:r>
          </a:p>
        </p:txBody>
      </p:sp>
      <p:sp>
        <p:nvSpPr>
          <p:cNvPr id="10" name="TextBox 9"/>
          <p:cNvSpPr txBox="1"/>
          <p:nvPr/>
        </p:nvSpPr>
        <p:spPr>
          <a:xfrm>
            <a:off x="838200" y="1981200"/>
            <a:ext cx="533400" cy="295275"/>
          </a:xfrm>
          <a:prstGeom prst="rect">
            <a:avLst/>
          </a:prstGeom>
          <a:noFill/>
        </p:spPr>
        <p:txBody>
          <a:bodyPr wrap="none" lIns="0" rIns="0" tIns="0" bIns="0" anchor="t">
            <a:spAutoFit/>
          </a:bodyPr>
          <a:lstStyle/>
          <a:p>
            <a:pPr algn="l"/>
            <a:r>
              <a:rPr b="1" sz="1800" i="0" u="none">
                <a:solidFill>
                  <a:srgbClr val="059669"/>
                </a:solidFill>
                <a:latin typeface="DM Sans"/>
              </a:rPr>
              <a:t>01</a:t>
            </a:r>
          </a:p>
        </p:txBody>
      </p:sp>
      <p:sp>
        <p:nvSpPr>
          <p:cNvPr id="11" name="TextBox 10"/>
          <p:cNvSpPr txBox="1"/>
          <p:nvPr/>
        </p:nvSpPr>
        <p:spPr>
          <a:xfrm>
            <a:off x="838200" y="2933700"/>
            <a:ext cx="581025" cy="295275"/>
          </a:xfrm>
          <a:prstGeom prst="rect">
            <a:avLst/>
          </a:prstGeom>
          <a:noFill/>
        </p:spPr>
        <p:txBody>
          <a:bodyPr wrap="none" lIns="0" rIns="0" tIns="0" bIns="0" anchor="t">
            <a:spAutoFit/>
          </a:bodyPr>
          <a:lstStyle/>
          <a:p>
            <a:pPr algn="l"/>
            <a:r>
              <a:rPr b="1" sz="1800" i="0" u="none">
                <a:solidFill>
                  <a:srgbClr val="059669"/>
                </a:solidFill>
                <a:latin typeface="DM Sans"/>
              </a:rPr>
              <a:t>02</a:t>
            </a:r>
          </a:p>
        </p:txBody>
      </p:sp>
      <p:sp>
        <p:nvSpPr>
          <p:cNvPr id="12" name="TextBox 11"/>
          <p:cNvSpPr txBox="1"/>
          <p:nvPr/>
        </p:nvSpPr>
        <p:spPr>
          <a:xfrm>
            <a:off x="838200" y="3886200"/>
            <a:ext cx="581025" cy="295275"/>
          </a:xfrm>
          <a:prstGeom prst="rect">
            <a:avLst/>
          </a:prstGeom>
          <a:noFill/>
        </p:spPr>
        <p:txBody>
          <a:bodyPr wrap="none" lIns="0" rIns="0" tIns="0" bIns="0" anchor="t">
            <a:spAutoFit/>
          </a:bodyPr>
          <a:lstStyle/>
          <a:p>
            <a:pPr algn="l"/>
            <a:r>
              <a:rPr b="1" sz="1800" i="0" u="none">
                <a:solidFill>
                  <a:srgbClr val="059669"/>
                </a:solidFill>
                <a:latin typeface="DM Sans"/>
              </a:rPr>
              <a:t>03</a:t>
            </a:r>
          </a:p>
        </p:txBody>
      </p:sp>
      <p:sp>
        <p:nvSpPr>
          <p:cNvPr id="13" name="TextBox 12"/>
          <p:cNvSpPr txBox="1"/>
          <p:nvPr/>
        </p:nvSpPr>
        <p:spPr>
          <a:xfrm>
            <a:off x="838200" y="4838700"/>
            <a:ext cx="600075" cy="295275"/>
          </a:xfrm>
          <a:prstGeom prst="rect">
            <a:avLst/>
          </a:prstGeom>
          <a:noFill/>
        </p:spPr>
        <p:txBody>
          <a:bodyPr wrap="none" lIns="0" rIns="0" tIns="0" bIns="0" anchor="t">
            <a:spAutoFit/>
          </a:bodyPr>
          <a:lstStyle/>
          <a:p>
            <a:pPr algn="l"/>
            <a:r>
              <a:rPr b="1" sz="1800" i="0" u="none">
                <a:solidFill>
                  <a:srgbClr val="059669"/>
                </a:solidFill>
                <a:latin typeface="DM Sans"/>
              </a:rPr>
              <a:t>04</a:t>
            </a:r>
          </a:p>
        </p:txBody>
      </p:sp>
      <p:sp>
        <p:nvSpPr>
          <p:cNvPr id="14" name="TextBox 13"/>
          <p:cNvSpPr txBox="1"/>
          <p:nvPr/>
        </p:nvSpPr>
        <p:spPr>
          <a:xfrm>
            <a:off x="838200" y="5791200"/>
            <a:ext cx="590550" cy="295275"/>
          </a:xfrm>
          <a:prstGeom prst="rect">
            <a:avLst/>
          </a:prstGeom>
          <a:noFill/>
        </p:spPr>
        <p:txBody>
          <a:bodyPr wrap="none" lIns="0" rIns="0" tIns="0" bIns="0" anchor="t">
            <a:spAutoFit/>
          </a:bodyPr>
          <a:lstStyle/>
          <a:p>
            <a:pPr algn="l"/>
            <a:r>
              <a:rPr b="1" sz="1800" i="0" u="none">
                <a:solidFill>
                  <a:srgbClr val="059669"/>
                </a:solidFill>
                <a:latin typeface="DM Sans"/>
              </a:rPr>
              <a:t>05</a:t>
            </a:r>
          </a:p>
        </p:txBody>
      </p:sp>
      <p:sp>
        <p:nvSpPr>
          <p:cNvPr id="15" name="TextBox 14"/>
          <p:cNvSpPr txBox="1"/>
          <p:nvPr/>
        </p:nvSpPr>
        <p:spPr>
          <a:xfrm>
            <a:off x="1276350" y="1890712"/>
            <a:ext cx="6775846" cy="247650"/>
          </a:xfrm>
          <a:prstGeom prst="rect">
            <a:avLst/>
          </a:prstGeom>
          <a:noFill/>
        </p:spPr>
        <p:txBody>
          <a:bodyPr wrap="none" lIns="0" rIns="0" tIns="0" bIns="0" anchor="t">
            <a:spAutoFit/>
          </a:bodyPr>
          <a:lstStyle/>
          <a:p>
            <a:pPr algn="l"/>
            <a:r>
              <a:rPr b="1" sz="1500" i="0" u="none">
                <a:solidFill>
                  <a:srgbClr val="0F172A"/>
                </a:solidFill>
                <a:latin typeface="Space Grotesk"/>
              </a:rPr>
              <a:t>Build a playlist manager</a:t>
            </a:r>
          </a:p>
        </p:txBody>
      </p:sp>
      <p:sp>
        <p:nvSpPr>
          <p:cNvPr id="16" name="TextBox 15"/>
          <p:cNvSpPr txBox="1"/>
          <p:nvPr/>
        </p:nvSpPr>
        <p:spPr>
          <a:xfrm>
            <a:off x="1276350" y="2138362"/>
            <a:ext cx="6453187" cy="228600"/>
          </a:xfrm>
          <a:prstGeom prst="rect">
            <a:avLst/>
          </a:prstGeom>
          <a:noFill/>
        </p:spPr>
        <p:txBody>
          <a:bodyPr wrap="none" lIns="0" rIns="0" tIns="0" bIns="0" anchor="t">
            <a:spAutoFit/>
          </a:bodyPr>
          <a:lstStyle/>
          <a:p>
            <a:pPr algn="l"/>
            <a:r>
              <a:rPr b="0" sz="1350" i="0" u="none">
                <a:solidFill>
                  <a:srgbClr val="475569"/>
                </a:solidFill>
                <a:latin typeface="DM Sans"/>
              </a:rPr>
              <a:t>Add, view and remove songs using clean object-oriented classes.</a:t>
            </a:r>
          </a:p>
        </p:txBody>
      </p:sp>
      <p:sp>
        <p:nvSpPr>
          <p:cNvPr id="17" name="TextBox 16"/>
          <p:cNvSpPr txBox="1"/>
          <p:nvPr/>
        </p:nvSpPr>
        <p:spPr>
          <a:xfrm>
            <a:off x="1323975" y="2843212"/>
            <a:ext cx="7700962" cy="247650"/>
          </a:xfrm>
          <a:prstGeom prst="rect">
            <a:avLst/>
          </a:prstGeom>
          <a:noFill/>
        </p:spPr>
        <p:txBody>
          <a:bodyPr wrap="none" lIns="0" rIns="0" tIns="0" bIns="0" anchor="t">
            <a:spAutoFit/>
          </a:bodyPr>
          <a:lstStyle/>
          <a:p>
            <a:pPr algn="l"/>
            <a:r>
              <a:rPr b="1" sz="1500" i="0" u="none">
                <a:solidFill>
                  <a:srgbClr val="0F172A"/>
                </a:solidFill>
                <a:latin typeface="Space Grotesk"/>
              </a:rPr>
              <a:t>Automate play tracking</a:t>
            </a:r>
          </a:p>
        </p:txBody>
      </p:sp>
      <p:sp>
        <p:nvSpPr>
          <p:cNvPr id="18" name="TextBox 17"/>
          <p:cNvSpPr txBox="1"/>
          <p:nvPr/>
        </p:nvSpPr>
        <p:spPr>
          <a:xfrm>
            <a:off x="1323975" y="3090862"/>
            <a:ext cx="7334250" cy="228600"/>
          </a:xfrm>
          <a:prstGeom prst="rect">
            <a:avLst/>
          </a:prstGeom>
          <a:noFill/>
        </p:spPr>
        <p:txBody>
          <a:bodyPr wrap="none" lIns="0" rIns="0" tIns="0" bIns="0" anchor="t">
            <a:spAutoFit/>
          </a:bodyPr>
          <a:lstStyle/>
          <a:p>
            <a:pPr algn="l"/>
            <a:r>
              <a:rPr b="0" sz="1350" i="0" u="none">
                <a:solidFill>
                  <a:srgbClr val="475569"/>
                </a:solidFill>
                <a:latin typeface="DM Sans"/>
              </a:rPr>
              <a:t>Every play of a song increments its counter instantly — zero manual entry.</a:t>
            </a:r>
          </a:p>
        </p:txBody>
      </p:sp>
      <p:sp>
        <p:nvSpPr>
          <p:cNvPr id="19" name="TextBox 18"/>
          <p:cNvSpPr txBox="1"/>
          <p:nvPr/>
        </p:nvSpPr>
        <p:spPr>
          <a:xfrm>
            <a:off x="1323975" y="3795712"/>
            <a:ext cx="8063507" cy="247650"/>
          </a:xfrm>
          <a:prstGeom prst="rect">
            <a:avLst/>
          </a:prstGeom>
          <a:noFill/>
        </p:spPr>
        <p:txBody>
          <a:bodyPr wrap="none" lIns="0" rIns="0" tIns="0" bIns="0" anchor="t">
            <a:spAutoFit/>
          </a:bodyPr>
          <a:lstStyle/>
          <a:p>
            <a:pPr algn="l"/>
            <a:r>
              <a:rPr b="1" sz="1500" i="0" u="none">
                <a:solidFill>
                  <a:srgbClr val="0F172A"/>
                </a:solidFill>
                <a:latin typeface="Space Grotesk"/>
              </a:rPr>
              <a:t>Generate listening statistics</a:t>
            </a:r>
          </a:p>
        </p:txBody>
      </p:sp>
      <p:sp>
        <p:nvSpPr>
          <p:cNvPr id="20" name="TextBox 19"/>
          <p:cNvSpPr txBox="1"/>
          <p:nvPr/>
        </p:nvSpPr>
        <p:spPr>
          <a:xfrm>
            <a:off x="1323975" y="4043362"/>
            <a:ext cx="7679531" cy="228600"/>
          </a:xfrm>
          <a:prstGeom prst="rect">
            <a:avLst/>
          </a:prstGeom>
          <a:noFill/>
        </p:spPr>
        <p:txBody>
          <a:bodyPr wrap="none" lIns="0" rIns="0" tIns="0" bIns="0" anchor="t">
            <a:spAutoFit/>
          </a:bodyPr>
          <a:lstStyle/>
          <a:p>
            <a:pPr algn="l"/>
            <a:r>
              <a:rPr b="0" sz="1350" i="0" u="none">
                <a:solidFill>
                  <a:srgbClr val="475569"/>
                </a:solidFill>
                <a:latin typeface="DM Sans"/>
              </a:rPr>
              <a:t>Compute total plays, total listening time, favourite artist and the Top-5 songs.</a:t>
            </a:r>
          </a:p>
        </p:txBody>
      </p:sp>
      <p:sp>
        <p:nvSpPr>
          <p:cNvPr id="21" name="TextBox 20"/>
          <p:cNvSpPr txBox="1"/>
          <p:nvPr/>
        </p:nvSpPr>
        <p:spPr>
          <a:xfrm>
            <a:off x="1343025" y="4748212"/>
            <a:ext cx="8026003" cy="247650"/>
          </a:xfrm>
          <a:prstGeom prst="rect">
            <a:avLst/>
          </a:prstGeom>
          <a:noFill/>
        </p:spPr>
        <p:txBody>
          <a:bodyPr wrap="none" lIns="0" rIns="0" tIns="0" bIns="0" anchor="t">
            <a:spAutoFit/>
          </a:bodyPr>
          <a:lstStyle/>
          <a:p>
            <a:pPr algn="l"/>
            <a:r>
              <a:rPr b="1" sz="1500" i="0" u="none">
                <a:solidFill>
                  <a:srgbClr val="0F172A"/>
                </a:solidFill>
                <a:latin typeface="Space Grotesk"/>
              </a:rPr>
              <a:t>Provide search and sort</a:t>
            </a:r>
          </a:p>
        </p:txBody>
      </p:sp>
      <p:sp>
        <p:nvSpPr>
          <p:cNvPr id="22" name="TextBox 21"/>
          <p:cNvSpPr txBox="1"/>
          <p:nvPr/>
        </p:nvSpPr>
        <p:spPr>
          <a:xfrm>
            <a:off x="1343025" y="4995862"/>
            <a:ext cx="7643812" cy="228600"/>
          </a:xfrm>
          <a:prstGeom prst="rect">
            <a:avLst/>
          </a:prstGeom>
          <a:noFill/>
        </p:spPr>
        <p:txBody>
          <a:bodyPr wrap="none" lIns="0" rIns="0" tIns="0" bIns="0" anchor="t">
            <a:spAutoFit/>
          </a:bodyPr>
          <a:lstStyle/>
          <a:p>
            <a:pPr algn="l"/>
            <a:r>
              <a:rPr b="0" sz="1350" i="0" u="none">
                <a:solidFill>
                  <a:srgbClr val="475569"/>
                </a:solidFill>
                <a:latin typeface="DM Sans"/>
              </a:rPr>
              <a:t>Find any song by title or artist and rank the playlist alphabetically or by plays.</a:t>
            </a:r>
          </a:p>
        </p:txBody>
      </p:sp>
      <p:sp>
        <p:nvSpPr>
          <p:cNvPr id="23" name="TextBox 22"/>
          <p:cNvSpPr txBox="1"/>
          <p:nvPr/>
        </p:nvSpPr>
        <p:spPr>
          <a:xfrm>
            <a:off x="1333500" y="5700712"/>
            <a:ext cx="7263407" cy="247650"/>
          </a:xfrm>
          <a:prstGeom prst="rect">
            <a:avLst/>
          </a:prstGeom>
          <a:noFill/>
        </p:spPr>
        <p:txBody>
          <a:bodyPr wrap="none" lIns="0" rIns="0" tIns="0" bIns="0" anchor="t">
            <a:spAutoFit/>
          </a:bodyPr>
          <a:lstStyle/>
          <a:p>
            <a:pPr algn="l"/>
            <a:r>
              <a:rPr b="1" sz="1500" i="0" u="none">
                <a:solidFill>
                  <a:srgbClr val="0F172A"/>
                </a:solidFill>
                <a:latin typeface="Space Grotesk"/>
              </a:rPr>
              <a:t>Persist data with File I/O</a:t>
            </a:r>
          </a:p>
        </p:txBody>
      </p:sp>
      <p:sp>
        <p:nvSpPr>
          <p:cNvPr id="24" name="TextBox 23"/>
          <p:cNvSpPr txBox="1"/>
          <p:nvPr/>
        </p:nvSpPr>
        <p:spPr>
          <a:xfrm>
            <a:off x="1333500" y="5948362"/>
            <a:ext cx="6917531" cy="228600"/>
          </a:xfrm>
          <a:prstGeom prst="rect">
            <a:avLst/>
          </a:prstGeom>
          <a:noFill/>
        </p:spPr>
        <p:txBody>
          <a:bodyPr wrap="none" lIns="0" rIns="0" tIns="0" bIns="0" anchor="t">
            <a:spAutoFit/>
          </a:bodyPr>
          <a:lstStyle/>
          <a:p>
            <a:pPr algn="l"/>
            <a:r>
              <a:rPr b="0" sz="1350" i="0" u="none">
                <a:solidFill>
                  <a:srgbClr val="475569"/>
                </a:solidFill>
                <a:latin typeface="DM Sans"/>
              </a:rPr>
              <a:t>Save the playlist to a text file and reload it automatically on every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267450" y="2605087"/>
            <a:ext cx="5314950" cy="25050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267450" y="2605087"/>
          <a:ext cx="5314949" cy="2505075"/>
        </p:xfrm>
        <a:graphic>
          <a:graphicData uri="http://schemas.openxmlformats.org/drawingml/2006/table">
            <a:tbl>
              <a:tblPr firstRow="0" bandRow="0">
                <a:lnL>
                  <a:noFill/>
                </a:lnL>
                <a:lnR>
                  <a:noFill/>
                </a:lnR>
                <a:lnT>
                  <a:noFill/>
                </a:lnT>
                <a:lnB>
                  <a:noFill/>
                </a:lnB>
                <a:lnV>
                  <a:noFill/>
                </a:lnV>
                <a:lnH>
                  <a:noFill/>
                </a:lnH>
              </a:tblPr>
              <a:tblGrid>
                <a:gridCol w="1791444"/>
                <a:gridCol w="1343620"/>
                <a:gridCol w="945505"/>
                <a:gridCol w="1234380"/>
              </a:tblGrid>
              <a:tr h="501015">
                <a:tc>
                  <a:txBody>
                    <a:bodyPr/>
                    <a:lstStyle/>
                    <a:p>
                      <a:pPr algn="l"/>
                      <a:r>
                        <a:rPr b="1" sz="1350" i="0" u="none">
                          <a:solidFill>
                            <a:srgbClr val="FFFFFF"/>
                          </a:solidFill>
                          <a:latin typeface="DM Sans"/>
                        </a:rPr>
                        <a:t>Method</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Auto count</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Offline</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Full stats</a:t>
                      </a:r>
                    </a:p>
                  </a:txBody>
                  <a:tcPr anchor="ctr" marL="63500" marR="63500" marT="25400" marB="25400">
                    <a:lnL>
                      <a:noFill/>
                    </a:lnL>
                    <a:lnR>
                      <a:noFill/>
                    </a:lnR>
                    <a:lnT>
                      <a:noFill/>
                    </a:lnT>
                    <a:lnB>
                      <a:noFill/>
                    </a:lnB>
                    <a:solidFill>
                      <a:srgbClr val="0F172A"/>
                    </a:solidFill>
                  </a:tcPr>
                </a:tc>
              </a:tr>
              <a:tr h="501015">
                <a:tc>
                  <a:txBody>
                    <a:bodyPr/>
                    <a:lstStyle/>
                    <a:p>
                      <a:pPr algn="l"/>
                      <a:r>
                        <a:rPr b="1" sz="1350" i="0" u="none">
                          <a:solidFill>
                            <a:srgbClr val="000000"/>
                          </a:solidFill>
                          <a:latin typeface="DM Sans"/>
                        </a:rPr>
                        <a:t>Handwritten list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DC2626"/>
                          </a:solidFill>
                          <a:latin typeface="DM Sans"/>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59669"/>
                          </a:solidFill>
                          <a:latin typeface="DM Sans"/>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DC2626"/>
                          </a:solidFill>
                          <a:latin typeface="DM Sans"/>
                        </a:rPr>
                        <a:t>✕</a:t>
                      </a:r>
                    </a:p>
                  </a:txBody>
                  <a:tcPr anchor="ctr" marL="63500" marR="63500" marT="25400" marB="25400">
                    <a:lnL>
                      <a:noFill/>
                    </a:lnL>
                    <a:lnR>
                      <a:noFill/>
                    </a:lnR>
                    <a:lnT>
                      <a:noFill/>
                    </a:lnT>
                    <a:lnB>
                      <a:noFill/>
                    </a:lnB>
                    <a:solidFill>
                      <a:srgbClr val="FFFFFF"/>
                    </a:solidFill>
                  </a:tcPr>
                </a:tc>
              </a:tr>
              <a:tr h="501015">
                <a:tc>
                  <a:txBody>
                    <a:bodyPr/>
                    <a:lstStyle/>
                    <a:p>
                      <a:pPr algn="l"/>
                      <a:r>
                        <a:rPr b="1" sz="1350" i="0" u="none">
                          <a:solidFill>
                            <a:srgbClr val="000000"/>
                          </a:solidFill>
                          <a:latin typeface="DM Sans"/>
                        </a:rPr>
                        <a:t>Spreadsheet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DC2626"/>
                          </a:solidFill>
                          <a:latin typeface="DM Sans"/>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59669"/>
                          </a:solidFill>
                          <a:latin typeface="DM Sans"/>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manual</a:t>
                      </a:r>
                    </a:p>
                  </a:txBody>
                  <a:tcPr anchor="ctr" marL="63500" marR="63500" marT="25400" marB="25400">
                    <a:lnL>
                      <a:noFill/>
                    </a:lnL>
                    <a:lnR>
                      <a:noFill/>
                    </a:lnR>
                    <a:lnT>
                      <a:noFill/>
                    </a:lnT>
                    <a:lnB>
                      <a:noFill/>
                    </a:lnB>
                    <a:solidFill>
                      <a:srgbClr val="FFFFFF"/>
                    </a:solidFill>
                  </a:tcPr>
                </a:tc>
              </a:tr>
              <a:tr h="501015">
                <a:tc>
                  <a:txBody>
                    <a:bodyPr/>
                    <a:lstStyle/>
                    <a:p>
                      <a:pPr algn="l"/>
                      <a:r>
                        <a:rPr b="1" sz="1350" i="0" u="none">
                          <a:solidFill>
                            <a:srgbClr val="000000"/>
                          </a:solidFill>
                          <a:latin typeface="DM Sans"/>
                        </a:rPr>
                        <a:t>Streaming app</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59669"/>
                          </a:solidFill>
                          <a:latin typeface="DM Sans"/>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DC2626"/>
                          </a:solidFill>
                          <a:latin typeface="DM Sans"/>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limited</a:t>
                      </a:r>
                    </a:p>
                  </a:txBody>
                  <a:tcPr anchor="ctr" marL="63500" marR="63500" marT="25400" marB="25400">
                    <a:lnL>
                      <a:noFill/>
                    </a:lnL>
                    <a:lnR>
                      <a:noFill/>
                    </a:lnR>
                    <a:lnT>
                      <a:noFill/>
                    </a:lnT>
                    <a:lnB>
                      <a:noFill/>
                    </a:lnB>
                    <a:solidFill>
                      <a:srgbClr val="FFFFFF"/>
                    </a:solidFill>
                  </a:tcPr>
                </a:tc>
              </a:tr>
              <a:tr h="501015">
                <a:tc>
                  <a:txBody>
                    <a:bodyPr/>
                    <a:lstStyle/>
                    <a:p>
                      <a:pPr algn="l"/>
                      <a:r>
                        <a:rPr b="1" sz="1350" i="0" u="none">
                          <a:solidFill>
                            <a:srgbClr val="059669"/>
                          </a:solidFill>
                          <a:latin typeface="DM Sans"/>
                        </a:rPr>
                        <a:t>This project</a:t>
                      </a:r>
                    </a:p>
                  </a:txBody>
                  <a:tcPr anchor="ctr" marL="63500" marR="63500" marT="25400" marB="25400">
                    <a:lnL>
                      <a:noFill/>
                    </a:lnL>
                    <a:lnR>
                      <a:noFill/>
                    </a:lnR>
                    <a:lnT>
                      <a:noFill/>
                    </a:lnT>
                    <a:lnB>
                      <a:noFill/>
                    </a:lnB>
                    <a:solidFill>
                      <a:srgbClr val="ECFDF5"/>
                    </a:solidFill>
                  </a:tcPr>
                </a:tc>
                <a:tc>
                  <a:txBody>
                    <a:bodyPr/>
                    <a:lstStyle/>
                    <a:p>
                      <a:pPr algn="l"/>
                      <a:r>
                        <a:rPr b="1" sz="1350" i="0" u="none">
                          <a:solidFill>
                            <a:srgbClr val="059669"/>
                          </a:solidFill>
                          <a:latin typeface="DM Sans"/>
                        </a:rPr>
                        <a:t>✓</a:t>
                      </a:r>
                    </a:p>
                  </a:txBody>
                  <a:tcPr anchor="ctr" marL="63500" marR="63500" marT="25400" marB="25400">
                    <a:lnL>
                      <a:noFill/>
                    </a:lnL>
                    <a:lnR>
                      <a:noFill/>
                    </a:lnR>
                    <a:lnT>
                      <a:noFill/>
                    </a:lnT>
                    <a:lnB>
                      <a:noFill/>
                    </a:lnB>
                    <a:solidFill>
                      <a:srgbClr val="ECFDF5"/>
                    </a:solidFill>
                  </a:tcPr>
                </a:tc>
                <a:tc>
                  <a:txBody>
                    <a:bodyPr/>
                    <a:lstStyle/>
                    <a:p>
                      <a:pPr algn="l"/>
                      <a:r>
                        <a:rPr b="1" sz="1350" i="0" u="none">
                          <a:solidFill>
                            <a:srgbClr val="059669"/>
                          </a:solidFill>
                          <a:latin typeface="DM Sans"/>
                        </a:rPr>
                        <a:t>✓</a:t>
                      </a:r>
                    </a:p>
                  </a:txBody>
                  <a:tcPr anchor="ctr" marL="63500" marR="63500" marT="25400" marB="25400">
                    <a:lnL>
                      <a:noFill/>
                    </a:lnL>
                    <a:lnR>
                      <a:noFill/>
                    </a:lnR>
                    <a:lnT>
                      <a:noFill/>
                    </a:lnT>
                    <a:lnB>
                      <a:noFill/>
                    </a:lnB>
                    <a:solidFill>
                      <a:srgbClr val="ECFDF5"/>
                    </a:solidFill>
                  </a:tcPr>
                </a:tc>
                <a:tc>
                  <a:txBody>
                    <a:bodyPr/>
                    <a:lstStyle/>
                    <a:p>
                      <a:pPr algn="l"/>
                      <a:r>
                        <a:rPr b="1" sz="1350" i="0" u="none">
                          <a:solidFill>
                            <a:srgbClr val="059669"/>
                          </a:solidFill>
                          <a:latin typeface="DM Sans"/>
                        </a:rPr>
                        <a:t>full report</a:t>
                      </a:r>
                    </a:p>
                  </a:txBody>
                  <a:tcPr anchor="ctr" marL="63500" marR="63500" marT="25400" marB="25400">
                    <a:lnL>
                      <a:noFill/>
                    </a:lnL>
                    <a:lnR>
                      <a:noFill/>
                    </a:lnR>
                    <a:lnT>
                      <a:noFill/>
                    </a:lnT>
                    <a:lnB>
                      <a:noFill/>
                    </a:lnB>
                    <a:solidFill>
                      <a:srgbClr val="ECFDF5"/>
                    </a:solidFill>
                  </a:tcPr>
                </a:tc>
              </a:tr>
            </a:tbl>
          </a:graphicData>
        </a:graphic>
      </p:graphicFrame>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04</a:t>
            </a:r>
          </a:p>
        </p:txBody>
      </p:sp>
      <p:sp>
        <p:nvSpPr>
          <p:cNvPr id="5" name="TextBox 4"/>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4 · Existing System</a:t>
            </a:r>
          </a:p>
        </p:txBody>
      </p:sp>
      <p:sp>
        <p:nvSpPr>
          <p:cNvPr id="6" name="TextBox 5"/>
          <p:cNvSpPr txBox="1"/>
          <p:nvPr/>
        </p:nvSpPr>
        <p:spPr>
          <a:xfrm>
            <a:off x="609600" y="2733675"/>
            <a:ext cx="5410200" cy="457200"/>
          </a:xfrm>
          <a:prstGeom prst="rect">
            <a:avLst/>
          </a:prstGeom>
          <a:noFill/>
        </p:spPr>
        <p:txBody>
          <a:bodyPr wrap="square" lIns="0" rIns="0" tIns="0" bIns="0" anchor="t">
            <a:spAutoFit/>
          </a:bodyPr>
          <a:lstStyle/>
          <a:p>
            <a:pPr algn="l"/>
            <a:r>
              <a:rPr b="0" sz="1350" i="0" u="none">
                <a:solidFill>
                  <a:srgbClr val="334155"/>
                </a:solidFill>
                <a:latin typeface="DM Sans"/>
              </a:rPr>
              <a:t>Today, listeners track their music in three common ways — each with clear drawbacks:</a:t>
            </a:r>
          </a:p>
        </p:txBody>
      </p:sp>
      <p:sp>
        <p:nvSpPr>
          <p:cNvPr id="7" name="TextBox 6"/>
          <p:cNvSpPr txBox="1"/>
          <p:nvPr/>
        </p:nvSpPr>
        <p:spPr>
          <a:xfrm>
            <a:off x="609600" y="3343275"/>
            <a:ext cx="5410200" cy="457200"/>
          </a:xfrm>
          <a:prstGeom prst="rect">
            <a:avLst/>
          </a:prstGeom>
          <a:noFill/>
        </p:spPr>
        <p:txBody>
          <a:bodyPr wrap="square" lIns="0" rIns="0" tIns="0" bIns="0" anchor="t">
            <a:spAutoFit/>
          </a:bodyPr>
          <a:lstStyle/>
          <a:p>
            <a:pPr algn="l"/>
            <a:r>
              <a:rPr b="1" sz="1350" i="0" u="none">
                <a:solidFill>
                  <a:srgbClr val="0F172A"/>
                </a:solidFill>
                <a:latin typeface="DM Sans"/>
              </a:rPr>
              <a:t>✓ Handwritten lists / spreadsheets:</a:t>
            </a:r>
            <a:r>
              <a:rPr b="0" sz="1350" i="0" u="none">
                <a:solidFill>
                  <a:srgbClr val="0F172A"/>
                </a:solidFill>
                <a:latin typeface="DM Sans"/>
              </a:rPr>
              <a:t> Play counts are noted by hand; sheets drift out of date.</a:t>
            </a:r>
          </a:p>
        </p:txBody>
      </p:sp>
      <p:sp>
        <p:nvSpPr>
          <p:cNvPr id="8" name="TextBox 7"/>
          <p:cNvSpPr txBox="1"/>
          <p:nvPr/>
        </p:nvSpPr>
        <p:spPr>
          <a:xfrm>
            <a:off x="609600" y="3933825"/>
            <a:ext cx="5410200" cy="457200"/>
          </a:xfrm>
          <a:prstGeom prst="rect">
            <a:avLst/>
          </a:prstGeom>
          <a:noFill/>
        </p:spPr>
        <p:txBody>
          <a:bodyPr wrap="square" lIns="0" rIns="0" tIns="0" bIns="0" anchor="t">
            <a:spAutoFit/>
          </a:bodyPr>
          <a:lstStyle/>
          <a:p>
            <a:pPr algn="l"/>
            <a:r>
              <a:rPr b="1" sz="1350" i="0" u="none">
                <a:solidFill>
                  <a:srgbClr val="0F172A"/>
                </a:solidFill>
                <a:latin typeface="DM Sans"/>
              </a:rPr>
              <a:t>☁ Streaming apps (Spotify, Apple Music):</a:t>
            </a:r>
            <a:r>
              <a:rPr b="0" sz="1350" i="0" u="none">
                <a:solidFill>
                  <a:srgbClr val="0F172A"/>
                </a:solidFill>
                <a:latin typeface="DM Sans"/>
              </a:rPr>
              <a:t> Online-only; show only app-selected stats.</a:t>
            </a:r>
          </a:p>
        </p:txBody>
      </p:sp>
      <p:sp>
        <p:nvSpPr>
          <p:cNvPr id="9" name="TextBox 8"/>
          <p:cNvSpPr txBox="1"/>
          <p:nvPr/>
        </p:nvSpPr>
        <p:spPr>
          <a:xfrm>
            <a:off x="609600" y="4524375"/>
            <a:ext cx="5410200" cy="457200"/>
          </a:xfrm>
          <a:prstGeom prst="rect">
            <a:avLst/>
          </a:prstGeom>
          <a:noFill/>
        </p:spPr>
        <p:txBody>
          <a:bodyPr wrap="square" lIns="0" rIns="0" tIns="0" bIns="0" anchor="t">
            <a:spAutoFit/>
          </a:bodyPr>
          <a:lstStyle/>
          <a:p>
            <a:pPr algn="l"/>
            <a:r>
              <a:rPr b="1" sz="1350" i="0" u="none">
                <a:solidFill>
                  <a:srgbClr val="0F172A"/>
                </a:solidFill>
                <a:latin typeface="DM Sans"/>
              </a:rPr>
              <a:t>▦ Database trackers (MySQL):</a:t>
            </a:r>
            <a:r>
              <a:rPr b="0" sz="1350" i="0" u="none">
                <a:solidFill>
                  <a:srgbClr val="0F172A"/>
                </a:solidFill>
                <a:latin typeface="DM Sans"/>
              </a:rPr>
              <a:t> Heavy installation and setup for a single listener.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847975"/>
            <a:ext cx="5098405" cy="2590800"/>
          </a:xfrm>
          <a:prstGeom prst="roundRect">
            <a:avLst>
              <a:gd name="adj" fmla="val 441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012805" y="2181225"/>
          <a:ext cx="5569594" cy="3924300"/>
        </p:xfrm>
        <a:graphic>
          <a:graphicData uri="http://schemas.openxmlformats.org/drawingml/2006/table">
            <a:tbl>
              <a:tblPr firstRow="0" bandRow="0">
                <a:lnL>
                  <a:noFill/>
                </a:lnL>
                <a:lnR>
                  <a:noFill/>
                </a:lnR>
                <a:lnT>
                  <a:noFill/>
                </a:lnT>
                <a:lnB>
                  <a:noFill/>
                </a:lnB>
                <a:lnV>
                  <a:noFill/>
                </a:lnV>
                <a:lnH>
                  <a:noFill/>
                </a:lnH>
              </a:tblPr>
              <a:tblGrid>
                <a:gridCol w="1553616"/>
                <a:gridCol w="1788914"/>
                <a:gridCol w="2227064"/>
              </a:tblGrid>
              <a:tr h="654050">
                <a:tc>
                  <a:txBody>
                    <a:bodyPr/>
                    <a:lstStyle/>
                    <a:p>
                      <a:pPr algn="l"/>
                      <a:r>
                        <a:rPr b="1" sz="1350" i="0" u="none">
                          <a:solidFill>
                            <a:srgbClr val="FFFFFF"/>
                          </a:solidFill>
                          <a:latin typeface="DM Sans"/>
                        </a:rPr>
                        <a:t>Feature</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Existing tools</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This project</a:t>
                      </a:r>
                    </a:p>
                  </a:txBody>
                  <a:tcPr anchor="ctr" marL="63500" marR="63500" marT="25400" marB="25400">
                    <a:lnL>
                      <a:noFill/>
                    </a:lnL>
                    <a:lnR>
                      <a:noFill/>
                    </a:lnR>
                    <a:lnT>
                      <a:noFill/>
                    </a:lnT>
                    <a:lnB>
                      <a:noFill/>
                    </a:lnB>
                    <a:solidFill>
                      <a:srgbClr val="059669"/>
                    </a:solidFill>
                  </a:tcPr>
                </a:tc>
              </a:tr>
              <a:tr h="654050">
                <a:tc>
                  <a:txBody>
                    <a:bodyPr/>
                    <a:lstStyle/>
                    <a:p>
                      <a:pPr algn="l"/>
                      <a:r>
                        <a:rPr b="1" sz="1350" i="0" u="none">
                          <a:solidFill>
                            <a:srgbClr val="000000"/>
                          </a:solidFill>
                          <a:latin typeface="DM Sans"/>
                        </a:rPr>
                        <a:t>Play counting</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Manual entry</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059669"/>
                          </a:solidFill>
                          <a:latin typeface="DM Sans"/>
                        </a:rPr>
                        <a:t>Automatic (+1 per play)</a:t>
                      </a:r>
                    </a:p>
                  </a:txBody>
                  <a:tcPr anchor="ctr" marL="63500" marR="63500" marT="25400" marB="25400">
                    <a:lnL>
                      <a:noFill/>
                    </a:lnL>
                    <a:lnR>
                      <a:noFill/>
                    </a:lnR>
                    <a:lnT>
                      <a:noFill/>
                    </a:lnT>
                    <a:lnB>
                      <a:noFill/>
                    </a:lnB>
                    <a:solidFill>
                      <a:srgbClr val="FFFFFF"/>
                    </a:solidFill>
                  </a:tcPr>
                </a:tc>
              </a:tr>
              <a:tr h="654050">
                <a:tc>
                  <a:txBody>
                    <a:bodyPr/>
                    <a:lstStyle/>
                    <a:p>
                      <a:pPr algn="l"/>
                      <a:r>
                        <a:rPr b="1" sz="1350" i="0" u="none">
                          <a:solidFill>
                            <a:srgbClr val="000000"/>
                          </a:solidFill>
                          <a:latin typeface="DM Sans"/>
                        </a:rPr>
                        <a:t>Internet needed</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Often (streaming)</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059669"/>
                          </a:solidFill>
                          <a:latin typeface="DM Sans"/>
                        </a:rPr>
                        <a:t>Never — 100% offline</a:t>
                      </a:r>
                    </a:p>
                  </a:txBody>
                  <a:tcPr anchor="ctr" marL="63500" marR="63500" marT="25400" marB="25400">
                    <a:lnL>
                      <a:noFill/>
                    </a:lnL>
                    <a:lnR>
                      <a:noFill/>
                    </a:lnR>
                    <a:lnT>
                      <a:noFill/>
                    </a:lnT>
                    <a:lnB>
                      <a:noFill/>
                    </a:lnB>
                    <a:solidFill>
                      <a:srgbClr val="FFFFFF"/>
                    </a:solidFill>
                  </a:tcPr>
                </a:tc>
              </a:tr>
              <a:tr h="654050">
                <a:tc>
                  <a:txBody>
                    <a:bodyPr/>
                    <a:lstStyle/>
                    <a:p>
                      <a:pPr algn="l"/>
                      <a:r>
                        <a:rPr b="1" sz="1350" i="0" u="none">
                          <a:solidFill>
                            <a:srgbClr val="000000"/>
                          </a:solidFill>
                          <a:latin typeface="DM Sans"/>
                        </a:rPr>
                        <a:t>Storage</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Cloud / account</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059669"/>
                          </a:solidFill>
                          <a:latin typeface="DM Sans"/>
                        </a:rPr>
                        <a:t>Local text file, portable</a:t>
                      </a:r>
                    </a:p>
                  </a:txBody>
                  <a:tcPr anchor="ctr" marL="63500" marR="63500" marT="25400" marB="25400">
                    <a:lnL>
                      <a:noFill/>
                    </a:lnL>
                    <a:lnR>
                      <a:noFill/>
                    </a:lnR>
                    <a:lnT>
                      <a:noFill/>
                    </a:lnT>
                    <a:lnB>
                      <a:noFill/>
                    </a:lnB>
                    <a:solidFill>
                      <a:srgbClr val="FFFFFF"/>
                    </a:solidFill>
                  </a:tcPr>
                </a:tc>
              </a:tr>
              <a:tr h="654050">
                <a:tc>
                  <a:txBody>
                    <a:bodyPr/>
                    <a:lstStyle/>
                    <a:p>
                      <a:pPr algn="l"/>
                      <a:r>
                        <a:rPr b="1" sz="1350" i="0" u="none">
                          <a:solidFill>
                            <a:srgbClr val="000000"/>
                          </a:solidFill>
                          <a:latin typeface="DM Sans"/>
                        </a:rPr>
                        <a:t>Statistics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Limited, app-defined</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059669"/>
                          </a:solidFill>
                          <a:latin typeface="DM Sans"/>
                        </a:rPr>
                        <a:t>Full local report + Top-5</a:t>
                      </a:r>
                    </a:p>
                  </a:txBody>
                  <a:tcPr anchor="ctr" marL="63500" marR="63500" marT="25400" marB="25400">
                    <a:lnL>
                      <a:noFill/>
                    </a:lnL>
                    <a:lnR>
                      <a:noFill/>
                    </a:lnR>
                    <a:lnT>
                      <a:noFill/>
                    </a:lnT>
                    <a:lnB>
                      <a:noFill/>
                    </a:lnB>
                    <a:solidFill>
                      <a:srgbClr val="FFFFFF"/>
                    </a:solidFill>
                  </a:tcPr>
                </a:tc>
              </a:tr>
              <a:tr h="654050">
                <a:tc>
                  <a:txBody>
                    <a:bodyPr/>
                    <a:lstStyle/>
                    <a:p>
                      <a:pPr algn="l"/>
                      <a:r>
                        <a:rPr b="1" sz="1350" i="0" u="none">
                          <a:solidFill>
                            <a:srgbClr val="000000"/>
                          </a:solidFill>
                          <a:latin typeface="DM Sans"/>
                        </a:rPr>
                        <a:t>Source code</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64748B"/>
                          </a:solidFill>
                          <a:latin typeface="DM Sans"/>
                        </a:rPr>
                        <a:t>Closed</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059669"/>
                          </a:solidFill>
                          <a:latin typeface="DM Sans"/>
                        </a:rPr>
                        <a:t>Open, simple Java classes</a:t>
                      </a:r>
                    </a:p>
                  </a:txBody>
                  <a:tcPr anchor="ctr" marL="63500" marR="63500" marT="25400" marB="25400">
                    <a:lnL>
                      <a:noFill/>
                    </a:lnL>
                    <a:lnR>
                      <a:noFill/>
                    </a:lnR>
                    <a:lnT>
                      <a:noFill/>
                    </a:lnT>
                    <a:lnB>
                      <a:noFill/>
                    </a:lnB>
                    <a:solidFill>
                      <a:srgbClr val="FFFFFF"/>
                    </a:solidFill>
                  </a:tcPr>
                </a:tc>
              </a:tr>
            </a:tbl>
          </a:graphicData>
        </a:graphic>
      </p:graphicFrame>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05</a:t>
            </a:r>
          </a:p>
        </p:txBody>
      </p:sp>
      <p:sp>
        <p:nvSpPr>
          <p:cNvPr id="5" name="TextBox 4"/>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5 · Proposed System</a:t>
            </a:r>
          </a:p>
        </p:txBody>
      </p:sp>
      <p:sp>
        <p:nvSpPr>
          <p:cNvPr id="6" name="TextBox 5"/>
          <p:cNvSpPr txBox="1"/>
          <p:nvPr/>
        </p:nvSpPr>
        <p:spPr>
          <a:xfrm>
            <a:off x="609600" y="1238250"/>
            <a:ext cx="11068050" cy="457200"/>
          </a:xfrm>
          <a:prstGeom prst="rect">
            <a:avLst/>
          </a:prstGeom>
          <a:noFill/>
        </p:spPr>
        <p:txBody>
          <a:bodyPr wrap="square" lIns="0" rIns="0" tIns="0" bIns="0" anchor="t">
            <a:spAutoFit/>
          </a:bodyPr>
          <a:lstStyle/>
          <a:p>
            <a:pPr algn="l"/>
            <a:r>
              <a:rPr b="0" sz="1350" i="0" u="none">
                <a:solidFill>
                  <a:srgbClr val="334155"/>
                </a:solidFill>
                <a:latin typeface="DM Sans"/>
              </a:rPr>
              <a:t>A lightweight Java console application where playing a song updates its counter automatically, and a built-in stats engine summarises listening habits instantly.</a:t>
            </a:r>
          </a:p>
        </p:txBody>
      </p:sp>
      <p:sp>
        <p:nvSpPr>
          <p:cNvPr id="7" name="TextBox 6"/>
          <p:cNvSpPr txBox="1"/>
          <p:nvPr/>
        </p:nvSpPr>
        <p:spPr>
          <a:xfrm>
            <a:off x="838200" y="3076575"/>
            <a:ext cx="6091581" cy="247650"/>
          </a:xfrm>
          <a:prstGeom prst="rect">
            <a:avLst/>
          </a:prstGeom>
          <a:noFill/>
        </p:spPr>
        <p:txBody>
          <a:bodyPr wrap="none" lIns="0" rIns="0" tIns="0" bIns="0" anchor="t">
            <a:spAutoFit/>
          </a:bodyPr>
          <a:lstStyle/>
          <a:p>
            <a:pPr algn="l"/>
            <a:r>
              <a:rPr b="1" sz="1500" i="0" u="none">
                <a:solidFill>
                  <a:srgbClr val="059669"/>
                </a:solidFill>
                <a:latin typeface="Space Grotesk"/>
              </a:rPr>
              <a:t>KEY ADVANTAGES</a:t>
            </a:r>
          </a:p>
        </p:txBody>
      </p:sp>
      <p:sp>
        <p:nvSpPr>
          <p:cNvPr id="8" name="TextBox 7"/>
          <p:cNvSpPr txBox="1"/>
          <p:nvPr/>
        </p:nvSpPr>
        <p:spPr>
          <a:xfrm>
            <a:off x="838200" y="3457575"/>
            <a:ext cx="4736455" cy="457200"/>
          </a:xfrm>
          <a:prstGeom prst="rect">
            <a:avLst/>
          </a:prstGeom>
          <a:noFill/>
        </p:spPr>
        <p:txBody>
          <a:bodyPr wrap="squar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Automatic play counting:</a:t>
            </a:r>
            <a:r>
              <a:rPr b="0" sz="1350" i="0" u="none">
                <a:solidFill>
                  <a:srgbClr val="0F172A"/>
                </a:solidFill>
                <a:latin typeface="DM Sans"/>
              </a:rPr>
              <a:t> statistics are always current</a:t>
            </a:r>
          </a:p>
        </p:txBody>
      </p:sp>
      <p:sp>
        <p:nvSpPr>
          <p:cNvPr id="9" name="TextBox 8"/>
          <p:cNvSpPr txBox="1"/>
          <p:nvPr/>
        </p:nvSpPr>
        <p:spPr>
          <a:xfrm>
            <a:off x="838200" y="4010025"/>
            <a:ext cx="5801506"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Works fully offline:</a:t>
            </a:r>
            <a:r>
              <a:rPr b="0" sz="1350" i="0" u="none">
                <a:solidFill>
                  <a:srgbClr val="0F172A"/>
                </a:solidFill>
                <a:latin typeface="DM Sans"/>
              </a:rPr>
              <a:t> only a JDK is required</a:t>
            </a:r>
          </a:p>
        </p:txBody>
      </p:sp>
      <p:sp>
        <p:nvSpPr>
          <p:cNvPr id="10" name="TextBox 9"/>
          <p:cNvSpPr txBox="1"/>
          <p:nvPr/>
        </p:nvSpPr>
        <p:spPr>
          <a:xfrm>
            <a:off x="838200" y="4333875"/>
            <a:ext cx="5801506"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Persistent storage:</a:t>
            </a:r>
            <a:r>
              <a:rPr b="0" sz="1350" i="0" u="none">
                <a:solidFill>
                  <a:srgbClr val="0F172A"/>
                </a:solidFill>
                <a:latin typeface="DM Sans"/>
              </a:rPr>
              <a:t> saves to plain text format</a:t>
            </a:r>
          </a:p>
        </p:txBody>
      </p:sp>
      <p:sp>
        <p:nvSpPr>
          <p:cNvPr id="11" name="TextBox 10"/>
          <p:cNvSpPr txBox="1"/>
          <p:nvPr/>
        </p:nvSpPr>
        <p:spPr>
          <a:xfrm>
            <a:off x="838200" y="4657725"/>
            <a:ext cx="5801506"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Modular OOP design:</a:t>
            </a:r>
            <a:r>
              <a:rPr b="0" sz="1350" i="0" u="none">
                <a:solidFill>
                  <a:srgbClr val="0F172A"/>
                </a:solidFill>
                <a:latin typeface="DM Sans"/>
              </a:rPr>
              <a:t> 4 classes unified in 1 file</a:t>
            </a:r>
          </a:p>
        </p:txBody>
      </p:sp>
      <p:sp>
        <p:nvSpPr>
          <p:cNvPr id="12" name="TextBox 11"/>
          <p:cNvSpPr txBox="1"/>
          <p:nvPr/>
        </p:nvSpPr>
        <p:spPr>
          <a:xfrm>
            <a:off x="838200" y="4981575"/>
            <a:ext cx="5801506" cy="228600"/>
          </a:xfrm>
          <a:prstGeom prst="rect">
            <a:avLst/>
          </a:prstGeom>
          <a:noFill/>
        </p:spPr>
        <p:txBody>
          <a:bodyPr wrap="none" lIns="0" rIns="0" tIns="0" bIns="0" anchor="t">
            <a:spAutoFit/>
          </a:bodyPr>
          <a:lstStyle/>
          <a:p>
            <a:pPr algn="l"/>
            <a:r>
              <a:rPr b="0" sz="1350" i="0" u="none">
                <a:solidFill>
                  <a:srgbClr val="0F172A"/>
                </a:solidFill>
                <a:latin typeface="DM Sans"/>
              </a:rPr>
              <a:t>▿ </a:t>
            </a:r>
            <a:r>
              <a:rPr b="1" sz="1350" i="0" u="none">
                <a:solidFill>
                  <a:srgbClr val="0F172A"/>
                </a:solidFill>
                <a:latin typeface="DM Sans"/>
              </a:rPr>
              <a:t>Beginner-friendly:</a:t>
            </a:r>
            <a:r>
              <a:rPr b="0" sz="1350" i="0" u="none">
                <a:solidFill>
                  <a:srgbClr val="0F172A"/>
                </a:solidFill>
                <a:latin typeface="DM Sans"/>
              </a:rPr>
              <a:t> heavily commented for viva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2286000"/>
            <a:ext cx="10972800" cy="590550"/>
          </a:xfrm>
          <a:prstGeom prst="roundRect">
            <a:avLst>
              <a:gd name="adj" fmla="val 1935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028950"/>
            <a:ext cx="10972800" cy="590550"/>
          </a:xfrm>
          <a:prstGeom prst="roundRect">
            <a:avLst>
              <a:gd name="adj" fmla="val 19354"/>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4876800"/>
            <a:ext cx="10972800" cy="590550"/>
          </a:xfrm>
          <a:prstGeom prst="roundRect">
            <a:avLst>
              <a:gd name="adj" fmla="val 1935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3771900"/>
            <a:ext cx="5372100" cy="9525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0300" y="3771900"/>
            <a:ext cx="5372100" cy="9525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06</a:t>
            </a:r>
          </a:p>
        </p:txBody>
      </p:sp>
      <p:sp>
        <p:nvSpPr>
          <p:cNvPr id="8" name="TextBox 7"/>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6 · System Architecture</a:t>
            </a:r>
          </a:p>
        </p:txBody>
      </p:sp>
      <p:sp>
        <p:nvSpPr>
          <p:cNvPr id="9" name="TextBox 8"/>
          <p:cNvSpPr txBox="1"/>
          <p:nvPr/>
        </p:nvSpPr>
        <p:spPr>
          <a:xfrm>
            <a:off x="876300" y="2457450"/>
            <a:ext cx="1788309" cy="247650"/>
          </a:xfrm>
          <a:prstGeom prst="rect">
            <a:avLst/>
          </a:prstGeom>
          <a:noFill/>
        </p:spPr>
        <p:txBody>
          <a:bodyPr wrap="none" lIns="0" rIns="0" tIns="0" bIns="0" anchor="t">
            <a:spAutoFit/>
          </a:bodyPr>
          <a:lstStyle/>
          <a:p>
            <a:pPr algn="l"/>
            <a:r>
              <a:rPr b="1" sz="1500" i="0" u="none">
                <a:solidFill>
                  <a:srgbClr val="0F172A"/>
                </a:solidFill>
                <a:latin typeface="Space Grotesk"/>
              </a:rPr>
              <a:t>☻ INPUT · USER</a:t>
            </a:r>
          </a:p>
        </p:txBody>
      </p:sp>
      <p:sp>
        <p:nvSpPr>
          <p:cNvPr id="10" name="TextBox 9"/>
          <p:cNvSpPr txBox="1"/>
          <p:nvPr/>
        </p:nvSpPr>
        <p:spPr>
          <a:xfrm>
            <a:off x="5343525" y="2466975"/>
            <a:ext cx="6848475" cy="228600"/>
          </a:xfrm>
          <a:prstGeom prst="rect">
            <a:avLst/>
          </a:prstGeom>
          <a:noFill/>
        </p:spPr>
        <p:txBody>
          <a:bodyPr wrap="none" lIns="0" rIns="0" tIns="0" bIns="0" anchor="t">
            <a:spAutoFit/>
          </a:bodyPr>
          <a:lstStyle/>
          <a:p>
            <a:pPr algn="l"/>
            <a:r>
              <a:rPr b="0" sz="1350" i="0" u="none">
                <a:solidFill>
                  <a:srgbClr val="475569"/>
                </a:solidFill>
                <a:latin typeface="DM Sans"/>
              </a:rPr>
              <a:t>Chooses menu options; types song details on the keyboard (Scanner input)</a:t>
            </a:r>
          </a:p>
        </p:txBody>
      </p:sp>
      <p:sp>
        <p:nvSpPr>
          <p:cNvPr id="11" name="TextBox 10"/>
          <p:cNvSpPr txBox="1"/>
          <p:nvPr/>
        </p:nvSpPr>
        <p:spPr>
          <a:xfrm>
            <a:off x="876300" y="3200400"/>
            <a:ext cx="5185609" cy="247650"/>
          </a:xfrm>
          <a:prstGeom prst="rect">
            <a:avLst/>
          </a:prstGeom>
          <a:noFill/>
        </p:spPr>
        <p:txBody>
          <a:bodyPr wrap="none" lIns="0" rIns="0" tIns="0" bIns="0" anchor="t">
            <a:spAutoFit/>
          </a:bodyPr>
          <a:lstStyle/>
          <a:p>
            <a:pPr algn="l"/>
            <a:r>
              <a:rPr b="1" sz="1500" i="0" u="none">
                <a:solidFill>
                  <a:srgbClr val="10B981"/>
                </a:solidFill>
                <a:latin typeface="Space Grotesk"/>
              </a:rPr>
              <a:t>▼ CONTROLLER · MusicManagerApp (Main)</a:t>
            </a:r>
          </a:p>
        </p:txBody>
      </p:sp>
      <p:sp>
        <p:nvSpPr>
          <p:cNvPr id="12" name="TextBox 11"/>
          <p:cNvSpPr txBox="1"/>
          <p:nvPr/>
        </p:nvSpPr>
        <p:spPr>
          <a:xfrm>
            <a:off x="5495925" y="3209925"/>
            <a:ext cx="6696075" cy="228600"/>
          </a:xfrm>
          <a:prstGeom prst="rect">
            <a:avLst/>
          </a:prstGeom>
          <a:noFill/>
        </p:spPr>
        <p:txBody>
          <a:bodyPr wrap="none" lIns="0" rIns="0" tIns="0" bIns="0" anchor="t">
            <a:spAutoFit/>
          </a:bodyPr>
          <a:lstStyle/>
          <a:p>
            <a:pPr algn="l"/>
            <a:r>
              <a:rPr b="0" sz="1350" i="0" u="none">
                <a:solidFill>
                  <a:srgbClr val="CBD5E1"/>
                </a:solidFill>
                <a:latin typeface="DM Sans"/>
              </a:rPr>
              <a:t>3-Module switch-case menu loop (Song, Playlist, Stats) &amp; input validation</a:t>
            </a:r>
          </a:p>
        </p:txBody>
      </p:sp>
      <p:sp>
        <p:nvSpPr>
          <p:cNvPr id="13" name="TextBox 12"/>
          <p:cNvSpPr txBox="1"/>
          <p:nvPr/>
        </p:nvSpPr>
        <p:spPr>
          <a:xfrm>
            <a:off x="876300" y="5048250"/>
            <a:ext cx="4573032" cy="247650"/>
          </a:xfrm>
          <a:prstGeom prst="rect">
            <a:avLst/>
          </a:prstGeom>
          <a:noFill/>
        </p:spPr>
        <p:txBody>
          <a:bodyPr wrap="none" lIns="0" rIns="0" tIns="0" bIns="0" anchor="t">
            <a:spAutoFit/>
          </a:bodyPr>
          <a:lstStyle/>
          <a:p>
            <a:pPr algn="l"/>
            <a:r>
              <a:rPr b="1" sz="1500" i="0" u="none">
                <a:solidFill>
                  <a:srgbClr val="0F172A"/>
                </a:solidFill>
                <a:latin typeface="Space Grotesk"/>
              </a:rPr>
              <a:t>▼ MODEL · Song class (POJO · 4 fields)</a:t>
            </a:r>
          </a:p>
        </p:txBody>
      </p:sp>
      <p:sp>
        <p:nvSpPr>
          <p:cNvPr id="14" name="TextBox 13"/>
          <p:cNvSpPr txBox="1"/>
          <p:nvPr/>
        </p:nvSpPr>
        <p:spPr>
          <a:xfrm>
            <a:off x="7105650" y="5057775"/>
            <a:ext cx="5086350" cy="228600"/>
          </a:xfrm>
          <a:prstGeom prst="rect">
            <a:avLst/>
          </a:prstGeom>
          <a:noFill/>
        </p:spPr>
        <p:txBody>
          <a:bodyPr wrap="none" lIns="0" rIns="0" tIns="0" bIns="0" anchor="t">
            <a:spAutoFit/>
          </a:bodyPr>
          <a:lstStyle/>
          <a:p>
            <a:pPr algn="l"/>
            <a:r>
              <a:rPr b="0" sz="1350" i="0" u="none">
                <a:solidFill>
                  <a:srgbClr val="475569"/>
                </a:solidFill>
                <a:latin typeface="DM Sans"/>
              </a:rPr>
              <a:t>One object per song: title|artist|seconds|plays format</a:t>
            </a:r>
          </a:p>
        </p:txBody>
      </p:sp>
      <p:sp>
        <p:nvSpPr>
          <p:cNvPr id="15" name="TextBox 14"/>
          <p:cNvSpPr txBox="1"/>
          <p:nvPr/>
        </p:nvSpPr>
        <p:spPr>
          <a:xfrm>
            <a:off x="876300" y="3981450"/>
            <a:ext cx="6350793" cy="247650"/>
          </a:xfrm>
          <a:prstGeom prst="rect">
            <a:avLst/>
          </a:prstGeom>
          <a:noFill/>
        </p:spPr>
        <p:txBody>
          <a:bodyPr wrap="none" lIns="0" rIns="0" tIns="0" bIns="0" anchor="t">
            <a:spAutoFit/>
          </a:bodyPr>
          <a:lstStyle/>
          <a:p>
            <a:pPr algn="l"/>
            <a:r>
              <a:rPr b="1" sz="1500" i="0" u="none">
                <a:solidFill>
                  <a:srgbClr val="059669"/>
                </a:solidFill>
                <a:latin typeface="Space Grotesk"/>
              </a:rPr>
              <a:t>DATA MANAGER · Playlist class</a:t>
            </a:r>
          </a:p>
        </p:txBody>
      </p:sp>
      <p:sp>
        <p:nvSpPr>
          <p:cNvPr id="16" name="TextBox 15"/>
          <p:cNvSpPr txBox="1"/>
          <p:nvPr/>
        </p:nvSpPr>
        <p:spPr>
          <a:xfrm>
            <a:off x="876300" y="4286250"/>
            <a:ext cx="6048375" cy="228600"/>
          </a:xfrm>
          <a:prstGeom prst="rect">
            <a:avLst/>
          </a:prstGeom>
          <a:noFill/>
        </p:spPr>
        <p:txBody>
          <a:bodyPr wrap="none" lIns="0" rIns="0" tIns="0" bIns="0" anchor="t">
            <a:spAutoFit/>
          </a:bodyPr>
          <a:lstStyle/>
          <a:p>
            <a:pPr algn="l"/>
            <a:r>
              <a:rPr b="0" sz="1350" i="0" u="none">
                <a:solidFill>
                  <a:srgbClr val="475569"/>
                </a:solidFill>
                <a:latin typeface="DM Sans"/>
              </a:rPr>
              <a:t>Holds ArrayList: add / remove / search / sort</a:t>
            </a:r>
          </a:p>
        </p:txBody>
      </p:sp>
      <p:sp>
        <p:nvSpPr>
          <p:cNvPr id="17" name="TextBox 16"/>
          <p:cNvSpPr txBox="1"/>
          <p:nvPr/>
        </p:nvSpPr>
        <p:spPr>
          <a:xfrm>
            <a:off x="6477000" y="3981450"/>
            <a:ext cx="5715000" cy="247650"/>
          </a:xfrm>
          <a:prstGeom prst="rect">
            <a:avLst/>
          </a:prstGeom>
          <a:noFill/>
        </p:spPr>
        <p:txBody>
          <a:bodyPr wrap="none" lIns="0" rIns="0" tIns="0" bIns="0" anchor="t">
            <a:spAutoFit/>
          </a:bodyPr>
          <a:lstStyle/>
          <a:p>
            <a:pPr algn="l"/>
            <a:r>
              <a:rPr b="1" sz="1500" i="0" u="none">
                <a:solidFill>
                  <a:srgbClr val="059669"/>
                </a:solidFill>
                <a:latin typeface="Space Grotesk"/>
              </a:rPr>
              <a:t>CALCULATOR · StatsManager class</a:t>
            </a:r>
          </a:p>
        </p:txBody>
      </p:sp>
      <p:sp>
        <p:nvSpPr>
          <p:cNvPr id="18" name="TextBox 17"/>
          <p:cNvSpPr txBox="1"/>
          <p:nvPr/>
        </p:nvSpPr>
        <p:spPr>
          <a:xfrm>
            <a:off x="6477000" y="4286250"/>
            <a:ext cx="5715000" cy="228600"/>
          </a:xfrm>
          <a:prstGeom prst="rect">
            <a:avLst/>
          </a:prstGeom>
          <a:noFill/>
        </p:spPr>
        <p:txBody>
          <a:bodyPr wrap="none" lIns="0" rIns="0" tIns="0" bIns="0" anchor="t">
            <a:spAutoFit/>
          </a:bodyPr>
          <a:lstStyle/>
          <a:p>
            <a:pPr algn="l"/>
            <a:r>
              <a:rPr b="0" sz="1350" i="0" u="none">
                <a:solidFill>
                  <a:srgbClr val="475569"/>
                </a:solidFill>
                <a:latin typeface="DM Sans"/>
              </a:rPr>
              <a:t>Totals, listening time, favourite artist (HashMap), Top-5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5867400"/>
            <a:ext cx="10972800" cy="533400"/>
          </a:xfrm>
          <a:prstGeom prst="roundRect">
            <a:avLst>
              <a:gd name="adj" fmla="val 1785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643187"/>
            <a:ext cx="2628900" cy="904875"/>
          </a:xfrm>
          <a:prstGeom prst="roundRect">
            <a:avLst>
              <a:gd name="adj" fmla="val 1263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0900" y="2638425"/>
            <a:ext cx="2628900" cy="914400"/>
          </a:xfrm>
          <a:prstGeom prst="roundRect">
            <a:avLst>
              <a:gd name="adj" fmla="val 125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72200" y="2528887"/>
            <a:ext cx="2628900" cy="1133475"/>
          </a:xfrm>
          <a:prstGeom prst="roundRect">
            <a:avLst>
              <a:gd name="adj" fmla="val 100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53500" y="2638425"/>
            <a:ext cx="2628900" cy="914400"/>
          </a:xfrm>
          <a:prstGeom prst="roundRect">
            <a:avLst>
              <a:gd name="adj" fmla="val 125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9600" y="3819525"/>
            <a:ext cx="2628900" cy="1133475"/>
          </a:xfrm>
          <a:prstGeom prst="roundRect">
            <a:avLst>
              <a:gd name="adj" fmla="val 100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90900" y="3933825"/>
            <a:ext cx="2628900" cy="904875"/>
          </a:xfrm>
          <a:prstGeom prst="roundRect">
            <a:avLst>
              <a:gd name="adj" fmla="val 1263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72200" y="3814762"/>
            <a:ext cx="2628900" cy="1143000"/>
          </a:xfrm>
          <a:prstGeom prst="roundRect">
            <a:avLst>
              <a:gd name="adj" fmla="val 10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53500" y="3819525"/>
            <a:ext cx="2628900" cy="1133475"/>
          </a:xfrm>
          <a:prstGeom prst="roundRect">
            <a:avLst>
              <a:gd name="adj" fmla="val 10084"/>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07</a:t>
            </a:r>
          </a:p>
        </p:txBody>
      </p:sp>
      <p:sp>
        <p:nvSpPr>
          <p:cNvPr id="12" name="TextBox 11"/>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7 · Functionalities</a:t>
            </a:r>
          </a:p>
        </p:txBody>
      </p:sp>
      <p:sp>
        <p:nvSpPr>
          <p:cNvPr id="13" name="TextBox 12"/>
          <p:cNvSpPr txBox="1"/>
          <p:nvPr/>
        </p:nvSpPr>
        <p:spPr>
          <a:xfrm>
            <a:off x="609600" y="1200150"/>
            <a:ext cx="11582400" cy="228600"/>
          </a:xfrm>
          <a:prstGeom prst="rect">
            <a:avLst/>
          </a:prstGeom>
          <a:noFill/>
        </p:spPr>
        <p:txBody>
          <a:bodyPr wrap="none" lIns="0" rIns="0" tIns="0" bIns="0" anchor="t">
            <a:spAutoFit/>
          </a:bodyPr>
          <a:lstStyle/>
          <a:p>
            <a:pPr algn="l"/>
            <a:r>
              <a:rPr b="0" sz="1350" i="0" u="none">
                <a:solidFill>
                  <a:srgbClr val="475569"/>
                </a:solidFill>
                <a:latin typeface="DM Sans"/>
              </a:rPr>
              <a:t>Core features organised across the 3 interactive modules (Song, Playlist, Stats).</a:t>
            </a:r>
          </a:p>
        </p:txBody>
      </p:sp>
      <p:sp>
        <p:nvSpPr>
          <p:cNvPr id="14" name="TextBox 13"/>
          <p:cNvSpPr txBox="1"/>
          <p:nvPr/>
        </p:nvSpPr>
        <p:spPr>
          <a:xfrm>
            <a:off x="838200" y="6019800"/>
            <a:ext cx="11353800" cy="228600"/>
          </a:xfrm>
          <a:prstGeom prst="rect">
            <a:avLst/>
          </a:prstGeom>
          <a:noFill/>
        </p:spPr>
        <p:txBody>
          <a:bodyPr wrap="none" lIns="0" rIns="0" tIns="0" bIns="0" anchor="t">
            <a:spAutoFit/>
          </a:bodyPr>
          <a:lstStyle/>
          <a:p>
            <a:pPr algn="l"/>
            <a:r>
              <a:rPr b="0" sz="1350" i="0" u="none">
                <a:solidFill>
                  <a:srgbClr val="FFFFFF"/>
                </a:solidFill>
                <a:latin typeface="DM Sans"/>
              </a:rPr>
              <a:t>▶ </a:t>
            </a:r>
            <a:r>
              <a:rPr b="1" sz="1350" i="0" u="none">
                <a:solidFill>
                  <a:srgbClr val="FFFFFF"/>
                </a:solidFill>
                <a:latin typeface="DM Sans"/>
              </a:rPr>
              <a:t>Demo tip:</a:t>
            </a:r>
            <a:r>
              <a:rPr b="0" sz="1350" i="0" u="none">
                <a:solidFill>
                  <a:srgbClr val="FFFFFF"/>
                </a:solidFill>
                <a:latin typeface="DM Sans"/>
              </a:rPr>
              <a:t> Select Module 1 (Song) to play "Believer" (+1) → Select Module 3 (Stats) for live report.</a:t>
            </a:r>
          </a:p>
        </p:txBody>
      </p:sp>
      <p:sp>
        <p:nvSpPr>
          <p:cNvPr id="15" name="TextBox 14"/>
          <p:cNvSpPr txBox="1"/>
          <p:nvPr/>
        </p:nvSpPr>
        <p:spPr>
          <a:xfrm>
            <a:off x="800100" y="2833687"/>
            <a:ext cx="2950368" cy="238125"/>
          </a:xfrm>
          <a:prstGeom prst="rect">
            <a:avLst/>
          </a:prstGeom>
          <a:noFill/>
        </p:spPr>
        <p:txBody>
          <a:bodyPr wrap="none" lIns="0" rIns="0" tIns="0" bIns="0" anchor="t">
            <a:spAutoFit/>
          </a:bodyPr>
          <a:lstStyle/>
          <a:p>
            <a:pPr algn="l"/>
            <a:r>
              <a:rPr b="1" sz="1425" i="0" u="none">
                <a:solidFill>
                  <a:srgbClr val="0F172A"/>
                </a:solidFill>
                <a:latin typeface="Space Grotesk"/>
              </a:rPr>
              <a:t>♪ View All Songs</a:t>
            </a:r>
          </a:p>
        </p:txBody>
      </p:sp>
      <p:sp>
        <p:nvSpPr>
          <p:cNvPr id="16" name="TextBox 15"/>
          <p:cNvSpPr txBox="1"/>
          <p:nvPr/>
        </p:nvSpPr>
        <p:spPr>
          <a:xfrm>
            <a:off x="800100" y="3128962"/>
            <a:ext cx="2809875" cy="228600"/>
          </a:xfrm>
          <a:prstGeom prst="rect">
            <a:avLst/>
          </a:prstGeom>
          <a:noFill/>
        </p:spPr>
        <p:txBody>
          <a:bodyPr wrap="none" lIns="0" rIns="0" tIns="0" bIns="0" anchor="t">
            <a:spAutoFit/>
          </a:bodyPr>
          <a:lstStyle/>
          <a:p>
            <a:pPr algn="l"/>
            <a:r>
              <a:rPr b="0" sz="1350" i="0" u="none">
                <a:solidFill>
                  <a:srgbClr val="475569"/>
                </a:solidFill>
                <a:latin typeface="DM Sans"/>
              </a:rPr>
              <a:t>Neat printf table of songs.</a:t>
            </a:r>
          </a:p>
        </p:txBody>
      </p:sp>
      <p:sp>
        <p:nvSpPr>
          <p:cNvPr id="17" name="TextBox 16"/>
          <p:cNvSpPr txBox="1"/>
          <p:nvPr/>
        </p:nvSpPr>
        <p:spPr>
          <a:xfrm>
            <a:off x="3581400" y="2828925"/>
            <a:ext cx="2950368" cy="247650"/>
          </a:xfrm>
          <a:prstGeom prst="rect">
            <a:avLst/>
          </a:prstGeom>
          <a:noFill/>
        </p:spPr>
        <p:txBody>
          <a:bodyPr wrap="none" lIns="0" rIns="0" tIns="0" bIns="0" anchor="t">
            <a:spAutoFit/>
          </a:bodyPr>
          <a:lstStyle/>
          <a:p>
            <a:pPr algn="l"/>
            <a:r>
              <a:rPr b="1" sz="1425" i="0" u="none">
                <a:solidFill>
                  <a:srgbClr val="0F172A"/>
                </a:solidFill>
                <a:latin typeface="Space Grotesk"/>
              </a:rPr>
              <a:t>⊕ Add a New Song</a:t>
            </a:r>
          </a:p>
        </p:txBody>
      </p:sp>
      <p:sp>
        <p:nvSpPr>
          <p:cNvPr id="18" name="TextBox 17"/>
          <p:cNvSpPr txBox="1"/>
          <p:nvPr/>
        </p:nvSpPr>
        <p:spPr>
          <a:xfrm>
            <a:off x="3581400" y="3133725"/>
            <a:ext cx="2809875" cy="228600"/>
          </a:xfrm>
          <a:prstGeom prst="rect">
            <a:avLst/>
          </a:prstGeom>
          <a:noFill/>
        </p:spPr>
        <p:txBody>
          <a:bodyPr wrap="none" lIns="0" rIns="0" tIns="0" bIns="0" anchor="t">
            <a:spAutoFit/>
          </a:bodyPr>
          <a:lstStyle/>
          <a:p>
            <a:pPr algn="l"/>
            <a:r>
              <a:rPr b="0" sz="1350" i="0" u="none">
                <a:solidFill>
                  <a:srgbClr val="475569"/>
                </a:solidFill>
                <a:latin typeface="DM Sans"/>
              </a:rPr>
              <a:t>Validated title, artist, length.</a:t>
            </a:r>
          </a:p>
        </p:txBody>
      </p:sp>
      <p:sp>
        <p:nvSpPr>
          <p:cNvPr id="19" name="TextBox 18"/>
          <p:cNvSpPr txBox="1"/>
          <p:nvPr/>
        </p:nvSpPr>
        <p:spPr>
          <a:xfrm>
            <a:off x="6362700" y="2719387"/>
            <a:ext cx="2950368" cy="238125"/>
          </a:xfrm>
          <a:prstGeom prst="rect">
            <a:avLst/>
          </a:prstGeom>
          <a:noFill/>
        </p:spPr>
        <p:txBody>
          <a:bodyPr wrap="none" lIns="0" rIns="0" tIns="0" bIns="0" anchor="t">
            <a:spAutoFit/>
          </a:bodyPr>
          <a:lstStyle/>
          <a:p>
            <a:pPr algn="l"/>
            <a:r>
              <a:rPr b="1" sz="1425" i="0" u="none">
                <a:solidFill>
                  <a:srgbClr val="0F172A"/>
                </a:solidFill>
                <a:latin typeface="Space Grotesk"/>
              </a:rPr>
              <a:t>⊖ Remove a Song</a:t>
            </a:r>
          </a:p>
        </p:txBody>
      </p:sp>
      <p:sp>
        <p:nvSpPr>
          <p:cNvPr id="20" name="TextBox 19"/>
          <p:cNvSpPr txBox="1"/>
          <p:nvPr/>
        </p:nvSpPr>
        <p:spPr>
          <a:xfrm>
            <a:off x="6362700" y="3014662"/>
            <a:ext cx="2343150" cy="457200"/>
          </a:xfrm>
          <a:prstGeom prst="rect">
            <a:avLst/>
          </a:prstGeom>
          <a:noFill/>
        </p:spPr>
        <p:txBody>
          <a:bodyPr wrap="square" lIns="0" rIns="0" tIns="0" bIns="0" anchor="t">
            <a:spAutoFit/>
          </a:bodyPr>
          <a:lstStyle/>
          <a:p>
            <a:pPr algn="l"/>
            <a:r>
              <a:rPr b="0" sz="1350" i="0" u="none">
                <a:solidFill>
                  <a:srgbClr val="475569"/>
                </a:solidFill>
                <a:latin typeface="DM Sans"/>
              </a:rPr>
              <a:t>Deletes by title (case-insensitive).</a:t>
            </a:r>
          </a:p>
        </p:txBody>
      </p:sp>
      <p:sp>
        <p:nvSpPr>
          <p:cNvPr id="21" name="TextBox 20"/>
          <p:cNvSpPr txBox="1"/>
          <p:nvPr/>
        </p:nvSpPr>
        <p:spPr>
          <a:xfrm>
            <a:off x="9144000" y="2828925"/>
            <a:ext cx="2950368" cy="247650"/>
          </a:xfrm>
          <a:prstGeom prst="rect">
            <a:avLst/>
          </a:prstGeom>
          <a:noFill/>
        </p:spPr>
        <p:txBody>
          <a:bodyPr wrap="none" lIns="0" rIns="0" tIns="0" bIns="0" anchor="t">
            <a:spAutoFit/>
          </a:bodyPr>
          <a:lstStyle/>
          <a:p>
            <a:pPr algn="l"/>
            <a:r>
              <a:rPr b="1" sz="1425" i="0" u="none">
                <a:solidFill>
                  <a:srgbClr val="059669"/>
                </a:solidFill>
                <a:latin typeface="Space Grotesk"/>
              </a:rPr>
              <a:t>▶ Play a Song ★</a:t>
            </a:r>
          </a:p>
        </p:txBody>
      </p:sp>
      <p:sp>
        <p:nvSpPr>
          <p:cNvPr id="22" name="TextBox 21"/>
          <p:cNvSpPr txBox="1"/>
          <p:nvPr/>
        </p:nvSpPr>
        <p:spPr>
          <a:xfrm>
            <a:off x="9144000" y="3133725"/>
            <a:ext cx="2809875" cy="228600"/>
          </a:xfrm>
          <a:prstGeom prst="rect">
            <a:avLst/>
          </a:prstGeom>
          <a:noFill/>
        </p:spPr>
        <p:txBody>
          <a:bodyPr wrap="none" lIns="0" rIns="0" tIns="0" bIns="0" anchor="t">
            <a:spAutoFit/>
          </a:bodyPr>
          <a:lstStyle/>
          <a:p>
            <a:pPr algn="l"/>
            <a:r>
              <a:rPr b="0" sz="1350" i="0" u="none">
                <a:solidFill>
                  <a:srgbClr val="0F172A"/>
                </a:solidFill>
                <a:latin typeface="DM Sans"/>
              </a:rPr>
              <a:t>Adds +1 to song play count.</a:t>
            </a:r>
          </a:p>
        </p:txBody>
      </p:sp>
      <p:sp>
        <p:nvSpPr>
          <p:cNvPr id="23" name="TextBox 22"/>
          <p:cNvSpPr txBox="1"/>
          <p:nvPr/>
        </p:nvSpPr>
        <p:spPr>
          <a:xfrm>
            <a:off x="800100" y="4010025"/>
            <a:ext cx="2950368" cy="238125"/>
          </a:xfrm>
          <a:prstGeom prst="rect">
            <a:avLst/>
          </a:prstGeom>
          <a:noFill/>
        </p:spPr>
        <p:txBody>
          <a:bodyPr wrap="none" lIns="0" rIns="0" tIns="0" bIns="0" anchor="t">
            <a:spAutoFit/>
          </a:bodyPr>
          <a:lstStyle/>
          <a:p>
            <a:pPr algn="l"/>
            <a:r>
              <a:rPr b="1" sz="1425" i="0" u="none">
                <a:solidFill>
                  <a:srgbClr val="0F172A"/>
                </a:solidFill>
                <a:latin typeface="Space Grotesk"/>
              </a:rPr>
              <a:t>⌕ Search Songs</a:t>
            </a:r>
          </a:p>
        </p:txBody>
      </p:sp>
      <p:sp>
        <p:nvSpPr>
          <p:cNvPr id="24" name="TextBox 23"/>
          <p:cNvSpPr txBox="1"/>
          <p:nvPr/>
        </p:nvSpPr>
        <p:spPr>
          <a:xfrm>
            <a:off x="800100" y="4305300"/>
            <a:ext cx="2343150" cy="457200"/>
          </a:xfrm>
          <a:prstGeom prst="rect">
            <a:avLst/>
          </a:prstGeom>
          <a:noFill/>
        </p:spPr>
        <p:txBody>
          <a:bodyPr wrap="square" lIns="0" rIns="0" tIns="0" bIns="0" anchor="t">
            <a:spAutoFit/>
          </a:bodyPr>
          <a:lstStyle/>
          <a:p>
            <a:pPr algn="l"/>
            <a:r>
              <a:rPr b="0" sz="1350" i="0" u="none">
                <a:solidFill>
                  <a:srgbClr val="475569"/>
                </a:solidFill>
                <a:latin typeface="DM Sans"/>
              </a:rPr>
              <a:t>Matches title or artist keyword.</a:t>
            </a:r>
          </a:p>
        </p:txBody>
      </p:sp>
      <p:sp>
        <p:nvSpPr>
          <p:cNvPr id="25" name="TextBox 24"/>
          <p:cNvSpPr txBox="1"/>
          <p:nvPr/>
        </p:nvSpPr>
        <p:spPr>
          <a:xfrm>
            <a:off x="3581400" y="4124325"/>
            <a:ext cx="2950368" cy="238125"/>
          </a:xfrm>
          <a:prstGeom prst="rect">
            <a:avLst/>
          </a:prstGeom>
          <a:noFill/>
        </p:spPr>
        <p:txBody>
          <a:bodyPr wrap="none" lIns="0" rIns="0" tIns="0" bIns="0" anchor="t">
            <a:spAutoFit/>
          </a:bodyPr>
          <a:lstStyle/>
          <a:p>
            <a:pPr algn="l"/>
            <a:r>
              <a:rPr b="1" sz="1425" i="0" u="none">
                <a:solidFill>
                  <a:srgbClr val="0F172A"/>
                </a:solidFill>
                <a:latin typeface="Space Grotesk"/>
              </a:rPr>
              <a:t>⇅ Sort Playlist</a:t>
            </a:r>
          </a:p>
        </p:txBody>
      </p:sp>
      <p:sp>
        <p:nvSpPr>
          <p:cNvPr id="26" name="TextBox 25"/>
          <p:cNvSpPr txBox="1"/>
          <p:nvPr/>
        </p:nvSpPr>
        <p:spPr>
          <a:xfrm>
            <a:off x="3581400" y="4419600"/>
            <a:ext cx="2809875" cy="228600"/>
          </a:xfrm>
          <a:prstGeom prst="rect">
            <a:avLst/>
          </a:prstGeom>
          <a:noFill/>
        </p:spPr>
        <p:txBody>
          <a:bodyPr wrap="none" lIns="0" rIns="0" tIns="0" bIns="0" anchor="t">
            <a:spAutoFit/>
          </a:bodyPr>
          <a:lstStyle/>
          <a:p>
            <a:pPr algn="l"/>
            <a:r>
              <a:rPr b="0" sz="1350" i="0" u="none">
                <a:solidFill>
                  <a:srgbClr val="475569"/>
                </a:solidFill>
                <a:latin typeface="DM Sans"/>
              </a:rPr>
              <a:t>A–Z by title or most-played.</a:t>
            </a:r>
          </a:p>
        </p:txBody>
      </p:sp>
      <p:sp>
        <p:nvSpPr>
          <p:cNvPr id="27" name="TextBox 26"/>
          <p:cNvSpPr txBox="1"/>
          <p:nvPr/>
        </p:nvSpPr>
        <p:spPr>
          <a:xfrm>
            <a:off x="6362700" y="4005262"/>
            <a:ext cx="2950368" cy="247650"/>
          </a:xfrm>
          <a:prstGeom prst="rect">
            <a:avLst/>
          </a:prstGeom>
          <a:noFill/>
        </p:spPr>
        <p:txBody>
          <a:bodyPr wrap="none" lIns="0" rIns="0" tIns="0" bIns="0" anchor="t">
            <a:spAutoFit/>
          </a:bodyPr>
          <a:lstStyle/>
          <a:p>
            <a:pPr algn="l"/>
            <a:r>
              <a:rPr b="1" sz="1425" i="0" u="none">
                <a:solidFill>
                  <a:srgbClr val="059669"/>
                </a:solidFill>
                <a:latin typeface="Space Grotesk"/>
              </a:rPr>
              <a:t>▦ Listening Stats ★</a:t>
            </a:r>
          </a:p>
        </p:txBody>
      </p:sp>
      <p:sp>
        <p:nvSpPr>
          <p:cNvPr id="28" name="TextBox 27"/>
          <p:cNvSpPr txBox="1"/>
          <p:nvPr/>
        </p:nvSpPr>
        <p:spPr>
          <a:xfrm>
            <a:off x="6362700" y="4310062"/>
            <a:ext cx="2343150" cy="457200"/>
          </a:xfrm>
          <a:prstGeom prst="rect">
            <a:avLst/>
          </a:prstGeom>
          <a:noFill/>
        </p:spPr>
        <p:txBody>
          <a:bodyPr wrap="square" lIns="0" rIns="0" tIns="0" bIns="0" anchor="t">
            <a:spAutoFit/>
          </a:bodyPr>
          <a:lstStyle/>
          <a:p>
            <a:pPr algn="l"/>
            <a:r>
              <a:rPr b="0" sz="1350" i="0" u="none">
                <a:solidFill>
                  <a:srgbClr val="0F172A"/>
                </a:solidFill>
                <a:latin typeface="DM Sans"/>
              </a:rPr>
              <a:t>Pick individual stats or Top-5.</a:t>
            </a:r>
          </a:p>
        </p:txBody>
      </p:sp>
      <p:sp>
        <p:nvSpPr>
          <p:cNvPr id="29" name="TextBox 28"/>
          <p:cNvSpPr txBox="1"/>
          <p:nvPr/>
        </p:nvSpPr>
        <p:spPr>
          <a:xfrm>
            <a:off x="9144000" y="4010025"/>
            <a:ext cx="2950368" cy="238125"/>
          </a:xfrm>
          <a:prstGeom prst="rect">
            <a:avLst/>
          </a:prstGeom>
          <a:noFill/>
        </p:spPr>
        <p:txBody>
          <a:bodyPr wrap="none" lIns="0" rIns="0" tIns="0" bIns="0" anchor="t">
            <a:spAutoFit/>
          </a:bodyPr>
          <a:lstStyle/>
          <a:p>
            <a:pPr algn="l"/>
            <a:r>
              <a:rPr b="1" sz="1425" i="0" u="none">
                <a:solidFill>
                  <a:srgbClr val="059669"/>
                </a:solidFill>
                <a:latin typeface="Space Grotesk"/>
              </a:rPr>
              <a:t>⤓ Single-Song Share ★</a:t>
            </a:r>
          </a:p>
        </p:txBody>
      </p:sp>
      <p:sp>
        <p:nvSpPr>
          <p:cNvPr id="30" name="TextBox 29"/>
          <p:cNvSpPr txBox="1"/>
          <p:nvPr/>
        </p:nvSpPr>
        <p:spPr>
          <a:xfrm>
            <a:off x="9144000" y="4305300"/>
            <a:ext cx="2343150" cy="457200"/>
          </a:xfrm>
          <a:prstGeom prst="rect">
            <a:avLst/>
          </a:prstGeom>
          <a:noFill/>
        </p:spPr>
        <p:txBody>
          <a:bodyPr wrap="square" lIns="0" rIns="0" tIns="0" bIns="0" anchor="t">
            <a:spAutoFit/>
          </a:bodyPr>
          <a:lstStyle/>
          <a:p>
            <a:pPr algn="l"/>
            <a:r>
              <a:rPr b="0" sz="1350" i="0" u="none">
                <a:solidFill>
                  <a:srgbClr val="0F172A"/>
                </a:solidFill>
                <a:latin typeface="DM Sans"/>
              </a:rPr>
              <a:t>Computes % share of total plays.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501830" y="3148012"/>
            <a:ext cx="4080569" cy="1962150"/>
          </a:xfrm>
          <a:prstGeom prst="roundRect">
            <a:avLst>
              <a:gd name="adj" fmla="val 5825"/>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305050"/>
            <a:ext cx="6587430" cy="36480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09600" y="2305050"/>
          <a:ext cx="6587429" cy="3648075"/>
        </p:xfrm>
        <a:graphic>
          <a:graphicData uri="http://schemas.openxmlformats.org/drawingml/2006/table">
            <a:tbl>
              <a:tblPr firstRow="0" bandRow="0">
                <a:lnL>
                  <a:noFill/>
                </a:lnL>
                <a:lnR>
                  <a:noFill/>
                </a:lnR>
                <a:lnT>
                  <a:noFill/>
                </a:lnT>
                <a:lnB>
                  <a:noFill/>
                </a:lnB>
                <a:lnV>
                  <a:noFill/>
                </a:lnV>
                <a:lnH>
                  <a:noFill/>
                </a:lnH>
              </a:tblPr>
              <a:tblGrid>
                <a:gridCol w="1969293"/>
                <a:gridCol w="1429047"/>
                <a:gridCol w="3189089"/>
              </a:tblGrid>
              <a:tr h="729615">
                <a:tc>
                  <a:txBody>
                    <a:bodyPr/>
                    <a:lstStyle/>
                    <a:p>
                      <a:pPr algn="l"/>
                      <a:r>
                        <a:rPr b="1" sz="1350" i="0" u="none">
                          <a:solidFill>
                            <a:srgbClr val="FFFFFF"/>
                          </a:solidFill>
                          <a:latin typeface="DM Sans"/>
                        </a:rPr>
                        <a:t>CLASS IN FILE</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ROLE</a:t>
                      </a:r>
                    </a:p>
                  </a:txBody>
                  <a:tcPr anchor="ctr" marL="63500" marR="63500" marT="25400" marB="25400">
                    <a:lnL>
                      <a:noFill/>
                    </a:lnL>
                    <a:lnR>
                      <a:noFill/>
                    </a:lnR>
                    <a:lnT>
                      <a:noFill/>
                    </a:lnT>
                    <a:lnB>
                      <a:noFill/>
                    </a:lnB>
                    <a:solidFill>
                      <a:srgbClr val="0F172A"/>
                    </a:solidFill>
                  </a:tcPr>
                </a:tc>
                <a:tc>
                  <a:txBody>
                    <a:bodyPr/>
                    <a:lstStyle/>
                    <a:p>
                      <a:pPr algn="l"/>
                      <a:r>
                        <a:rPr b="1" sz="1350" i="0" u="none">
                          <a:solidFill>
                            <a:srgbClr val="FFFFFF"/>
                          </a:solidFill>
                          <a:latin typeface="DM Sans"/>
                        </a:rPr>
                        <a:t>KEY MEMBERS</a:t>
                      </a:r>
                    </a:p>
                  </a:txBody>
                  <a:tcPr anchor="ctr" marL="63500" marR="63500" marT="25400" marB="25400">
                    <a:lnL>
                      <a:noFill/>
                    </a:lnL>
                    <a:lnR>
                      <a:noFill/>
                    </a:lnR>
                    <a:lnT>
                      <a:noFill/>
                    </a:lnT>
                    <a:lnB>
                      <a:noFill/>
                    </a:lnB>
                    <a:solidFill>
                      <a:srgbClr val="0F172A"/>
                    </a:solidFill>
                  </a:tcPr>
                </a:tc>
              </a:tr>
              <a:tr h="729615">
                <a:tc>
                  <a:txBody>
                    <a:bodyPr/>
                    <a:lstStyle/>
                    <a:p>
                      <a:pPr algn="l"/>
                      <a:r>
                        <a:rPr b="1" sz="1350" i="0" u="none">
                          <a:solidFill>
                            <a:srgbClr val="059669"/>
                          </a:solidFill>
                          <a:latin typeface="DM Sans"/>
                        </a:rPr>
                        <a:t>MusicManagerApp</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Public Main Controller</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main(), handleSongMenu, handlePlaylistMenu, handleStatsMenu</a:t>
                      </a:r>
                    </a:p>
                  </a:txBody>
                  <a:tcPr anchor="ctr" marL="63500" marR="63500" marT="25400" marB="25400">
                    <a:lnL>
                      <a:noFill/>
                    </a:lnL>
                    <a:lnR>
                      <a:noFill/>
                    </a:lnR>
                    <a:lnT>
                      <a:noFill/>
                    </a:lnT>
                    <a:lnB>
                      <a:noFill/>
                    </a:lnB>
                    <a:solidFill>
                      <a:srgbClr val="FFFFFF"/>
                    </a:solidFill>
                  </a:tcPr>
                </a:tc>
              </a:tr>
              <a:tr h="729615">
                <a:tc>
                  <a:txBody>
                    <a:bodyPr/>
                    <a:lstStyle/>
                    <a:p>
                      <a:pPr algn="l"/>
                      <a:r>
                        <a:rPr b="1" sz="1350" i="0" u="none">
                          <a:solidFill>
                            <a:srgbClr val="000000"/>
                          </a:solidFill>
                          <a:latin typeface="DM Sans"/>
                        </a:rPr>
                        <a:t>class Song</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Model — one song</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fields, incrementPlayCount(), getDurationFormatted()</a:t>
                      </a:r>
                    </a:p>
                  </a:txBody>
                  <a:tcPr anchor="ctr" marL="63500" marR="63500" marT="25400" marB="25400">
                    <a:lnL>
                      <a:noFill/>
                    </a:lnL>
                    <a:lnR>
                      <a:noFill/>
                    </a:lnR>
                    <a:lnT>
                      <a:noFill/>
                    </a:lnT>
                    <a:lnB>
                      <a:noFill/>
                    </a:lnB>
                    <a:solidFill>
                      <a:srgbClr val="FFFFFF"/>
                    </a:solidFill>
                  </a:tcPr>
                </a:tc>
              </a:tr>
              <a:tr h="729615">
                <a:tc>
                  <a:txBody>
                    <a:bodyPr/>
                    <a:lstStyle/>
                    <a:p>
                      <a:pPr algn="l"/>
                      <a:r>
                        <a:rPr b="1" sz="1350" i="0" u="none">
                          <a:solidFill>
                            <a:srgbClr val="000000"/>
                          </a:solidFill>
                          <a:latin typeface="DM Sans"/>
                        </a:rPr>
                        <a:t>class Playlist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Data manager</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ArrayList, add, remove, view, search, sort</a:t>
                      </a:r>
                    </a:p>
                  </a:txBody>
                  <a:tcPr anchor="ctr" marL="63500" marR="63500" marT="25400" marB="25400">
                    <a:lnL>
                      <a:noFill/>
                    </a:lnL>
                    <a:lnR>
                      <a:noFill/>
                    </a:lnR>
                    <a:lnT>
                      <a:noFill/>
                    </a:lnT>
                    <a:lnB>
                      <a:noFill/>
                    </a:lnB>
                    <a:solidFill>
                      <a:srgbClr val="FFFFFF"/>
                    </a:solidFill>
                  </a:tcPr>
                </a:tc>
              </a:tr>
              <a:tr h="729615">
                <a:tc>
                  <a:txBody>
                    <a:bodyPr/>
                    <a:lstStyle/>
                    <a:p>
                      <a:pPr algn="l"/>
                      <a:r>
                        <a:rPr b="1" sz="1350" i="0" u="none">
                          <a:solidFill>
                            <a:srgbClr val="000000"/>
                          </a:solidFill>
                          <a:latin typeface="DM Sans"/>
                        </a:rPr>
                        <a:t>class StatsManager</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Statistics engine</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000000"/>
                          </a:solidFill>
                          <a:latin typeface="DM Sans"/>
                        </a:rPr>
                        <a:t>getTotalPlays(), getFavouriteArtist(), showTopSongs()</a:t>
                      </a:r>
                    </a:p>
                  </a:txBody>
                  <a:tcPr anchor="ctr" marL="63500" marR="63500" marT="25400" marB="25400">
                    <a:lnL>
                      <a:noFill/>
                    </a:lnL>
                    <a:lnR>
                      <a:noFill/>
                    </a:lnR>
                    <a:lnT>
                      <a:noFill/>
                    </a:lnT>
                    <a:lnB>
                      <a:noFill/>
                    </a:lnB>
                    <a:solidFill>
                      <a:srgbClr val="FFFFFF"/>
                    </a:solidFill>
                  </a:tcPr>
                </a:tc>
              </a:tr>
            </a:tbl>
          </a:graphicData>
        </a:graphic>
      </p:graphicFrame>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8 · IMPLEMENTATION — JAVA CODE (1 OF 5)</a:t>
            </a:r>
          </a:p>
        </p:txBody>
      </p:sp>
      <p:sp>
        <p:nvSpPr>
          <p:cNvPr id="6" name="TextBox 5"/>
          <p:cNvSpPr txBox="1"/>
          <p:nvPr/>
        </p:nvSpPr>
        <p:spPr>
          <a:xfrm>
            <a:off x="609600" y="685800"/>
            <a:ext cx="11582400" cy="409575"/>
          </a:xfrm>
          <a:prstGeom prst="rect">
            <a:avLst/>
          </a:prstGeom>
          <a:noFill/>
        </p:spPr>
        <p:txBody>
          <a:bodyPr wrap="none" lIns="0" rIns="0" tIns="0" bIns="0" anchor="t">
            <a:spAutoFit/>
          </a:bodyPr>
          <a:lstStyle/>
          <a:p>
            <a:pPr algn="l"/>
            <a:r>
              <a:rPr b="1" sz="2550" i="0" u="none">
                <a:solidFill>
                  <a:srgbClr val="0F172A"/>
                </a:solidFill>
                <a:latin typeface="Space Grotesk"/>
              </a:rPr>
              <a:t>All-in-One File Overview (`MusicManagerApp.java`)</a:t>
            </a:r>
          </a:p>
        </p:txBody>
      </p:sp>
      <p:sp>
        <p:nvSpPr>
          <p:cNvPr id="7" name="TextBox 6"/>
          <p:cNvSpPr txBox="1"/>
          <p:nvPr/>
        </p:nvSpPr>
        <p:spPr>
          <a:xfrm>
            <a:off x="609600" y="1209675"/>
            <a:ext cx="11068050" cy="457200"/>
          </a:xfrm>
          <a:prstGeom prst="rect">
            <a:avLst/>
          </a:prstGeom>
          <a:noFill/>
        </p:spPr>
        <p:txBody>
          <a:bodyPr wrap="square" lIns="0" rIns="0" tIns="0" bIns="0" anchor="t">
            <a:spAutoFit/>
          </a:bodyPr>
          <a:lstStyle/>
          <a:p>
            <a:pPr algn="l"/>
            <a:r>
              <a:rPr b="0" sz="1350" i="0" u="none">
                <a:solidFill>
                  <a:srgbClr val="334155"/>
                </a:solidFill>
                <a:latin typeface="DM Sans"/>
              </a:rPr>
              <a:t>All 4 Java classes (`MusicManagerApp`, `Song`, `Playlist`, `StatsManager`) are unified inside a single `.java` file for easy compilation and 3-module selection.</a:t>
            </a:r>
          </a:p>
        </p:txBody>
      </p:sp>
      <p:sp>
        <p:nvSpPr>
          <p:cNvPr id="8" name="TextBox 7"/>
          <p:cNvSpPr txBox="1"/>
          <p:nvPr/>
        </p:nvSpPr>
        <p:spPr>
          <a:xfrm>
            <a:off x="7768530" y="3414712"/>
            <a:ext cx="3642419" cy="1428750"/>
          </a:xfrm>
          <a:prstGeom prst="rect">
            <a:avLst/>
          </a:prstGeom>
          <a:noFill/>
        </p:spPr>
        <p:txBody>
          <a:bodyPr wrap="square" lIns="0" rIns="0" tIns="0" bIns="0" anchor="t">
            <a:spAutoFit/>
          </a:bodyPr>
          <a:lstStyle/>
          <a:p>
            <a:pPr algn="l"/>
            <a:r>
              <a:rPr b="0" sz="1200" i="0" u="none">
                <a:solidFill>
                  <a:srgbClr val="10B981"/>
                </a:solidFill>
                <a:latin typeface="DM Sans"/>
              </a:rPr>
              <a:t>$ javac MusicManagerApp.java # compiles all 4 classes $ java MusicManagerApp # launches 3-module selector</a:t>
            </a:r>
          </a:p>
        </p:txBody>
      </p:sp>
      <p:sp>
        <p:nvSpPr>
          <p:cNvPr id="9" name="TextBox 8"/>
          <p:cNvSpPr txBox="1"/>
          <p:nvPr/>
        </p:nvSpPr>
        <p:spPr>
          <a:xfrm>
            <a:off x="7768530" y="3414712"/>
            <a:ext cx="4423469" cy="171450"/>
          </a:xfrm>
          <a:prstGeom prst="rect">
            <a:avLst/>
          </a:prstGeom>
          <a:noFill/>
        </p:spPr>
        <p:txBody>
          <a:bodyPr wrap="none" lIns="0" rIns="0" tIns="0" bIns="0" anchor="t">
            <a:spAutoFit/>
          </a:bodyPr>
          <a:lstStyle/>
          <a:p>
            <a:pPr algn="l"/>
            <a:r>
              <a:rPr b="0" sz="1050" i="0" u="none">
                <a:solidFill>
                  <a:srgbClr val="94A3B8"/>
                </a:solidFill>
                <a:latin typeface="JetBrains Mono"/>
              </a:rPr>
              <a:t>// build &amp; run single file</a:t>
            </a:r>
          </a:p>
        </p:txBody>
      </p:sp>
      <p:sp>
        <p:nvSpPr>
          <p:cNvPr id="10" name="TextBox 9"/>
          <p:cNvSpPr txBox="1"/>
          <p:nvPr/>
        </p:nvSpPr>
        <p:spPr>
          <a:xfrm>
            <a:off x="7768530" y="3700462"/>
            <a:ext cx="3642419" cy="1143000"/>
          </a:xfrm>
          <a:prstGeom prst="rect">
            <a:avLst/>
          </a:prstGeom>
          <a:noFill/>
        </p:spPr>
        <p:txBody>
          <a:bodyPr wrap="square" lIns="0" rIns="0" tIns="0" bIns="0" anchor="t">
            <a:spAutoFit/>
          </a:bodyPr>
          <a:lstStyle/>
          <a:p>
            <a:pPr algn="l">
              <a:lnSpc>
                <a:spcPts val="1800"/>
              </a:lnSpc>
            </a:pPr>
            <a:r>
              <a:rPr b="0" sz="1200" i="0" u="none">
                <a:solidFill>
                  <a:srgbClr val="10B981"/>
                </a:solidFill>
                <a:latin typeface="JetBrains Mono"/>
              </a:rPr>
              <a:t>$ javac MusicManagerApp.java # compiles all 4 classes $ java MusicManagerApp # launches 3-module selector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838176"/>
            <a:ext cx="5372100" cy="3924597"/>
          </a:xfrm>
          <a:prstGeom prst="roundRect">
            <a:avLst>
              <a:gd name="adj" fmla="val 291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1568201"/>
            <a:ext cx="5372100" cy="4464397"/>
          </a:xfrm>
          <a:prstGeom prst="roundRect">
            <a:avLst>
              <a:gd name="adj" fmla="val 256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8 · IMPLEMENTATION — JAVA CODE (2 OF 5)</a:t>
            </a:r>
          </a:p>
        </p:txBody>
      </p:sp>
      <p:sp>
        <p:nvSpPr>
          <p:cNvPr id="5" name="TextBox 4"/>
          <p:cNvSpPr txBox="1"/>
          <p:nvPr/>
        </p:nvSpPr>
        <p:spPr>
          <a:xfrm>
            <a:off x="609600" y="59055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`class Song` — Model inside `MusicManagerApp.java`</a:t>
            </a:r>
          </a:p>
        </p:txBody>
      </p:sp>
      <p:sp>
        <p:nvSpPr>
          <p:cNvPr id="6" name="TextBox 5"/>
          <p:cNvSpPr txBox="1"/>
          <p:nvPr/>
        </p:nvSpPr>
        <p:spPr>
          <a:xfrm>
            <a:off x="838200" y="2047726"/>
            <a:ext cx="5010150" cy="3505497"/>
          </a:xfrm>
          <a:prstGeom prst="rect">
            <a:avLst/>
          </a:prstGeom>
          <a:noFill/>
        </p:spPr>
        <p:txBody>
          <a:bodyPr wrap="square" lIns="0" rIns="0" tIns="0" bIns="0" anchor="t">
            <a:spAutoFit/>
          </a:bodyPr>
          <a:lstStyle/>
          <a:p>
            <a:pPr algn="l"/>
            <a:r>
              <a:rPr b="0" sz="1050" i="0" u="none">
                <a:solidFill>
                  <a:srgbClr val="F8FAFC"/>
                </a:solidFill>
                <a:latin typeface="DM Sans"/>
              </a:rPr>
              <a:t>class Song { private String title; private String artist; private int durationSeconds; private int playCount; public Song(String title, String artist, int durationSeconds, int playCount) { this.title = title; this.artist = artist; this.durationSeconds = durationSeconds; this.playCount = playCount; } public String getTitle() { return title; } public String getArtist() { return artist; } public int getDurationSeconds(){ return durationSeconds; } public int getPlayCount() { return playCount; }</a:t>
            </a:r>
          </a:p>
        </p:txBody>
      </p:sp>
      <p:sp>
        <p:nvSpPr>
          <p:cNvPr id="7" name="TextBox 6"/>
          <p:cNvSpPr txBox="1"/>
          <p:nvPr/>
        </p:nvSpPr>
        <p:spPr>
          <a:xfrm>
            <a:off x="6438900" y="1777751"/>
            <a:ext cx="5010150" cy="4045297"/>
          </a:xfrm>
          <a:prstGeom prst="rect">
            <a:avLst/>
          </a:prstGeom>
          <a:noFill/>
        </p:spPr>
        <p:txBody>
          <a:bodyPr wrap="square" lIns="0" rIns="0" tIns="0" bIns="0" anchor="t">
            <a:spAutoFit/>
          </a:bodyPr>
          <a:lstStyle/>
          <a:p>
            <a:pPr algn="l"/>
            <a:r>
              <a:rPr b="0" sz="1050" i="0" u="none">
                <a:solidFill>
                  <a:srgbClr val="F8FAFC"/>
                </a:solidFill>
                <a:latin typeface="DM Sans"/>
              </a:rPr>
              <a:t> public void incrementPlayCount() { playCount++; } public String getDurationFormatted() { int minutes = durationSeconds / 60; int seconds = durationSeconds % 60; return minutes + ":" + String.format("%02d", seconds); } public String toFileString() { return title + "|" + artist + "|" + durationSeconds + "|" + playCount; } @Override public String toString() { return title + " - " + artist + " (" + getDurationFormatted() + ")"; } }</a:t>
            </a:r>
          </a:p>
        </p:txBody>
      </p:sp>
      <p:sp>
        <p:nvSpPr>
          <p:cNvPr id="8" name="TextBox 7"/>
          <p:cNvSpPr txBox="1"/>
          <p:nvPr/>
        </p:nvSpPr>
        <p:spPr>
          <a:xfrm>
            <a:off x="838200" y="2047726"/>
            <a:ext cx="6143625" cy="171450"/>
          </a:xfrm>
          <a:prstGeom prst="rect">
            <a:avLst/>
          </a:prstGeom>
          <a:noFill/>
        </p:spPr>
        <p:txBody>
          <a:bodyPr wrap="none" lIns="0" rIns="0" tIns="0" bIns="0" anchor="t">
            <a:spAutoFit/>
          </a:bodyPr>
          <a:lstStyle/>
          <a:p>
            <a:pPr algn="l"/>
            <a:r>
              <a:rPr b="0" sz="1050" i="0" u="none">
                <a:solidFill>
                  <a:srgbClr val="F59E0B"/>
                </a:solidFill>
                <a:latin typeface="JetBrains Mono"/>
              </a:rPr>
              <a:t>// CLASS 1: SONG (Fields, Constructor &amp; Getters)</a:t>
            </a:r>
          </a:p>
        </p:txBody>
      </p:sp>
      <p:sp>
        <p:nvSpPr>
          <p:cNvPr id="9" name="TextBox 8"/>
          <p:cNvSpPr txBox="1"/>
          <p:nvPr/>
        </p:nvSpPr>
        <p:spPr>
          <a:xfrm>
            <a:off x="838200" y="2314426"/>
            <a:ext cx="5010150" cy="3238797"/>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class Song { private String title; private String artist; private int durationSeconds; private int playCount; public Song(String title, String artist, int durationSeconds, int playCount) { this.title = title; this.artist = artist; this.durationSeconds = durationSeconds; this.playCount = playCount; } public String getTitle() { return title; } public String getArtist() { return artist; } public int getDurationSeconds(){ return durationSeconds; } public int getPlayCount() { return playCount; }</a:t>
            </a:r>
          </a:p>
        </p:txBody>
      </p:sp>
      <p:sp>
        <p:nvSpPr>
          <p:cNvPr id="10" name="TextBox 9"/>
          <p:cNvSpPr txBox="1"/>
          <p:nvPr/>
        </p:nvSpPr>
        <p:spPr>
          <a:xfrm>
            <a:off x="6438900" y="1777751"/>
            <a:ext cx="5753100" cy="171450"/>
          </a:xfrm>
          <a:prstGeom prst="rect">
            <a:avLst/>
          </a:prstGeom>
          <a:noFill/>
        </p:spPr>
        <p:txBody>
          <a:bodyPr wrap="none" lIns="0" rIns="0" tIns="0" bIns="0" anchor="t">
            <a:spAutoFit/>
          </a:bodyPr>
          <a:lstStyle/>
          <a:p>
            <a:pPr algn="l"/>
            <a:r>
              <a:rPr b="0" sz="1050" i="0" u="none">
                <a:solidFill>
                  <a:srgbClr val="10B981"/>
                </a:solidFill>
                <a:latin typeface="JetBrains Mono"/>
              </a:rPr>
              <a:t>// Play Counter, Time Formatting &amp; File Helpers</a:t>
            </a:r>
          </a:p>
        </p:txBody>
      </p:sp>
      <p:sp>
        <p:nvSpPr>
          <p:cNvPr id="11" name="TextBox 10"/>
          <p:cNvSpPr txBox="1"/>
          <p:nvPr/>
        </p:nvSpPr>
        <p:spPr>
          <a:xfrm>
            <a:off x="6438900" y="2044451"/>
            <a:ext cx="5010150" cy="3778597"/>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 public void incrementPlayCount() { playCount++; } public String getDurationFormatted() { int minutes = durationSeconds / 60; int seconds = durationSeconds % 60; return minutes + ":" + String.format("%02d", seconds); } public String toFileString() { return title + "|" + artist + "|" + durationSeconds + "|" + playCount; } @Override public String toString() { return title + " - " + artist + " (" + getDurationFormatted() + ")";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1478309"/>
            <a:ext cx="5943600" cy="4644330"/>
          </a:xfrm>
          <a:prstGeom prst="roundRect">
            <a:avLst>
              <a:gd name="adj" fmla="val 2461"/>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781800" y="1838176"/>
            <a:ext cx="5486400" cy="3924597"/>
          </a:xfrm>
          <a:prstGeom prst="roundRect">
            <a:avLst>
              <a:gd name="adj" fmla="val 291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8 · IMPLEMENTATION — JAVA CODE (3 OF 5)</a:t>
            </a:r>
          </a:p>
        </p:txBody>
      </p:sp>
      <p:sp>
        <p:nvSpPr>
          <p:cNvPr id="5" name="TextBox 4"/>
          <p:cNvSpPr txBox="1"/>
          <p:nvPr/>
        </p:nvSpPr>
        <p:spPr>
          <a:xfrm>
            <a:off x="609600" y="59055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`class Playlist` — Data Manager inside `MusicManagerApp.java`</a:t>
            </a:r>
          </a:p>
        </p:txBody>
      </p:sp>
      <p:sp>
        <p:nvSpPr>
          <p:cNvPr id="6" name="TextBox 5"/>
          <p:cNvSpPr txBox="1"/>
          <p:nvPr/>
        </p:nvSpPr>
        <p:spPr>
          <a:xfrm>
            <a:off x="838200" y="1687859"/>
            <a:ext cx="5581650" cy="4225230"/>
          </a:xfrm>
          <a:prstGeom prst="rect">
            <a:avLst/>
          </a:prstGeom>
          <a:noFill/>
        </p:spPr>
        <p:txBody>
          <a:bodyPr wrap="square" lIns="0" rIns="0" tIns="0" bIns="0" anchor="t">
            <a:spAutoFit/>
          </a:bodyPr>
          <a:lstStyle/>
          <a:p>
            <a:pPr algn="l"/>
            <a:r>
              <a:rPr b="0" sz="1050" i="0" u="none">
                <a:solidFill>
                  <a:srgbClr val="F8FAFC"/>
                </a:solidFill>
                <a:latin typeface="DM Sans"/>
              </a:rPr>
              <a:t>class Playlist { private String name; private ArrayList songs; public Playlist(String name) { this.name = name; this.songs = new ArrayList&lt;&gt;(); } public void addSong(Song song) { songs.add(song); } public boolean removeSong(String title) { for (int i = 0; i &lt; songs.size(); i++) { if (songs.get(i).getTitle().equalsIgnoreCase(title)) { songs.remove(i); return true; } } return false; } public Song getSong(int idx) { return (idx &gt;= 0 &amp;&amp; idx &lt; songs.size()) ? songs.get(idx) : null; }</a:t>
            </a:r>
          </a:p>
        </p:txBody>
      </p:sp>
      <p:sp>
        <p:nvSpPr>
          <p:cNvPr id="7" name="TextBox 6"/>
          <p:cNvSpPr txBox="1"/>
          <p:nvPr/>
        </p:nvSpPr>
        <p:spPr>
          <a:xfrm>
            <a:off x="7010400" y="2047726"/>
            <a:ext cx="5124450" cy="3505497"/>
          </a:xfrm>
          <a:prstGeom prst="rect">
            <a:avLst/>
          </a:prstGeom>
          <a:noFill/>
        </p:spPr>
        <p:txBody>
          <a:bodyPr wrap="square" lIns="0" rIns="0" tIns="0" bIns="0" anchor="t">
            <a:spAutoFit/>
          </a:bodyPr>
          <a:lstStyle/>
          <a:p>
            <a:pPr algn="l"/>
            <a:r>
              <a:rPr b="0" sz="1050" i="0" u="none">
                <a:solidFill>
                  <a:srgbClr val="F8FAFC"/>
                </a:solidFill>
                <a:latin typeface="DM Sans"/>
              </a:rPr>
              <a:t> public void viewSongs() { System.out.printf(" %-4s %-26s %-20s %-10s %-6s%n", "NO.", "TITLE", "ARTIST", "LENGTH", "PLAYS"); for (int i = 0; i &lt; songs.size(); i++) { Song s = songs.get(i); System.out.printf(" %-4d %-26s %-20s %-10s %-6d%n", (i + 1), s.getTitle(), s.getArtist(), s.getDurationFormatted(), s.getPlayCount()); } } public void sortByTitle() { songs.sort((a, b) -&gt; a.getTitle().compareToIgnoreCase(b.getTitle())); } public void sortByPlayCount() { songs.sort((a, b) -&gt; b.getPlayCount() - a.getPlayCount()); } }</a:t>
            </a:r>
          </a:p>
        </p:txBody>
      </p:sp>
      <p:sp>
        <p:nvSpPr>
          <p:cNvPr id="8" name="TextBox 7"/>
          <p:cNvSpPr txBox="1"/>
          <p:nvPr/>
        </p:nvSpPr>
        <p:spPr>
          <a:xfrm>
            <a:off x="838200" y="1687859"/>
            <a:ext cx="6858000" cy="171450"/>
          </a:xfrm>
          <a:prstGeom prst="rect">
            <a:avLst/>
          </a:prstGeom>
          <a:noFill/>
        </p:spPr>
        <p:txBody>
          <a:bodyPr wrap="none" lIns="0" rIns="0" tIns="0" bIns="0" anchor="t">
            <a:spAutoFit/>
          </a:bodyPr>
          <a:lstStyle/>
          <a:p>
            <a:pPr algn="l"/>
            <a:r>
              <a:rPr b="0" sz="1050" i="0" u="none">
                <a:solidFill>
                  <a:srgbClr val="F59E0B"/>
                </a:solidFill>
                <a:latin typeface="JetBrains Mono"/>
              </a:rPr>
              <a:t>// CLASS 2: PLAYLIST (ArrayList Operations)</a:t>
            </a:r>
          </a:p>
        </p:txBody>
      </p:sp>
      <p:sp>
        <p:nvSpPr>
          <p:cNvPr id="9" name="TextBox 8"/>
          <p:cNvSpPr txBox="1"/>
          <p:nvPr/>
        </p:nvSpPr>
        <p:spPr>
          <a:xfrm>
            <a:off x="838200" y="1954559"/>
            <a:ext cx="5581650" cy="3958530"/>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class Playlist { private String name; private ArrayList songs; public Playlist(String name) { this.name = name; this.songs = new ArrayList&lt;&gt;(); } public void addSong(Song song) { songs.add(song); } public boolean removeSong(String title) { for (int i = 0; i &lt; songs.size(); i++) { if (songs.get(i).getTitle().equalsIgnoreCase(title)) { songs.remove(i); return true; } } return false; } public Song getSong(int idx) { return (idx &gt;= 0 &amp;&amp; idx &lt; songs.size()) ? songs.get(idx) : null; }</a:t>
            </a:r>
          </a:p>
        </p:txBody>
      </p:sp>
      <p:sp>
        <p:nvSpPr>
          <p:cNvPr id="10" name="TextBox 9"/>
          <p:cNvSpPr txBox="1"/>
          <p:nvPr/>
        </p:nvSpPr>
        <p:spPr>
          <a:xfrm>
            <a:off x="7010400" y="2047726"/>
            <a:ext cx="5181600" cy="171450"/>
          </a:xfrm>
          <a:prstGeom prst="rect">
            <a:avLst/>
          </a:prstGeom>
          <a:noFill/>
        </p:spPr>
        <p:txBody>
          <a:bodyPr wrap="none" lIns="0" rIns="0" tIns="0" bIns="0" anchor="t">
            <a:spAutoFit/>
          </a:bodyPr>
          <a:lstStyle/>
          <a:p>
            <a:pPr algn="l"/>
            <a:r>
              <a:rPr b="0" sz="1050" i="0" u="none">
                <a:solidFill>
                  <a:srgbClr val="10B981"/>
                </a:solidFill>
                <a:latin typeface="JetBrains Mono"/>
              </a:rPr>
              <a:t>// Table Display, Search &amp; Lambda Sorting</a:t>
            </a:r>
          </a:p>
        </p:txBody>
      </p:sp>
      <p:sp>
        <p:nvSpPr>
          <p:cNvPr id="11" name="TextBox 10"/>
          <p:cNvSpPr txBox="1"/>
          <p:nvPr/>
        </p:nvSpPr>
        <p:spPr>
          <a:xfrm>
            <a:off x="7010400" y="2314426"/>
            <a:ext cx="5124450" cy="3238797"/>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 public void viewSongs() { System.out.printf(" %-4s %-26s %-20s %-10s %-6s%n", "NO.", "TITLE", "ARTIST", "LENGTH", "PLAYS"); for (int i = 0; i &lt; songs.size(); i++) { Song s = songs.get(i); System.out.printf(" %-4d %-26s %-20s %-10s %-6d%n", (i + 1), s.getTitle(), s.getArtist(), s.getDurationFormatted(), s.getPlayCount()); } } public void sortByTitle() { songs.sort((a, b) -&gt; a.getTitle().compareToIgnoreCase(b.getTitle())); } public void sortByPlayCount() { songs.sort((a, b) -&gt; b.getPlayCount() - a.getPlayCount()); }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478309"/>
            <a:ext cx="5486400" cy="4644330"/>
          </a:xfrm>
          <a:prstGeom prst="roundRect">
            <a:avLst>
              <a:gd name="adj" fmla="val 2461"/>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324600" y="1568201"/>
            <a:ext cx="5943600" cy="4464397"/>
          </a:xfrm>
          <a:prstGeom prst="roundRect">
            <a:avLst>
              <a:gd name="adj" fmla="val 256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8 · IMPLEMENTATION — JAVA CODE (4 OF 5)</a:t>
            </a:r>
          </a:p>
        </p:txBody>
      </p:sp>
      <p:sp>
        <p:nvSpPr>
          <p:cNvPr id="5" name="TextBox 4"/>
          <p:cNvSpPr txBox="1"/>
          <p:nvPr/>
        </p:nvSpPr>
        <p:spPr>
          <a:xfrm>
            <a:off x="609600" y="59055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`class StatsManager` — Statistics Engine inside `MusicManagerApp.java`</a:t>
            </a:r>
          </a:p>
        </p:txBody>
      </p:sp>
      <p:sp>
        <p:nvSpPr>
          <p:cNvPr id="6" name="TextBox 5"/>
          <p:cNvSpPr txBox="1"/>
          <p:nvPr/>
        </p:nvSpPr>
        <p:spPr>
          <a:xfrm>
            <a:off x="838200" y="1687859"/>
            <a:ext cx="5124450" cy="4225230"/>
          </a:xfrm>
          <a:prstGeom prst="rect">
            <a:avLst/>
          </a:prstGeom>
          <a:noFill/>
        </p:spPr>
        <p:txBody>
          <a:bodyPr wrap="square" lIns="0" rIns="0" tIns="0" bIns="0" anchor="t">
            <a:spAutoFit/>
          </a:bodyPr>
          <a:lstStyle/>
          <a:p>
            <a:pPr algn="l"/>
            <a:r>
              <a:rPr b="0" sz="1050" i="0" u="none">
                <a:solidFill>
                  <a:srgbClr val="F8FAFC"/>
                </a:solidFill>
                <a:latin typeface="DM Sans"/>
              </a:rPr>
              <a:t>class StatsManager { private Playlist playlist; public StatsManager(Playlist p) { this.playlist = p; } public int getTotalPlays() { int total = 0; for (Song s : playlist.getAllSongs()) total += s.getPlayCount(); return total; } public String getFavouriteArtist() { HashMap map = new HashMap&lt;&gt;(); for (Song s : playlist.getAllSongs()) { String a = s.getArtist(); map.put(a, map.getOrDefault(a, 0) + s.getPlayCount()); } String best = "N/A"; int max = -1; for (String a : map.keySet()) { if (map.get(a) &gt; max) { max = map.get(a); best = a; } } return best; }</a:t>
            </a:r>
          </a:p>
        </p:txBody>
      </p:sp>
      <p:sp>
        <p:nvSpPr>
          <p:cNvPr id="7" name="TextBox 6"/>
          <p:cNvSpPr txBox="1"/>
          <p:nvPr/>
        </p:nvSpPr>
        <p:spPr>
          <a:xfrm>
            <a:off x="6553200" y="1777751"/>
            <a:ext cx="5581650" cy="4045297"/>
          </a:xfrm>
          <a:prstGeom prst="rect">
            <a:avLst/>
          </a:prstGeom>
          <a:noFill/>
        </p:spPr>
        <p:txBody>
          <a:bodyPr wrap="square" lIns="0" rIns="0" tIns="0" bIns="0" anchor="t">
            <a:spAutoFit/>
          </a:bodyPr>
          <a:lstStyle/>
          <a:p>
            <a:pPr algn="l"/>
            <a:r>
              <a:rPr b="0" sz="1050" i="0" u="none">
                <a:solidFill>
                  <a:srgbClr val="F8FAFC"/>
                </a:solidFill>
                <a:latin typeface="DM Sans"/>
              </a:rPr>
              <a:t> public void showStats() { int secs = getTotalListeningSeconds(); System.out.println(" Total songs : " + playlist.getSize()); System.out.println(" Total plays : " + getTotalPlays()); System.out.println(" Listen time : " + (secs/3600) + "h " + ((secs%3600)/60) + "m"); System.out.println(" Fav artist : " + getFavouriteArtist()); showTopSongs(5); } public void showTopSongs(int n) { ArrayList copy = new ArrayList&lt;&gt;(playlist.getAllSongs()); copy.sort((a, b) -&gt; b.getPlayCount() - a.getPlayCount()); int limit = Math.min(n, copy.size()); for (int i = 0; i &lt; limit; i++) { Song s = copy.get(i); System.out.printf(" %2d. %-26s %-18s %3d plays%n", (i + 1), s.getTitle(), s.getArtist(), s.getPlayCount()); } } }</a:t>
            </a:r>
          </a:p>
        </p:txBody>
      </p:sp>
      <p:sp>
        <p:nvSpPr>
          <p:cNvPr id="8" name="TextBox 7"/>
          <p:cNvSpPr txBox="1"/>
          <p:nvPr/>
        </p:nvSpPr>
        <p:spPr>
          <a:xfrm>
            <a:off x="838200" y="1687859"/>
            <a:ext cx="6286500" cy="171450"/>
          </a:xfrm>
          <a:prstGeom prst="rect">
            <a:avLst/>
          </a:prstGeom>
          <a:noFill/>
        </p:spPr>
        <p:txBody>
          <a:bodyPr wrap="none" lIns="0" rIns="0" tIns="0" bIns="0" anchor="t">
            <a:spAutoFit/>
          </a:bodyPr>
          <a:lstStyle/>
          <a:p>
            <a:pPr algn="l"/>
            <a:r>
              <a:rPr b="0" sz="1050" i="0" u="none">
                <a:solidFill>
                  <a:srgbClr val="F59E0B"/>
                </a:solidFill>
                <a:latin typeface="JetBrains Mono"/>
              </a:rPr>
              <a:t>// CLASS 3: STATSMANAGER (Totals &amp; HashMap Artist Tally)</a:t>
            </a:r>
          </a:p>
        </p:txBody>
      </p:sp>
      <p:sp>
        <p:nvSpPr>
          <p:cNvPr id="9" name="TextBox 8"/>
          <p:cNvSpPr txBox="1"/>
          <p:nvPr/>
        </p:nvSpPr>
        <p:spPr>
          <a:xfrm>
            <a:off x="838200" y="1954559"/>
            <a:ext cx="5124450" cy="3958530"/>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class StatsManager { private Playlist playlist; public StatsManager(Playlist p) { this.playlist = p; } public int getTotalPlays() { int total = 0; for (Song s : playlist.getAllSongs()) total += s.getPlayCount(); return total; } public String getFavouriteArtist() { HashMap map = new HashMap&lt;&gt;(); for (Song s : playlist.getAllSongs()) { String a = s.getArtist(); map.put(a, map.getOrDefault(a, 0) + s.getPlayCount()); } String best = "N/A"; int max = -1; for (String a : map.keySet()) { if (map.get(a) &gt; max) { max = map.get(a); best = a; } } return best; }</a:t>
            </a:r>
          </a:p>
        </p:txBody>
      </p:sp>
      <p:sp>
        <p:nvSpPr>
          <p:cNvPr id="10" name="TextBox 9"/>
          <p:cNvSpPr txBox="1"/>
          <p:nvPr/>
        </p:nvSpPr>
        <p:spPr>
          <a:xfrm>
            <a:off x="6553200" y="1777751"/>
            <a:ext cx="5638800" cy="171450"/>
          </a:xfrm>
          <a:prstGeom prst="rect">
            <a:avLst/>
          </a:prstGeom>
          <a:noFill/>
        </p:spPr>
        <p:txBody>
          <a:bodyPr wrap="none" lIns="0" rIns="0" tIns="0" bIns="0" anchor="t">
            <a:spAutoFit/>
          </a:bodyPr>
          <a:lstStyle/>
          <a:p>
            <a:pPr algn="l"/>
            <a:r>
              <a:rPr b="0" sz="1050" i="0" u="none">
                <a:solidFill>
                  <a:srgbClr val="10B981"/>
                </a:solidFill>
                <a:latin typeface="JetBrains Mono"/>
              </a:rPr>
              <a:t>// Full Report &amp; Top-N Most Played Ranking</a:t>
            </a:r>
          </a:p>
        </p:txBody>
      </p:sp>
      <p:sp>
        <p:nvSpPr>
          <p:cNvPr id="11" name="TextBox 10"/>
          <p:cNvSpPr txBox="1"/>
          <p:nvPr/>
        </p:nvSpPr>
        <p:spPr>
          <a:xfrm>
            <a:off x="6553200" y="2044451"/>
            <a:ext cx="5581650" cy="3778597"/>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 public void showStats() { int secs = getTotalListeningSeconds(); System.out.println(" Total songs : " + playlist.getSize()); System.out.println(" Total plays : " + getTotalPlays()); System.out.println(" Listen time : " + (secs/3600) + "h " + ((secs%3600)/60) + "m"); System.out.println(" Fav artist : " + getFavouriteArtist()); showTopSongs(5); } public void showTopSongs(int n) { ArrayList copy = new ArrayList&lt;&gt;(playlist.getAllSongs()); copy.sort((a, b) -&gt; b.getPlayCount() - a.getPlayCount()); int limit = Math.min(n, copy.size()); for (int i = 0; i &lt; limit; i++) { Song s = copy.get(i); System.out.printf(" %2d. %-26s %-18s %3d plays%n", (i + 1), s.getTitle(), s.getArtist(), s.getPlayCount()); } }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1658242"/>
            <a:ext cx="5334000" cy="4284464"/>
          </a:xfrm>
          <a:prstGeom prst="roundRect">
            <a:avLst>
              <a:gd name="adj" fmla="val 266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72200" y="1838176"/>
            <a:ext cx="5638800" cy="3924597"/>
          </a:xfrm>
          <a:prstGeom prst="roundRect">
            <a:avLst>
              <a:gd name="adj" fmla="val 291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8 · IMPLEMENTATION — JAVA CODE (5 OF 5)</a:t>
            </a:r>
          </a:p>
        </p:txBody>
      </p:sp>
      <p:sp>
        <p:nvSpPr>
          <p:cNvPr id="5" name="TextBox 4"/>
          <p:cNvSpPr txBox="1"/>
          <p:nvPr/>
        </p:nvSpPr>
        <p:spPr>
          <a:xfrm>
            <a:off x="609600" y="59055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`public class MusicManagerApp` — 3-Module Controller</a:t>
            </a:r>
          </a:p>
        </p:txBody>
      </p:sp>
      <p:sp>
        <p:nvSpPr>
          <p:cNvPr id="6" name="TextBox 5"/>
          <p:cNvSpPr txBox="1"/>
          <p:nvPr/>
        </p:nvSpPr>
        <p:spPr>
          <a:xfrm>
            <a:off x="838200" y="1867792"/>
            <a:ext cx="4972050" cy="3865364"/>
          </a:xfrm>
          <a:prstGeom prst="rect">
            <a:avLst/>
          </a:prstGeom>
          <a:noFill/>
        </p:spPr>
        <p:txBody>
          <a:bodyPr wrap="square" lIns="0" rIns="0" tIns="0" bIns="0" anchor="t">
            <a:spAutoFit/>
          </a:bodyPr>
          <a:lstStyle/>
          <a:p>
            <a:pPr algn="l"/>
            <a:r>
              <a:rPr b="0" sz="1050" i="0" u="none">
                <a:solidFill>
                  <a:srgbClr val="F8FAFC"/>
                </a:solidFill>
                <a:latin typeface="DM Sans"/>
              </a:rPr>
              <a:t>public class MusicManagerApp { public static void main(String[] args) { Scanner sc = new Scanner(System.in); Playlist myPlaylist = new Playlist("My Favorites"); StatsManager stats = new StatsManager(myPlaylist); while (running) { // 1. SONG 2. PLAYLIST 3. STATS 0. Exit switch (readInt(sc)) { case 1: handleSongMenu(sc, myPlaylist); break; case 2: handlePlaylistMenu(sc, myPlaylist); break; case 3: handleStatsMenu(sc, stats, myPlaylist); break; case 0: running = false; break; } } } private static void handleSongMenu(Scanner sc, Playlist pl) { pl.viewSongs(); Song selected = pl.getSong(readInt(sc) - 1); // 1: incrementPlayCount() | 2: Song Details | 3: FileString }</a:t>
            </a:r>
          </a:p>
        </p:txBody>
      </p:sp>
      <p:sp>
        <p:nvSpPr>
          <p:cNvPr id="7" name="TextBox 6"/>
          <p:cNvSpPr txBox="1"/>
          <p:nvPr/>
        </p:nvSpPr>
        <p:spPr>
          <a:xfrm>
            <a:off x="6400800" y="2047726"/>
            <a:ext cx="5276850" cy="3505497"/>
          </a:xfrm>
          <a:prstGeom prst="rect">
            <a:avLst/>
          </a:prstGeom>
          <a:noFill/>
        </p:spPr>
        <p:txBody>
          <a:bodyPr wrap="square" lIns="0" rIns="0" tIns="0" bIns="0" anchor="t">
            <a:spAutoFit/>
          </a:bodyPr>
          <a:lstStyle/>
          <a:p>
            <a:pPr algn="l"/>
            <a:r>
              <a:rPr b="0" sz="1050" i="0" u="none">
                <a:solidFill>
                  <a:srgbClr val="F8FAFC"/>
                </a:solidFill>
                <a:latin typeface="DM Sans"/>
              </a:rPr>
              <a:t> private static void handleStatsMenu( Scanner sc, StatsManager stats, Playlist pl) { switch (readInt(sc)) { case 1: System.out.println(stats.getTotalPlays()); break; case 2: int s = stats.getTotalListeningSeconds(); break; case 3: System.out.println(stats.getFavouriteArtist()); break; case 4: stats.showTopSongs(readInt(sc)); break; case 5: stats.showStats(); break; case 6: // Single song % share of total plays Song s = pl.getSong(readInt(sc) - 1); double pct = (s.getPlayCount() * 100.0) / stats.getTotalPlays(); System.out.printf("'%s' has %d plays (%.1f%%)%n", s.getTitle(), s.getPlayCount(), pct); break; } } }</a:t>
            </a:r>
          </a:p>
        </p:txBody>
      </p:sp>
      <p:sp>
        <p:nvSpPr>
          <p:cNvPr id="8" name="TextBox 7"/>
          <p:cNvSpPr txBox="1"/>
          <p:nvPr/>
        </p:nvSpPr>
        <p:spPr>
          <a:xfrm>
            <a:off x="838200" y="1867792"/>
            <a:ext cx="6096000" cy="171450"/>
          </a:xfrm>
          <a:prstGeom prst="rect">
            <a:avLst/>
          </a:prstGeom>
          <a:noFill/>
        </p:spPr>
        <p:txBody>
          <a:bodyPr wrap="none" lIns="0" rIns="0" tIns="0" bIns="0" anchor="t">
            <a:spAutoFit/>
          </a:bodyPr>
          <a:lstStyle/>
          <a:p>
            <a:pPr algn="l"/>
            <a:r>
              <a:rPr b="0" sz="1050" i="0" u="none">
                <a:solidFill>
                  <a:srgbClr val="F59E0B"/>
                </a:solidFill>
                <a:latin typeface="JetBrains Mono"/>
              </a:rPr>
              <a:t>// Main Selector &amp; Module 1 (Select Specific Song)</a:t>
            </a:r>
          </a:p>
        </p:txBody>
      </p:sp>
      <p:sp>
        <p:nvSpPr>
          <p:cNvPr id="9" name="TextBox 8"/>
          <p:cNvSpPr txBox="1"/>
          <p:nvPr/>
        </p:nvSpPr>
        <p:spPr>
          <a:xfrm>
            <a:off x="838200" y="2134492"/>
            <a:ext cx="4972050" cy="3598664"/>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public class MusicManagerApp { public static void main(String[] args) { Scanner sc = new Scanner(System.in); Playlist myPlaylist = new Playlist("My Favorites"); StatsManager stats = new StatsManager(myPlaylist); while (running) { // 1. SONG 2. PLAYLIST 3. STATS 0. Exit switch (readInt(sc)) { case 1: handleSongMenu(sc, myPlaylist); break; case 2: handlePlaylistMenu(sc, myPlaylist); break; case 3: handleStatsMenu(sc, stats, myPlaylist); break; case 0: running = false; break; } } } private static void handleSongMenu(Scanner sc, Playlist pl) { pl.viewSongs(); Song selected = pl.getSong(readInt(sc) - 1); // 1: incrementPlayCount() | 2: Song Details | 3: FileString }</a:t>
            </a:r>
          </a:p>
        </p:txBody>
      </p:sp>
      <p:sp>
        <p:nvSpPr>
          <p:cNvPr id="10" name="TextBox 9"/>
          <p:cNvSpPr txBox="1"/>
          <p:nvPr/>
        </p:nvSpPr>
        <p:spPr>
          <a:xfrm>
            <a:off x="6400800" y="2047726"/>
            <a:ext cx="5791200" cy="171450"/>
          </a:xfrm>
          <a:prstGeom prst="rect">
            <a:avLst/>
          </a:prstGeom>
          <a:noFill/>
        </p:spPr>
        <p:txBody>
          <a:bodyPr wrap="none" lIns="0" rIns="0" tIns="0" bIns="0" anchor="t">
            <a:spAutoFit/>
          </a:bodyPr>
          <a:lstStyle/>
          <a:p>
            <a:pPr algn="l"/>
            <a:r>
              <a:rPr b="0" sz="1050" i="0" u="none">
                <a:solidFill>
                  <a:srgbClr val="10B981"/>
                </a:solidFill>
                <a:latin typeface="JetBrains Mono"/>
              </a:rPr>
              <a:t>// Module 3: Select Specific Song Stat or Full Report</a:t>
            </a:r>
          </a:p>
        </p:txBody>
      </p:sp>
      <p:sp>
        <p:nvSpPr>
          <p:cNvPr id="11" name="TextBox 10"/>
          <p:cNvSpPr txBox="1"/>
          <p:nvPr/>
        </p:nvSpPr>
        <p:spPr>
          <a:xfrm>
            <a:off x="6400800" y="2314426"/>
            <a:ext cx="5276850" cy="3238797"/>
          </a:xfrm>
          <a:prstGeom prst="rect">
            <a:avLst/>
          </a:prstGeom>
          <a:noFill/>
        </p:spPr>
        <p:txBody>
          <a:bodyPr wrap="square" lIns="0" rIns="0" tIns="0" bIns="0" anchor="t">
            <a:spAutoFit/>
          </a:bodyPr>
          <a:lstStyle/>
          <a:p>
            <a:pPr algn="l">
              <a:lnSpc>
                <a:spcPts val="1417"/>
              </a:lnSpc>
            </a:pPr>
            <a:r>
              <a:rPr b="0" sz="1050" i="0" u="none">
                <a:solidFill>
                  <a:srgbClr val="F8FAFC"/>
                </a:solidFill>
                <a:latin typeface="JetBrains Mono"/>
              </a:rPr>
              <a:t> private static void handleStatsMenu( Scanner sc, StatsManager stats, Playlist pl) { switch (readInt(sc)) { case 1: System.out.println(stats.getTotalPlays()); break; case 2: int s = stats.getTotalListeningSeconds(); break; case 3: System.out.println(stats.getFavouriteArtist()); break; case 4: stats.showTopSongs(readInt(sc)); break; case 5: stats.showStats(); break; case 6: // Single song % share of total plays Song s = pl.getSong(readInt(sc) - 1); double pct = (s.getPlayCount() * 100.0) / stats.getTotalPlays(); System.out.printf("'%s' has %d plays (%.1f%%)%n", s.getTitle(), s.getPlayCount(), pct); break; } }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695152"/>
            <a:ext cx="5372100" cy="4191595"/>
          </a:xfrm>
          <a:prstGeom prst="roundRect">
            <a:avLst>
              <a:gd name="adj" fmla="val 2726"/>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1695152"/>
            <a:ext cx="5372100" cy="4191595"/>
          </a:xfrm>
          <a:prstGeom prst="roundRect">
            <a:avLst>
              <a:gd name="adj" fmla="val 2726"/>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09</a:t>
            </a:r>
          </a:p>
        </p:txBody>
      </p:sp>
      <p:sp>
        <p:nvSpPr>
          <p:cNvPr id="5" name="TextBox 4"/>
          <p:cNvSpPr txBox="1"/>
          <p:nvPr/>
        </p:nvSpPr>
        <p:spPr>
          <a:xfrm>
            <a:off x="609600" y="590550"/>
            <a:ext cx="11582400" cy="381000"/>
          </a:xfrm>
          <a:prstGeom prst="rect">
            <a:avLst/>
          </a:prstGeom>
          <a:noFill/>
        </p:spPr>
        <p:txBody>
          <a:bodyPr wrap="none" lIns="0" rIns="0" tIns="0" bIns="0" anchor="t">
            <a:spAutoFit/>
          </a:bodyPr>
          <a:lstStyle/>
          <a:p>
            <a:pPr algn="l"/>
            <a:r>
              <a:rPr b="1" sz="2400" i="0" u="none">
                <a:solidFill>
                  <a:srgbClr val="0F172A"/>
                </a:solidFill>
                <a:latin typeface="Space Grotesk"/>
              </a:rPr>
              <a:t>9 · Output Screenshots (`java MusicManagerApp`)</a:t>
            </a:r>
          </a:p>
        </p:txBody>
      </p:sp>
      <p:sp>
        <p:nvSpPr>
          <p:cNvPr id="6" name="TextBox 5"/>
          <p:cNvSpPr txBox="1"/>
          <p:nvPr/>
        </p:nvSpPr>
        <p:spPr>
          <a:xfrm>
            <a:off x="838200" y="1885652"/>
            <a:ext cx="5010150" cy="3810595"/>
          </a:xfrm>
          <a:prstGeom prst="rect">
            <a:avLst/>
          </a:prstGeom>
          <a:noFill/>
        </p:spPr>
        <p:txBody>
          <a:bodyPr wrap="square" lIns="0" rIns="0" tIns="0" bIns="0" anchor="t">
            <a:spAutoFit/>
          </a:bodyPr>
          <a:lstStyle/>
          <a:p>
            <a:pPr algn="l"/>
            <a:r>
              <a:rPr b="0" sz="1012" i="0" u="none">
                <a:solidFill>
                  <a:srgbClr val="E2E8F0"/>
                </a:solidFill>
                <a:latin typeface="DM Sans"/>
              </a:rPr>
              <a:t>========================================== MUSIC PLAYLIST &amp; STATS MANAGER ========================================== Select a Module: 1. SONG Operations (Pick a specific song to view/play) 2. PLAYLIST Operations (View all, Add, Remove, Search, Sort) 3. STATS Manager (Pick a specific song stat or full report) 0. Exit Enter your choice: 1 NO. TITLE ARTIST LENGTH PLAYS 1 Believer Imagine Dragons 3:24 15 2 Thunder Imagine Dragons 3:07 10 3 Blinding Lights The Weeknd 3:20 25 4 Starboy The Weeknd 3:50 18 5 Shape of You Ed Sheeran 3:53 12 Enter the Song NO. (1 to 5) you want to select: 1 --- SELECTED SONG: Believer - Imagine Dragons (3:24) --- Choose an action: 1 Now Playing: Believer | Total Plays: 16</a:t>
            </a:r>
          </a:p>
        </p:txBody>
      </p:sp>
      <p:sp>
        <p:nvSpPr>
          <p:cNvPr id="7" name="TextBox 6"/>
          <p:cNvSpPr txBox="1"/>
          <p:nvPr/>
        </p:nvSpPr>
        <p:spPr>
          <a:xfrm>
            <a:off x="6438900" y="1885652"/>
            <a:ext cx="5010150" cy="3810595"/>
          </a:xfrm>
          <a:prstGeom prst="rect">
            <a:avLst/>
          </a:prstGeom>
          <a:noFill/>
        </p:spPr>
        <p:txBody>
          <a:bodyPr wrap="square" lIns="0" rIns="0" tIns="0" bIns="0" anchor="t">
            <a:spAutoFit/>
          </a:bodyPr>
          <a:lstStyle/>
          <a:p>
            <a:pPr algn="l"/>
            <a:r>
              <a:rPr b="0" sz="1012" i="0" u="none">
                <a:solidFill>
                  <a:srgbClr val="E2E8F0"/>
                </a:solidFill>
                <a:latin typeface="DM Sans"/>
              </a:rPr>
              <a:t> --- LISTENING STATS MENU --- Choose a stat option: 6 Select Song NO. to view its share of plays: 3 &gt;&gt; 'Blinding Lights' by The Weeknd has 25 plays (30.9% of your total playlist plays). Choose a stat option: 5 ==================================================== LISTENING STATS REPORT ==================================================== Total songs in playlist : 5 Total plays (all songs) : 81 Total listening time : 4 hours 45 minutes Favourite artist : The Weeknd ==================================================== TOP 5 MOST PLAYED SONGS 1. Blinding Lights The Weeknd 25 plays 2. Starboy The Weeknd 18 plays 3. Believer Imagine Dragons 16 plays 4. Shape of You Ed Sheeran 12 plays 5. Thunder Imagine Dragons 10 plays</a:t>
            </a:r>
          </a:p>
        </p:txBody>
      </p:sp>
      <p:sp>
        <p:nvSpPr>
          <p:cNvPr id="8" name="TextBox 7"/>
          <p:cNvSpPr txBox="1"/>
          <p:nvPr/>
        </p:nvSpPr>
        <p:spPr>
          <a:xfrm>
            <a:off x="838200" y="1885652"/>
            <a:ext cx="6143625" cy="171450"/>
          </a:xfrm>
          <a:prstGeom prst="rect">
            <a:avLst/>
          </a:prstGeom>
          <a:noFill/>
        </p:spPr>
        <p:txBody>
          <a:bodyPr wrap="none" lIns="0" rIns="0" tIns="0" bIns="0" anchor="t">
            <a:spAutoFit/>
          </a:bodyPr>
          <a:lstStyle/>
          <a:p>
            <a:pPr algn="l"/>
            <a:r>
              <a:rPr b="0" sz="1050" i="0" u="none">
                <a:solidFill>
                  <a:srgbClr val="10B981"/>
                </a:solidFill>
                <a:latin typeface="JetBrains Mono"/>
              </a:rPr>
              <a:t>// Module 1: Pick a Song ("Believer") &amp; Play It</a:t>
            </a:r>
          </a:p>
        </p:txBody>
      </p:sp>
      <p:sp>
        <p:nvSpPr>
          <p:cNvPr id="9" name="TextBox 8"/>
          <p:cNvSpPr txBox="1"/>
          <p:nvPr/>
        </p:nvSpPr>
        <p:spPr>
          <a:xfrm>
            <a:off x="838200" y="2133302"/>
            <a:ext cx="5010150" cy="3562945"/>
          </a:xfrm>
          <a:prstGeom prst="rect">
            <a:avLst/>
          </a:prstGeom>
          <a:noFill/>
        </p:spPr>
        <p:txBody>
          <a:bodyPr wrap="square" lIns="0" rIns="0" tIns="0" bIns="0" anchor="t">
            <a:spAutoFit/>
          </a:bodyPr>
          <a:lstStyle/>
          <a:p>
            <a:pPr algn="l">
              <a:lnSpc>
                <a:spcPts val="1336"/>
              </a:lnSpc>
            </a:pPr>
            <a:r>
              <a:rPr b="0" sz="1012" i="0" u="none">
                <a:solidFill>
                  <a:srgbClr val="E2E8F0"/>
                </a:solidFill>
                <a:latin typeface="JetBrains Mono"/>
              </a:rPr>
              <a:t>========================================== MUSIC PLAYLIST &amp; STATS MANAGER ========================================== Select a Module: 1. SONG Operations (Pick a specific song to view/play) 2. PLAYLIST Operations (View all, Add, Remove, Search, Sort) 3. STATS Manager (Pick a specific song stat or full report) 0. Exit Enter your choice: 1 NO. TITLE ARTIST LENGTH PLAYS 1 Believer Imagine Dragons 3:24 15 2 Thunder Imagine Dragons 3:07 10 3 Blinding Lights The Weeknd 3:20 25 4 Starboy The Weeknd 3:50 18 5 Shape of You Ed Sheeran 3:53 12 Enter the Song NO. (1 to 5) you want to select: 1 --- SELECTED SONG: Believer - Imagine Dragons (3:24) --- Choose an action: 1 Now Playing: Believer | Total Plays: 16</a:t>
            </a:r>
          </a:p>
        </p:txBody>
      </p:sp>
      <p:sp>
        <p:nvSpPr>
          <p:cNvPr id="10" name="TextBox 9"/>
          <p:cNvSpPr txBox="1"/>
          <p:nvPr/>
        </p:nvSpPr>
        <p:spPr>
          <a:xfrm>
            <a:off x="6438900" y="1885652"/>
            <a:ext cx="5753100" cy="171450"/>
          </a:xfrm>
          <a:prstGeom prst="rect">
            <a:avLst/>
          </a:prstGeom>
          <a:noFill/>
        </p:spPr>
        <p:txBody>
          <a:bodyPr wrap="none" lIns="0" rIns="0" tIns="0" bIns="0" anchor="t">
            <a:spAutoFit/>
          </a:bodyPr>
          <a:lstStyle/>
          <a:p>
            <a:pPr algn="l"/>
            <a:r>
              <a:rPr b="0" sz="1050" i="0" u="none">
                <a:solidFill>
                  <a:srgbClr val="F59E0B"/>
                </a:solidFill>
                <a:latin typeface="JetBrains Mono"/>
              </a:rPr>
              <a:t>// Module 3: Pick Specific Stat (Option 6) &amp; Full Report (5)</a:t>
            </a:r>
          </a:p>
        </p:txBody>
      </p:sp>
      <p:sp>
        <p:nvSpPr>
          <p:cNvPr id="11" name="TextBox 10"/>
          <p:cNvSpPr txBox="1"/>
          <p:nvPr/>
        </p:nvSpPr>
        <p:spPr>
          <a:xfrm>
            <a:off x="6438900" y="2133302"/>
            <a:ext cx="5010150" cy="3562945"/>
          </a:xfrm>
          <a:prstGeom prst="rect">
            <a:avLst/>
          </a:prstGeom>
          <a:noFill/>
        </p:spPr>
        <p:txBody>
          <a:bodyPr wrap="square" lIns="0" rIns="0" tIns="0" bIns="0" anchor="t">
            <a:spAutoFit/>
          </a:bodyPr>
          <a:lstStyle/>
          <a:p>
            <a:pPr algn="l">
              <a:lnSpc>
                <a:spcPts val="1336"/>
              </a:lnSpc>
            </a:pPr>
            <a:r>
              <a:rPr b="0" sz="1012" i="0" u="none">
                <a:solidFill>
                  <a:srgbClr val="E2E8F0"/>
                </a:solidFill>
                <a:latin typeface="JetBrains Mono"/>
              </a:rPr>
              <a:t> --- LISTENING STATS MENU --- Choose a stat option: 6 Select Song NO. to view its share of plays: 3 &gt;&gt; 'Blinding Lights' by The Weeknd has 25 plays (30.9% of your total playlist plays). Choose a stat option: 5 ==================================================== LISTENING STATS REPORT ==================================================== Total songs in playlist : 5 Total plays (all songs) : 81 Total listening time : 4 hours 45 minutes Favourite artist : The Weeknd ==================================================== TOP 5 MOST PLAYED SONGS 1. Blinding Lights The Weeknd 25 plays 2. Starboy The Weeknd 18 plays 3. Believer Imagine Dragons 16 plays 4. Shape of You Ed Sheeran 12 plays 5. Thunder Imagine Dragons 10 plays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609600" y="2690812"/>
            <a:ext cx="3530649" cy="123825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0749" y="2686050"/>
            <a:ext cx="3530649" cy="1247775"/>
          </a:xfrm>
          <a:prstGeom prst="roundRect">
            <a:avLst>
              <a:gd name="adj" fmla="val 9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51899" y="2690812"/>
            <a:ext cx="3530649" cy="123825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4129087"/>
            <a:ext cx="3530649" cy="123825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30749" y="4124325"/>
            <a:ext cx="3530649" cy="1247775"/>
          </a:xfrm>
          <a:prstGeom prst="roundRect">
            <a:avLst>
              <a:gd name="adj" fmla="val 9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51899" y="4124325"/>
            <a:ext cx="3530649" cy="1247775"/>
          </a:xfrm>
          <a:prstGeom prst="roundRect">
            <a:avLst>
              <a:gd name="adj" fmla="val 91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10</a:t>
            </a:r>
          </a:p>
        </p:txBody>
      </p:sp>
      <p:sp>
        <p:nvSpPr>
          <p:cNvPr id="9" name="TextBox 8"/>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10 · Future Scope</a:t>
            </a:r>
          </a:p>
        </p:txBody>
      </p:sp>
      <p:sp>
        <p:nvSpPr>
          <p:cNvPr id="10" name="TextBox 9"/>
          <p:cNvSpPr txBox="1"/>
          <p:nvPr/>
        </p:nvSpPr>
        <p:spPr>
          <a:xfrm>
            <a:off x="609600" y="1200150"/>
            <a:ext cx="11582400" cy="228600"/>
          </a:xfrm>
          <a:prstGeom prst="rect">
            <a:avLst/>
          </a:prstGeom>
          <a:noFill/>
        </p:spPr>
        <p:txBody>
          <a:bodyPr wrap="none" lIns="0" rIns="0" tIns="0" bIns="0" anchor="t">
            <a:spAutoFit/>
          </a:bodyPr>
          <a:lstStyle/>
          <a:p>
            <a:pPr algn="l"/>
            <a:r>
              <a:rPr b="0" sz="1350" i="0" u="none">
                <a:solidFill>
                  <a:srgbClr val="475569"/>
                </a:solidFill>
                <a:latin typeface="DM Sans"/>
              </a:rPr>
              <a:t>The modular design leaves clean extension points for the next versions.</a:t>
            </a:r>
          </a:p>
        </p:txBody>
      </p:sp>
      <p:sp>
        <p:nvSpPr>
          <p:cNvPr id="11" name="TextBox 10"/>
          <p:cNvSpPr txBox="1"/>
          <p:nvPr/>
        </p:nvSpPr>
        <p:spPr>
          <a:xfrm>
            <a:off x="838200" y="2919412"/>
            <a:ext cx="4033902" cy="247650"/>
          </a:xfrm>
          <a:prstGeom prst="rect">
            <a:avLst/>
          </a:prstGeom>
          <a:noFill/>
        </p:spPr>
        <p:txBody>
          <a:bodyPr wrap="none" lIns="0" rIns="0" tIns="0" bIns="0" anchor="t">
            <a:spAutoFit/>
          </a:bodyPr>
          <a:lstStyle/>
          <a:p>
            <a:pPr algn="l"/>
            <a:r>
              <a:rPr b="1" sz="1500" i="0" u="none">
                <a:solidFill>
                  <a:srgbClr val="059669"/>
                </a:solidFill>
                <a:latin typeface="Space Grotesk"/>
              </a:rPr>
              <a:t>▢ GUI version</a:t>
            </a:r>
          </a:p>
        </p:txBody>
      </p:sp>
      <p:sp>
        <p:nvSpPr>
          <p:cNvPr id="12" name="TextBox 11"/>
          <p:cNvSpPr txBox="1"/>
          <p:nvPr/>
        </p:nvSpPr>
        <p:spPr>
          <a:xfrm>
            <a:off x="838200" y="3243262"/>
            <a:ext cx="3168699" cy="457200"/>
          </a:xfrm>
          <a:prstGeom prst="rect">
            <a:avLst/>
          </a:prstGeom>
          <a:noFill/>
        </p:spPr>
        <p:txBody>
          <a:bodyPr wrap="square" lIns="0" rIns="0" tIns="0" bIns="0" anchor="t">
            <a:spAutoFit/>
          </a:bodyPr>
          <a:lstStyle/>
          <a:p>
            <a:pPr algn="l"/>
            <a:r>
              <a:rPr b="0" sz="1350" i="0" u="none">
                <a:solidFill>
                  <a:srgbClr val="475569"/>
                </a:solidFill>
                <a:latin typeface="DM Sans"/>
              </a:rPr>
              <a:t>Swing / JavaFX front-end with buttons and lists.</a:t>
            </a:r>
          </a:p>
        </p:txBody>
      </p:sp>
      <p:sp>
        <p:nvSpPr>
          <p:cNvPr id="13" name="TextBox 12"/>
          <p:cNvSpPr txBox="1"/>
          <p:nvPr/>
        </p:nvSpPr>
        <p:spPr>
          <a:xfrm>
            <a:off x="4559349" y="2914650"/>
            <a:ext cx="4033902" cy="257175"/>
          </a:xfrm>
          <a:prstGeom prst="rect">
            <a:avLst/>
          </a:prstGeom>
          <a:noFill/>
        </p:spPr>
        <p:txBody>
          <a:bodyPr wrap="none" lIns="0" rIns="0" tIns="0" bIns="0" anchor="t">
            <a:spAutoFit/>
          </a:bodyPr>
          <a:lstStyle/>
          <a:p>
            <a:pPr algn="l"/>
            <a:r>
              <a:rPr b="1" sz="1500" i="0" u="none">
                <a:solidFill>
                  <a:srgbClr val="059669"/>
                </a:solidFill>
                <a:latin typeface="Space Grotesk"/>
              </a:rPr>
              <a:t>▦ Database storage</a:t>
            </a:r>
          </a:p>
        </p:txBody>
      </p:sp>
      <p:sp>
        <p:nvSpPr>
          <p:cNvPr id="14" name="TextBox 13"/>
          <p:cNvSpPr txBox="1"/>
          <p:nvPr/>
        </p:nvSpPr>
        <p:spPr>
          <a:xfrm>
            <a:off x="4559349" y="3248025"/>
            <a:ext cx="3168699" cy="457200"/>
          </a:xfrm>
          <a:prstGeom prst="rect">
            <a:avLst/>
          </a:prstGeom>
          <a:noFill/>
        </p:spPr>
        <p:txBody>
          <a:bodyPr wrap="square" lIns="0" rIns="0" tIns="0" bIns="0" anchor="t">
            <a:spAutoFit/>
          </a:bodyPr>
          <a:lstStyle/>
          <a:p>
            <a:pPr algn="l"/>
            <a:r>
              <a:rPr b="0" sz="1350" i="0" u="none">
                <a:solidFill>
                  <a:srgbClr val="475569"/>
                </a:solidFill>
                <a:latin typeface="DM Sans"/>
              </a:rPr>
              <a:t>Move to MySQL via JDBC for large libraries.</a:t>
            </a:r>
          </a:p>
        </p:txBody>
      </p:sp>
      <p:sp>
        <p:nvSpPr>
          <p:cNvPr id="15" name="TextBox 14"/>
          <p:cNvSpPr txBox="1"/>
          <p:nvPr/>
        </p:nvSpPr>
        <p:spPr>
          <a:xfrm>
            <a:off x="8280499" y="2919412"/>
            <a:ext cx="3911500" cy="247650"/>
          </a:xfrm>
          <a:prstGeom prst="rect">
            <a:avLst/>
          </a:prstGeom>
          <a:noFill/>
        </p:spPr>
        <p:txBody>
          <a:bodyPr wrap="none" lIns="0" rIns="0" tIns="0" bIns="0" anchor="t">
            <a:spAutoFit/>
          </a:bodyPr>
          <a:lstStyle/>
          <a:p>
            <a:pPr algn="l"/>
            <a:r>
              <a:rPr b="1" sz="1500" i="0" u="none">
                <a:solidFill>
                  <a:srgbClr val="059669"/>
                </a:solidFill>
                <a:latin typeface="Space Grotesk"/>
              </a:rPr>
              <a:t>✦ Shuffle and queue</a:t>
            </a:r>
          </a:p>
        </p:txBody>
      </p:sp>
      <p:sp>
        <p:nvSpPr>
          <p:cNvPr id="16" name="TextBox 15"/>
          <p:cNvSpPr txBox="1"/>
          <p:nvPr/>
        </p:nvSpPr>
        <p:spPr>
          <a:xfrm>
            <a:off x="8280499" y="3243262"/>
            <a:ext cx="3168699" cy="457200"/>
          </a:xfrm>
          <a:prstGeom prst="rect">
            <a:avLst/>
          </a:prstGeom>
          <a:noFill/>
        </p:spPr>
        <p:txBody>
          <a:bodyPr wrap="square" lIns="0" rIns="0" tIns="0" bIns="0" anchor="t">
            <a:spAutoFit/>
          </a:bodyPr>
          <a:lstStyle/>
          <a:p>
            <a:pPr algn="l"/>
            <a:r>
              <a:rPr b="0" sz="1350" i="0" u="none">
                <a:solidFill>
                  <a:srgbClr val="475569"/>
                </a:solidFill>
                <a:latin typeface="DM Sans"/>
              </a:rPr>
              <a:t>Random play order and a play-next queue.</a:t>
            </a:r>
          </a:p>
        </p:txBody>
      </p:sp>
      <p:sp>
        <p:nvSpPr>
          <p:cNvPr id="17" name="TextBox 16"/>
          <p:cNvSpPr txBox="1"/>
          <p:nvPr/>
        </p:nvSpPr>
        <p:spPr>
          <a:xfrm>
            <a:off x="838200" y="4357687"/>
            <a:ext cx="4033902" cy="247650"/>
          </a:xfrm>
          <a:prstGeom prst="rect">
            <a:avLst/>
          </a:prstGeom>
          <a:noFill/>
        </p:spPr>
        <p:txBody>
          <a:bodyPr wrap="none" lIns="0" rIns="0" tIns="0" bIns="0" anchor="t">
            <a:spAutoFit/>
          </a:bodyPr>
          <a:lstStyle/>
          <a:p>
            <a:pPr algn="l"/>
            <a:r>
              <a:rPr b="1" sz="1500" i="0" u="none">
                <a:solidFill>
                  <a:srgbClr val="059669"/>
                </a:solidFill>
                <a:latin typeface="Space Grotesk"/>
              </a:rPr>
              <a:t>👍 Smart recommendations</a:t>
            </a:r>
          </a:p>
        </p:txBody>
      </p:sp>
      <p:sp>
        <p:nvSpPr>
          <p:cNvPr id="18" name="TextBox 17"/>
          <p:cNvSpPr txBox="1"/>
          <p:nvPr/>
        </p:nvSpPr>
        <p:spPr>
          <a:xfrm>
            <a:off x="838200" y="4681537"/>
            <a:ext cx="3168699" cy="457200"/>
          </a:xfrm>
          <a:prstGeom prst="rect">
            <a:avLst/>
          </a:prstGeom>
          <a:noFill/>
        </p:spPr>
        <p:txBody>
          <a:bodyPr wrap="square" lIns="0" rIns="0" tIns="0" bIns="0" anchor="t">
            <a:spAutoFit/>
          </a:bodyPr>
          <a:lstStyle/>
          <a:p>
            <a:pPr algn="l"/>
            <a:r>
              <a:rPr b="0" sz="1350" i="0" u="none">
                <a:solidFill>
                  <a:srgbClr val="475569"/>
                </a:solidFill>
                <a:latin typeface="DM Sans"/>
              </a:rPr>
              <a:t>Suggest songs from the favourite artist.</a:t>
            </a:r>
          </a:p>
        </p:txBody>
      </p:sp>
      <p:sp>
        <p:nvSpPr>
          <p:cNvPr id="19" name="TextBox 18"/>
          <p:cNvSpPr txBox="1"/>
          <p:nvPr/>
        </p:nvSpPr>
        <p:spPr>
          <a:xfrm>
            <a:off x="4559349" y="4352925"/>
            <a:ext cx="4033902" cy="257175"/>
          </a:xfrm>
          <a:prstGeom prst="rect">
            <a:avLst/>
          </a:prstGeom>
          <a:noFill/>
        </p:spPr>
        <p:txBody>
          <a:bodyPr wrap="none" lIns="0" rIns="0" tIns="0" bIns="0" anchor="t">
            <a:spAutoFit/>
          </a:bodyPr>
          <a:lstStyle/>
          <a:p>
            <a:pPr algn="l"/>
            <a:r>
              <a:rPr b="1" sz="1500" i="0" u="none">
                <a:solidFill>
                  <a:srgbClr val="059669"/>
                </a:solidFill>
                <a:latin typeface="Space Grotesk"/>
              </a:rPr>
              <a:t>▣ Report export</a:t>
            </a:r>
          </a:p>
        </p:txBody>
      </p:sp>
      <p:sp>
        <p:nvSpPr>
          <p:cNvPr id="20" name="TextBox 19"/>
          <p:cNvSpPr txBox="1"/>
          <p:nvPr/>
        </p:nvSpPr>
        <p:spPr>
          <a:xfrm>
            <a:off x="4559349" y="4686300"/>
            <a:ext cx="3168699" cy="457200"/>
          </a:xfrm>
          <a:prstGeom prst="rect">
            <a:avLst/>
          </a:prstGeom>
          <a:noFill/>
        </p:spPr>
        <p:txBody>
          <a:bodyPr wrap="square" lIns="0" rIns="0" tIns="0" bIns="0" anchor="t">
            <a:spAutoFit/>
          </a:bodyPr>
          <a:lstStyle/>
          <a:p>
            <a:pPr algn="l"/>
            <a:r>
              <a:rPr b="0" sz="1350" i="0" u="none">
                <a:solidFill>
                  <a:srgbClr val="475569"/>
                </a:solidFill>
                <a:latin typeface="DM Sans"/>
              </a:rPr>
              <a:t>Generate weekly listening reports as PDF or CSV.</a:t>
            </a:r>
          </a:p>
        </p:txBody>
      </p:sp>
      <p:sp>
        <p:nvSpPr>
          <p:cNvPr id="21" name="TextBox 20"/>
          <p:cNvSpPr txBox="1"/>
          <p:nvPr/>
        </p:nvSpPr>
        <p:spPr>
          <a:xfrm>
            <a:off x="8280499" y="4352925"/>
            <a:ext cx="3911500" cy="257175"/>
          </a:xfrm>
          <a:prstGeom prst="rect">
            <a:avLst/>
          </a:prstGeom>
          <a:noFill/>
        </p:spPr>
        <p:txBody>
          <a:bodyPr wrap="none" lIns="0" rIns="0" tIns="0" bIns="0" anchor="t">
            <a:spAutoFit/>
          </a:bodyPr>
          <a:lstStyle/>
          <a:p>
            <a:pPr algn="l"/>
            <a:r>
              <a:rPr b="1" sz="1500" i="0" u="none">
                <a:solidFill>
                  <a:srgbClr val="059669"/>
                </a:solidFill>
                <a:latin typeface="Space Grotesk"/>
              </a:rPr>
              <a:t>▦ Real audio playback</a:t>
            </a:r>
          </a:p>
        </p:txBody>
      </p:sp>
      <p:sp>
        <p:nvSpPr>
          <p:cNvPr id="22" name="TextBox 21"/>
          <p:cNvSpPr txBox="1"/>
          <p:nvPr/>
        </p:nvSpPr>
        <p:spPr>
          <a:xfrm>
            <a:off x="8280499" y="4686300"/>
            <a:ext cx="3168699" cy="457200"/>
          </a:xfrm>
          <a:prstGeom prst="rect">
            <a:avLst/>
          </a:prstGeom>
          <a:noFill/>
        </p:spPr>
        <p:txBody>
          <a:bodyPr wrap="square" lIns="0" rIns="0" tIns="0" bIns="0" anchor="t">
            <a:spAutoFit/>
          </a:bodyPr>
          <a:lstStyle/>
          <a:p>
            <a:pPr algn="l"/>
            <a:r>
              <a:rPr b="0" sz="1350" i="0" u="none">
                <a:solidFill>
                  <a:srgbClr val="475569"/>
                </a:solidFill>
                <a:latin typeface="DM Sans"/>
              </a:rPr>
              <a:t>Integrate an audio library to produce sound.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314450"/>
            <a:ext cx="2514600" cy="1400175"/>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429000" y="1314450"/>
            <a:ext cx="2514600" cy="1400175"/>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48400" y="1314450"/>
            <a:ext cx="2514600" cy="1400175"/>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067800" y="1314450"/>
            <a:ext cx="2514600" cy="1400175"/>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59669"/>
                </a:solidFill>
                <a:latin typeface="DM Sans"/>
              </a:rPr>
              <a:t>SECTION 11</a:t>
            </a:r>
          </a:p>
        </p:txBody>
      </p:sp>
      <p:sp>
        <p:nvSpPr>
          <p:cNvPr id="7" name="TextBox 6"/>
          <p:cNvSpPr txBox="1"/>
          <p:nvPr/>
        </p:nvSpPr>
        <p:spPr>
          <a:xfrm>
            <a:off x="609600" y="685800"/>
            <a:ext cx="11582400" cy="438150"/>
          </a:xfrm>
          <a:prstGeom prst="rect">
            <a:avLst/>
          </a:prstGeom>
          <a:noFill/>
        </p:spPr>
        <p:txBody>
          <a:bodyPr wrap="none" lIns="0" rIns="0" tIns="0" bIns="0" anchor="t">
            <a:spAutoFit/>
          </a:bodyPr>
          <a:lstStyle/>
          <a:p>
            <a:pPr algn="l"/>
            <a:r>
              <a:rPr b="1" sz="2700" i="0" u="none">
                <a:solidFill>
                  <a:srgbClr val="0F172A"/>
                </a:solidFill>
                <a:latin typeface="Space Grotesk"/>
              </a:rPr>
              <a:t>11 · Conclusion</a:t>
            </a:r>
          </a:p>
        </p:txBody>
      </p:sp>
      <p:sp>
        <p:nvSpPr>
          <p:cNvPr id="8" name="TextBox 7"/>
          <p:cNvSpPr txBox="1"/>
          <p:nvPr/>
        </p:nvSpPr>
        <p:spPr>
          <a:xfrm>
            <a:off x="485775" y="1466850"/>
            <a:ext cx="2762250" cy="895350"/>
          </a:xfrm>
          <a:prstGeom prst="rect">
            <a:avLst/>
          </a:prstGeom>
          <a:noFill/>
        </p:spPr>
        <p:txBody>
          <a:bodyPr wrap="square" lIns="0" rIns="0" tIns="0" bIns="0" anchor="t">
            <a:spAutoFit/>
          </a:bodyPr>
          <a:lstStyle/>
          <a:p>
            <a:pPr algn="ctr"/>
            <a:r>
              <a:rPr b="1" sz="2700" i="0" u="none">
                <a:solidFill>
                  <a:srgbClr val="059669"/>
                </a:solidFill>
                <a:latin typeface="DM Sans"/>
              </a:rPr>
              <a:t>1 File / 4 Classes</a:t>
            </a:r>
          </a:p>
        </p:txBody>
      </p:sp>
      <p:sp>
        <p:nvSpPr>
          <p:cNvPr id="9" name="TextBox 8"/>
          <p:cNvSpPr txBox="1"/>
          <p:nvPr/>
        </p:nvSpPr>
        <p:spPr>
          <a:xfrm>
            <a:off x="485775" y="2362200"/>
            <a:ext cx="2762250" cy="200025"/>
          </a:xfrm>
          <a:prstGeom prst="rect">
            <a:avLst/>
          </a:prstGeom>
          <a:noFill/>
        </p:spPr>
        <p:txBody>
          <a:bodyPr wrap="none" lIns="0" rIns="0" tIns="0" bIns="0" anchor="t">
            <a:spAutoFit/>
          </a:bodyPr>
          <a:lstStyle/>
          <a:p>
            <a:pPr algn="ctr"/>
            <a:r>
              <a:rPr b="0" sz="1200" i="0" u="none">
                <a:solidFill>
                  <a:srgbClr val="475569"/>
                </a:solidFill>
                <a:latin typeface="DM Sans"/>
              </a:rPr>
              <a:t>Unified Java Architecture</a:t>
            </a:r>
          </a:p>
        </p:txBody>
      </p:sp>
      <p:sp>
        <p:nvSpPr>
          <p:cNvPr id="10" name="TextBox 9"/>
          <p:cNvSpPr txBox="1"/>
          <p:nvPr/>
        </p:nvSpPr>
        <p:spPr>
          <a:xfrm>
            <a:off x="3305175" y="1466850"/>
            <a:ext cx="2762250" cy="447675"/>
          </a:xfrm>
          <a:prstGeom prst="rect">
            <a:avLst/>
          </a:prstGeom>
          <a:noFill/>
        </p:spPr>
        <p:txBody>
          <a:bodyPr wrap="none" lIns="0" rIns="0" tIns="0" bIns="0" anchor="t">
            <a:spAutoFit/>
          </a:bodyPr>
          <a:lstStyle/>
          <a:p>
            <a:pPr algn="ctr"/>
            <a:r>
              <a:rPr b="1" sz="2700" i="0" u="none">
                <a:solidFill>
                  <a:srgbClr val="059669"/>
                </a:solidFill>
                <a:latin typeface="DM Sans"/>
              </a:rPr>
              <a:t>3 Modules</a:t>
            </a:r>
          </a:p>
        </p:txBody>
      </p:sp>
      <p:sp>
        <p:nvSpPr>
          <p:cNvPr id="11" name="TextBox 10"/>
          <p:cNvSpPr txBox="1"/>
          <p:nvPr/>
        </p:nvSpPr>
        <p:spPr>
          <a:xfrm>
            <a:off x="3305175" y="1914525"/>
            <a:ext cx="2762250" cy="200025"/>
          </a:xfrm>
          <a:prstGeom prst="rect">
            <a:avLst/>
          </a:prstGeom>
          <a:noFill/>
        </p:spPr>
        <p:txBody>
          <a:bodyPr wrap="none" lIns="0" rIns="0" tIns="0" bIns="0" anchor="t">
            <a:spAutoFit/>
          </a:bodyPr>
          <a:lstStyle/>
          <a:p>
            <a:pPr algn="ctr"/>
            <a:r>
              <a:rPr b="0" sz="1200" i="0" u="none">
                <a:solidFill>
                  <a:srgbClr val="475569"/>
                </a:solidFill>
                <a:latin typeface="DM Sans"/>
              </a:rPr>
              <a:t>Song · Playlist · Stats</a:t>
            </a:r>
          </a:p>
        </p:txBody>
      </p:sp>
      <p:sp>
        <p:nvSpPr>
          <p:cNvPr id="12" name="TextBox 11"/>
          <p:cNvSpPr txBox="1"/>
          <p:nvPr/>
        </p:nvSpPr>
        <p:spPr>
          <a:xfrm>
            <a:off x="6124575" y="1466850"/>
            <a:ext cx="2762250" cy="447675"/>
          </a:xfrm>
          <a:prstGeom prst="rect">
            <a:avLst/>
          </a:prstGeom>
          <a:noFill/>
        </p:spPr>
        <p:txBody>
          <a:bodyPr wrap="none" lIns="0" rIns="0" tIns="0" bIns="0" anchor="t">
            <a:spAutoFit/>
          </a:bodyPr>
          <a:lstStyle/>
          <a:p>
            <a:pPr algn="ctr"/>
            <a:r>
              <a:rPr b="1" sz="2700" i="0" u="none">
                <a:solidFill>
                  <a:srgbClr val="059669"/>
                </a:solidFill>
                <a:latin typeface="DM Sans"/>
              </a:rPr>
              <a:t>100%</a:t>
            </a:r>
          </a:p>
        </p:txBody>
      </p:sp>
      <p:sp>
        <p:nvSpPr>
          <p:cNvPr id="13" name="TextBox 12"/>
          <p:cNvSpPr txBox="1"/>
          <p:nvPr/>
        </p:nvSpPr>
        <p:spPr>
          <a:xfrm>
            <a:off x="6124575" y="1914525"/>
            <a:ext cx="2762250" cy="200025"/>
          </a:xfrm>
          <a:prstGeom prst="rect">
            <a:avLst/>
          </a:prstGeom>
          <a:noFill/>
        </p:spPr>
        <p:txBody>
          <a:bodyPr wrap="none" lIns="0" rIns="0" tIns="0" bIns="0" anchor="t">
            <a:spAutoFit/>
          </a:bodyPr>
          <a:lstStyle/>
          <a:p>
            <a:pPr algn="ctr"/>
            <a:r>
              <a:rPr b="0" sz="1200" i="0" u="none">
                <a:solidFill>
                  <a:srgbClr val="475569"/>
                </a:solidFill>
                <a:latin typeface="DM Sans"/>
              </a:rPr>
              <a:t>Offline &amp; Free</a:t>
            </a:r>
          </a:p>
        </p:txBody>
      </p:sp>
      <p:sp>
        <p:nvSpPr>
          <p:cNvPr id="14" name="TextBox 13"/>
          <p:cNvSpPr txBox="1"/>
          <p:nvPr/>
        </p:nvSpPr>
        <p:spPr>
          <a:xfrm>
            <a:off x="8943975" y="1466850"/>
            <a:ext cx="2762250" cy="447675"/>
          </a:xfrm>
          <a:prstGeom prst="rect">
            <a:avLst/>
          </a:prstGeom>
          <a:noFill/>
        </p:spPr>
        <p:txBody>
          <a:bodyPr wrap="none" lIns="0" rIns="0" tIns="0" bIns="0" anchor="t">
            <a:spAutoFit/>
          </a:bodyPr>
          <a:lstStyle/>
          <a:p>
            <a:pPr algn="ctr"/>
            <a:r>
              <a:rPr b="1" sz="2700" i="0" u="none">
                <a:solidFill>
                  <a:srgbClr val="059669"/>
                </a:solidFill>
                <a:latin typeface="DM Sans"/>
              </a:rPr>
              <a:t>0</a:t>
            </a:r>
          </a:p>
        </p:txBody>
      </p:sp>
      <p:sp>
        <p:nvSpPr>
          <p:cNvPr id="15" name="TextBox 14"/>
          <p:cNvSpPr txBox="1"/>
          <p:nvPr/>
        </p:nvSpPr>
        <p:spPr>
          <a:xfrm>
            <a:off x="8943975" y="1914525"/>
            <a:ext cx="2762250" cy="200025"/>
          </a:xfrm>
          <a:prstGeom prst="rect">
            <a:avLst/>
          </a:prstGeom>
          <a:noFill/>
        </p:spPr>
        <p:txBody>
          <a:bodyPr wrap="none" lIns="0" rIns="0" tIns="0" bIns="0" anchor="t">
            <a:spAutoFit/>
          </a:bodyPr>
          <a:lstStyle/>
          <a:p>
            <a:pPr algn="ctr"/>
            <a:r>
              <a:rPr b="0" sz="1200" i="0" u="none">
                <a:solidFill>
                  <a:srgbClr val="475569"/>
                </a:solidFill>
                <a:latin typeface="DM Sans"/>
              </a:rPr>
              <a:t>Manual entries per play</a:t>
            </a:r>
          </a:p>
        </p:txBody>
      </p:sp>
      <p:sp>
        <p:nvSpPr>
          <p:cNvPr id="16" name="TextBox 15"/>
          <p:cNvSpPr txBox="1"/>
          <p:nvPr/>
        </p:nvSpPr>
        <p:spPr>
          <a:xfrm>
            <a:off x="609600" y="3881437"/>
            <a:ext cx="7000875" cy="266700"/>
          </a:xfrm>
          <a:prstGeom prst="rect">
            <a:avLst/>
          </a:prstGeom>
          <a:noFill/>
        </p:spPr>
        <p:txBody>
          <a:bodyPr wrap="none" lIns="0" rIns="0" tIns="0" bIns="0" anchor="t">
            <a:spAutoFit/>
          </a:bodyPr>
          <a:lstStyle/>
          <a:p>
            <a:pPr algn="l"/>
            <a:r>
              <a:rPr b="1" sz="1650" i="0" u="none">
                <a:solidFill>
                  <a:srgbClr val="0F172A"/>
                </a:solidFill>
                <a:latin typeface="Space Grotesk"/>
              </a:rPr>
              <a:t>What we achieved</a:t>
            </a:r>
          </a:p>
        </p:txBody>
      </p:sp>
      <p:sp>
        <p:nvSpPr>
          <p:cNvPr id="17" name="TextBox 16"/>
          <p:cNvSpPr txBox="1"/>
          <p:nvPr/>
        </p:nvSpPr>
        <p:spPr>
          <a:xfrm>
            <a:off x="6248400" y="3881437"/>
            <a:ext cx="5943600" cy="266700"/>
          </a:xfrm>
          <a:prstGeom prst="rect">
            <a:avLst/>
          </a:prstGeom>
          <a:noFill/>
        </p:spPr>
        <p:txBody>
          <a:bodyPr wrap="none" lIns="0" rIns="0" tIns="0" bIns="0" anchor="t">
            <a:spAutoFit/>
          </a:bodyPr>
          <a:lstStyle/>
          <a:p>
            <a:pPr algn="l"/>
            <a:r>
              <a:rPr b="1" sz="1650" i="0" u="none">
                <a:solidFill>
                  <a:srgbClr val="0F172A"/>
                </a:solidFill>
                <a:latin typeface="Space Grotesk"/>
              </a:rPr>
              <a:t>Learning outcomes</a:t>
            </a:r>
          </a:p>
        </p:txBody>
      </p:sp>
      <p:sp>
        <p:nvSpPr>
          <p:cNvPr id="18" name="TextBox 17"/>
          <p:cNvSpPr txBox="1"/>
          <p:nvPr/>
        </p:nvSpPr>
        <p:spPr>
          <a:xfrm>
            <a:off x="609600" y="4262437"/>
            <a:ext cx="6667500" cy="228600"/>
          </a:xfrm>
          <a:prstGeom prst="rect">
            <a:avLst/>
          </a:prstGeom>
          <a:noFill/>
        </p:spPr>
        <p:txBody>
          <a:bodyPr wrap="none" lIns="0" rIns="0" tIns="0" bIns="0" anchor="t">
            <a:spAutoFit/>
          </a:bodyPr>
          <a:lstStyle/>
          <a:p>
            <a:pPr algn="l"/>
            <a:r>
              <a:rPr b="0" sz="1350" i="0" u="none">
                <a:solidFill>
                  <a:srgbClr val="334155"/>
                </a:solidFill>
                <a:latin typeface="DM Sans"/>
              </a:rPr>
              <a:t>✓ Complete playlist manager in `MusicManagerApp.java`</a:t>
            </a:r>
          </a:p>
        </p:txBody>
      </p:sp>
      <p:sp>
        <p:nvSpPr>
          <p:cNvPr id="19" name="TextBox 18"/>
          <p:cNvSpPr txBox="1"/>
          <p:nvPr/>
        </p:nvSpPr>
        <p:spPr>
          <a:xfrm>
            <a:off x="609600" y="4586287"/>
            <a:ext cx="6667500" cy="228600"/>
          </a:xfrm>
          <a:prstGeom prst="rect">
            <a:avLst/>
          </a:prstGeom>
          <a:noFill/>
        </p:spPr>
        <p:txBody>
          <a:bodyPr wrap="none" lIns="0" rIns="0" tIns="0" bIns="0" anchor="t">
            <a:spAutoFit/>
          </a:bodyPr>
          <a:lstStyle/>
          <a:p>
            <a:pPr algn="l"/>
            <a:r>
              <a:rPr b="0" sz="1350" i="0" u="none">
                <a:solidFill>
                  <a:srgbClr val="334155"/>
                </a:solidFill>
                <a:latin typeface="DM Sans"/>
              </a:rPr>
              <a:t>✓ Automatic play counting with live statistics engine</a:t>
            </a:r>
          </a:p>
        </p:txBody>
      </p:sp>
      <p:sp>
        <p:nvSpPr>
          <p:cNvPr id="20" name="TextBox 19"/>
          <p:cNvSpPr txBox="1"/>
          <p:nvPr/>
        </p:nvSpPr>
        <p:spPr>
          <a:xfrm>
            <a:off x="609600" y="4910137"/>
            <a:ext cx="6667500" cy="228600"/>
          </a:xfrm>
          <a:prstGeom prst="rect">
            <a:avLst/>
          </a:prstGeom>
          <a:noFill/>
        </p:spPr>
        <p:txBody>
          <a:bodyPr wrap="none" lIns="0" rIns="0" tIns="0" bIns="0" anchor="t">
            <a:spAutoFit/>
          </a:bodyPr>
          <a:lstStyle/>
          <a:p>
            <a:pPr algn="l"/>
            <a:r>
              <a:rPr b="0" sz="1350" i="0" u="none">
                <a:solidFill>
                  <a:srgbClr val="334155"/>
                </a:solidFill>
                <a:latin typeface="DM Sans"/>
              </a:rPr>
              <a:t>✓ Search, sort and individual song stat queries</a:t>
            </a:r>
          </a:p>
        </p:txBody>
      </p:sp>
      <p:sp>
        <p:nvSpPr>
          <p:cNvPr id="21" name="TextBox 20"/>
          <p:cNvSpPr txBox="1"/>
          <p:nvPr/>
        </p:nvSpPr>
        <p:spPr>
          <a:xfrm>
            <a:off x="609600" y="5233987"/>
            <a:ext cx="6667500" cy="228600"/>
          </a:xfrm>
          <a:prstGeom prst="rect">
            <a:avLst/>
          </a:prstGeom>
          <a:noFill/>
        </p:spPr>
        <p:txBody>
          <a:bodyPr wrap="none" lIns="0" rIns="0" tIns="0" bIns="0" anchor="t">
            <a:spAutoFit/>
          </a:bodyPr>
          <a:lstStyle/>
          <a:p>
            <a:pPr algn="l"/>
            <a:r>
              <a:rPr b="0" sz="1350" i="0" u="none">
                <a:solidFill>
                  <a:srgbClr val="334155"/>
                </a:solidFill>
                <a:latin typeface="DM Sans"/>
              </a:rPr>
              <a:t>✓ All five objectives verified in the working demo</a:t>
            </a:r>
          </a:p>
        </p:txBody>
      </p:sp>
      <p:sp>
        <p:nvSpPr>
          <p:cNvPr id="22" name="TextBox 21"/>
          <p:cNvSpPr txBox="1"/>
          <p:nvPr/>
        </p:nvSpPr>
        <p:spPr>
          <a:xfrm>
            <a:off x="6248400" y="4262437"/>
            <a:ext cx="5943600" cy="228600"/>
          </a:xfrm>
          <a:prstGeom prst="rect">
            <a:avLst/>
          </a:prstGeom>
          <a:noFill/>
        </p:spPr>
        <p:txBody>
          <a:bodyPr wrap="none" lIns="0" rIns="0" tIns="0" bIns="0" anchor="t">
            <a:spAutoFit/>
          </a:bodyPr>
          <a:lstStyle/>
          <a:p>
            <a:pPr algn="l"/>
            <a:r>
              <a:rPr b="0" sz="1350" i="0" u="none">
                <a:solidFill>
                  <a:srgbClr val="334155"/>
                </a:solidFill>
                <a:latin typeface="DM Sans"/>
              </a:rPr>
              <a:t>▿ </a:t>
            </a:r>
            <a:r>
              <a:rPr b="1" sz="1350" i="0" u="none">
                <a:solidFill>
                  <a:srgbClr val="334155"/>
                </a:solidFill>
                <a:latin typeface="DM Sans"/>
              </a:rPr>
              <a:t>OOP encapsulation:</a:t>
            </a:r>
            <a:r>
              <a:rPr b="0" sz="1350" i="0" u="none">
                <a:solidFill>
                  <a:srgbClr val="334155"/>
                </a:solidFill>
                <a:latin typeface="DM Sans"/>
              </a:rPr>
              <a:t> private data behind public methods</a:t>
            </a:r>
          </a:p>
        </p:txBody>
      </p:sp>
      <p:sp>
        <p:nvSpPr>
          <p:cNvPr id="23" name="TextBox 22"/>
          <p:cNvSpPr txBox="1"/>
          <p:nvPr/>
        </p:nvSpPr>
        <p:spPr>
          <a:xfrm>
            <a:off x="6248400" y="4586287"/>
            <a:ext cx="5943600" cy="228600"/>
          </a:xfrm>
          <a:prstGeom prst="rect">
            <a:avLst/>
          </a:prstGeom>
          <a:noFill/>
        </p:spPr>
        <p:txBody>
          <a:bodyPr wrap="none" lIns="0" rIns="0" tIns="0" bIns="0" anchor="t">
            <a:spAutoFit/>
          </a:bodyPr>
          <a:lstStyle/>
          <a:p>
            <a:pPr algn="l"/>
            <a:r>
              <a:rPr b="0" sz="1350" i="0" u="none">
                <a:solidFill>
                  <a:srgbClr val="334155"/>
                </a:solidFill>
                <a:latin typeface="DM Sans"/>
              </a:rPr>
              <a:t>▿ </a:t>
            </a:r>
            <a:r>
              <a:rPr b="1" sz="1350" i="0" u="none">
                <a:solidFill>
                  <a:srgbClr val="334155"/>
                </a:solidFill>
                <a:latin typeface="DM Sans"/>
              </a:rPr>
              <a:t>Collections:</a:t>
            </a:r>
            <a:r>
              <a:rPr b="0" sz="1350" i="0" u="none">
                <a:solidFill>
                  <a:srgbClr val="334155"/>
                </a:solidFill>
                <a:latin typeface="DM Sans"/>
              </a:rPr>
              <a:t> ArrayList for storage, HashMap for artist totals</a:t>
            </a:r>
          </a:p>
        </p:txBody>
      </p:sp>
      <p:sp>
        <p:nvSpPr>
          <p:cNvPr id="24" name="TextBox 23"/>
          <p:cNvSpPr txBox="1"/>
          <p:nvPr/>
        </p:nvSpPr>
        <p:spPr>
          <a:xfrm>
            <a:off x="6248400" y="4910137"/>
            <a:ext cx="5943600" cy="228600"/>
          </a:xfrm>
          <a:prstGeom prst="rect">
            <a:avLst/>
          </a:prstGeom>
          <a:noFill/>
        </p:spPr>
        <p:txBody>
          <a:bodyPr wrap="none" lIns="0" rIns="0" tIns="0" bIns="0" anchor="t">
            <a:spAutoFit/>
          </a:bodyPr>
          <a:lstStyle/>
          <a:p>
            <a:pPr algn="l"/>
            <a:r>
              <a:rPr b="0" sz="1350" i="0" u="none">
                <a:solidFill>
                  <a:srgbClr val="334155"/>
                </a:solidFill>
                <a:latin typeface="DM Sans"/>
              </a:rPr>
              <a:t>▿ </a:t>
            </a:r>
            <a:r>
              <a:rPr b="1" sz="1350" i="0" u="none">
                <a:solidFill>
                  <a:srgbClr val="334155"/>
                </a:solidFill>
                <a:latin typeface="DM Sans"/>
              </a:rPr>
              <a:t>Input validation:</a:t>
            </a:r>
            <a:r>
              <a:rPr b="0" sz="1350" i="0" u="none">
                <a:solidFill>
                  <a:srgbClr val="334155"/>
                </a:solidFill>
                <a:latin typeface="DM Sans"/>
              </a:rPr>
              <a:t> readInt loop that never crashes</a:t>
            </a:r>
          </a:p>
        </p:txBody>
      </p:sp>
      <p:sp>
        <p:nvSpPr>
          <p:cNvPr id="25" name="TextBox 24"/>
          <p:cNvSpPr txBox="1"/>
          <p:nvPr/>
        </p:nvSpPr>
        <p:spPr>
          <a:xfrm>
            <a:off x="6248400" y="5233987"/>
            <a:ext cx="5943600" cy="228600"/>
          </a:xfrm>
          <a:prstGeom prst="rect">
            <a:avLst/>
          </a:prstGeom>
          <a:noFill/>
        </p:spPr>
        <p:txBody>
          <a:bodyPr wrap="none" lIns="0" rIns="0" tIns="0" bIns="0" anchor="t">
            <a:spAutoFit/>
          </a:bodyPr>
          <a:lstStyle/>
          <a:p>
            <a:pPr algn="l"/>
            <a:r>
              <a:rPr b="0" sz="1350" i="0" u="none">
                <a:solidFill>
                  <a:srgbClr val="334155"/>
                </a:solidFill>
                <a:latin typeface="DM Sans"/>
              </a:rPr>
              <a:t>▿ </a:t>
            </a:r>
            <a:r>
              <a:rPr b="1" sz="1350" i="0" u="none">
                <a:solidFill>
                  <a:srgbClr val="334155"/>
                </a:solidFill>
                <a:latin typeface="DM Sans"/>
              </a:rPr>
              <a:t>Modular design:</a:t>
            </a:r>
            <a:r>
              <a:rPr b="0" sz="1350" i="0" u="none">
                <a:solidFill>
                  <a:srgbClr val="334155"/>
                </a:solidFill>
                <a:latin typeface="DM Sans"/>
              </a:rPr>
              <a:t> each class has one clear responsibility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5791200" y="4233862"/>
            <a:ext cx="6096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867400" y="2100262"/>
            <a:ext cx="457200" cy="457200"/>
          </a:xfrm>
          <a:prstGeom prst="rect">
            <a:avLst/>
          </a:prstGeom>
        </p:spPr>
      </p:pic>
      <p:sp>
        <p:nvSpPr>
          <p:cNvPr id="4" name="TextBox 3"/>
          <p:cNvSpPr txBox="1"/>
          <p:nvPr/>
        </p:nvSpPr>
        <p:spPr>
          <a:xfrm>
            <a:off x="4245768" y="2786062"/>
            <a:ext cx="3700462" cy="676275"/>
          </a:xfrm>
          <a:prstGeom prst="rect">
            <a:avLst/>
          </a:prstGeom>
          <a:noFill/>
        </p:spPr>
        <p:txBody>
          <a:bodyPr wrap="none" lIns="0" rIns="0" tIns="0" bIns="0" anchor="t">
            <a:spAutoFit/>
          </a:bodyPr>
          <a:lstStyle/>
          <a:p>
            <a:pPr algn="ctr"/>
            <a:r>
              <a:rPr b="1" sz="4200" i="0" u="none">
                <a:solidFill>
                  <a:srgbClr val="F8FAFC"/>
                </a:solidFill>
                <a:latin typeface="Space Grotesk"/>
              </a:rPr>
              <a:t>Thank You!</a:t>
            </a:r>
          </a:p>
        </p:txBody>
      </p:sp>
      <p:sp>
        <p:nvSpPr>
          <p:cNvPr id="5" name="TextBox 4"/>
          <p:cNvSpPr txBox="1"/>
          <p:nvPr/>
        </p:nvSpPr>
        <p:spPr>
          <a:xfrm>
            <a:off x="3232546" y="3614737"/>
            <a:ext cx="5726906" cy="276225"/>
          </a:xfrm>
          <a:prstGeom prst="rect">
            <a:avLst/>
          </a:prstGeom>
          <a:noFill/>
        </p:spPr>
        <p:txBody>
          <a:bodyPr wrap="none" lIns="0" rIns="0" tIns="0" bIns="0" anchor="t">
            <a:spAutoFit/>
          </a:bodyPr>
          <a:lstStyle/>
          <a:p>
            <a:pPr algn="ctr"/>
            <a:r>
              <a:rPr b="0" sz="1650" i="0" u="none">
                <a:solidFill>
                  <a:srgbClr val="94A3B8"/>
                </a:solidFill>
                <a:latin typeface="DM Sans"/>
              </a:rPr>
              <a:t>Questions and suggestions are most welcome.</a:t>
            </a:r>
          </a:p>
        </p:txBody>
      </p:sp>
      <p:sp>
        <p:nvSpPr>
          <p:cNvPr id="6" name="TextBox 5"/>
          <p:cNvSpPr txBox="1"/>
          <p:nvPr/>
        </p:nvSpPr>
        <p:spPr>
          <a:xfrm>
            <a:off x="2774156" y="4529137"/>
            <a:ext cx="6643687" cy="228600"/>
          </a:xfrm>
          <a:prstGeom prst="rect">
            <a:avLst/>
          </a:prstGeom>
          <a:noFill/>
        </p:spPr>
        <p:txBody>
          <a:bodyPr wrap="none" lIns="0" rIns="0" tIns="0" bIns="0" anchor="t">
            <a:spAutoFit/>
          </a:bodyPr>
          <a:lstStyle/>
          <a:p>
            <a:pPr algn="ctr"/>
            <a:r>
              <a:rPr b="0" sz="1350" i="0" u="none">
                <a:solidFill>
                  <a:srgbClr val="CBD5E1"/>
                </a:solidFill>
                <a:latin typeface="DM Sans"/>
              </a:rPr>
              <a:t>♪ Music Playlist &amp; Listening Stats Manager — Core Java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